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71" r:id="rId13"/>
    <p:sldId id="272" r:id="rId14"/>
    <p:sldId id="262" r:id="rId15"/>
    <p:sldId id="273" r:id="rId16"/>
    <p:sldId id="274" r:id="rId17"/>
    <p:sldId id="270" r:id="rId18"/>
    <p:sldId id="275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459A"/>
    <a:srgbClr val="2E9AA7"/>
    <a:srgbClr val="D85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82"/>
    <p:restoredTop sz="37294"/>
  </p:normalViewPr>
  <p:slideViewPr>
    <p:cSldViewPr snapToGrid="0">
      <p:cViewPr varScale="1">
        <p:scale>
          <a:sx n="30" d="100"/>
          <a:sy n="30" d="100"/>
        </p:scale>
        <p:origin x="2496" y="1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">
            <a:extLst>
              <a:ext uri="{FF2B5EF4-FFF2-40B4-BE49-F238E27FC236}">
                <a16:creationId xmlns:a16="http://schemas.microsoft.com/office/drawing/2014/main" id="{8C42D533-86F0-4973-9984-55F15302860A}"/>
              </a:ext>
            </a:extLst>
          </p:cNvPr>
          <p:cNvSpPr>
            <a:spLocks noGrp="1"/>
          </p:cNvSpPr>
          <p:nvPr/>
        </p:nvSpPr>
        <p:spPr>
          <a:xfrm>
            <a:off x="6425045" y="0"/>
            <a:ext cx="0" cy="6858000"/>
          </a:xfrm>
          <a:prstGeom prst="line">
            <a:avLst/>
          </a:prstGeom>
          <a:noFill/>
          <a:ln w="952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339075E-E92E-4E1B-81AC-579442B053EC}"/>
              </a:ext>
            </a:extLst>
          </p:cNvPr>
          <p:cNvSpPr>
            <a:spLocks noGrp="1"/>
          </p:cNvSpPr>
          <p:nvPr/>
        </p:nvSpPr>
        <p:spPr>
          <a:xfrm>
            <a:off x="447452" y="4114800"/>
            <a:ext cx="4857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Attention, Transformers, CIFs and CrystaLLM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5901DF7-83E1-4065-A7A5-21F6D54BDCBC}"/>
              </a:ext>
            </a:extLst>
          </p:cNvPr>
          <p:cNvSpPr>
            <a:spLocks noGrp="1"/>
          </p:cNvSpPr>
          <p:nvPr/>
        </p:nvSpPr>
        <p:spPr>
          <a:xfrm>
            <a:off x="6800850" y="685802"/>
            <a:ext cx="3602103" cy="2285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lang="en-GB" sz="1400" b="1" dirty="0"/>
              <a:t>Crystallographic Information File (CIF)</a:t>
            </a:r>
            <a:endParaRPr lang="en-GB" sz="1400" b="1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34DB0C2-77D6-4E6E-AF08-FD249D7C2AC1}"/>
              </a:ext>
            </a:extLst>
          </p:cNvPr>
          <p:cNvSpPr>
            <a:spLocks noGrp="1"/>
          </p:cNvSpPr>
          <p:nvPr/>
        </p:nvSpPr>
        <p:spPr>
          <a:xfrm>
            <a:off x="6800850" y="1028700"/>
            <a:ext cx="4095750" cy="0"/>
          </a:xfrm>
          <a:prstGeom prst="line">
            <a:avLst/>
          </a:prstGeom>
          <a:noFill/>
          <a:ln w="28575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D696467-CF50-475A-9BFE-D696EBF5307A}"/>
              </a:ext>
            </a:extLst>
          </p:cNvPr>
          <p:cNvSpPr>
            <a:spLocks noGrp="1"/>
          </p:cNvSpPr>
          <p:nvPr/>
        </p:nvSpPr>
        <p:spPr>
          <a:xfrm>
            <a:off x="6800850" y="1257300"/>
            <a:ext cx="4762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data_Ti2O4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_chemical_formula_sum  'Ti2 O4'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_cell_length_a  4.594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_cell_length_c  2.959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_symmetry_space_group_name_H-M  'P 42/m n m'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loop_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_atom_site_type_symbol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_atom_site_fract_x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_atom_site_fract_y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_atom_site_fract_z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Ti  0.000  0.000  0.000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O   0.305  0.305  0.000</a:t>
            </a:r>
          </a:p>
        </p:txBody>
      </p:sp>
      <p:sp>
        <p:nvSpPr>
          <p:cNvPr id="8" name="rich-text">
            <a:extLst>
              <a:ext uri="{FF2B5EF4-FFF2-40B4-BE49-F238E27FC236}">
                <a16:creationId xmlns:a16="http://schemas.microsoft.com/office/drawing/2014/main" id="{ADE6935E-4CEC-4BA1-8AA7-17BCD68900D5}"/>
              </a:ext>
            </a:extLst>
          </p:cNvPr>
          <p:cNvSpPr>
            <a:spLocks noGrp="1"/>
          </p:cNvSpPr>
          <p:nvPr/>
        </p:nvSpPr>
        <p:spPr>
          <a:xfrm>
            <a:off x="6800850" y="49149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crystal</a:t>
            </a:r>
            <a:r>
              <a:rPr dirty="0"/>
              <a:t>  </a:t>
            </a:r>
            <a:r>
              <a:rPr lang="en-US" dirty="0">
                <a:sym typeface="Wingdings" pitchFamily="2" charset="2"/>
              </a:rPr>
              <a:t></a:t>
            </a:r>
            <a:r>
              <a:rPr dirty="0"/>
              <a:t>  </a:t>
            </a:r>
            <a:r>
              <a:rPr sz="1650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CIF text</a:t>
            </a:r>
            <a:r>
              <a:rPr dirty="0"/>
              <a:t>  </a:t>
            </a:r>
            <a:r>
              <a:rPr lang="en-US" dirty="0">
                <a:sym typeface="Wingdings" pitchFamily="2" charset="2"/>
              </a:rPr>
              <a:t></a:t>
            </a:r>
            <a:r>
              <a:rPr dirty="0"/>
              <a:t>  </a:t>
            </a:r>
            <a:r>
              <a:rPr sz="1650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new CIF text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9DA5845-5581-491E-865E-73C4AAB1BA7A}"/>
              </a:ext>
            </a:extLst>
          </p:cNvPr>
          <p:cNvSpPr>
            <a:spLocks noGrp="1"/>
          </p:cNvSpPr>
          <p:nvPr/>
        </p:nvSpPr>
        <p:spPr>
          <a:xfrm>
            <a:off x="6800850" y="5524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66A76"/>
                </a:solidFill>
                <a:latin typeface="Arial"/>
                <a:ea typeface="Arial"/>
                <a:cs typeface="Arial"/>
              </a:rPr>
              <a:t>one token at a time</a:t>
            </a:r>
          </a:p>
        </p:txBody>
      </p:sp>
      <p:sp>
        <p:nvSpPr>
          <p:cNvPr id="12" name="cover-title">
            <a:extLst>
              <a:ext uri="{FF2B5EF4-FFF2-40B4-BE49-F238E27FC236}">
                <a16:creationId xmlns:a16="http://schemas.microsoft.com/office/drawing/2014/main" id="{6502E1E9-163B-EDA6-394F-C38B411B1948}"/>
              </a:ext>
            </a:extLst>
          </p:cNvPr>
          <p:cNvSpPr>
            <a:spLocks noGrp="1"/>
          </p:cNvSpPr>
          <p:nvPr/>
        </p:nvSpPr>
        <p:spPr>
          <a:xfrm>
            <a:off x="447452" y="1028700"/>
            <a:ext cx="5641037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42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42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How can a</a:t>
            </a:r>
          </a:p>
          <a:p>
            <a:pPr algn="l">
              <a:lnSpc>
                <a:spcPct val="125000"/>
              </a:lnSpc>
              <a:buNone/>
              <a:defRPr sz="42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42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language model write</a:t>
            </a:r>
          </a:p>
          <a:p>
            <a:pPr algn="l">
              <a:lnSpc>
                <a:spcPct val="125000"/>
              </a:lnSpc>
              <a:buNone/>
              <a:defRPr sz="42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42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 crystal structure?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F5E9AA3-D28E-DA0E-8E71-D3113BA92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DD75AA5F-F82C-4072-8FD8-D751766E16EE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Transformers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629B8BD-B7CB-4ABD-869C-061EC83282EC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77DD6B6-39B9-41C8-B20E-49CF10680828}"/>
              </a:ext>
            </a:extLst>
          </p:cNvPr>
          <p:cNvSpPr>
            <a:spLocks noGrp="1"/>
          </p:cNvSpPr>
          <p:nvPr/>
        </p:nvSpPr>
        <p:spPr>
          <a:xfrm>
            <a:off x="6419850" y="1435066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4" name="rich-text">
            <a:extLst>
              <a:ext uri="{FF2B5EF4-FFF2-40B4-BE49-F238E27FC236}">
                <a16:creationId xmlns:a16="http://schemas.microsoft.com/office/drawing/2014/main" id="{CCDA332E-C28D-401F-8BC5-372B1C8A75AE}"/>
              </a:ext>
            </a:extLst>
          </p:cNvPr>
          <p:cNvSpPr>
            <a:spLocks noGrp="1"/>
          </p:cNvSpPr>
          <p:nvPr/>
        </p:nvSpPr>
        <p:spPr>
          <a:xfrm>
            <a:off x="6419850" y="1673659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TEXT</a:t>
            </a:r>
            <a:r>
              <a:rPr sz="2700" b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  →   </a:t>
            </a:r>
            <a:r>
              <a:rPr sz="2700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0CBE60F-0D06-4F31-81F5-E501351E5795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686300" cy="0"/>
          </a:xfrm>
          <a:prstGeom prst="line">
            <a:avLst/>
          </a:prstGeom>
          <a:noFill/>
          <a:ln w="28575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7DF63AE-0EAF-4F67-9113-A296BB4E803F}"/>
              </a:ext>
            </a:extLst>
          </p:cNvPr>
          <p:cNvSpPr>
            <a:spLocks noGrp="1"/>
          </p:cNvSpPr>
          <p:nvPr/>
        </p:nvSpPr>
        <p:spPr>
          <a:xfrm>
            <a:off x="762000" y="1435066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TRANSCRIBE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627185A2-9F3C-47EE-ACCC-FD25DCA742D4}"/>
              </a:ext>
            </a:extLst>
          </p:cNvPr>
          <p:cNvSpPr>
            <a:spLocks noGrp="1"/>
          </p:cNvSpPr>
          <p:nvPr/>
        </p:nvSpPr>
        <p:spPr>
          <a:xfrm>
            <a:off x="6419850" y="2381250"/>
            <a:ext cx="4686300" cy="0"/>
          </a:xfrm>
          <a:prstGeom prst="line">
            <a:avLst/>
          </a:prstGeom>
          <a:noFill/>
          <a:ln w="28575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EEEE430-A6D0-42C5-BE62-E1A4CACB4642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SPEAK</a:t>
            </a:r>
          </a:p>
        </p:txBody>
      </p:sp>
      <p:sp>
        <p:nvSpPr>
          <p:cNvPr id="10" name="rich-text">
            <a:extLst>
              <a:ext uri="{FF2B5EF4-FFF2-40B4-BE49-F238E27FC236}">
                <a16:creationId xmlns:a16="http://schemas.microsoft.com/office/drawing/2014/main" id="{BA8FF78D-B10A-41EB-A618-0BA39B9DE5E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1469A"/>
                </a:solidFill>
                <a:latin typeface="Arial"/>
                <a:ea typeface="Arial"/>
                <a:cs typeface="Arial"/>
              </a:rPr>
              <a:t>TEXT</a:t>
            </a:r>
            <a:r>
              <a:rPr sz="2700" b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  →   </a:t>
            </a:r>
            <a:r>
              <a:rPr sz="2700" b="1">
                <a:solidFill>
                  <a:srgbClr val="F1C94A"/>
                </a:solidFill>
                <a:latin typeface="Arial"/>
                <a:ea typeface="Arial"/>
                <a:cs typeface="Arial"/>
              </a:rPr>
              <a:t>SPEECH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FE045670-6E08-4C67-836B-8508783E01BA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4686300" cy="0"/>
          </a:xfrm>
          <a:prstGeom prst="line">
            <a:avLst/>
          </a:prstGeom>
          <a:noFill/>
          <a:ln w="28575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23327D4-B4B0-40C2-AC8F-F90678FA2051}"/>
              </a:ext>
            </a:extLst>
          </p:cNvPr>
          <p:cNvSpPr>
            <a:spLocks noGrp="1"/>
          </p:cNvSpPr>
          <p:nvPr/>
        </p:nvSpPr>
        <p:spPr>
          <a:xfrm>
            <a:off x="6419850" y="28194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GENERATE STRUCTURE TEXT</a:t>
            </a:r>
          </a:p>
        </p:txBody>
      </p:sp>
      <p:sp>
        <p:nvSpPr>
          <p:cNvPr id="13" name="rich-text">
            <a:extLst>
              <a:ext uri="{FF2B5EF4-FFF2-40B4-BE49-F238E27FC236}">
                <a16:creationId xmlns:a16="http://schemas.microsoft.com/office/drawing/2014/main" id="{7144BFE1-9E6E-4303-A27B-2DC7C27766D7}"/>
              </a:ext>
            </a:extLst>
          </p:cNvPr>
          <p:cNvSpPr>
            <a:spLocks noGrp="1"/>
          </p:cNvSpPr>
          <p:nvPr/>
        </p:nvSpPr>
        <p:spPr>
          <a:xfrm>
            <a:off x="6419850" y="31432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CIF PROMPT</a:t>
            </a:r>
            <a:r>
              <a:rPr sz="2325" b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  →   </a:t>
            </a:r>
            <a:r>
              <a:rPr sz="2325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CIF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F0C98DEC-925D-410E-9058-97E2ACD4FA70}"/>
              </a:ext>
            </a:extLst>
          </p:cNvPr>
          <p:cNvSpPr>
            <a:spLocks noGrp="1"/>
          </p:cNvSpPr>
          <p:nvPr/>
        </p:nvSpPr>
        <p:spPr>
          <a:xfrm>
            <a:off x="6419850" y="3867150"/>
            <a:ext cx="4686300" cy="0"/>
          </a:xfrm>
          <a:prstGeom prst="line">
            <a:avLst/>
          </a:prstGeom>
          <a:noFill/>
          <a:ln w="28575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marker-highlight">
            <a:extLst>
              <a:ext uri="{FF2B5EF4-FFF2-40B4-BE49-F238E27FC236}">
                <a16:creationId xmlns:a16="http://schemas.microsoft.com/office/drawing/2014/main" id="{D2F3E9A6-74B6-4C28-8519-08F82249E177}"/>
              </a:ext>
            </a:extLst>
          </p:cNvPr>
          <p:cNvSpPr>
            <a:spLocks noGrp="1"/>
          </p:cNvSpPr>
          <p:nvPr/>
        </p:nvSpPr>
        <p:spPr>
          <a:xfrm>
            <a:off x="685800" y="4514849"/>
            <a:ext cx="10420350" cy="647700"/>
          </a:xfrm>
          <a:prstGeom prst="rect">
            <a:avLst/>
          </a:prstGeom>
          <a:solidFill>
            <a:srgbClr val="F8EDB8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9C100E6-CF88-4A89-9D46-0E59E2EA091B}"/>
              </a:ext>
            </a:extLst>
          </p:cNvPr>
          <p:cNvSpPr>
            <a:spLocks noGrp="1"/>
          </p:cNvSpPr>
          <p:nvPr/>
        </p:nvSpPr>
        <p:spPr>
          <a:xfrm>
            <a:off x="762000" y="4475811"/>
            <a:ext cx="10420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Different kinds of data</a:t>
            </a:r>
            <a:r>
              <a:rPr lang="en-US" sz="2100" b="1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but one </a:t>
            </a:r>
            <a:r>
              <a:rPr sz="21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shared challenge: which context matters here?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17172B5-4CF2-4420-BB91-196C3A8EE21E}"/>
              </a:ext>
            </a:extLst>
          </p:cNvPr>
          <p:cNvSpPr>
            <a:spLocks noGrp="1"/>
          </p:cNvSpPr>
          <p:nvPr/>
        </p:nvSpPr>
        <p:spPr>
          <a:xfrm>
            <a:off x="1533525" y="5484521"/>
            <a:ext cx="887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architectures differ, but attention is widely used to connect each piece with relevant information.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1A7DE0-AC99-D2DF-AC41-A7E009EBF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  <p:sp>
        <p:nvSpPr>
          <p:cNvPr id="22" name="rich-text">
            <a:extLst>
              <a:ext uri="{FF2B5EF4-FFF2-40B4-BE49-F238E27FC236}">
                <a16:creationId xmlns:a16="http://schemas.microsoft.com/office/drawing/2014/main" id="{A1C33EBF-8379-34ED-6A84-B45E27519410}"/>
              </a:ext>
            </a:extLst>
          </p:cNvPr>
          <p:cNvSpPr>
            <a:spLocks noGrp="1"/>
          </p:cNvSpPr>
          <p:nvPr/>
        </p:nvSpPr>
        <p:spPr>
          <a:xfrm>
            <a:off x="762000" y="1669981"/>
            <a:ext cx="3209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SPEECH</a:t>
            </a:r>
            <a:r>
              <a:rPr sz="2700" b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  →   </a:t>
            </a:r>
            <a:r>
              <a:rPr sz="2700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037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3268FAA7-33C4-4A47-9806-45837F4B7152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7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Transformer made attention the cent</a:t>
            </a:r>
            <a:r>
              <a:rPr lang="en-GB" sz="28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er</a:t>
            </a:r>
            <a:r>
              <a:rPr sz="28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of the architecture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6244CB5-C0D9-47BC-AE90-6F50D79A57FD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2273554-69E5-47AE-827F-F859BCFA7029}"/>
              </a:ext>
            </a:extLst>
          </p:cNvPr>
          <p:cNvSpPr>
            <a:spLocks noGrp="1"/>
          </p:cNvSpPr>
          <p:nvPr/>
        </p:nvSpPr>
        <p:spPr>
          <a:xfrm>
            <a:off x="1181363" y="1343025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7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400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2017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2767CD1-5F1B-4823-9326-46DF606420FE}"/>
              </a:ext>
            </a:extLst>
          </p:cNvPr>
          <p:cNvSpPr>
            <a:spLocks noGrp="1"/>
          </p:cNvSpPr>
          <p:nvPr/>
        </p:nvSpPr>
        <p:spPr>
          <a:xfrm>
            <a:off x="1181363" y="20955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325" b="1" i="1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1E2028"/>
                </a:solidFill>
                <a:latin typeface="Arial"/>
                <a:ea typeface="Arial"/>
                <a:cs typeface="Arial"/>
              </a:rPr>
              <a:t>Attention Is All You Need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0F8D181-29F5-4454-815E-BF26E017B617}"/>
              </a:ext>
            </a:extLst>
          </p:cNvPr>
          <p:cNvSpPr>
            <a:spLocks noGrp="1"/>
          </p:cNvSpPr>
          <p:nvPr/>
        </p:nvSpPr>
        <p:spPr>
          <a:xfrm>
            <a:off x="1200413" y="2724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Vaswani et al.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8F1D4A8-B48B-4078-9E22-B1AFFA62EB09}"/>
              </a:ext>
            </a:extLst>
          </p:cNvPr>
          <p:cNvSpPr>
            <a:spLocks noGrp="1"/>
          </p:cNvSpPr>
          <p:nvPr/>
        </p:nvSpPr>
        <p:spPr>
          <a:xfrm>
            <a:off x="1162313" y="3238500"/>
            <a:ext cx="3619500" cy="0"/>
          </a:xfrm>
          <a:prstGeom prst="line">
            <a:avLst/>
          </a:prstGeom>
          <a:noFill/>
          <a:ln w="3810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AB594F2-6835-4240-97B4-7FB1E6FFD216}"/>
              </a:ext>
            </a:extLst>
          </p:cNvPr>
          <p:cNvSpPr>
            <a:spLocks noGrp="1"/>
          </p:cNvSpPr>
          <p:nvPr/>
        </p:nvSpPr>
        <p:spPr>
          <a:xfrm>
            <a:off x="1162313" y="3490913"/>
            <a:ext cx="4292513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 sequence architecture built around attention—without recurrent layers.</a:t>
            </a:r>
          </a:p>
        </p:txBody>
      </p:sp>
      <p:sp>
        <p:nvSpPr>
          <p:cNvPr id="8" name="token-box-each">
            <a:extLst>
              <a:ext uri="{FF2B5EF4-FFF2-40B4-BE49-F238E27FC236}">
                <a16:creationId xmlns:a16="http://schemas.microsoft.com/office/drawing/2014/main" id="{21B4BF03-0835-47A1-8039-F2B0535C4064}"/>
              </a:ext>
            </a:extLst>
          </p:cNvPr>
          <p:cNvSpPr>
            <a:spLocks noGrp="1"/>
          </p:cNvSpPr>
          <p:nvPr/>
        </p:nvSpPr>
        <p:spPr>
          <a:xfrm>
            <a:off x="6226828" y="1354489"/>
            <a:ext cx="87630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oken-each">
            <a:extLst>
              <a:ext uri="{FF2B5EF4-FFF2-40B4-BE49-F238E27FC236}">
                <a16:creationId xmlns:a16="http://schemas.microsoft.com/office/drawing/2014/main" id="{443CF336-4936-4C04-BD08-B830A4AF6913}"/>
              </a:ext>
            </a:extLst>
          </p:cNvPr>
          <p:cNvSpPr>
            <a:spLocks noGrp="1"/>
          </p:cNvSpPr>
          <p:nvPr/>
        </p:nvSpPr>
        <p:spPr>
          <a:xfrm>
            <a:off x="6226828" y="1354489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10" name="token-box-piece">
            <a:extLst>
              <a:ext uri="{FF2B5EF4-FFF2-40B4-BE49-F238E27FC236}">
                <a16:creationId xmlns:a16="http://schemas.microsoft.com/office/drawing/2014/main" id="{CF440674-950A-40AC-AE91-9C57EF20D2C9}"/>
              </a:ext>
            </a:extLst>
          </p:cNvPr>
          <p:cNvSpPr>
            <a:spLocks noGrp="1"/>
          </p:cNvSpPr>
          <p:nvPr/>
        </p:nvSpPr>
        <p:spPr>
          <a:xfrm>
            <a:off x="7179328" y="1354489"/>
            <a:ext cx="97155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oken-piece">
            <a:extLst>
              <a:ext uri="{FF2B5EF4-FFF2-40B4-BE49-F238E27FC236}">
                <a16:creationId xmlns:a16="http://schemas.microsoft.com/office/drawing/2014/main" id="{B795287B-D199-4BDC-B8CE-416EA76429BC}"/>
              </a:ext>
            </a:extLst>
          </p:cNvPr>
          <p:cNvSpPr>
            <a:spLocks noGrp="1"/>
          </p:cNvSpPr>
          <p:nvPr/>
        </p:nvSpPr>
        <p:spPr>
          <a:xfrm>
            <a:off x="7179328" y="1354489"/>
            <a:ext cx="971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piece</a:t>
            </a:r>
          </a:p>
        </p:txBody>
      </p:sp>
      <p:sp>
        <p:nvSpPr>
          <p:cNvPr id="12" name="token-box-starts">
            <a:extLst>
              <a:ext uri="{FF2B5EF4-FFF2-40B4-BE49-F238E27FC236}">
                <a16:creationId xmlns:a16="http://schemas.microsoft.com/office/drawing/2014/main" id="{CA38B05F-1508-44E8-99C7-3D372CE3C78B}"/>
              </a:ext>
            </a:extLst>
          </p:cNvPr>
          <p:cNvSpPr>
            <a:spLocks noGrp="1"/>
          </p:cNvSpPr>
          <p:nvPr/>
        </p:nvSpPr>
        <p:spPr>
          <a:xfrm>
            <a:off x="8227078" y="1354489"/>
            <a:ext cx="99060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oken-starts">
            <a:extLst>
              <a:ext uri="{FF2B5EF4-FFF2-40B4-BE49-F238E27FC236}">
                <a16:creationId xmlns:a16="http://schemas.microsoft.com/office/drawing/2014/main" id="{A860EFC7-DEBC-4D63-969A-686BA07EDFAF}"/>
              </a:ext>
            </a:extLst>
          </p:cNvPr>
          <p:cNvSpPr>
            <a:spLocks noGrp="1"/>
          </p:cNvSpPr>
          <p:nvPr/>
        </p:nvSpPr>
        <p:spPr>
          <a:xfrm>
            <a:off x="8227078" y="1354489"/>
            <a:ext cx="990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starts</a:t>
            </a:r>
          </a:p>
        </p:txBody>
      </p:sp>
      <p:sp>
        <p:nvSpPr>
          <p:cNvPr id="14" name="token-box-separate">
            <a:extLst>
              <a:ext uri="{FF2B5EF4-FFF2-40B4-BE49-F238E27FC236}">
                <a16:creationId xmlns:a16="http://schemas.microsoft.com/office/drawing/2014/main" id="{33078924-8327-4DA4-9E66-236E992F3AA2}"/>
              </a:ext>
            </a:extLst>
          </p:cNvPr>
          <p:cNvSpPr>
            <a:spLocks noGrp="1"/>
          </p:cNvSpPr>
          <p:nvPr/>
        </p:nvSpPr>
        <p:spPr>
          <a:xfrm>
            <a:off x="9293878" y="1354489"/>
            <a:ext cx="1200150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oken-separate">
            <a:extLst>
              <a:ext uri="{FF2B5EF4-FFF2-40B4-BE49-F238E27FC236}">
                <a16:creationId xmlns:a16="http://schemas.microsoft.com/office/drawing/2014/main" id="{CD592187-5660-42C8-B594-B4EC8A70A558}"/>
              </a:ext>
            </a:extLst>
          </p:cNvPr>
          <p:cNvSpPr>
            <a:spLocks noGrp="1"/>
          </p:cNvSpPr>
          <p:nvPr/>
        </p:nvSpPr>
        <p:spPr>
          <a:xfrm>
            <a:off x="9293878" y="1354489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separate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B6ED254-1B88-4F83-8472-1D85064FF0DF}"/>
              </a:ext>
            </a:extLst>
          </p:cNvPr>
          <p:cNvSpPr>
            <a:spLocks noGrp="1"/>
          </p:cNvSpPr>
          <p:nvPr/>
        </p:nvSpPr>
        <p:spPr>
          <a:xfrm>
            <a:off x="8246128" y="1983139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elf-attention-operation">
            <a:extLst>
              <a:ext uri="{FF2B5EF4-FFF2-40B4-BE49-F238E27FC236}">
                <a16:creationId xmlns:a16="http://schemas.microsoft.com/office/drawing/2014/main" id="{830438B3-311C-46A2-A7BF-D2A7DBBF4E5F}"/>
              </a:ext>
            </a:extLst>
          </p:cNvPr>
          <p:cNvSpPr>
            <a:spLocks noGrp="1"/>
          </p:cNvSpPr>
          <p:nvPr/>
        </p:nvSpPr>
        <p:spPr>
          <a:xfrm>
            <a:off x="6912628" y="2440339"/>
            <a:ext cx="3429000" cy="723900"/>
          </a:xfrm>
          <a:prstGeom prst="rect">
            <a:avLst/>
          </a:prstGeom>
          <a:noFill/>
          <a:ln w="28575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3AA101F-449C-47FC-BB9E-369E238FD7B3}"/>
              </a:ext>
            </a:extLst>
          </p:cNvPr>
          <p:cNvSpPr>
            <a:spLocks noGrp="1"/>
          </p:cNvSpPr>
          <p:nvPr/>
        </p:nvSpPr>
        <p:spPr>
          <a:xfrm>
            <a:off x="6912628" y="2440339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SELF-ATTENTION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BC4AFD6-A687-4FC6-A8AB-2C22D6F77C7D}"/>
              </a:ext>
            </a:extLst>
          </p:cNvPr>
          <p:cNvSpPr>
            <a:spLocks noGrp="1"/>
          </p:cNvSpPr>
          <p:nvPr/>
        </p:nvSpPr>
        <p:spPr>
          <a:xfrm>
            <a:off x="8246128" y="3259489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D577EDB-A908-4CAE-B8BE-FE8C64C38802}"/>
              </a:ext>
            </a:extLst>
          </p:cNvPr>
          <p:cNvSpPr>
            <a:spLocks noGrp="1"/>
          </p:cNvSpPr>
          <p:nvPr/>
        </p:nvSpPr>
        <p:spPr>
          <a:xfrm>
            <a:off x="6226828" y="3578577"/>
            <a:ext cx="4981576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0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each piece now carries</a:t>
            </a:r>
            <a:r>
              <a:rPr lang="zh-CN" altLang="en-US" sz="20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relevant context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53FE3D2-B703-4917-8074-BAA552A5BDFF}"/>
              </a:ext>
            </a:extLst>
          </p:cNvPr>
          <p:cNvSpPr>
            <a:spLocks noGrp="1"/>
          </p:cNvSpPr>
          <p:nvPr/>
        </p:nvSpPr>
        <p:spPr>
          <a:xfrm>
            <a:off x="910635" y="5358497"/>
            <a:ext cx="7353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Attention asks: which other pieces are relevant to me?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DB2B8C-EBAF-785C-10FA-87B7B791D124}"/>
              </a:ext>
            </a:extLst>
          </p:cNvPr>
          <p:cNvSpPr txBox="1"/>
          <p:nvPr/>
        </p:nvSpPr>
        <p:spPr>
          <a:xfrm>
            <a:off x="1034857" y="4484136"/>
            <a:ext cx="7211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The room is dark, so I turned on the </a:t>
            </a:r>
            <a:r>
              <a:rPr lang="en-GB" b="1" dirty="0"/>
              <a:t>light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→ something that makes the room bright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AE2452-9DE0-7EF0-99B3-380D490F8974}"/>
              </a:ext>
            </a:extLst>
          </p:cNvPr>
          <p:cNvSpPr txBox="1"/>
          <p:nvPr/>
        </p:nvSpPr>
        <p:spPr>
          <a:xfrm>
            <a:off x="6096000" y="4514650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This bag is very </a:t>
            </a:r>
            <a:r>
              <a:rPr lang="en-GB" b="1" dirty="0"/>
              <a:t>light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→ not heavy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3608AFD-97D5-CD60-0888-A4E59C1C9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2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umber">
            <a:extLst>
              <a:ext uri="{FF2B5EF4-FFF2-40B4-BE49-F238E27FC236}">
                <a16:creationId xmlns:a16="http://schemas.microsoft.com/office/drawing/2014/main" id="{56115268-CE01-4A60-B48F-A8830542F45A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4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1E57F30-7505-B10A-81B1-AA42A0D189A5}"/>
              </a:ext>
            </a:extLst>
          </p:cNvPr>
          <p:cNvSpPr>
            <a:spLocks noGrp="1"/>
          </p:cNvSpPr>
          <p:nvPr/>
        </p:nvSpPr>
        <p:spPr>
          <a:xfrm>
            <a:off x="-119791" y="1465238"/>
            <a:ext cx="10439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9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400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Spain became world champions after Torres scored</a:t>
            </a:r>
            <a:r>
              <a:rPr lang="en-US" sz="2400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in extra</a:t>
            </a:r>
            <a:endParaRPr sz="2400" b="0" i="0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marker-highlight">
            <a:extLst>
              <a:ext uri="{FF2B5EF4-FFF2-40B4-BE49-F238E27FC236}">
                <a16:creationId xmlns:a16="http://schemas.microsoft.com/office/drawing/2014/main" id="{008CA88C-6D2A-EA48-4D9D-EA7833C4A1B0}"/>
              </a:ext>
            </a:extLst>
          </p:cNvPr>
          <p:cNvSpPr>
            <a:spLocks noGrp="1"/>
          </p:cNvSpPr>
          <p:nvPr/>
        </p:nvSpPr>
        <p:spPr>
          <a:xfrm>
            <a:off x="9298996" y="1570013"/>
            <a:ext cx="1294885" cy="400050"/>
          </a:xfrm>
          <a:prstGeom prst="rect">
            <a:avLst/>
          </a:prstGeom>
          <a:solidFill>
            <a:srgbClr val="F8EDB8"/>
          </a:solidFill>
          <a:ln w="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6D334A5F-CF78-5AA4-0488-6EA78257E01F}"/>
              </a:ext>
            </a:extLst>
          </p:cNvPr>
          <p:cNvSpPr>
            <a:spLocks noGrp="1"/>
          </p:cNvSpPr>
          <p:nvPr/>
        </p:nvSpPr>
        <p:spPr>
          <a:xfrm>
            <a:off x="8596438" y="1429650"/>
            <a:ext cx="2700000" cy="68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800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____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5A74A67-DBD0-92A6-17AF-971CD7A554FD}"/>
              </a:ext>
            </a:extLst>
          </p:cNvPr>
          <p:cNvSpPr>
            <a:spLocks noGrp="1"/>
          </p:cNvSpPr>
          <p:nvPr/>
        </p:nvSpPr>
        <p:spPr>
          <a:xfrm>
            <a:off x="1880459" y="246188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A08A052A-BF10-C42B-D289-7FDC1BCD17CB}"/>
              </a:ext>
            </a:extLst>
          </p:cNvPr>
          <p:cNvSpPr>
            <a:spLocks noGrp="1"/>
          </p:cNvSpPr>
          <p:nvPr/>
        </p:nvSpPr>
        <p:spPr>
          <a:xfrm>
            <a:off x="2090009" y="2995285"/>
            <a:ext cx="1771650" cy="0"/>
          </a:xfrm>
          <a:prstGeom prst="line">
            <a:avLst/>
          </a:prstGeom>
          <a:noFill/>
          <a:ln w="47625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6A1B9814-7831-B460-1DFE-93AA12D16485}"/>
              </a:ext>
            </a:extLst>
          </p:cNvPr>
          <p:cNvSpPr>
            <a:spLocks noGrp="1"/>
          </p:cNvSpPr>
          <p:nvPr/>
        </p:nvSpPr>
        <p:spPr>
          <a:xfrm>
            <a:off x="5309459" y="2461885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32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B8BBC4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DC0EF49A-61D3-F2A0-9D2D-EAEE53D4C2AC}"/>
              </a:ext>
            </a:extLst>
          </p:cNvPr>
          <p:cNvSpPr>
            <a:spLocks noGrp="1"/>
          </p:cNvSpPr>
          <p:nvPr/>
        </p:nvSpPr>
        <p:spPr>
          <a:xfrm>
            <a:off x="8509859" y="2461885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32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B8BBC4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FD701516-1629-4518-C777-8637649F69D8}"/>
              </a:ext>
            </a:extLst>
          </p:cNvPr>
          <p:cNvSpPr>
            <a:spLocks noGrp="1"/>
          </p:cNvSpPr>
          <p:nvPr/>
        </p:nvSpPr>
        <p:spPr>
          <a:xfrm>
            <a:off x="1428750" y="3622975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model gives every possible next token a score.</a:t>
            </a:r>
          </a:p>
        </p:txBody>
      </p:sp>
      <p:sp>
        <p:nvSpPr>
          <p:cNvPr id="32" name="slide-title">
            <a:extLst>
              <a:ext uri="{FF2B5EF4-FFF2-40B4-BE49-F238E27FC236}">
                <a16:creationId xmlns:a16="http://schemas.microsoft.com/office/drawing/2014/main" id="{2669F1F5-D974-5305-ECAE-D0014782556F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lang="en-GB"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Next</a:t>
            </a:r>
            <a:r>
              <a:rPr lang="zh-CN" altLang="en-US"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token</a:t>
            </a:r>
            <a:r>
              <a:rPr lang="zh-CN" altLang="en-US"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prediction</a:t>
            </a:r>
            <a:endParaRPr sz="3450" b="1" i="0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9C3A11-8963-4BB4-0A89-D9804D958BD7}"/>
              </a:ext>
            </a:extLst>
          </p:cNvPr>
          <p:cNvSpPr txBox="1"/>
          <p:nvPr/>
        </p:nvSpPr>
        <p:spPr>
          <a:xfrm>
            <a:off x="4664668" y="422569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P(x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 ​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∣ x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​,x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​,…,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​)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DA6CDE-10DF-B339-CEE8-C2617522816D}"/>
              </a:ext>
            </a:extLst>
          </p:cNvPr>
          <p:cNvSpPr txBox="1"/>
          <p:nvPr/>
        </p:nvSpPr>
        <p:spPr>
          <a:xfrm>
            <a:off x="2043926" y="5132240"/>
            <a:ext cx="9462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Previous tokens → Logits → </a:t>
            </a:r>
            <a:r>
              <a:rPr lang="en-GB" sz="2000" dirty="0" err="1"/>
              <a:t>Softmax</a:t>
            </a:r>
            <a:r>
              <a:rPr lang="en-GB" sz="2000" dirty="0"/>
              <a:t> → Probability distribution → Next token</a:t>
            </a:r>
            <a:endParaRPr lang="en-US" sz="2000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8AA31D2-C7B8-0EBE-52AC-0C2AE9109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0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title">
            <a:extLst>
              <a:ext uri="{FF2B5EF4-FFF2-40B4-BE49-F238E27FC236}">
                <a16:creationId xmlns:a16="http://schemas.microsoft.com/office/drawing/2014/main" id="{C6E181B7-A492-4BB3-AB5E-4AF114024A08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4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The model reads text as tokens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FB7E020-EAC3-4819-BEBA-C8D1568EBF7B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5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oken-box-Spain">
            <a:extLst>
              <a:ext uri="{FF2B5EF4-FFF2-40B4-BE49-F238E27FC236}">
                <a16:creationId xmlns:a16="http://schemas.microsoft.com/office/drawing/2014/main" id="{3A39E1FA-4AD3-4AAD-86F5-47A5ED77F8A6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84201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ken-Spain">
            <a:extLst>
              <a:ext uri="{FF2B5EF4-FFF2-40B4-BE49-F238E27FC236}">
                <a16:creationId xmlns:a16="http://schemas.microsoft.com/office/drawing/2014/main" id="{9EAC02FC-7F6A-4610-B0DE-11BC005A7A3C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8420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</a:p>
        </p:txBody>
      </p:sp>
      <p:sp>
        <p:nvSpPr>
          <p:cNvPr id="5" name="token-box-won">
            <a:extLst>
              <a:ext uri="{FF2B5EF4-FFF2-40B4-BE49-F238E27FC236}">
                <a16:creationId xmlns:a16="http://schemas.microsoft.com/office/drawing/2014/main" id="{4BA88DA0-D0C9-40F9-A49F-667C0B895175}"/>
              </a:ext>
            </a:extLst>
          </p:cNvPr>
          <p:cNvSpPr>
            <a:spLocks noGrp="1"/>
          </p:cNvSpPr>
          <p:nvPr/>
        </p:nvSpPr>
        <p:spPr>
          <a:xfrm>
            <a:off x="1499235" y="2171700"/>
            <a:ext cx="596646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oken-won">
            <a:extLst>
              <a:ext uri="{FF2B5EF4-FFF2-40B4-BE49-F238E27FC236}">
                <a16:creationId xmlns:a16="http://schemas.microsoft.com/office/drawing/2014/main" id="{B029A180-8EE9-4C79-8E97-66F3779891CB}"/>
              </a:ext>
            </a:extLst>
          </p:cNvPr>
          <p:cNvSpPr>
            <a:spLocks noGrp="1"/>
          </p:cNvSpPr>
          <p:nvPr/>
        </p:nvSpPr>
        <p:spPr>
          <a:xfrm>
            <a:off x="1499235" y="2171700"/>
            <a:ext cx="59664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won</a:t>
            </a:r>
          </a:p>
        </p:txBody>
      </p:sp>
      <p:sp>
        <p:nvSpPr>
          <p:cNvPr id="7" name="token-box-the">
            <a:extLst>
              <a:ext uri="{FF2B5EF4-FFF2-40B4-BE49-F238E27FC236}">
                <a16:creationId xmlns:a16="http://schemas.microsoft.com/office/drawing/2014/main" id="{1DFA1B2F-7E3E-4919-A9DA-9F4A7D00AEFD}"/>
              </a:ext>
            </a:extLst>
          </p:cNvPr>
          <p:cNvSpPr>
            <a:spLocks noGrp="1"/>
          </p:cNvSpPr>
          <p:nvPr/>
        </p:nvSpPr>
        <p:spPr>
          <a:xfrm>
            <a:off x="2162556" y="2171700"/>
            <a:ext cx="596646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oken-the">
            <a:extLst>
              <a:ext uri="{FF2B5EF4-FFF2-40B4-BE49-F238E27FC236}">
                <a16:creationId xmlns:a16="http://schemas.microsoft.com/office/drawing/2014/main" id="{3C1DE150-32CF-4764-93FA-9344D529C9F9}"/>
              </a:ext>
            </a:extLst>
          </p:cNvPr>
          <p:cNvSpPr>
            <a:spLocks noGrp="1"/>
          </p:cNvSpPr>
          <p:nvPr/>
        </p:nvSpPr>
        <p:spPr>
          <a:xfrm>
            <a:off x="2162556" y="2171700"/>
            <a:ext cx="59664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9" name="token-box-final">
            <a:extLst>
              <a:ext uri="{FF2B5EF4-FFF2-40B4-BE49-F238E27FC236}">
                <a16:creationId xmlns:a16="http://schemas.microsoft.com/office/drawing/2014/main" id="{3A3E13C0-A70F-48FE-ACE9-F7EED791D7FC}"/>
              </a:ext>
            </a:extLst>
          </p:cNvPr>
          <p:cNvSpPr>
            <a:spLocks noGrp="1"/>
          </p:cNvSpPr>
          <p:nvPr/>
        </p:nvSpPr>
        <p:spPr>
          <a:xfrm>
            <a:off x="2825877" y="2171700"/>
            <a:ext cx="84201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oken-final">
            <a:extLst>
              <a:ext uri="{FF2B5EF4-FFF2-40B4-BE49-F238E27FC236}">
                <a16:creationId xmlns:a16="http://schemas.microsoft.com/office/drawing/2014/main" id="{D94EB7F1-437A-447C-9A51-4E088048A18B}"/>
              </a:ext>
            </a:extLst>
          </p:cNvPr>
          <p:cNvSpPr>
            <a:spLocks noGrp="1"/>
          </p:cNvSpPr>
          <p:nvPr/>
        </p:nvSpPr>
        <p:spPr>
          <a:xfrm>
            <a:off x="2825877" y="2171700"/>
            <a:ext cx="8420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11" name="token-box-1_0">
            <a:extLst>
              <a:ext uri="{FF2B5EF4-FFF2-40B4-BE49-F238E27FC236}">
                <a16:creationId xmlns:a16="http://schemas.microsoft.com/office/drawing/2014/main" id="{102A203A-7E1A-4ED4-B41D-AA4E3505A3A7}"/>
              </a:ext>
            </a:extLst>
          </p:cNvPr>
          <p:cNvSpPr>
            <a:spLocks noGrp="1"/>
          </p:cNvSpPr>
          <p:nvPr/>
        </p:nvSpPr>
        <p:spPr>
          <a:xfrm>
            <a:off x="3734562" y="2171700"/>
            <a:ext cx="596646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oken-1_0">
            <a:extLst>
              <a:ext uri="{FF2B5EF4-FFF2-40B4-BE49-F238E27FC236}">
                <a16:creationId xmlns:a16="http://schemas.microsoft.com/office/drawing/2014/main" id="{B8B18CE4-939A-4685-90DA-FEA51F478CD5}"/>
              </a:ext>
            </a:extLst>
          </p:cNvPr>
          <p:cNvSpPr>
            <a:spLocks noGrp="1"/>
          </p:cNvSpPr>
          <p:nvPr/>
        </p:nvSpPr>
        <p:spPr>
          <a:xfrm>
            <a:off x="3734562" y="2171700"/>
            <a:ext cx="59664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1-0</a:t>
            </a:r>
          </a:p>
        </p:txBody>
      </p:sp>
      <p:sp>
        <p:nvSpPr>
          <p:cNvPr id="13" name="token-box-after">
            <a:extLst>
              <a:ext uri="{FF2B5EF4-FFF2-40B4-BE49-F238E27FC236}">
                <a16:creationId xmlns:a16="http://schemas.microsoft.com/office/drawing/2014/main" id="{F5A4FFCD-FA1A-4C61-937F-C8750DF58342}"/>
              </a:ext>
            </a:extLst>
          </p:cNvPr>
          <p:cNvSpPr>
            <a:spLocks noGrp="1"/>
          </p:cNvSpPr>
          <p:nvPr/>
        </p:nvSpPr>
        <p:spPr>
          <a:xfrm>
            <a:off x="4397883" y="2171700"/>
            <a:ext cx="84201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oken-after">
            <a:extLst>
              <a:ext uri="{FF2B5EF4-FFF2-40B4-BE49-F238E27FC236}">
                <a16:creationId xmlns:a16="http://schemas.microsoft.com/office/drawing/2014/main" id="{AAB5CEEB-CAD4-4986-A784-2DEFE682524D}"/>
              </a:ext>
            </a:extLst>
          </p:cNvPr>
          <p:cNvSpPr>
            <a:spLocks noGrp="1"/>
          </p:cNvSpPr>
          <p:nvPr/>
        </p:nvSpPr>
        <p:spPr>
          <a:xfrm>
            <a:off x="4397883" y="2171700"/>
            <a:ext cx="8420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5" name="token-box-Torres">
            <a:extLst>
              <a:ext uri="{FF2B5EF4-FFF2-40B4-BE49-F238E27FC236}">
                <a16:creationId xmlns:a16="http://schemas.microsoft.com/office/drawing/2014/main" id="{B6972FF2-BDE1-4923-988C-3B99F55A49E9}"/>
              </a:ext>
            </a:extLst>
          </p:cNvPr>
          <p:cNvSpPr>
            <a:spLocks noGrp="1"/>
          </p:cNvSpPr>
          <p:nvPr/>
        </p:nvSpPr>
        <p:spPr>
          <a:xfrm>
            <a:off x="5306568" y="2171700"/>
            <a:ext cx="964692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oken-Torres">
            <a:extLst>
              <a:ext uri="{FF2B5EF4-FFF2-40B4-BE49-F238E27FC236}">
                <a16:creationId xmlns:a16="http://schemas.microsoft.com/office/drawing/2014/main" id="{B597ECE8-7A23-43F1-8A37-C2A7841C34B3}"/>
              </a:ext>
            </a:extLst>
          </p:cNvPr>
          <p:cNvSpPr>
            <a:spLocks noGrp="1"/>
          </p:cNvSpPr>
          <p:nvPr/>
        </p:nvSpPr>
        <p:spPr>
          <a:xfrm>
            <a:off x="5306568" y="2171700"/>
            <a:ext cx="96469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Torres</a:t>
            </a:r>
          </a:p>
        </p:txBody>
      </p:sp>
      <p:sp>
        <p:nvSpPr>
          <p:cNvPr id="17" name="token-box-scored">
            <a:extLst>
              <a:ext uri="{FF2B5EF4-FFF2-40B4-BE49-F238E27FC236}">
                <a16:creationId xmlns:a16="http://schemas.microsoft.com/office/drawing/2014/main" id="{74CD54F5-9A2A-438B-8078-FCEAC9863AAA}"/>
              </a:ext>
            </a:extLst>
          </p:cNvPr>
          <p:cNvSpPr>
            <a:spLocks noGrp="1"/>
          </p:cNvSpPr>
          <p:nvPr/>
        </p:nvSpPr>
        <p:spPr>
          <a:xfrm>
            <a:off x="6337935" y="2171700"/>
            <a:ext cx="964692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oken-scored">
            <a:extLst>
              <a:ext uri="{FF2B5EF4-FFF2-40B4-BE49-F238E27FC236}">
                <a16:creationId xmlns:a16="http://schemas.microsoft.com/office/drawing/2014/main" id="{C61CF18A-4D39-44B5-8327-251B85AB3427}"/>
              </a:ext>
            </a:extLst>
          </p:cNvPr>
          <p:cNvSpPr>
            <a:spLocks noGrp="1"/>
          </p:cNvSpPr>
          <p:nvPr/>
        </p:nvSpPr>
        <p:spPr>
          <a:xfrm>
            <a:off x="6337935" y="2171700"/>
            <a:ext cx="96469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scored</a:t>
            </a:r>
          </a:p>
        </p:txBody>
      </p:sp>
      <p:sp>
        <p:nvSpPr>
          <p:cNvPr id="19" name="token-box-in">
            <a:extLst>
              <a:ext uri="{FF2B5EF4-FFF2-40B4-BE49-F238E27FC236}">
                <a16:creationId xmlns:a16="http://schemas.microsoft.com/office/drawing/2014/main" id="{7B591D3B-57C9-4226-8B25-39743980E7B6}"/>
              </a:ext>
            </a:extLst>
          </p:cNvPr>
          <p:cNvSpPr>
            <a:spLocks noGrp="1"/>
          </p:cNvSpPr>
          <p:nvPr/>
        </p:nvSpPr>
        <p:spPr>
          <a:xfrm>
            <a:off x="7369302" y="2171700"/>
            <a:ext cx="473964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oken-in">
            <a:extLst>
              <a:ext uri="{FF2B5EF4-FFF2-40B4-BE49-F238E27FC236}">
                <a16:creationId xmlns:a16="http://schemas.microsoft.com/office/drawing/2014/main" id="{FB1CC065-A5D3-4CDF-9DFA-8F07252722A2}"/>
              </a:ext>
            </a:extLst>
          </p:cNvPr>
          <p:cNvSpPr>
            <a:spLocks noGrp="1"/>
          </p:cNvSpPr>
          <p:nvPr/>
        </p:nvSpPr>
        <p:spPr>
          <a:xfrm>
            <a:off x="7369302" y="2171700"/>
            <a:ext cx="4739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21" name="token-box-extra">
            <a:extLst>
              <a:ext uri="{FF2B5EF4-FFF2-40B4-BE49-F238E27FC236}">
                <a16:creationId xmlns:a16="http://schemas.microsoft.com/office/drawing/2014/main" id="{7D36A9FD-E097-4194-9790-23DFEB09990B}"/>
              </a:ext>
            </a:extLst>
          </p:cNvPr>
          <p:cNvSpPr>
            <a:spLocks noGrp="1"/>
          </p:cNvSpPr>
          <p:nvPr/>
        </p:nvSpPr>
        <p:spPr>
          <a:xfrm>
            <a:off x="7909941" y="2171700"/>
            <a:ext cx="84201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oken-extra">
            <a:extLst>
              <a:ext uri="{FF2B5EF4-FFF2-40B4-BE49-F238E27FC236}">
                <a16:creationId xmlns:a16="http://schemas.microsoft.com/office/drawing/2014/main" id="{A90E97E7-AC8E-47AF-BF21-C94B495F7F5B}"/>
              </a:ext>
            </a:extLst>
          </p:cNvPr>
          <p:cNvSpPr>
            <a:spLocks noGrp="1"/>
          </p:cNvSpPr>
          <p:nvPr/>
        </p:nvSpPr>
        <p:spPr>
          <a:xfrm>
            <a:off x="7909941" y="2171700"/>
            <a:ext cx="8420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extra</a:t>
            </a:r>
          </a:p>
        </p:txBody>
      </p:sp>
      <p:sp>
        <p:nvSpPr>
          <p:cNvPr id="23" name="token-box-time">
            <a:extLst>
              <a:ext uri="{FF2B5EF4-FFF2-40B4-BE49-F238E27FC236}">
                <a16:creationId xmlns:a16="http://schemas.microsoft.com/office/drawing/2014/main" id="{75162C08-3F12-4DFD-9E2E-42967A331021}"/>
              </a:ext>
            </a:extLst>
          </p:cNvPr>
          <p:cNvSpPr>
            <a:spLocks noGrp="1"/>
          </p:cNvSpPr>
          <p:nvPr/>
        </p:nvSpPr>
        <p:spPr>
          <a:xfrm>
            <a:off x="8818626" y="2171700"/>
            <a:ext cx="719328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oken-time">
            <a:extLst>
              <a:ext uri="{FF2B5EF4-FFF2-40B4-BE49-F238E27FC236}">
                <a16:creationId xmlns:a16="http://schemas.microsoft.com/office/drawing/2014/main" id="{159D018F-FF71-41E4-AA4E-CCC0A6E7184F}"/>
              </a:ext>
            </a:extLst>
          </p:cNvPr>
          <p:cNvSpPr>
            <a:spLocks noGrp="1"/>
          </p:cNvSpPr>
          <p:nvPr/>
        </p:nvSpPr>
        <p:spPr>
          <a:xfrm>
            <a:off x="8818626" y="2171700"/>
            <a:ext cx="71932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5" name="token-box-_">
            <a:extLst>
              <a:ext uri="{FF2B5EF4-FFF2-40B4-BE49-F238E27FC236}">
                <a16:creationId xmlns:a16="http://schemas.microsoft.com/office/drawing/2014/main" id="{78000271-5722-4DA8-B002-D81933083A37}"/>
              </a:ext>
            </a:extLst>
          </p:cNvPr>
          <p:cNvSpPr>
            <a:spLocks noGrp="1"/>
          </p:cNvSpPr>
          <p:nvPr/>
        </p:nvSpPr>
        <p:spPr>
          <a:xfrm>
            <a:off x="9604629" y="2171700"/>
            <a:ext cx="4000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oken-_">
            <a:extLst>
              <a:ext uri="{FF2B5EF4-FFF2-40B4-BE49-F238E27FC236}">
                <a16:creationId xmlns:a16="http://schemas.microsoft.com/office/drawing/2014/main" id="{40E70308-BFA1-4AFD-A777-4CE9788E20D9}"/>
              </a:ext>
            </a:extLst>
          </p:cNvPr>
          <p:cNvSpPr>
            <a:spLocks noGrp="1"/>
          </p:cNvSpPr>
          <p:nvPr/>
        </p:nvSpPr>
        <p:spPr>
          <a:xfrm>
            <a:off x="9604629" y="2171700"/>
            <a:ext cx="400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C35268C6-CD1B-4B70-B592-4FCB7B471D53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1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Each box is one token in this </a:t>
            </a:r>
            <a:r>
              <a:rPr sz="1350" b="0" i="1" dirty="0" err="1">
                <a:solidFill>
                  <a:srgbClr val="666A76"/>
                </a:solidFill>
                <a:latin typeface="Arial"/>
                <a:ea typeface="Arial"/>
                <a:cs typeface="Arial"/>
              </a:rPr>
              <a:t>exampl</a:t>
            </a:r>
            <a:r>
              <a:rPr lang="en-US" sz="1350" b="0" i="1" dirty="0" err="1">
                <a:solidFill>
                  <a:srgbClr val="666A76"/>
                </a:solidFill>
                <a:latin typeface="Arial"/>
                <a:ea typeface="Arial"/>
                <a:cs typeface="Arial"/>
              </a:rPr>
              <a:t>w</a:t>
            </a:r>
            <a:r>
              <a:rPr sz="1350" b="0" i="1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8DE54A9A-5D86-4BCB-8212-4E03BF35EFB2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21749579-FFCB-4845-8107-B2524A000F31}"/>
              </a:ext>
            </a:extLst>
          </p:cNvPr>
          <p:cNvSpPr>
            <a:spLocks noGrp="1"/>
          </p:cNvSpPr>
          <p:nvPr/>
        </p:nvSpPr>
        <p:spPr>
          <a:xfrm>
            <a:off x="1867281" y="37338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550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= a small piece of text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2215DD6C-F69F-43D6-AFC5-195B6816903D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 token may be a word, part of a word, a number or punctuation.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08EADB31-D50B-404A-81A6-152EA82C3B8A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1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B8BBC4"/>
                </a:solidFill>
                <a:latin typeface="Arial"/>
                <a:ea typeface="Arial"/>
                <a:cs typeface="Arial"/>
              </a:rPr>
              <a:t>Real token boundaries depend on the tokenizer.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9D4149B-C778-F5FC-6C40-6F3C56D58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1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-title">
            <a:extLst>
              <a:ext uri="{FF2B5EF4-FFF2-40B4-BE49-F238E27FC236}">
                <a16:creationId xmlns:a16="http://schemas.microsoft.com/office/drawing/2014/main" id="{49500338-8E5B-4FD9-95AC-C188EE231DD7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7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Token identity and position are combined before attention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26903E6-0F53-4405-B375-6662406E14CE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6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oken-box-Spain">
            <a:extLst>
              <a:ext uri="{FF2B5EF4-FFF2-40B4-BE49-F238E27FC236}">
                <a16:creationId xmlns:a16="http://schemas.microsoft.com/office/drawing/2014/main" id="{1479EE93-1618-4536-882A-87780B1FA9BA}"/>
              </a:ext>
            </a:extLst>
          </p:cNvPr>
          <p:cNvSpPr>
            <a:spLocks noGrp="1"/>
          </p:cNvSpPr>
          <p:nvPr/>
        </p:nvSpPr>
        <p:spPr>
          <a:xfrm>
            <a:off x="1672588" y="1962150"/>
            <a:ext cx="169545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ken-Spain">
            <a:extLst>
              <a:ext uri="{FF2B5EF4-FFF2-40B4-BE49-F238E27FC236}">
                <a16:creationId xmlns:a16="http://schemas.microsoft.com/office/drawing/2014/main" id="{42273E12-B7E2-4234-ACC4-3B2E3D681C5A}"/>
              </a:ext>
            </a:extLst>
          </p:cNvPr>
          <p:cNvSpPr>
            <a:spLocks noGrp="1"/>
          </p:cNvSpPr>
          <p:nvPr/>
        </p:nvSpPr>
        <p:spPr>
          <a:xfrm>
            <a:off x="1672588" y="19621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7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A890EDA-1E19-4150-A86E-3BBFE2BC394B}"/>
              </a:ext>
            </a:extLst>
          </p:cNvPr>
          <p:cNvSpPr>
            <a:spLocks noGrp="1"/>
          </p:cNvSpPr>
          <p:nvPr/>
        </p:nvSpPr>
        <p:spPr>
          <a:xfrm>
            <a:off x="3577588" y="2095500"/>
            <a:ext cx="53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token-vector-cell-1">
            <a:extLst>
              <a:ext uri="{FF2B5EF4-FFF2-40B4-BE49-F238E27FC236}">
                <a16:creationId xmlns:a16="http://schemas.microsoft.com/office/drawing/2014/main" id="{F7B55E1D-65FE-4DFC-8278-BC9D5E84FD1E}"/>
              </a:ext>
            </a:extLst>
          </p:cNvPr>
          <p:cNvSpPr>
            <a:spLocks noGrp="1"/>
          </p:cNvSpPr>
          <p:nvPr/>
        </p:nvSpPr>
        <p:spPr>
          <a:xfrm>
            <a:off x="4377688" y="16383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B28E9AC-90A8-4785-9ABE-E4F695E8F183}"/>
              </a:ext>
            </a:extLst>
          </p:cNvPr>
          <p:cNvSpPr>
            <a:spLocks noGrp="1"/>
          </p:cNvSpPr>
          <p:nvPr/>
        </p:nvSpPr>
        <p:spPr>
          <a:xfrm>
            <a:off x="4377688" y="16383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0.7</a:t>
            </a:r>
          </a:p>
        </p:txBody>
      </p:sp>
      <p:sp>
        <p:nvSpPr>
          <p:cNvPr id="8" name="token-vector-cell-2">
            <a:extLst>
              <a:ext uri="{FF2B5EF4-FFF2-40B4-BE49-F238E27FC236}">
                <a16:creationId xmlns:a16="http://schemas.microsoft.com/office/drawing/2014/main" id="{7DE0A28E-8C2F-4A91-81E1-DAC87D8BC7B0}"/>
              </a:ext>
            </a:extLst>
          </p:cNvPr>
          <p:cNvSpPr>
            <a:spLocks noGrp="1"/>
          </p:cNvSpPr>
          <p:nvPr/>
        </p:nvSpPr>
        <p:spPr>
          <a:xfrm>
            <a:off x="4377688" y="1962150"/>
            <a:ext cx="685800" cy="323850"/>
          </a:xfrm>
          <a:prstGeom prst="rect">
            <a:avLst/>
          </a:prstGeom>
          <a:solidFill>
            <a:srgbClr val="E8E4F6"/>
          </a:solidFill>
          <a:ln w="14288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9CA5E71-0F7B-479A-BC60-22EF72F144D8}"/>
              </a:ext>
            </a:extLst>
          </p:cNvPr>
          <p:cNvSpPr>
            <a:spLocks noGrp="1"/>
          </p:cNvSpPr>
          <p:nvPr/>
        </p:nvSpPr>
        <p:spPr>
          <a:xfrm>
            <a:off x="4377688" y="19621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-0.1</a:t>
            </a:r>
          </a:p>
        </p:txBody>
      </p:sp>
      <p:sp>
        <p:nvSpPr>
          <p:cNvPr id="10" name="token-vector-cell-3">
            <a:extLst>
              <a:ext uri="{FF2B5EF4-FFF2-40B4-BE49-F238E27FC236}">
                <a16:creationId xmlns:a16="http://schemas.microsoft.com/office/drawing/2014/main" id="{0F45E1AC-27AE-44E0-BBAF-DB5DA17BFE93}"/>
              </a:ext>
            </a:extLst>
          </p:cNvPr>
          <p:cNvSpPr>
            <a:spLocks noGrp="1"/>
          </p:cNvSpPr>
          <p:nvPr/>
        </p:nvSpPr>
        <p:spPr>
          <a:xfrm>
            <a:off x="4377688" y="22860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8A50DC5-AE17-4007-B39D-C393A8F9C938}"/>
              </a:ext>
            </a:extLst>
          </p:cNvPr>
          <p:cNvSpPr>
            <a:spLocks noGrp="1"/>
          </p:cNvSpPr>
          <p:nvPr/>
        </p:nvSpPr>
        <p:spPr>
          <a:xfrm>
            <a:off x="4377688" y="22860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0.4</a:t>
            </a:r>
          </a:p>
        </p:txBody>
      </p:sp>
      <p:sp>
        <p:nvSpPr>
          <p:cNvPr id="12" name="token-vector-cell-4">
            <a:extLst>
              <a:ext uri="{FF2B5EF4-FFF2-40B4-BE49-F238E27FC236}">
                <a16:creationId xmlns:a16="http://schemas.microsoft.com/office/drawing/2014/main" id="{E0437B7B-CF7B-41E6-9B40-9215D3D48F1B}"/>
              </a:ext>
            </a:extLst>
          </p:cNvPr>
          <p:cNvSpPr>
            <a:spLocks noGrp="1"/>
          </p:cNvSpPr>
          <p:nvPr/>
        </p:nvSpPr>
        <p:spPr>
          <a:xfrm>
            <a:off x="4377688" y="2609850"/>
            <a:ext cx="685800" cy="323850"/>
          </a:xfrm>
          <a:prstGeom prst="rect">
            <a:avLst/>
          </a:prstGeom>
          <a:solidFill>
            <a:srgbClr val="E8E4F6"/>
          </a:solidFill>
          <a:ln w="14288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BC157A0-30AE-47BF-9990-974A6A50B6A8}"/>
              </a:ext>
            </a:extLst>
          </p:cNvPr>
          <p:cNvSpPr>
            <a:spLocks noGrp="1"/>
          </p:cNvSpPr>
          <p:nvPr/>
        </p:nvSpPr>
        <p:spPr>
          <a:xfrm>
            <a:off x="4377688" y="2609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…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A57CA77-54D3-4941-B03C-070BFA9B0502}"/>
              </a:ext>
            </a:extLst>
          </p:cNvPr>
          <p:cNvSpPr>
            <a:spLocks noGrp="1"/>
          </p:cNvSpPr>
          <p:nvPr/>
        </p:nvSpPr>
        <p:spPr>
          <a:xfrm>
            <a:off x="4053838" y="304800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buNone/>
              <a:defRPr sz="13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token</a:t>
            </a:r>
          </a:p>
          <a:p>
            <a:pPr algn="ctr">
              <a:lnSpc>
                <a:spcPct val="90000"/>
              </a:lnSpc>
              <a:buNone/>
              <a:defRPr sz="13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BBA42DB-02C7-4776-AD26-D4C787C44444}"/>
              </a:ext>
            </a:extLst>
          </p:cNvPr>
          <p:cNvSpPr>
            <a:spLocks noGrp="1"/>
          </p:cNvSpPr>
          <p:nvPr/>
        </p:nvSpPr>
        <p:spPr>
          <a:xfrm>
            <a:off x="5501638" y="209550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position-vector-cell-1">
            <a:extLst>
              <a:ext uri="{FF2B5EF4-FFF2-40B4-BE49-F238E27FC236}">
                <a16:creationId xmlns:a16="http://schemas.microsoft.com/office/drawing/2014/main" id="{205C07A3-0852-4679-9E15-79BB4290A505}"/>
              </a:ext>
            </a:extLst>
          </p:cNvPr>
          <p:cNvSpPr>
            <a:spLocks noGrp="1"/>
          </p:cNvSpPr>
          <p:nvPr/>
        </p:nvSpPr>
        <p:spPr>
          <a:xfrm>
            <a:off x="6282688" y="16383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E9B0355-0356-4625-851C-8821880B856F}"/>
              </a:ext>
            </a:extLst>
          </p:cNvPr>
          <p:cNvSpPr>
            <a:spLocks noGrp="1"/>
          </p:cNvSpPr>
          <p:nvPr/>
        </p:nvSpPr>
        <p:spPr>
          <a:xfrm>
            <a:off x="6282688" y="16383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p₁</a:t>
            </a:r>
          </a:p>
        </p:txBody>
      </p:sp>
      <p:sp>
        <p:nvSpPr>
          <p:cNvPr id="18" name="position-vector-cell-2">
            <a:extLst>
              <a:ext uri="{FF2B5EF4-FFF2-40B4-BE49-F238E27FC236}">
                <a16:creationId xmlns:a16="http://schemas.microsoft.com/office/drawing/2014/main" id="{D24B86EB-8A01-4FCB-B677-62B2199724C1}"/>
              </a:ext>
            </a:extLst>
          </p:cNvPr>
          <p:cNvSpPr>
            <a:spLocks noGrp="1"/>
          </p:cNvSpPr>
          <p:nvPr/>
        </p:nvSpPr>
        <p:spPr>
          <a:xfrm>
            <a:off x="6282688" y="1962150"/>
            <a:ext cx="685800" cy="323850"/>
          </a:xfrm>
          <a:prstGeom prst="rect">
            <a:avLst/>
          </a:prstGeom>
          <a:solidFill>
            <a:srgbClr val="DDF1F2"/>
          </a:solidFill>
          <a:ln w="14288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7F42B37E-9B82-4AA0-9CDD-74C738692EC5}"/>
              </a:ext>
            </a:extLst>
          </p:cNvPr>
          <p:cNvSpPr>
            <a:spLocks noGrp="1"/>
          </p:cNvSpPr>
          <p:nvPr/>
        </p:nvSpPr>
        <p:spPr>
          <a:xfrm>
            <a:off x="6282688" y="19621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p₂</a:t>
            </a:r>
          </a:p>
        </p:txBody>
      </p:sp>
      <p:sp>
        <p:nvSpPr>
          <p:cNvPr id="20" name="position-vector-cell-3">
            <a:extLst>
              <a:ext uri="{FF2B5EF4-FFF2-40B4-BE49-F238E27FC236}">
                <a16:creationId xmlns:a16="http://schemas.microsoft.com/office/drawing/2014/main" id="{BCB4EEB3-979F-469E-B681-FF22A7624F14}"/>
              </a:ext>
            </a:extLst>
          </p:cNvPr>
          <p:cNvSpPr>
            <a:spLocks noGrp="1"/>
          </p:cNvSpPr>
          <p:nvPr/>
        </p:nvSpPr>
        <p:spPr>
          <a:xfrm>
            <a:off x="6282688" y="22860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E3C9A6A-300E-4DBF-A360-2FED904D6E40}"/>
              </a:ext>
            </a:extLst>
          </p:cNvPr>
          <p:cNvSpPr>
            <a:spLocks noGrp="1"/>
          </p:cNvSpPr>
          <p:nvPr/>
        </p:nvSpPr>
        <p:spPr>
          <a:xfrm>
            <a:off x="6282688" y="22860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p₃</a:t>
            </a:r>
          </a:p>
        </p:txBody>
      </p:sp>
      <p:sp>
        <p:nvSpPr>
          <p:cNvPr id="22" name="position-vector-cell-4">
            <a:extLst>
              <a:ext uri="{FF2B5EF4-FFF2-40B4-BE49-F238E27FC236}">
                <a16:creationId xmlns:a16="http://schemas.microsoft.com/office/drawing/2014/main" id="{75E4D69D-3D50-4CB7-A497-6E4F0536337B}"/>
              </a:ext>
            </a:extLst>
          </p:cNvPr>
          <p:cNvSpPr>
            <a:spLocks noGrp="1"/>
          </p:cNvSpPr>
          <p:nvPr/>
        </p:nvSpPr>
        <p:spPr>
          <a:xfrm>
            <a:off x="6282688" y="2609850"/>
            <a:ext cx="685800" cy="323850"/>
          </a:xfrm>
          <a:prstGeom prst="rect">
            <a:avLst/>
          </a:prstGeom>
          <a:solidFill>
            <a:srgbClr val="DDF1F2"/>
          </a:solidFill>
          <a:ln w="14288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F76094C-C075-4B77-AC8A-DD4A239D2C3B}"/>
              </a:ext>
            </a:extLst>
          </p:cNvPr>
          <p:cNvSpPr>
            <a:spLocks noGrp="1"/>
          </p:cNvSpPr>
          <p:nvPr/>
        </p:nvSpPr>
        <p:spPr>
          <a:xfrm>
            <a:off x="6282688" y="2609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…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C9E5442D-3D7C-442B-AFF1-C96FF4A6CA06}"/>
              </a:ext>
            </a:extLst>
          </p:cNvPr>
          <p:cNvSpPr>
            <a:spLocks noGrp="1"/>
          </p:cNvSpPr>
          <p:nvPr/>
        </p:nvSpPr>
        <p:spPr>
          <a:xfrm>
            <a:off x="5911485" y="308610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buNone/>
              <a:defRPr sz="13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position</a:t>
            </a:r>
          </a:p>
          <a:p>
            <a:pPr algn="ctr">
              <a:lnSpc>
                <a:spcPct val="90000"/>
              </a:lnSpc>
              <a:buNone/>
              <a:defRPr sz="13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A89FD0D4-B030-4894-B0CF-93723D91DD3E}"/>
              </a:ext>
            </a:extLst>
          </p:cNvPr>
          <p:cNvSpPr>
            <a:spLocks noGrp="1"/>
          </p:cNvSpPr>
          <p:nvPr/>
        </p:nvSpPr>
        <p:spPr>
          <a:xfrm>
            <a:off x="7387588" y="209550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6" name="input-vector-cell-1">
            <a:extLst>
              <a:ext uri="{FF2B5EF4-FFF2-40B4-BE49-F238E27FC236}">
                <a16:creationId xmlns:a16="http://schemas.microsoft.com/office/drawing/2014/main" id="{5C9EE9C8-00E1-4C8A-BAF0-1CA40A0E4CE2}"/>
              </a:ext>
            </a:extLst>
          </p:cNvPr>
          <p:cNvSpPr>
            <a:spLocks noGrp="1"/>
          </p:cNvSpPr>
          <p:nvPr/>
        </p:nvSpPr>
        <p:spPr>
          <a:xfrm>
            <a:off x="8244838" y="16383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3954B23B-47D1-4EC9-AA33-BE27FF2C1042}"/>
              </a:ext>
            </a:extLst>
          </p:cNvPr>
          <p:cNvSpPr>
            <a:spLocks noGrp="1"/>
          </p:cNvSpPr>
          <p:nvPr/>
        </p:nvSpPr>
        <p:spPr>
          <a:xfrm>
            <a:off x="8244838" y="16383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0.8</a:t>
            </a:r>
          </a:p>
        </p:txBody>
      </p:sp>
      <p:sp>
        <p:nvSpPr>
          <p:cNvPr id="28" name="input-vector-cell-2">
            <a:extLst>
              <a:ext uri="{FF2B5EF4-FFF2-40B4-BE49-F238E27FC236}">
                <a16:creationId xmlns:a16="http://schemas.microsoft.com/office/drawing/2014/main" id="{7C7CAA8C-4ABD-4FBA-BE39-3D4399E58C94}"/>
              </a:ext>
            </a:extLst>
          </p:cNvPr>
          <p:cNvSpPr>
            <a:spLocks noGrp="1"/>
          </p:cNvSpPr>
          <p:nvPr/>
        </p:nvSpPr>
        <p:spPr>
          <a:xfrm>
            <a:off x="8244838" y="1962150"/>
            <a:ext cx="685800" cy="323850"/>
          </a:xfrm>
          <a:prstGeom prst="rect">
            <a:avLst/>
          </a:prstGeom>
          <a:solidFill>
            <a:srgbClr val="F6DCE5"/>
          </a:solidFill>
          <a:ln w="14288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09CEFDA6-B68D-4348-A886-EF76E6858E58}"/>
              </a:ext>
            </a:extLst>
          </p:cNvPr>
          <p:cNvSpPr>
            <a:spLocks noGrp="1"/>
          </p:cNvSpPr>
          <p:nvPr/>
        </p:nvSpPr>
        <p:spPr>
          <a:xfrm>
            <a:off x="8244838" y="19621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0.2</a:t>
            </a:r>
          </a:p>
        </p:txBody>
      </p:sp>
      <p:sp>
        <p:nvSpPr>
          <p:cNvPr id="30" name="input-vector-cell-3">
            <a:extLst>
              <a:ext uri="{FF2B5EF4-FFF2-40B4-BE49-F238E27FC236}">
                <a16:creationId xmlns:a16="http://schemas.microsoft.com/office/drawing/2014/main" id="{4A64EC4F-6A0B-4F67-8A08-93C633C3232D}"/>
              </a:ext>
            </a:extLst>
          </p:cNvPr>
          <p:cNvSpPr>
            <a:spLocks noGrp="1"/>
          </p:cNvSpPr>
          <p:nvPr/>
        </p:nvSpPr>
        <p:spPr>
          <a:xfrm>
            <a:off x="8244838" y="2286000"/>
            <a:ext cx="685800" cy="323850"/>
          </a:xfrm>
          <a:prstGeom prst="rect">
            <a:avLst/>
          </a:prstGeom>
          <a:solidFill>
            <a:srgbClr val="FFFFFF"/>
          </a:solidFill>
          <a:ln w="14288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43DA99A-A948-4675-9AAE-A3A6762EA302}"/>
              </a:ext>
            </a:extLst>
          </p:cNvPr>
          <p:cNvSpPr>
            <a:spLocks noGrp="1"/>
          </p:cNvSpPr>
          <p:nvPr/>
        </p:nvSpPr>
        <p:spPr>
          <a:xfrm>
            <a:off x="8244838" y="228600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0.1</a:t>
            </a:r>
          </a:p>
        </p:txBody>
      </p:sp>
      <p:sp>
        <p:nvSpPr>
          <p:cNvPr id="32" name="input-vector-cell-4">
            <a:extLst>
              <a:ext uri="{FF2B5EF4-FFF2-40B4-BE49-F238E27FC236}">
                <a16:creationId xmlns:a16="http://schemas.microsoft.com/office/drawing/2014/main" id="{6DAE5347-71F4-4316-A46A-D6A52C91541C}"/>
              </a:ext>
            </a:extLst>
          </p:cNvPr>
          <p:cNvSpPr>
            <a:spLocks noGrp="1"/>
          </p:cNvSpPr>
          <p:nvPr/>
        </p:nvSpPr>
        <p:spPr>
          <a:xfrm>
            <a:off x="8244838" y="2609850"/>
            <a:ext cx="685800" cy="323850"/>
          </a:xfrm>
          <a:prstGeom prst="rect">
            <a:avLst/>
          </a:prstGeom>
          <a:solidFill>
            <a:srgbClr val="F6DCE5"/>
          </a:solidFill>
          <a:ln w="14288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18E66B3D-C7BC-47E6-907D-CC6A73E6D14B}"/>
              </a:ext>
            </a:extLst>
          </p:cNvPr>
          <p:cNvSpPr>
            <a:spLocks noGrp="1"/>
          </p:cNvSpPr>
          <p:nvPr/>
        </p:nvSpPr>
        <p:spPr>
          <a:xfrm>
            <a:off x="8244838" y="2609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…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B46A8279-45BA-42BC-AE2F-B8845DCACCBF}"/>
              </a:ext>
            </a:extLst>
          </p:cNvPr>
          <p:cNvSpPr>
            <a:spLocks noGrp="1"/>
          </p:cNvSpPr>
          <p:nvPr/>
        </p:nvSpPr>
        <p:spPr>
          <a:xfrm>
            <a:off x="7444738" y="3059430"/>
            <a:ext cx="2400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input representation</a:t>
            </a:r>
          </a:p>
          <a:p>
            <a:pPr algn="ctr">
              <a:lnSpc>
                <a:spcPct val="95000"/>
              </a:lnSpc>
              <a:buNone/>
              <a:defRPr sz="13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sent into the Transformer</a:t>
            </a:r>
          </a:p>
        </p:txBody>
      </p:sp>
      <p:sp>
        <p:nvSpPr>
          <p:cNvPr id="37" name="token-box-Spain">
            <a:extLst>
              <a:ext uri="{FF2B5EF4-FFF2-40B4-BE49-F238E27FC236}">
                <a16:creationId xmlns:a16="http://schemas.microsoft.com/office/drawing/2014/main" id="{3B694FD8-3CB9-474F-9B4E-22D350CFF88F}"/>
              </a:ext>
            </a:extLst>
          </p:cNvPr>
          <p:cNvSpPr>
            <a:spLocks noGrp="1"/>
          </p:cNvSpPr>
          <p:nvPr/>
        </p:nvSpPr>
        <p:spPr>
          <a:xfrm>
            <a:off x="1471205" y="4324350"/>
            <a:ext cx="1238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oken-Spain">
            <a:extLst>
              <a:ext uri="{FF2B5EF4-FFF2-40B4-BE49-F238E27FC236}">
                <a16:creationId xmlns:a16="http://schemas.microsoft.com/office/drawing/2014/main" id="{F5C77D0B-775D-4780-8943-039482886E2F}"/>
              </a:ext>
            </a:extLst>
          </p:cNvPr>
          <p:cNvSpPr>
            <a:spLocks noGrp="1"/>
          </p:cNvSpPr>
          <p:nvPr/>
        </p:nvSpPr>
        <p:spPr>
          <a:xfrm>
            <a:off x="1471205" y="43243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</a:p>
        </p:txBody>
      </p:sp>
      <p:sp>
        <p:nvSpPr>
          <p:cNvPr id="39" name="token-box-beat">
            <a:extLst>
              <a:ext uri="{FF2B5EF4-FFF2-40B4-BE49-F238E27FC236}">
                <a16:creationId xmlns:a16="http://schemas.microsoft.com/office/drawing/2014/main" id="{73816417-5862-4964-AD17-6CBF63F66BF3}"/>
              </a:ext>
            </a:extLst>
          </p:cNvPr>
          <p:cNvSpPr>
            <a:spLocks noGrp="1"/>
          </p:cNvSpPr>
          <p:nvPr/>
        </p:nvSpPr>
        <p:spPr>
          <a:xfrm>
            <a:off x="2785655" y="43243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oken-beat">
            <a:extLst>
              <a:ext uri="{FF2B5EF4-FFF2-40B4-BE49-F238E27FC236}">
                <a16:creationId xmlns:a16="http://schemas.microsoft.com/office/drawing/2014/main" id="{33A2B0C7-C4F0-4F85-B69B-8330458BE0F2}"/>
              </a:ext>
            </a:extLst>
          </p:cNvPr>
          <p:cNvSpPr>
            <a:spLocks noGrp="1"/>
          </p:cNvSpPr>
          <p:nvPr/>
        </p:nvSpPr>
        <p:spPr>
          <a:xfrm>
            <a:off x="2785655" y="43243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beat</a:t>
            </a:r>
          </a:p>
        </p:txBody>
      </p:sp>
      <p:sp>
        <p:nvSpPr>
          <p:cNvPr id="41" name="token-box-Argentina">
            <a:extLst>
              <a:ext uri="{FF2B5EF4-FFF2-40B4-BE49-F238E27FC236}">
                <a16:creationId xmlns:a16="http://schemas.microsoft.com/office/drawing/2014/main" id="{12FDCE1A-956F-4D79-B946-4D5934D58496}"/>
              </a:ext>
            </a:extLst>
          </p:cNvPr>
          <p:cNvSpPr>
            <a:spLocks noGrp="1"/>
          </p:cNvSpPr>
          <p:nvPr/>
        </p:nvSpPr>
        <p:spPr>
          <a:xfrm>
            <a:off x="3928655" y="4324350"/>
            <a:ext cx="15621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oken-Argentina">
            <a:extLst>
              <a:ext uri="{FF2B5EF4-FFF2-40B4-BE49-F238E27FC236}">
                <a16:creationId xmlns:a16="http://schemas.microsoft.com/office/drawing/2014/main" id="{F4B28B3C-CAD9-4F25-8896-DDA62D3380D3}"/>
              </a:ext>
            </a:extLst>
          </p:cNvPr>
          <p:cNvSpPr>
            <a:spLocks noGrp="1"/>
          </p:cNvSpPr>
          <p:nvPr/>
        </p:nvSpPr>
        <p:spPr>
          <a:xfrm>
            <a:off x="3928655" y="43243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Argentina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AD75FD7D-1AB7-4661-B736-2B52834F56AF}"/>
              </a:ext>
            </a:extLst>
          </p:cNvPr>
          <p:cNvSpPr>
            <a:spLocks noGrp="1"/>
          </p:cNvSpPr>
          <p:nvPr/>
        </p:nvSpPr>
        <p:spPr>
          <a:xfrm>
            <a:off x="5676900" y="4343400"/>
            <a:ext cx="838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850" b="0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45" name="token-box-Argentina">
            <a:extLst>
              <a:ext uri="{FF2B5EF4-FFF2-40B4-BE49-F238E27FC236}">
                <a16:creationId xmlns:a16="http://schemas.microsoft.com/office/drawing/2014/main" id="{9BFFE20D-5B73-4F1E-BB4C-3F25CAE217BD}"/>
              </a:ext>
            </a:extLst>
          </p:cNvPr>
          <p:cNvSpPr>
            <a:spLocks noGrp="1"/>
          </p:cNvSpPr>
          <p:nvPr/>
        </p:nvSpPr>
        <p:spPr>
          <a:xfrm>
            <a:off x="6743700" y="4324350"/>
            <a:ext cx="15621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oken-Argentina">
            <a:extLst>
              <a:ext uri="{FF2B5EF4-FFF2-40B4-BE49-F238E27FC236}">
                <a16:creationId xmlns:a16="http://schemas.microsoft.com/office/drawing/2014/main" id="{2232F9ED-D261-4013-AD49-401B54FBBF1F}"/>
              </a:ext>
            </a:extLst>
          </p:cNvPr>
          <p:cNvSpPr>
            <a:spLocks noGrp="1"/>
          </p:cNvSpPr>
          <p:nvPr/>
        </p:nvSpPr>
        <p:spPr>
          <a:xfrm>
            <a:off x="6743700" y="4324350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Argentina</a:t>
            </a:r>
          </a:p>
        </p:txBody>
      </p:sp>
      <p:sp>
        <p:nvSpPr>
          <p:cNvPr id="47" name="token-box-beat">
            <a:extLst>
              <a:ext uri="{FF2B5EF4-FFF2-40B4-BE49-F238E27FC236}">
                <a16:creationId xmlns:a16="http://schemas.microsoft.com/office/drawing/2014/main" id="{9A0614E8-6FDF-4583-8987-3D834C3CA511}"/>
              </a:ext>
            </a:extLst>
          </p:cNvPr>
          <p:cNvSpPr>
            <a:spLocks noGrp="1"/>
          </p:cNvSpPr>
          <p:nvPr/>
        </p:nvSpPr>
        <p:spPr>
          <a:xfrm>
            <a:off x="8382000" y="43243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oken-beat">
            <a:extLst>
              <a:ext uri="{FF2B5EF4-FFF2-40B4-BE49-F238E27FC236}">
                <a16:creationId xmlns:a16="http://schemas.microsoft.com/office/drawing/2014/main" id="{C92E310F-4E42-4AF4-BA92-A0626C377B67}"/>
              </a:ext>
            </a:extLst>
          </p:cNvPr>
          <p:cNvSpPr>
            <a:spLocks noGrp="1"/>
          </p:cNvSpPr>
          <p:nvPr/>
        </p:nvSpPr>
        <p:spPr>
          <a:xfrm>
            <a:off x="8382000" y="43243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beat</a:t>
            </a:r>
          </a:p>
        </p:txBody>
      </p:sp>
      <p:sp>
        <p:nvSpPr>
          <p:cNvPr id="49" name="token-box-Spain">
            <a:extLst>
              <a:ext uri="{FF2B5EF4-FFF2-40B4-BE49-F238E27FC236}">
                <a16:creationId xmlns:a16="http://schemas.microsoft.com/office/drawing/2014/main" id="{427A3B16-C80B-4EEC-9358-B3701B20A495}"/>
              </a:ext>
            </a:extLst>
          </p:cNvPr>
          <p:cNvSpPr>
            <a:spLocks noGrp="1"/>
          </p:cNvSpPr>
          <p:nvPr/>
        </p:nvSpPr>
        <p:spPr>
          <a:xfrm>
            <a:off x="9525000" y="4324350"/>
            <a:ext cx="1238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oken-Spain">
            <a:extLst>
              <a:ext uri="{FF2B5EF4-FFF2-40B4-BE49-F238E27FC236}">
                <a16:creationId xmlns:a16="http://schemas.microsoft.com/office/drawing/2014/main" id="{E3461408-2EA2-427B-85B4-DDACEAD7A32A}"/>
              </a:ext>
            </a:extLst>
          </p:cNvPr>
          <p:cNvSpPr>
            <a:spLocks noGrp="1"/>
          </p:cNvSpPr>
          <p:nvPr/>
        </p:nvSpPr>
        <p:spPr>
          <a:xfrm>
            <a:off x="9525000" y="43243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88449E-2394-FE66-7F6E-26509279BED0}"/>
              </a:ext>
            </a:extLst>
          </p:cNvPr>
          <p:cNvSpPr txBox="1"/>
          <p:nvPr/>
        </p:nvSpPr>
        <p:spPr>
          <a:xfrm>
            <a:off x="645438" y="3924160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position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61155-13FA-06F4-3FA0-83B33CB7C24F}"/>
              </a:ext>
            </a:extLst>
          </p:cNvPr>
          <p:cNvSpPr txBox="1"/>
          <p:nvPr/>
        </p:nvSpPr>
        <p:spPr>
          <a:xfrm>
            <a:off x="1878846" y="3926621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F3671A-B4C7-6E65-E213-79C7D7D4BDAA}"/>
              </a:ext>
            </a:extLst>
          </p:cNvPr>
          <p:cNvSpPr txBox="1"/>
          <p:nvPr/>
        </p:nvSpPr>
        <p:spPr>
          <a:xfrm>
            <a:off x="3149532" y="3915608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632FFF-E8C2-B9AF-2D03-B50A16864126}"/>
              </a:ext>
            </a:extLst>
          </p:cNvPr>
          <p:cNvSpPr txBox="1"/>
          <p:nvPr/>
        </p:nvSpPr>
        <p:spPr>
          <a:xfrm>
            <a:off x="4557792" y="3915608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11E6E4-6838-139E-DC43-529794E7AA8D}"/>
              </a:ext>
            </a:extLst>
          </p:cNvPr>
          <p:cNvSpPr txBox="1"/>
          <p:nvPr/>
        </p:nvSpPr>
        <p:spPr>
          <a:xfrm>
            <a:off x="7383984" y="3992463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endParaRPr 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891733-60E1-4499-0C58-42F54BC26B7A}"/>
              </a:ext>
            </a:extLst>
          </p:cNvPr>
          <p:cNvSpPr txBox="1"/>
          <p:nvPr/>
        </p:nvSpPr>
        <p:spPr>
          <a:xfrm>
            <a:off x="8741169" y="3981450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endParaRPr 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A9AB74-432B-1448-FD22-87C06CC94E1B}"/>
              </a:ext>
            </a:extLst>
          </p:cNvPr>
          <p:cNvSpPr txBox="1"/>
          <p:nvPr/>
        </p:nvSpPr>
        <p:spPr>
          <a:xfrm>
            <a:off x="9999291" y="3993090"/>
            <a:ext cx="1119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endParaRPr lang="en-US" sz="1400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DB4B269-C13D-A846-B9B1-5CF007BEB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1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76CC833A-C2B1-4D1B-9FCA-4DEFB76040E0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Who do you ask?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73F1AAF-33D1-4E22-9E0C-5AA42CB8EB9D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7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CA3A15-A194-4FF7-9167-9778AD5BE9A3}"/>
              </a:ext>
            </a:extLst>
          </p:cNvPr>
          <p:cNvSpPr>
            <a:spLocks noGrp="1"/>
          </p:cNvSpPr>
          <p:nvPr/>
        </p:nvSpPr>
        <p:spPr>
          <a:xfrm>
            <a:off x="1143000" y="1790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lang="en-GB" sz="25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Joley</a:t>
            </a:r>
            <a:endParaRPr sz="2550" b="1" i="0" dirty="0">
              <a:solidFill>
                <a:srgbClr val="5146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027FA9-38AC-4312-9E33-BB6F329D01BD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spectroscopy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D95B64F1-4BC3-4837-A59A-FC0367F64F66}"/>
              </a:ext>
            </a:extLst>
          </p:cNvPr>
          <p:cNvSpPr>
            <a:spLocks noGrp="1"/>
          </p:cNvSpPr>
          <p:nvPr/>
        </p:nvSpPr>
        <p:spPr>
          <a:xfrm>
            <a:off x="1428750" y="2686050"/>
            <a:ext cx="1619250" cy="0"/>
          </a:xfrm>
          <a:prstGeom prst="line">
            <a:avLst/>
          </a:prstGeom>
          <a:noFill/>
          <a:ln w="66675">
            <a:solidFill>
              <a:srgbClr val="E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289E632-84FD-43EB-AD18-EA8EEC6B583D}"/>
              </a:ext>
            </a:extLst>
          </p:cNvPr>
          <p:cNvSpPr>
            <a:spLocks noGrp="1"/>
          </p:cNvSpPr>
          <p:nvPr/>
        </p:nvSpPr>
        <p:spPr>
          <a:xfrm>
            <a:off x="8858250" y="1790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lang="en-GB" sz="2550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Keith</a:t>
            </a:r>
            <a:endParaRPr sz="2550" b="1" i="0" dirty="0">
              <a:solidFill>
                <a:srgbClr val="F1C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3F28F92-B544-4C78-82B5-7F88738C6646}"/>
              </a:ext>
            </a:extLst>
          </p:cNvPr>
          <p:cNvSpPr>
            <a:spLocks noGrp="1"/>
          </p:cNvSpPr>
          <p:nvPr/>
        </p:nvSpPr>
        <p:spPr>
          <a:xfrm>
            <a:off x="8858250" y="22860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football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4A57FAD0-2527-4263-B89F-8C6C40918BA8}"/>
              </a:ext>
            </a:extLst>
          </p:cNvPr>
          <p:cNvSpPr>
            <a:spLocks noGrp="1"/>
          </p:cNvSpPr>
          <p:nvPr/>
        </p:nvSpPr>
        <p:spPr>
          <a:xfrm>
            <a:off x="9144000" y="2686050"/>
            <a:ext cx="1619250" cy="0"/>
          </a:xfrm>
          <a:prstGeom prst="line">
            <a:avLst/>
          </a:prstGeom>
          <a:noFill/>
          <a:ln w="66675">
            <a:solidFill>
              <a:srgbClr val="F8E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0FE34AF-8F0F-4CA1-A2D7-8543519C7E33}"/>
              </a:ext>
            </a:extLst>
          </p:cNvPr>
          <p:cNvSpPr>
            <a:spLocks noGrp="1"/>
          </p:cNvSpPr>
          <p:nvPr/>
        </p:nvSpPr>
        <p:spPr>
          <a:xfrm>
            <a:off x="1143000" y="4324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lang="en-GB" sz="25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Bradley</a:t>
            </a:r>
            <a:endParaRPr sz="2550" b="1" i="0" dirty="0">
              <a:solidFill>
                <a:srgbClr val="2E9A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DCDA207-DD8B-4930-8CDB-41A5B337EF1F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crystallography + CIFs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38BB5B16-6405-4FCC-A2A1-135FF87627EF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1619250" cy="0"/>
          </a:xfrm>
          <a:prstGeom prst="line">
            <a:avLst/>
          </a:prstGeom>
          <a:noFill/>
          <a:ln w="66675">
            <a:solidFill>
              <a:srgbClr val="DD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05E80C6-22F4-4F8D-BEEA-8880C7AF37E8}"/>
              </a:ext>
            </a:extLst>
          </p:cNvPr>
          <p:cNvSpPr>
            <a:spLocks noGrp="1"/>
          </p:cNvSpPr>
          <p:nvPr/>
        </p:nvSpPr>
        <p:spPr>
          <a:xfrm>
            <a:off x="8858250" y="4324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lang="en-GB" sz="2550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Cyprien</a:t>
            </a:r>
            <a:endParaRPr sz="2550" b="1" i="0" dirty="0">
              <a:solidFill>
                <a:srgbClr val="D85F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D5624D4-323A-44A0-AB8E-C9DF014AD8FE}"/>
              </a:ext>
            </a:extLst>
          </p:cNvPr>
          <p:cNvSpPr>
            <a:spLocks noGrp="1"/>
          </p:cNvSpPr>
          <p:nvPr/>
        </p:nvSpPr>
        <p:spPr>
          <a:xfrm>
            <a:off x="8858250" y="4819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F8AB60A4-924C-48B8-8A80-75E119CADD0F}"/>
              </a:ext>
            </a:extLst>
          </p:cNvPr>
          <p:cNvSpPr>
            <a:spLocks noGrp="1"/>
          </p:cNvSpPr>
          <p:nvPr/>
        </p:nvSpPr>
        <p:spPr>
          <a:xfrm>
            <a:off x="9144000" y="5219700"/>
            <a:ext cx="1619250" cy="0"/>
          </a:xfrm>
          <a:prstGeom prst="line">
            <a:avLst/>
          </a:prstGeom>
          <a:noFill/>
          <a:ln w="66675">
            <a:solidFill>
              <a:srgbClr val="F6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95C52F5-ADBC-4D9F-B46C-3352D94FA606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810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"How do I read a CIF?"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4EA33F9D-169F-47F3-B152-1440889F9AC2}"/>
              </a:ext>
            </a:extLst>
          </p:cNvPr>
          <p:cNvSpPr>
            <a:spLocks noGrp="1"/>
          </p:cNvSpPr>
          <p:nvPr/>
        </p:nvSpPr>
        <p:spPr>
          <a:xfrm>
            <a:off x="4552950" y="3752850"/>
            <a:ext cx="3086100" cy="0"/>
          </a:xfrm>
          <a:prstGeom prst="line">
            <a:avLst/>
          </a:prstGeom>
          <a:noFill/>
          <a:ln w="95250">
            <a:solidFill>
              <a:srgbClr val="F8E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1583B70-40AB-4248-BE06-FC746181929B}"/>
              </a:ext>
            </a:extLst>
          </p:cNvPr>
          <p:cNvSpPr>
            <a:spLocks noGrp="1"/>
          </p:cNvSpPr>
          <p:nvPr/>
        </p:nvSpPr>
        <p:spPr>
          <a:xfrm>
            <a:off x="4762500" y="39433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66A76"/>
                </a:solidFill>
                <a:latin typeface="Arial"/>
                <a:ea typeface="Arial"/>
                <a:cs typeface="Arial"/>
              </a:rPr>
              <a:t>Manchester workshop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0A92AE4-7978-5421-221A-9DE66F52B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7705BA79-7031-465F-A6E2-9FAC44325318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Query asks, Keys match, Values contribute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2BD847F-A14A-4E99-98B8-0450D325428D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8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3D2DCA5-D4C0-4C18-BAA3-CADEBE17EEAC}"/>
              </a:ext>
            </a:extLst>
          </p:cNvPr>
          <p:cNvSpPr>
            <a:spLocks noGrp="1"/>
          </p:cNvSpPr>
          <p:nvPr/>
        </p:nvSpPr>
        <p:spPr>
          <a:xfrm>
            <a:off x="704850" y="1255327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2E661F6-A6A0-47E6-ADB7-04C488D13844}"/>
              </a:ext>
            </a:extLst>
          </p:cNvPr>
          <p:cNvSpPr>
            <a:spLocks noGrp="1"/>
          </p:cNvSpPr>
          <p:nvPr/>
        </p:nvSpPr>
        <p:spPr>
          <a:xfrm>
            <a:off x="704850" y="1712527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3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What information</a:t>
            </a:r>
          </a:p>
          <a:p>
            <a:pPr algn="l">
              <a:lnSpc>
                <a:spcPct val="95000"/>
              </a:lnSpc>
              <a:buNone/>
              <a:defRPr sz="23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do I need now?</a:t>
            </a:r>
          </a:p>
        </p:txBody>
      </p:sp>
      <p:sp>
        <p:nvSpPr>
          <p:cNvPr id="5" name="marker-highlight">
            <a:extLst>
              <a:ext uri="{FF2B5EF4-FFF2-40B4-BE49-F238E27FC236}">
                <a16:creationId xmlns:a16="http://schemas.microsoft.com/office/drawing/2014/main" id="{89CC7489-12F9-454C-A7B1-8C1DC056F6E2}"/>
              </a:ext>
            </a:extLst>
          </p:cNvPr>
          <p:cNvSpPr>
            <a:spLocks noGrp="1"/>
          </p:cNvSpPr>
          <p:nvPr/>
        </p:nvSpPr>
        <p:spPr>
          <a:xfrm rot="-36000">
            <a:off x="631719" y="2647919"/>
            <a:ext cx="2590800" cy="838200"/>
          </a:xfrm>
          <a:prstGeom prst="rect">
            <a:avLst/>
          </a:prstGeom>
          <a:solidFill>
            <a:srgbClr val="F6D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95BEB85-9A06-4CEE-8AD5-A85A8491AC24}"/>
              </a:ext>
            </a:extLst>
          </p:cNvPr>
          <p:cNvSpPr>
            <a:spLocks noGrp="1"/>
          </p:cNvSpPr>
          <p:nvPr/>
        </p:nvSpPr>
        <p:spPr>
          <a:xfrm>
            <a:off x="704850" y="2663263"/>
            <a:ext cx="2438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"How do I read a</a:t>
            </a:r>
            <a:r>
              <a:rPr lang="zh-CN" altLang="en-US" sz="16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CIF?"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FB46107-D039-46E7-A30E-AC19840091A7}"/>
              </a:ext>
            </a:extLst>
          </p:cNvPr>
          <p:cNvSpPr>
            <a:spLocks noGrp="1"/>
          </p:cNvSpPr>
          <p:nvPr/>
        </p:nvSpPr>
        <p:spPr>
          <a:xfrm>
            <a:off x="3333750" y="2809844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7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7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1BF1800-53D1-4F20-83CE-9D1232A619DA}"/>
              </a:ext>
            </a:extLst>
          </p:cNvPr>
          <p:cNvSpPr>
            <a:spLocks noGrp="1"/>
          </p:cNvSpPr>
          <p:nvPr/>
        </p:nvSpPr>
        <p:spPr>
          <a:xfrm>
            <a:off x="4057650" y="1255327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KEYS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C0CC16E-AC11-4B47-8BF0-B055FCF29D85}"/>
              </a:ext>
            </a:extLst>
          </p:cNvPr>
          <p:cNvSpPr>
            <a:spLocks noGrp="1"/>
          </p:cNvSpPr>
          <p:nvPr/>
        </p:nvSpPr>
        <p:spPr>
          <a:xfrm>
            <a:off x="4057650" y="1617277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What can each source match?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8CA8A13-4A80-4251-A970-A009158A540E}"/>
              </a:ext>
            </a:extLst>
          </p:cNvPr>
          <p:cNvSpPr>
            <a:spLocks noGrp="1"/>
          </p:cNvSpPr>
          <p:nvPr/>
        </p:nvSpPr>
        <p:spPr>
          <a:xfrm>
            <a:off x="4057650" y="2226877"/>
            <a:ext cx="110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lang="en-GB" sz="1725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Joley</a:t>
            </a:r>
            <a:endParaRPr sz="1725" b="1" i="0" dirty="0">
              <a:solidFill>
                <a:srgbClr val="5146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86671C9-2051-43D9-AF79-0047E63FD1B2}"/>
              </a:ext>
            </a:extLst>
          </p:cNvPr>
          <p:cNvSpPr>
            <a:spLocks noGrp="1"/>
          </p:cNvSpPr>
          <p:nvPr/>
        </p:nvSpPr>
        <p:spPr>
          <a:xfrm>
            <a:off x="5257800" y="2226877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spectroscopy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B03F2FAA-C5A5-4D8E-A3E2-B1CD2DBF8AE0}"/>
              </a:ext>
            </a:extLst>
          </p:cNvPr>
          <p:cNvSpPr>
            <a:spLocks noGrp="1"/>
          </p:cNvSpPr>
          <p:nvPr/>
        </p:nvSpPr>
        <p:spPr>
          <a:xfrm>
            <a:off x="4057650" y="2684077"/>
            <a:ext cx="285750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E6E4E4A-F621-465C-8572-874CC8E7D42F}"/>
              </a:ext>
            </a:extLst>
          </p:cNvPr>
          <p:cNvSpPr>
            <a:spLocks noGrp="1"/>
          </p:cNvSpPr>
          <p:nvPr/>
        </p:nvSpPr>
        <p:spPr>
          <a:xfrm>
            <a:off x="4057650" y="3634604"/>
            <a:ext cx="110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lang="en-GB" sz="1725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Keith</a:t>
            </a:r>
            <a:endParaRPr sz="1725" b="1" i="0" dirty="0">
              <a:solidFill>
                <a:srgbClr val="F1C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35896EB8-BD6C-46A1-A40C-6AB5D39ABAD8}"/>
              </a:ext>
            </a:extLst>
          </p:cNvPr>
          <p:cNvSpPr>
            <a:spLocks noGrp="1"/>
          </p:cNvSpPr>
          <p:nvPr/>
        </p:nvSpPr>
        <p:spPr>
          <a:xfrm>
            <a:off x="4057650" y="4074727"/>
            <a:ext cx="285750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326634E-0583-42FE-9165-94715AB1851C}"/>
              </a:ext>
            </a:extLst>
          </p:cNvPr>
          <p:cNvSpPr>
            <a:spLocks noGrp="1"/>
          </p:cNvSpPr>
          <p:nvPr/>
        </p:nvSpPr>
        <p:spPr>
          <a:xfrm>
            <a:off x="4038600" y="2912677"/>
            <a:ext cx="110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lang="en-GB"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Bradley</a:t>
            </a:r>
            <a:endParaRPr sz="1725" b="1" i="0" dirty="0">
              <a:solidFill>
                <a:srgbClr val="2E9A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06DDBA7-9E42-4CB9-95D8-2C083E1FDC1E}"/>
              </a:ext>
            </a:extLst>
          </p:cNvPr>
          <p:cNvSpPr>
            <a:spLocks noGrp="1"/>
          </p:cNvSpPr>
          <p:nvPr/>
        </p:nvSpPr>
        <p:spPr>
          <a:xfrm>
            <a:off x="5257800" y="3598477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lang="en-US" sz="1575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football</a:t>
            </a:r>
            <a:endParaRPr sz="1575" b="0" i="0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623E6A7-80C0-49DC-928F-56AB55EA262A}"/>
              </a:ext>
            </a:extLst>
          </p:cNvPr>
          <p:cNvSpPr>
            <a:spLocks noGrp="1"/>
          </p:cNvSpPr>
          <p:nvPr/>
        </p:nvSpPr>
        <p:spPr>
          <a:xfrm>
            <a:off x="3979888" y="3412578"/>
            <a:ext cx="3429000" cy="0"/>
          </a:xfrm>
          <a:prstGeom prst="line">
            <a:avLst/>
          </a:prstGeom>
          <a:noFill/>
          <a:ln w="47625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85EDDB9-D6F0-431F-B6FC-6F2A45E55E25}"/>
              </a:ext>
            </a:extLst>
          </p:cNvPr>
          <p:cNvSpPr>
            <a:spLocks noGrp="1"/>
          </p:cNvSpPr>
          <p:nvPr/>
        </p:nvSpPr>
        <p:spPr>
          <a:xfrm>
            <a:off x="4057650" y="4284277"/>
            <a:ext cx="110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lang="en-GB" sz="172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Cyprien</a:t>
            </a:r>
            <a:endParaRPr sz="1725" b="1" i="0" dirty="0">
              <a:solidFill>
                <a:srgbClr val="D85F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8F33599-8424-48E3-8B26-EE35C0B7B323}"/>
              </a:ext>
            </a:extLst>
          </p:cNvPr>
          <p:cNvSpPr>
            <a:spLocks noGrp="1"/>
          </p:cNvSpPr>
          <p:nvPr/>
        </p:nvSpPr>
        <p:spPr>
          <a:xfrm>
            <a:off x="5257800" y="4284277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3AA769C-920D-4520-9471-61E71B9F7B2E}"/>
              </a:ext>
            </a:extLst>
          </p:cNvPr>
          <p:cNvSpPr>
            <a:spLocks noGrp="1"/>
          </p:cNvSpPr>
          <p:nvPr/>
        </p:nvSpPr>
        <p:spPr>
          <a:xfrm>
            <a:off x="7271596" y="2594610"/>
            <a:ext cx="1398035" cy="4959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best Query-Key match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FE556943-71FA-4B3C-927B-F59A950775A2}"/>
              </a:ext>
            </a:extLst>
          </p:cNvPr>
          <p:cNvSpPr>
            <a:spLocks noGrp="1"/>
          </p:cNvSpPr>
          <p:nvPr/>
        </p:nvSpPr>
        <p:spPr>
          <a:xfrm>
            <a:off x="7677152" y="2840379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7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7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F98733B5-AC53-41D4-A349-AE0DDE883CF3}"/>
              </a:ext>
            </a:extLst>
          </p:cNvPr>
          <p:cNvSpPr>
            <a:spLocks noGrp="1"/>
          </p:cNvSpPr>
          <p:nvPr/>
        </p:nvSpPr>
        <p:spPr>
          <a:xfrm>
            <a:off x="8420100" y="1255327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B5AA222-E405-458F-942C-E06DE68AB70F}"/>
              </a:ext>
            </a:extLst>
          </p:cNvPr>
          <p:cNvSpPr>
            <a:spLocks noGrp="1"/>
          </p:cNvSpPr>
          <p:nvPr/>
        </p:nvSpPr>
        <p:spPr>
          <a:xfrm>
            <a:off x="8420100" y="161007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3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What information</a:t>
            </a:r>
          </a:p>
          <a:p>
            <a:pPr algn="l">
              <a:lnSpc>
                <a:spcPct val="95000"/>
              </a:lnSpc>
              <a:buNone/>
              <a:defRPr sz="23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is carried forward?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6238FA2-D108-4B19-A720-D02C5FEDF281}"/>
              </a:ext>
            </a:extLst>
          </p:cNvPr>
          <p:cNvSpPr>
            <a:spLocks noGrp="1"/>
          </p:cNvSpPr>
          <p:nvPr/>
        </p:nvSpPr>
        <p:spPr>
          <a:xfrm>
            <a:off x="8763000" y="2353236"/>
            <a:ext cx="2952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unit cell</a:t>
            </a:r>
          </a:p>
          <a:p>
            <a:pPr algn="l">
              <a:lnSpc>
                <a:spcPct val="108000"/>
              </a:lnSpc>
              <a:buNone/>
              <a:defRPr sz="21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symmetry</a:t>
            </a:r>
          </a:p>
          <a:p>
            <a:pPr algn="l">
              <a:lnSpc>
                <a:spcPct val="108000"/>
              </a:lnSpc>
              <a:buNone/>
              <a:defRPr sz="21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atomic positions</a:t>
            </a:r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8A2479C8-F3BD-4573-8A21-B737A90999FA}"/>
              </a:ext>
            </a:extLst>
          </p:cNvPr>
          <p:cNvSpPr>
            <a:spLocks noGrp="1"/>
          </p:cNvSpPr>
          <p:nvPr/>
        </p:nvSpPr>
        <p:spPr>
          <a:xfrm>
            <a:off x="704850" y="5091512"/>
            <a:ext cx="1066800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ch-text">
            <a:extLst>
              <a:ext uri="{FF2B5EF4-FFF2-40B4-BE49-F238E27FC236}">
                <a16:creationId xmlns:a16="http://schemas.microsoft.com/office/drawing/2014/main" id="{68DD2539-D545-4F83-8AF4-3A09029B803B}"/>
              </a:ext>
            </a:extLst>
          </p:cNvPr>
          <p:cNvSpPr>
            <a:spLocks noGrp="1"/>
          </p:cNvSpPr>
          <p:nvPr/>
        </p:nvSpPr>
        <p:spPr>
          <a:xfrm>
            <a:off x="1047750" y="5129303"/>
            <a:ext cx="10248900" cy="4338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Query</a:t>
            </a:r>
            <a:r>
              <a:rPr dirty="0"/>
              <a:t> = need now     </a:t>
            </a:r>
            <a:r>
              <a:rPr sz="1650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Key</a:t>
            </a:r>
            <a:r>
              <a:rPr dirty="0"/>
              <a:t> = match signal     </a:t>
            </a:r>
            <a:r>
              <a:rPr sz="1650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Value</a:t>
            </a:r>
            <a:r>
              <a:rPr dirty="0"/>
              <a:t> = information carried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73248E-CB73-14D9-EF89-C41B05B495E0}"/>
              </a:ext>
            </a:extLst>
          </p:cNvPr>
          <p:cNvSpPr txBox="1"/>
          <p:nvPr/>
        </p:nvSpPr>
        <p:spPr>
          <a:xfrm>
            <a:off x="647700" y="5613105"/>
            <a:ext cx="11048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input vector → </a:t>
            </a:r>
            <a:r>
              <a:rPr lang="en-GB" sz="1600" dirty="0">
                <a:solidFill>
                  <a:srgbClr val="D85F80"/>
                </a:solidFill>
              </a:rPr>
              <a:t>Q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2E9AA7"/>
                </a:solidFill>
              </a:rPr>
              <a:t>K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51459A"/>
                </a:solidFill>
              </a:rPr>
              <a:t>V</a:t>
            </a:r>
            <a:r>
              <a:rPr lang="en-GB" sz="1600" dirty="0"/>
              <a:t>→ compare Query with Keys → attention scores → </a:t>
            </a:r>
            <a:r>
              <a:rPr lang="en-GB" sz="1600" dirty="0" err="1"/>
              <a:t>softmax</a:t>
            </a:r>
            <a:r>
              <a:rPr lang="en-GB" sz="1600" dirty="0"/>
              <a:t> weights → weighted combination of Values</a:t>
            </a:r>
            <a:endParaRPr lang="en-US" sz="16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45962AFE-EA98-F385-5014-C6F4219B6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  <p:sp>
        <p:nvSpPr>
          <p:cNvPr id="35" name="text">
            <a:extLst>
              <a:ext uri="{FF2B5EF4-FFF2-40B4-BE49-F238E27FC236}">
                <a16:creationId xmlns:a16="http://schemas.microsoft.com/office/drawing/2014/main" id="{9B5CF644-AFFE-2466-5E2A-4A79FF982DC8}"/>
              </a:ext>
            </a:extLst>
          </p:cNvPr>
          <p:cNvSpPr>
            <a:spLocks noGrp="1"/>
          </p:cNvSpPr>
          <p:nvPr/>
        </p:nvSpPr>
        <p:spPr>
          <a:xfrm>
            <a:off x="5257800" y="2910704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crystallography + CIFs</a:t>
            </a:r>
          </a:p>
        </p:txBody>
      </p:sp>
    </p:spTree>
    <p:extLst>
      <p:ext uri="{BB962C8B-B14F-4D97-AF65-F5344CB8AC3E}">
        <p14:creationId xmlns:p14="http://schemas.microsoft.com/office/powerpoint/2010/main" val="170614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874FBB49-9B36-401D-A8A7-A5623D8E32FA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Attention turns match scores into a weighted mixture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CC947B9-8FB7-4E35-9B05-5BF44007BB29}"/>
              </a:ext>
            </a:extLst>
          </p:cNvPr>
          <p:cNvSpPr>
            <a:spLocks noGrp="1"/>
          </p:cNvSpPr>
          <p:nvPr/>
        </p:nvSpPr>
        <p:spPr>
          <a:xfrm>
            <a:off x="11283398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09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ich-text">
            <a:extLst>
              <a:ext uri="{FF2B5EF4-FFF2-40B4-BE49-F238E27FC236}">
                <a16:creationId xmlns:a16="http://schemas.microsoft.com/office/drawing/2014/main" id="{1355A2D4-CE8F-46BF-A7E4-06CA8B63B131}"/>
              </a:ext>
            </a:extLst>
          </p:cNvPr>
          <p:cNvSpPr>
            <a:spLocks noGrp="1"/>
          </p:cNvSpPr>
          <p:nvPr/>
        </p:nvSpPr>
        <p:spPr>
          <a:xfrm>
            <a:off x="2000250" y="2945816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02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5F80"/>
                </a:solidFill>
                <a:latin typeface="Arial"/>
                <a:ea typeface="Arial"/>
                <a:cs typeface="Arial"/>
              </a:rPr>
              <a:t>ASK</a:t>
            </a:r>
            <a:r>
              <a:t>    →    </a:t>
            </a:r>
            <a:r>
              <a:rPr sz="2025" b="1">
                <a:solidFill>
                  <a:srgbClr val="2E9AA7"/>
                </a:solidFill>
                <a:latin typeface="Arial"/>
                <a:ea typeface="Arial"/>
                <a:cs typeface="Arial"/>
              </a:rPr>
              <a:t>MATCH</a:t>
            </a:r>
            <a:r>
              <a:t>    →    </a:t>
            </a:r>
            <a:r>
              <a:rPr sz="2025" b="1">
                <a:solidFill>
                  <a:srgbClr val="F1C94A"/>
                </a:solidFill>
                <a:latin typeface="Arial"/>
                <a:ea typeface="Arial"/>
                <a:cs typeface="Arial"/>
              </a:rPr>
              <a:t>WEIGH</a:t>
            </a:r>
            <a:r>
              <a:t>    →    </a:t>
            </a:r>
            <a:r>
              <a:rPr sz="2025" b="1">
                <a:solidFill>
                  <a:srgbClr val="51469A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4" name="attention-match-stage">
            <a:extLst>
              <a:ext uri="{FF2B5EF4-FFF2-40B4-BE49-F238E27FC236}">
                <a16:creationId xmlns:a16="http://schemas.microsoft.com/office/drawing/2014/main" id="{46290997-E869-4DEC-8665-AA3437C8A661}"/>
              </a:ext>
            </a:extLst>
          </p:cNvPr>
          <p:cNvSpPr>
            <a:spLocks noGrp="1"/>
          </p:cNvSpPr>
          <p:nvPr/>
        </p:nvSpPr>
        <p:spPr>
          <a:xfrm>
            <a:off x="704850" y="3579225"/>
            <a:ext cx="2952750" cy="2231147"/>
          </a:xfrm>
          <a:prstGeom prst="rect">
            <a:avLst/>
          </a:prstGeom>
          <a:noFill/>
          <a:ln w="28575">
            <a:solidFill>
              <a:srgbClr val="DD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2C921DB-F34B-4809-831E-C5A6DEEB1EBE}"/>
              </a:ext>
            </a:extLst>
          </p:cNvPr>
          <p:cNvSpPr>
            <a:spLocks noGrp="1"/>
          </p:cNvSpPr>
          <p:nvPr/>
        </p:nvSpPr>
        <p:spPr>
          <a:xfrm>
            <a:off x="923925" y="3857748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1  MATCH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231339D-D577-4581-9644-420A6ADA3A37}"/>
              </a:ext>
            </a:extLst>
          </p:cNvPr>
          <p:cNvSpPr>
            <a:spLocks noGrp="1"/>
          </p:cNvSpPr>
          <p:nvPr/>
        </p:nvSpPr>
        <p:spPr>
          <a:xfrm>
            <a:off x="934780" y="4095873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Q  ·  K</a:t>
            </a:r>
          </a:p>
        </p:txBody>
      </p:sp>
      <p:sp>
        <p:nvSpPr>
          <p:cNvPr id="7" name="rich-text">
            <a:extLst>
              <a:ext uri="{FF2B5EF4-FFF2-40B4-BE49-F238E27FC236}">
                <a16:creationId xmlns:a16="http://schemas.microsoft.com/office/drawing/2014/main" id="{7A8FEFE9-252D-4EC9-9AD7-AD2CEF4EE90D}"/>
              </a:ext>
            </a:extLst>
          </p:cNvPr>
          <p:cNvSpPr>
            <a:spLocks noGrp="1"/>
          </p:cNvSpPr>
          <p:nvPr/>
        </p:nvSpPr>
        <p:spPr>
          <a:xfrm>
            <a:off x="914400" y="4667373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5F80"/>
                </a:solidFill>
                <a:latin typeface="Arial"/>
                <a:ea typeface="Arial"/>
                <a:cs typeface="Arial"/>
              </a:rPr>
              <a:t>Query</a:t>
            </a:r>
            <a:r>
              <a:t> compared with </a:t>
            </a:r>
            <a:r>
              <a:rPr sz="1425" b="1">
                <a:solidFill>
                  <a:srgbClr val="2E9AA7"/>
                </a:solidFill>
                <a:latin typeface="Arial"/>
                <a:ea typeface="Arial"/>
                <a:cs typeface="Arial"/>
              </a:rPr>
              <a:t>Keys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8E1881E-9DD8-4996-B5C2-BA1E5D75CBED}"/>
              </a:ext>
            </a:extLst>
          </p:cNvPr>
          <p:cNvSpPr>
            <a:spLocks noGrp="1"/>
          </p:cNvSpPr>
          <p:nvPr/>
        </p:nvSpPr>
        <p:spPr>
          <a:xfrm>
            <a:off x="914400" y="5315073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 similarity scores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3A5B96-DA35-4A76-BD20-79D15A455F69}"/>
              </a:ext>
            </a:extLst>
          </p:cNvPr>
          <p:cNvSpPr>
            <a:spLocks noGrp="1"/>
          </p:cNvSpPr>
          <p:nvPr/>
        </p:nvSpPr>
        <p:spPr>
          <a:xfrm>
            <a:off x="3733800" y="4095873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8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attention-weight-stage">
            <a:extLst>
              <a:ext uri="{FF2B5EF4-FFF2-40B4-BE49-F238E27FC236}">
                <a16:creationId xmlns:a16="http://schemas.microsoft.com/office/drawing/2014/main" id="{E2620AFE-D17A-41B3-B6CA-D509EB6E025F}"/>
              </a:ext>
            </a:extLst>
          </p:cNvPr>
          <p:cNvSpPr>
            <a:spLocks noGrp="1"/>
          </p:cNvSpPr>
          <p:nvPr/>
        </p:nvSpPr>
        <p:spPr>
          <a:xfrm>
            <a:off x="4324350" y="3579225"/>
            <a:ext cx="3219450" cy="2231148"/>
          </a:xfrm>
          <a:prstGeom prst="rect">
            <a:avLst/>
          </a:prstGeom>
          <a:noFill/>
          <a:ln w="28575">
            <a:solidFill>
              <a:srgbClr val="F8E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6AFC675-3B62-4D00-8676-06F5B9A69471}"/>
              </a:ext>
            </a:extLst>
          </p:cNvPr>
          <p:cNvSpPr>
            <a:spLocks noGrp="1"/>
          </p:cNvSpPr>
          <p:nvPr/>
        </p:nvSpPr>
        <p:spPr>
          <a:xfrm>
            <a:off x="4533900" y="378260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2  WEIGH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90BD686-DF89-4DA9-A5F7-A7096D1B740E}"/>
              </a:ext>
            </a:extLst>
          </p:cNvPr>
          <p:cNvSpPr>
            <a:spLocks noGrp="1"/>
          </p:cNvSpPr>
          <p:nvPr/>
        </p:nvSpPr>
        <p:spPr>
          <a:xfrm>
            <a:off x="4565196" y="4085994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3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325" b="1" i="0" dirty="0" err="1">
                <a:solidFill>
                  <a:srgbClr val="1E2028"/>
                </a:solidFill>
                <a:latin typeface="Arial"/>
                <a:ea typeface="Arial"/>
                <a:cs typeface="Arial"/>
              </a:rPr>
              <a:t>softmax</a:t>
            </a:r>
            <a:r>
              <a:rPr sz="23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(scores)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FC324A7-A72D-41C8-8B92-15BDA8CE003E}"/>
              </a:ext>
            </a:extLst>
          </p:cNvPr>
          <p:cNvSpPr>
            <a:spLocks noGrp="1"/>
          </p:cNvSpPr>
          <p:nvPr/>
        </p:nvSpPr>
        <p:spPr>
          <a:xfrm>
            <a:off x="4743450" y="4657494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lang="en-GB"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Bradley</a:t>
            </a:r>
            <a:r>
              <a:rPr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  0.74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EE86E44-1D40-46D0-84AB-E391B89BA53A}"/>
              </a:ext>
            </a:extLst>
          </p:cNvPr>
          <p:cNvSpPr>
            <a:spLocks noGrp="1"/>
          </p:cNvSpPr>
          <p:nvPr/>
        </p:nvSpPr>
        <p:spPr>
          <a:xfrm>
            <a:off x="4486275" y="4981344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lang="en-GB"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Joley</a:t>
            </a:r>
            <a:r>
              <a:rPr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  0.15  · </a:t>
            </a:r>
            <a:r>
              <a:rPr lang="en-GB"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Cyprien</a:t>
            </a:r>
            <a:r>
              <a:rPr lang="zh-CN" altLang="en-US"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0.08  · </a:t>
            </a:r>
            <a:r>
              <a:rPr lang="en-GB"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Keith</a:t>
            </a:r>
            <a:r>
              <a:rPr sz="12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0.03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8120A17-8A1F-490B-8AA6-13F48D2C1B25}"/>
              </a:ext>
            </a:extLst>
          </p:cNvPr>
          <p:cNvSpPr>
            <a:spLocks noGrp="1"/>
          </p:cNvSpPr>
          <p:nvPr/>
        </p:nvSpPr>
        <p:spPr>
          <a:xfrm>
            <a:off x="4552950" y="5391273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66A76"/>
                </a:solidFill>
                <a:latin typeface="Arial"/>
                <a:ea typeface="Arial"/>
                <a:cs typeface="Arial"/>
              </a:rPr>
              <a:t>weights are positive and sum to 1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7CF58AC-F48E-4BD3-AD2D-36AA584BF7F2}"/>
              </a:ext>
            </a:extLst>
          </p:cNvPr>
          <p:cNvSpPr>
            <a:spLocks noGrp="1"/>
          </p:cNvSpPr>
          <p:nvPr/>
        </p:nvSpPr>
        <p:spPr>
          <a:xfrm>
            <a:off x="7620000" y="4095873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8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attention-mix-stage">
            <a:extLst>
              <a:ext uri="{FF2B5EF4-FFF2-40B4-BE49-F238E27FC236}">
                <a16:creationId xmlns:a16="http://schemas.microsoft.com/office/drawing/2014/main" id="{7A77C3AD-287B-48AF-849C-7CA814042A99}"/>
              </a:ext>
            </a:extLst>
          </p:cNvPr>
          <p:cNvSpPr>
            <a:spLocks noGrp="1"/>
          </p:cNvSpPr>
          <p:nvPr/>
        </p:nvSpPr>
        <p:spPr>
          <a:xfrm>
            <a:off x="8210550" y="3579223"/>
            <a:ext cx="3276600" cy="2231149"/>
          </a:xfrm>
          <a:prstGeom prst="rect">
            <a:avLst/>
          </a:prstGeom>
          <a:noFill/>
          <a:ln w="28575">
            <a:solidFill>
              <a:srgbClr val="E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84A6B3F-E64B-4AAC-9924-8972926C65EE}"/>
              </a:ext>
            </a:extLst>
          </p:cNvPr>
          <p:cNvSpPr>
            <a:spLocks noGrp="1"/>
          </p:cNvSpPr>
          <p:nvPr/>
        </p:nvSpPr>
        <p:spPr>
          <a:xfrm>
            <a:off x="8420100" y="378260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3  MIX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2905A5C-143B-47C0-AA17-DF7C38985495}"/>
              </a:ext>
            </a:extLst>
          </p:cNvPr>
          <p:cNvSpPr>
            <a:spLocks noGrp="1"/>
          </p:cNvSpPr>
          <p:nvPr/>
        </p:nvSpPr>
        <p:spPr>
          <a:xfrm>
            <a:off x="8303141" y="4152429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0.74 × V(</a:t>
            </a:r>
            <a:r>
              <a:rPr lang="en-GB"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Brad</a:t>
            </a:r>
            <a:r>
              <a:rPr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BAE813F7-3E62-4B96-9D3D-925721B3007A}"/>
              </a:ext>
            </a:extLst>
          </p:cNvPr>
          <p:cNvSpPr>
            <a:spLocks noGrp="1"/>
          </p:cNvSpPr>
          <p:nvPr/>
        </p:nvSpPr>
        <p:spPr>
          <a:xfrm>
            <a:off x="8420100" y="4504632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+ 0.15 × V(</a:t>
            </a:r>
            <a:r>
              <a:rPr lang="en-GB" sz="16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Joley</a:t>
            </a:r>
            <a:r>
              <a:rPr sz="165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) + …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7034DD0-1E37-4BA0-9A65-8D6DAA487A4D}"/>
              </a:ext>
            </a:extLst>
          </p:cNvPr>
          <p:cNvSpPr>
            <a:spLocks noGrp="1"/>
          </p:cNvSpPr>
          <p:nvPr/>
        </p:nvSpPr>
        <p:spPr>
          <a:xfrm>
            <a:off x="8420100" y="4980882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weighted sum of Values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267FD24-57CD-4187-AAEB-BC69D24026C4}"/>
              </a:ext>
            </a:extLst>
          </p:cNvPr>
          <p:cNvSpPr>
            <a:spLocks noGrp="1"/>
          </p:cNvSpPr>
          <p:nvPr/>
        </p:nvSpPr>
        <p:spPr>
          <a:xfrm>
            <a:off x="8439150" y="520688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buNone/>
              <a:defRPr sz="15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ctr">
              <a:lnSpc>
                <a:spcPct val="90000"/>
              </a:lnSpc>
              <a:buNone/>
              <a:defRPr sz="15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updated token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710666-0AEF-8110-7AA5-D41518F1597F}"/>
                  </a:ext>
                </a:extLst>
              </p:cNvPr>
              <p:cNvSpPr txBox="1"/>
              <p:nvPr/>
            </p:nvSpPr>
            <p:spPr>
              <a:xfrm>
                <a:off x="2181225" y="1366330"/>
                <a:ext cx="7208768" cy="1116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710666-0AEF-8110-7AA5-D41518F15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225" y="1366330"/>
                <a:ext cx="7208768" cy="1116781"/>
              </a:xfrm>
              <a:prstGeom prst="rect">
                <a:avLst/>
              </a:prstGeom>
              <a:blipFill>
                <a:blip r:embed="rId3"/>
                <a:stretch>
                  <a:fillRect l="-703" r="-527" b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Graphic 26">
            <a:extLst>
              <a:ext uri="{FF2B5EF4-FFF2-40B4-BE49-F238E27FC236}">
                <a16:creationId xmlns:a16="http://schemas.microsoft.com/office/drawing/2014/main" id="{905497BE-840C-0E08-2548-8E7A6D3B0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2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umber">
            <a:extLst>
              <a:ext uri="{FF2B5EF4-FFF2-40B4-BE49-F238E27FC236}">
                <a16:creationId xmlns:a16="http://schemas.microsoft.com/office/drawing/2014/main" id="{DB4AD5D0-20C8-4C36-82C4-5324A98EA782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0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oken-box-Spain">
            <a:extLst>
              <a:ext uri="{FF2B5EF4-FFF2-40B4-BE49-F238E27FC236}">
                <a16:creationId xmlns:a16="http://schemas.microsoft.com/office/drawing/2014/main" id="{976347DC-8EDF-EB97-C86D-AF4D9DFC6821}"/>
              </a:ext>
            </a:extLst>
          </p:cNvPr>
          <p:cNvSpPr>
            <a:spLocks noGrp="1"/>
          </p:cNvSpPr>
          <p:nvPr/>
        </p:nvSpPr>
        <p:spPr>
          <a:xfrm>
            <a:off x="1586913" y="2210014"/>
            <a:ext cx="857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oken-Spain">
            <a:extLst>
              <a:ext uri="{FF2B5EF4-FFF2-40B4-BE49-F238E27FC236}">
                <a16:creationId xmlns:a16="http://schemas.microsoft.com/office/drawing/2014/main" id="{8D3C06D5-19DC-B894-3C51-486487F1D2DB}"/>
              </a:ext>
            </a:extLst>
          </p:cNvPr>
          <p:cNvSpPr>
            <a:spLocks noGrp="1"/>
          </p:cNvSpPr>
          <p:nvPr/>
        </p:nvSpPr>
        <p:spPr>
          <a:xfrm>
            <a:off x="1586913" y="2210014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</a:p>
        </p:txBody>
      </p:sp>
      <p:sp>
        <p:nvSpPr>
          <p:cNvPr id="26" name="token-box-beat">
            <a:extLst>
              <a:ext uri="{FF2B5EF4-FFF2-40B4-BE49-F238E27FC236}">
                <a16:creationId xmlns:a16="http://schemas.microsoft.com/office/drawing/2014/main" id="{D9E7929F-9D6E-6CA9-04B9-945759D6D5D1}"/>
              </a:ext>
            </a:extLst>
          </p:cNvPr>
          <p:cNvSpPr>
            <a:spLocks noGrp="1"/>
          </p:cNvSpPr>
          <p:nvPr/>
        </p:nvSpPr>
        <p:spPr>
          <a:xfrm>
            <a:off x="2510838" y="2210014"/>
            <a:ext cx="7239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oken-beat">
            <a:extLst>
              <a:ext uri="{FF2B5EF4-FFF2-40B4-BE49-F238E27FC236}">
                <a16:creationId xmlns:a16="http://schemas.microsoft.com/office/drawing/2014/main" id="{5622DA79-703E-72D5-E9D2-172372C21BE6}"/>
              </a:ext>
            </a:extLst>
          </p:cNvPr>
          <p:cNvSpPr>
            <a:spLocks noGrp="1"/>
          </p:cNvSpPr>
          <p:nvPr/>
        </p:nvSpPr>
        <p:spPr>
          <a:xfrm>
            <a:off x="2510838" y="2210014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beat</a:t>
            </a:r>
          </a:p>
        </p:txBody>
      </p:sp>
      <p:sp>
        <p:nvSpPr>
          <p:cNvPr id="32" name="token-box-Argentina">
            <a:extLst>
              <a:ext uri="{FF2B5EF4-FFF2-40B4-BE49-F238E27FC236}">
                <a16:creationId xmlns:a16="http://schemas.microsoft.com/office/drawing/2014/main" id="{F21C8011-0182-8076-9939-3FE8C05AC9BA}"/>
              </a:ext>
            </a:extLst>
          </p:cNvPr>
          <p:cNvSpPr>
            <a:spLocks noGrp="1"/>
          </p:cNvSpPr>
          <p:nvPr/>
        </p:nvSpPr>
        <p:spPr>
          <a:xfrm>
            <a:off x="3301413" y="2210014"/>
            <a:ext cx="12192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oken-Argentina">
            <a:extLst>
              <a:ext uri="{FF2B5EF4-FFF2-40B4-BE49-F238E27FC236}">
                <a16:creationId xmlns:a16="http://schemas.microsoft.com/office/drawing/2014/main" id="{0AF5CF33-8089-AAD3-5814-ADADD60F67A3}"/>
              </a:ext>
            </a:extLst>
          </p:cNvPr>
          <p:cNvSpPr>
            <a:spLocks noGrp="1"/>
          </p:cNvSpPr>
          <p:nvPr/>
        </p:nvSpPr>
        <p:spPr>
          <a:xfrm>
            <a:off x="3301413" y="2210014"/>
            <a:ext cx="1219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Argentina</a:t>
            </a:r>
          </a:p>
        </p:txBody>
      </p:sp>
      <p:sp>
        <p:nvSpPr>
          <p:cNvPr id="34" name="token-box-1_0">
            <a:extLst>
              <a:ext uri="{FF2B5EF4-FFF2-40B4-BE49-F238E27FC236}">
                <a16:creationId xmlns:a16="http://schemas.microsoft.com/office/drawing/2014/main" id="{095AF677-E883-461B-1CF8-1EBCB7B45D33}"/>
              </a:ext>
            </a:extLst>
          </p:cNvPr>
          <p:cNvSpPr>
            <a:spLocks noGrp="1"/>
          </p:cNvSpPr>
          <p:nvPr/>
        </p:nvSpPr>
        <p:spPr>
          <a:xfrm>
            <a:off x="4587288" y="2210014"/>
            <a:ext cx="6477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oken-1_0">
            <a:extLst>
              <a:ext uri="{FF2B5EF4-FFF2-40B4-BE49-F238E27FC236}">
                <a16:creationId xmlns:a16="http://schemas.microsoft.com/office/drawing/2014/main" id="{C1C07B69-7588-56B7-465D-B8D93905412E}"/>
              </a:ext>
            </a:extLst>
          </p:cNvPr>
          <p:cNvSpPr>
            <a:spLocks noGrp="1"/>
          </p:cNvSpPr>
          <p:nvPr/>
        </p:nvSpPr>
        <p:spPr>
          <a:xfrm>
            <a:off x="4587288" y="2210014"/>
            <a:ext cx="647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1-0</a:t>
            </a:r>
          </a:p>
        </p:txBody>
      </p:sp>
      <p:sp>
        <p:nvSpPr>
          <p:cNvPr id="36" name="token-box-after">
            <a:extLst>
              <a:ext uri="{FF2B5EF4-FFF2-40B4-BE49-F238E27FC236}">
                <a16:creationId xmlns:a16="http://schemas.microsoft.com/office/drawing/2014/main" id="{6D5CCD05-B22E-8B2F-8F28-096EC3292A6D}"/>
              </a:ext>
            </a:extLst>
          </p:cNvPr>
          <p:cNvSpPr>
            <a:spLocks noGrp="1"/>
          </p:cNvSpPr>
          <p:nvPr/>
        </p:nvSpPr>
        <p:spPr>
          <a:xfrm>
            <a:off x="5301663" y="2210014"/>
            <a:ext cx="7810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oken-after">
            <a:extLst>
              <a:ext uri="{FF2B5EF4-FFF2-40B4-BE49-F238E27FC236}">
                <a16:creationId xmlns:a16="http://schemas.microsoft.com/office/drawing/2014/main" id="{9A46CFFD-4D5F-1301-8836-A47AC14E8930}"/>
              </a:ext>
            </a:extLst>
          </p:cNvPr>
          <p:cNvSpPr>
            <a:spLocks noGrp="1"/>
          </p:cNvSpPr>
          <p:nvPr/>
        </p:nvSpPr>
        <p:spPr>
          <a:xfrm>
            <a:off x="5301663" y="2210014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8" name="token-box-Torres">
            <a:extLst>
              <a:ext uri="{FF2B5EF4-FFF2-40B4-BE49-F238E27FC236}">
                <a16:creationId xmlns:a16="http://schemas.microsoft.com/office/drawing/2014/main" id="{D5B6B267-F107-0044-FD35-D0BD5B6F99A3}"/>
              </a:ext>
            </a:extLst>
          </p:cNvPr>
          <p:cNvSpPr>
            <a:spLocks noGrp="1"/>
          </p:cNvSpPr>
          <p:nvPr/>
        </p:nvSpPr>
        <p:spPr>
          <a:xfrm>
            <a:off x="6149388" y="2210014"/>
            <a:ext cx="8953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oken-Torres">
            <a:extLst>
              <a:ext uri="{FF2B5EF4-FFF2-40B4-BE49-F238E27FC236}">
                <a16:creationId xmlns:a16="http://schemas.microsoft.com/office/drawing/2014/main" id="{D82D9BB3-2DE5-BB6C-7D85-BF69DC622F94}"/>
              </a:ext>
            </a:extLst>
          </p:cNvPr>
          <p:cNvSpPr>
            <a:spLocks noGrp="1"/>
          </p:cNvSpPr>
          <p:nvPr/>
        </p:nvSpPr>
        <p:spPr>
          <a:xfrm>
            <a:off x="6149388" y="2210014"/>
            <a:ext cx="89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Torres</a:t>
            </a:r>
          </a:p>
        </p:txBody>
      </p:sp>
      <p:sp>
        <p:nvSpPr>
          <p:cNvPr id="40" name="token-box-scored">
            <a:extLst>
              <a:ext uri="{FF2B5EF4-FFF2-40B4-BE49-F238E27FC236}">
                <a16:creationId xmlns:a16="http://schemas.microsoft.com/office/drawing/2014/main" id="{764057B8-1DB7-D21F-B87A-418B5C74CEE8}"/>
              </a:ext>
            </a:extLst>
          </p:cNvPr>
          <p:cNvSpPr>
            <a:spLocks noGrp="1"/>
          </p:cNvSpPr>
          <p:nvPr/>
        </p:nvSpPr>
        <p:spPr>
          <a:xfrm>
            <a:off x="7111413" y="2210014"/>
            <a:ext cx="9906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oken-scored">
            <a:extLst>
              <a:ext uri="{FF2B5EF4-FFF2-40B4-BE49-F238E27FC236}">
                <a16:creationId xmlns:a16="http://schemas.microsoft.com/office/drawing/2014/main" id="{BCE847B7-7376-2577-FA67-E7E0D74BC989}"/>
              </a:ext>
            </a:extLst>
          </p:cNvPr>
          <p:cNvSpPr>
            <a:spLocks noGrp="1"/>
          </p:cNvSpPr>
          <p:nvPr/>
        </p:nvSpPr>
        <p:spPr>
          <a:xfrm>
            <a:off x="7111413" y="2210014"/>
            <a:ext cx="990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scored</a:t>
            </a:r>
          </a:p>
        </p:txBody>
      </p:sp>
      <p:sp>
        <p:nvSpPr>
          <p:cNvPr id="42" name="token-box-in">
            <a:extLst>
              <a:ext uri="{FF2B5EF4-FFF2-40B4-BE49-F238E27FC236}">
                <a16:creationId xmlns:a16="http://schemas.microsoft.com/office/drawing/2014/main" id="{DFC7515D-3989-9E0B-E295-CCF332FA9C52}"/>
              </a:ext>
            </a:extLst>
          </p:cNvPr>
          <p:cNvSpPr>
            <a:spLocks noGrp="1"/>
          </p:cNvSpPr>
          <p:nvPr/>
        </p:nvSpPr>
        <p:spPr>
          <a:xfrm>
            <a:off x="8168688" y="2210014"/>
            <a:ext cx="4572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oken-in">
            <a:extLst>
              <a:ext uri="{FF2B5EF4-FFF2-40B4-BE49-F238E27FC236}">
                <a16:creationId xmlns:a16="http://schemas.microsoft.com/office/drawing/2014/main" id="{3E0F4FFD-DC8F-E17E-B598-47FD58FEB221}"/>
              </a:ext>
            </a:extLst>
          </p:cNvPr>
          <p:cNvSpPr>
            <a:spLocks noGrp="1"/>
          </p:cNvSpPr>
          <p:nvPr/>
        </p:nvSpPr>
        <p:spPr>
          <a:xfrm>
            <a:off x="8168688" y="2210014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44" name="token-box-extra">
            <a:extLst>
              <a:ext uri="{FF2B5EF4-FFF2-40B4-BE49-F238E27FC236}">
                <a16:creationId xmlns:a16="http://schemas.microsoft.com/office/drawing/2014/main" id="{5DC3E01F-9E55-F7DA-5812-96C3B7A2CB5A}"/>
              </a:ext>
            </a:extLst>
          </p:cNvPr>
          <p:cNvSpPr>
            <a:spLocks noGrp="1"/>
          </p:cNvSpPr>
          <p:nvPr/>
        </p:nvSpPr>
        <p:spPr>
          <a:xfrm>
            <a:off x="8692563" y="2210014"/>
            <a:ext cx="7810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oken-extra">
            <a:extLst>
              <a:ext uri="{FF2B5EF4-FFF2-40B4-BE49-F238E27FC236}">
                <a16:creationId xmlns:a16="http://schemas.microsoft.com/office/drawing/2014/main" id="{E9A410E2-1DB0-DBA9-4486-194D248D2DC2}"/>
              </a:ext>
            </a:extLst>
          </p:cNvPr>
          <p:cNvSpPr>
            <a:spLocks noGrp="1"/>
          </p:cNvSpPr>
          <p:nvPr/>
        </p:nvSpPr>
        <p:spPr>
          <a:xfrm>
            <a:off x="8692563" y="2210014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extra</a:t>
            </a:r>
          </a:p>
        </p:txBody>
      </p:sp>
      <p:sp>
        <p:nvSpPr>
          <p:cNvPr id="46" name="token-box-time">
            <a:extLst>
              <a:ext uri="{FF2B5EF4-FFF2-40B4-BE49-F238E27FC236}">
                <a16:creationId xmlns:a16="http://schemas.microsoft.com/office/drawing/2014/main" id="{B744ADED-274E-6C30-E8B5-C79872E53FD5}"/>
              </a:ext>
            </a:extLst>
          </p:cNvPr>
          <p:cNvSpPr>
            <a:spLocks noGrp="1"/>
          </p:cNvSpPr>
          <p:nvPr/>
        </p:nvSpPr>
        <p:spPr>
          <a:xfrm>
            <a:off x="9540288" y="2210014"/>
            <a:ext cx="7429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oken-time">
            <a:extLst>
              <a:ext uri="{FF2B5EF4-FFF2-40B4-BE49-F238E27FC236}">
                <a16:creationId xmlns:a16="http://schemas.microsoft.com/office/drawing/2014/main" id="{511E3BAA-8BA8-CE9A-173F-7F9532BA8935}"/>
              </a:ext>
            </a:extLst>
          </p:cNvPr>
          <p:cNvSpPr>
            <a:spLocks noGrp="1"/>
          </p:cNvSpPr>
          <p:nvPr/>
        </p:nvSpPr>
        <p:spPr>
          <a:xfrm>
            <a:off x="9540288" y="2210014"/>
            <a:ext cx="742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8EAF8668-374A-0AC4-4DBF-582361902D5D}"/>
              </a:ext>
            </a:extLst>
          </p:cNvPr>
          <p:cNvCxnSpPr>
            <a:cxnSpLocks/>
          </p:cNvCxnSpPr>
          <p:nvPr/>
        </p:nvCxnSpPr>
        <p:spPr>
          <a:xfrm>
            <a:off x="2377488" y="2206915"/>
            <a:ext cx="857250" cy="0"/>
          </a:xfrm>
          <a:prstGeom prst="curvedConnector2">
            <a:avLst/>
          </a:prstGeom>
          <a:ln w="38100">
            <a:solidFill>
              <a:srgbClr val="D85F80"/>
            </a:solidFill>
            <a:prstDash val="solid"/>
            <a:headEnd type="arrow" w="sm" len="sm"/>
          </a:ln>
        </p:spPr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8268F2B1-92DF-B248-4D89-2E5DEBEABDDC}"/>
              </a:ext>
            </a:extLst>
          </p:cNvPr>
          <p:cNvCxnSpPr>
            <a:cxnSpLocks/>
          </p:cNvCxnSpPr>
          <p:nvPr/>
        </p:nvCxnSpPr>
        <p:spPr>
          <a:xfrm>
            <a:off x="3482388" y="2206915"/>
            <a:ext cx="1038225" cy="0"/>
          </a:xfrm>
          <a:prstGeom prst="curvedConnector2">
            <a:avLst/>
          </a:prstGeom>
          <a:ln w="38100">
            <a:solidFill>
              <a:srgbClr val="51469A"/>
            </a:solidFill>
            <a:prstDash val="solid"/>
            <a:headEnd type="arrow" w="sm" len="sm"/>
          </a:ln>
        </p:spPr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3305908E-B25B-2339-899D-C667EC942947}"/>
              </a:ext>
            </a:extLst>
          </p:cNvPr>
          <p:cNvCxnSpPr>
            <a:cxnSpLocks/>
          </p:cNvCxnSpPr>
          <p:nvPr/>
        </p:nvCxnSpPr>
        <p:spPr>
          <a:xfrm>
            <a:off x="6096000" y="2210014"/>
            <a:ext cx="948738" cy="12700"/>
          </a:xfrm>
          <a:prstGeom prst="curvedConnector3">
            <a:avLst>
              <a:gd name="adj1" fmla="val 50000"/>
            </a:avLst>
          </a:prstGeom>
          <a:ln w="47625">
            <a:solidFill>
              <a:srgbClr val="2E9AA7"/>
            </a:solidFill>
            <a:prstDash val="solid"/>
            <a:headEnd type="arrow" w="sm" len="sm"/>
          </a:ln>
        </p:spPr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1DB51137-2706-1ED0-6D2E-6E9319C7662F}"/>
              </a:ext>
            </a:extLst>
          </p:cNvPr>
          <p:cNvCxnSpPr>
            <a:cxnSpLocks/>
          </p:cNvCxnSpPr>
          <p:nvPr/>
        </p:nvCxnSpPr>
        <p:spPr>
          <a:xfrm>
            <a:off x="8625888" y="2210014"/>
            <a:ext cx="828675" cy="0"/>
          </a:xfrm>
          <a:prstGeom prst="curvedConnector2">
            <a:avLst/>
          </a:prstGeom>
          <a:ln w="38100">
            <a:solidFill>
              <a:srgbClr val="F1C94A"/>
            </a:solidFill>
            <a:prstDash val="solid"/>
            <a:headEnd type="arrow" w="sm" len="sm"/>
          </a:ln>
        </p:spPr>
      </p:cxnSp>
      <p:sp>
        <p:nvSpPr>
          <p:cNvPr id="52" name="text">
            <a:extLst>
              <a:ext uri="{FF2B5EF4-FFF2-40B4-BE49-F238E27FC236}">
                <a16:creationId xmlns:a16="http://schemas.microsoft.com/office/drawing/2014/main" id="{0C643C53-09E9-D86D-2C1F-24BBF3082CED}"/>
              </a:ext>
            </a:extLst>
          </p:cNvPr>
          <p:cNvSpPr>
            <a:spLocks noGrp="1"/>
          </p:cNvSpPr>
          <p:nvPr/>
        </p:nvSpPr>
        <p:spPr>
          <a:xfrm>
            <a:off x="1672638" y="3285233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Each token creates its own Query, Key and Value.</a:t>
            </a:r>
          </a:p>
        </p:txBody>
      </p:sp>
      <p:sp>
        <p:nvSpPr>
          <p:cNvPr id="53" name="marker-highlight">
            <a:extLst>
              <a:ext uri="{FF2B5EF4-FFF2-40B4-BE49-F238E27FC236}">
                <a16:creationId xmlns:a16="http://schemas.microsoft.com/office/drawing/2014/main" id="{9C577583-B5AE-51A4-4CD2-3B913DFA0C9D}"/>
              </a:ext>
            </a:extLst>
          </p:cNvPr>
          <p:cNvSpPr>
            <a:spLocks noGrp="1"/>
          </p:cNvSpPr>
          <p:nvPr/>
        </p:nvSpPr>
        <p:spPr>
          <a:xfrm>
            <a:off x="2661400" y="4062294"/>
            <a:ext cx="6812213" cy="628650"/>
          </a:xfrm>
          <a:prstGeom prst="rect">
            <a:avLst/>
          </a:prstGeom>
          <a:solidFill>
            <a:srgbClr val="DDF1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3178B7F3-4120-9152-EACE-FB2919988B6D}"/>
              </a:ext>
            </a:extLst>
          </p:cNvPr>
          <p:cNvSpPr>
            <a:spLocks noGrp="1"/>
          </p:cNvSpPr>
          <p:nvPr/>
        </p:nvSpPr>
        <p:spPr>
          <a:xfrm>
            <a:off x="3157618" y="4062294"/>
            <a:ext cx="5819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They all come from this same input sequence.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C9FC1163-6F41-3950-0CAE-CAF0B96E3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A3C8C878-1BF0-4F90-AD8B-6F7A720DD471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Multiple heads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FA38503-2468-4FF2-9A61-BE80891413F1}"/>
              </a:ext>
            </a:extLst>
          </p:cNvPr>
          <p:cNvSpPr>
            <a:spLocks noGrp="1"/>
          </p:cNvSpPr>
          <p:nvPr/>
        </p:nvSpPr>
        <p:spPr>
          <a:xfrm>
            <a:off x="11309902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79A4339-F2E4-C705-CD5E-A1803C779142}"/>
              </a:ext>
            </a:extLst>
          </p:cNvPr>
          <p:cNvSpPr>
            <a:spLocks noGrp="1"/>
          </p:cNvSpPr>
          <p:nvPr/>
        </p:nvSpPr>
        <p:spPr>
          <a:xfrm>
            <a:off x="685800" y="1617717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HEAD 1  </a:t>
            </a:r>
            <a:r>
              <a:rPr lang="en-GB" sz="1350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who was involved</a:t>
            </a:r>
            <a:endParaRPr sz="1350" b="1" i="0" dirty="0">
              <a:solidFill>
                <a:srgbClr val="D85F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A91D4827-D52A-5BF1-DBF9-6CEA4B193AF0}"/>
              </a:ext>
            </a:extLst>
          </p:cNvPr>
          <p:cNvSpPr>
            <a:spLocks noGrp="1"/>
          </p:cNvSpPr>
          <p:nvPr/>
        </p:nvSpPr>
        <p:spPr>
          <a:xfrm>
            <a:off x="685800" y="2017767"/>
            <a:ext cx="10744200" cy="0"/>
          </a:xfrm>
          <a:prstGeom prst="line">
            <a:avLst/>
          </a:prstGeom>
          <a:noFill/>
          <a:ln w="28575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ich-text">
            <a:extLst>
              <a:ext uri="{FF2B5EF4-FFF2-40B4-BE49-F238E27FC236}">
                <a16:creationId xmlns:a16="http://schemas.microsoft.com/office/drawing/2014/main" id="{B92076F3-ACD2-C0CB-42CD-DD881F46F7DE}"/>
              </a:ext>
            </a:extLst>
          </p:cNvPr>
          <p:cNvSpPr>
            <a:spLocks noGrp="1"/>
          </p:cNvSpPr>
          <p:nvPr/>
        </p:nvSpPr>
        <p:spPr>
          <a:xfrm>
            <a:off x="3076575" y="1496693"/>
            <a:ext cx="8429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Spain</a:t>
            </a:r>
            <a:r>
              <a:rPr dirty="0"/>
              <a:t> </a:t>
            </a:r>
            <a:r>
              <a:rPr sz="2175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beat</a:t>
            </a:r>
            <a:r>
              <a:rPr dirty="0"/>
              <a:t> </a:t>
            </a:r>
            <a:r>
              <a:rPr sz="2175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Argentina</a:t>
            </a:r>
            <a:r>
              <a:rPr dirty="0"/>
              <a:t> </a:t>
            </a:r>
            <a:r>
              <a:rPr sz="2175" b="1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1-0</a:t>
            </a:r>
            <a:r>
              <a:rPr dirty="0"/>
              <a:t> after Torres scored in extra time.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E3431E5-0A55-3ABB-1A43-071207726784}"/>
              </a:ext>
            </a:extLst>
          </p:cNvPr>
          <p:cNvSpPr>
            <a:spLocks noGrp="1"/>
          </p:cNvSpPr>
          <p:nvPr/>
        </p:nvSpPr>
        <p:spPr>
          <a:xfrm>
            <a:off x="685800" y="295626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HEAD 2  </a:t>
            </a:r>
            <a:r>
              <a:rPr lang="en-US" sz="13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what happened</a:t>
            </a:r>
            <a:endParaRPr sz="1350" b="1" i="0" dirty="0">
              <a:solidFill>
                <a:srgbClr val="2E9A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D9705417-6515-B04B-9D62-F9228B8D328C}"/>
              </a:ext>
            </a:extLst>
          </p:cNvPr>
          <p:cNvSpPr>
            <a:spLocks noGrp="1"/>
          </p:cNvSpPr>
          <p:nvPr/>
        </p:nvSpPr>
        <p:spPr>
          <a:xfrm>
            <a:off x="685800" y="3370317"/>
            <a:ext cx="10744200" cy="0"/>
          </a:xfrm>
          <a:prstGeom prst="line">
            <a:avLst/>
          </a:prstGeom>
          <a:noFill/>
          <a:ln w="28575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ich-text">
            <a:extLst>
              <a:ext uri="{FF2B5EF4-FFF2-40B4-BE49-F238E27FC236}">
                <a16:creationId xmlns:a16="http://schemas.microsoft.com/office/drawing/2014/main" id="{C39CEA08-E69E-09E2-E8C9-05CA84AA93BB}"/>
              </a:ext>
            </a:extLst>
          </p:cNvPr>
          <p:cNvSpPr>
            <a:spLocks noGrp="1"/>
          </p:cNvSpPr>
          <p:nvPr/>
        </p:nvSpPr>
        <p:spPr>
          <a:xfrm>
            <a:off x="3076574" y="2844202"/>
            <a:ext cx="8429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dirty="0"/>
              <a:t>Spain beat Argentina 1-0 after </a:t>
            </a:r>
            <a:r>
              <a:rPr sz="2175" b="1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Torres</a:t>
            </a:r>
            <a:r>
              <a:rPr dirty="0"/>
              <a:t> </a:t>
            </a:r>
            <a:r>
              <a:rPr sz="2175" b="1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scored</a:t>
            </a:r>
            <a:r>
              <a:rPr dirty="0"/>
              <a:t> in extra time.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53ACF8A-D206-89DD-4D33-8FBC73C9B1C3}"/>
              </a:ext>
            </a:extLst>
          </p:cNvPr>
          <p:cNvSpPr>
            <a:spLocks noGrp="1"/>
          </p:cNvSpPr>
          <p:nvPr/>
        </p:nvSpPr>
        <p:spPr>
          <a:xfrm>
            <a:off x="685800" y="431833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HEAD 3</a:t>
            </a:r>
            <a:r>
              <a:rPr lang="en-US" sz="1350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  </a:t>
            </a:r>
            <a:r>
              <a:rPr lang="en-GB" sz="1350" b="1" i="0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when it happened</a:t>
            </a:r>
            <a:endParaRPr sz="1350" b="1" i="0" dirty="0">
              <a:solidFill>
                <a:srgbClr val="F1C9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9D5E7E61-49D6-F666-553C-8E36C3093D0B}"/>
              </a:ext>
            </a:extLst>
          </p:cNvPr>
          <p:cNvSpPr>
            <a:spLocks noGrp="1"/>
          </p:cNvSpPr>
          <p:nvPr/>
        </p:nvSpPr>
        <p:spPr>
          <a:xfrm>
            <a:off x="685800" y="4722867"/>
            <a:ext cx="10744200" cy="0"/>
          </a:xfrm>
          <a:prstGeom prst="line">
            <a:avLst/>
          </a:prstGeom>
          <a:noFill/>
          <a:ln w="28575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ich-text">
            <a:extLst>
              <a:ext uri="{FF2B5EF4-FFF2-40B4-BE49-F238E27FC236}">
                <a16:creationId xmlns:a16="http://schemas.microsoft.com/office/drawing/2014/main" id="{D3FD395D-2428-C8E4-D267-B5539877EBB3}"/>
              </a:ext>
            </a:extLst>
          </p:cNvPr>
          <p:cNvSpPr>
            <a:spLocks noGrp="1"/>
          </p:cNvSpPr>
          <p:nvPr/>
        </p:nvSpPr>
        <p:spPr>
          <a:xfrm>
            <a:off x="3076575" y="4213560"/>
            <a:ext cx="8429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dirty="0"/>
              <a:t>Spain beat Argentina 1-0 </a:t>
            </a:r>
            <a:r>
              <a:rPr sz="2175" b="1" dirty="0">
                <a:solidFill>
                  <a:srgbClr val="F1C94A"/>
                </a:solidFill>
                <a:latin typeface="Arial"/>
                <a:ea typeface="Arial"/>
                <a:cs typeface="Arial"/>
              </a:rPr>
              <a:t>after</a:t>
            </a:r>
            <a:r>
              <a:rPr dirty="0"/>
              <a:t> Torres scored in </a:t>
            </a:r>
            <a:r>
              <a:rPr sz="2175" b="1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extra time</a:t>
            </a:r>
            <a:r>
              <a:rPr dirty="0"/>
              <a:t>.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05F87DE-A331-7B2D-FFF9-BB5F8D8CB9D8}"/>
              </a:ext>
            </a:extLst>
          </p:cNvPr>
          <p:cNvSpPr>
            <a:spLocks noGrp="1"/>
          </p:cNvSpPr>
          <p:nvPr/>
        </p:nvSpPr>
        <p:spPr>
          <a:xfrm>
            <a:off x="2190750" y="5203191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600" b="0" i="1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Heads are learned: these are possible patterns, not fixed jobs</a:t>
            </a:r>
            <a:endParaRPr lang="en-US" sz="1600" b="0" i="1" dirty="0">
              <a:solidFill>
                <a:srgbClr val="666A76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endParaRPr lang="en-US" sz="1600" b="0" i="1" dirty="0">
              <a:solidFill>
                <a:srgbClr val="666A76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lang="en-GB" sz="1600" i="1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Allow token’s representation to include several kinds of context at the same time</a:t>
            </a:r>
            <a:endParaRPr sz="1600" b="0" i="1" dirty="0">
              <a:solidFill>
                <a:srgbClr val="666A7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46293DB-41C1-A439-7380-ABE735F83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70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000782EE-C77F-450C-9661-D4D6834D0F99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lang="en-GB" sz="3225" b="1" dirty="0"/>
              <a:t>Crystallographic Information File (CIF)</a:t>
            </a:r>
            <a:endParaRPr sz="3225" b="1" i="0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BDAB7EE-8BD6-4612-8D88-2925A3B3606D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2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de-frame">
            <a:extLst>
              <a:ext uri="{FF2B5EF4-FFF2-40B4-BE49-F238E27FC236}">
                <a16:creationId xmlns:a16="http://schemas.microsoft.com/office/drawing/2014/main" id="{968428AA-1B9C-4A2B-9718-222CA8A78E92}"/>
              </a:ext>
            </a:extLst>
          </p:cNvPr>
          <p:cNvSpPr>
            <a:spLocks noGrp="1"/>
          </p:cNvSpPr>
          <p:nvPr/>
        </p:nvSpPr>
        <p:spPr>
          <a:xfrm>
            <a:off x="702368" y="1352550"/>
            <a:ext cx="6191250" cy="4152897"/>
          </a:xfrm>
          <a:prstGeom prst="rect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13246359-3534-4860-8F7C-97F4970B6299}"/>
              </a:ext>
            </a:extLst>
          </p:cNvPr>
          <p:cNvSpPr>
            <a:spLocks noGrp="1"/>
          </p:cNvSpPr>
          <p:nvPr/>
        </p:nvSpPr>
        <p:spPr>
          <a:xfrm>
            <a:off x="702368" y="1352550"/>
            <a:ext cx="0" cy="4152897"/>
          </a:xfrm>
          <a:prstGeom prst="line">
            <a:avLst/>
          </a:prstGeom>
          <a:noFill/>
          <a:ln w="571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22C246F-326E-431A-9FB6-E17D27739DE6}"/>
              </a:ext>
            </a:extLst>
          </p:cNvPr>
          <p:cNvSpPr>
            <a:spLocks noGrp="1"/>
          </p:cNvSpPr>
          <p:nvPr/>
        </p:nvSpPr>
        <p:spPr>
          <a:xfrm>
            <a:off x="930968" y="1562100"/>
            <a:ext cx="5762625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data_Ti2O4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_chemical_formula_sum  'Ti2 O4'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_cell_length_a  4.594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_cell_length_c  2.959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_symmetry_space_group_name_H-M  'P 42/m n m'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loop_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_atom_site_type_symbol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_atom_site_fract_x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_atom_site_fract_y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_atom_site_fract_z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Ti  0.000  0.000  0.000</a:t>
            </a:r>
          </a:p>
          <a:p>
            <a:pPr algn="l">
              <a:lnSpc>
                <a:spcPct val="97000"/>
              </a:lnSpc>
              <a:buNone/>
              <a:def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O   0.305  0.305  0.000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63B2420D-0408-4766-A642-6F7361D4CDC3}"/>
              </a:ext>
            </a:extLst>
          </p:cNvPr>
          <p:cNvSpPr>
            <a:spLocks noGrp="1"/>
          </p:cNvSpPr>
          <p:nvPr/>
        </p:nvSpPr>
        <p:spPr>
          <a:xfrm>
            <a:off x="7331768" y="1771650"/>
            <a:ext cx="571500" cy="0"/>
          </a:xfrm>
          <a:prstGeom prst="line">
            <a:avLst/>
          </a:prstGeom>
          <a:noFill/>
          <a:ln w="3810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0A67D2F-22DD-4F49-90CE-3A73274F31BF}"/>
              </a:ext>
            </a:extLst>
          </p:cNvPr>
          <p:cNvSpPr>
            <a:spLocks noGrp="1"/>
          </p:cNvSpPr>
          <p:nvPr/>
        </p:nvSpPr>
        <p:spPr>
          <a:xfrm>
            <a:off x="8112818" y="1581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A0F6409-C964-4994-B040-4C95ABEE4849}"/>
              </a:ext>
            </a:extLst>
          </p:cNvPr>
          <p:cNvSpPr>
            <a:spLocks noGrp="1"/>
          </p:cNvSpPr>
          <p:nvPr/>
        </p:nvSpPr>
        <p:spPr>
          <a:xfrm>
            <a:off x="8112818" y="1905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what is present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E319389E-2960-4809-8670-27936637A09D}"/>
              </a:ext>
            </a:extLst>
          </p:cNvPr>
          <p:cNvSpPr>
            <a:spLocks noGrp="1"/>
          </p:cNvSpPr>
          <p:nvPr/>
        </p:nvSpPr>
        <p:spPr>
          <a:xfrm>
            <a:off x="7331768" y="2800350"/>
            <a:ext cx="571500" cy="0"/>
          </a:xfrm>
          <a:prstGeom prst="line">
            <a:avLst/>
          </a:prstGeom>
          <a:noFill/>
          <a:ln w="3810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949D439-4918-4B16-BD1C-3DDD56C93669}"/>
              </a:ext>
            </a:extLst>
          </p:cNvPr>
          <p:cNvSpPr>
            <a:spLocks noGrp="1"/>
          </p:cNvSpPr>
          <p:nvPr/>
        </p:nvSpPr>
        <p:spPr>
          <a:xfrm>
            <a:off x="8112818" y="2609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unit cell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CCD2D23-5C02-4749-BC39-940086D98427}"/>
              </a:ext>
            </a:extLst>
          </p:cNvPr>
          <p:cNvSpPr>
            <a:spLocks noGrp="1"/>
          </p:cNvSpPr>
          <p:nvPr/>
        </p:nvSpPr>
        <p:spPr>
          <a:xfrm>
            <a:off x="8112818" y="2933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repeating box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9F68EEDF-1DE3-4264-B3DF-BAF8C08B48A8}"/>
              </a:ext>
            </a:extLst>
          </p:cNvPr>
          <p:cNvSpPr>
            <a:spLocks noGrp="1"/>
          </p:cNvSpPr>
          <p:nvPr/>
        </p:nvSpPr>
        <p:spPr>
          <a:xfrm>
            <a:off x="7331768" y="3829050"/>
            <a:ext cx="571500" cy="0"/>
          </a:xfrm>
          <a:prstGeom prst="line">
            <a:avLst/>
          </a:prstGeom>
          <a:noFill/>
          <a:ln w="3810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6C1CD5D-8CF7-4BC3-AD1E-D1087B389951}"/>
              </a:ext>
            </a:extLst>
          </p:cNvPr>
          <p:cNvSpPr>
            <a:spLocks noGrp="1"/>
          </p:cNvSpPr>
          <p:nvPr/>
        </p:nvSpPr>
        <p:spPr>
          <a:xfrm>
            <a:off x="8112818" y="36385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lang="en-US" sz="187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space group info</a:t>
            </a:r>
            <a:endParaRPr sz="1875" b="1" i="0" dirty="0">
              <a:solidFill>
                <a:srgbClr val="D85F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3581610-0AF7-4240-B143-43B122E3DF81}"/>
              </a:ext>
            </a:extLst>
          </p:cNvPr>
          <p:cNvSpPr>
            <a:spLocks noGrp="1"/>
          </p:cNvSpPr>
          <p:nvPr/>
        </p:nvSpPr>
        <p:spPr>
          <a:xfrm>
            <a:off x="8112818" y="3962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allowed repetitions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EF99114C-E006-4374-832A-A6B3226999CC}"/>
              </a:ext>
            </a:extLst>
          </p:cNvPr>
          <p:cNvSpPr>
            <a:spLocks noGrp="1"/>
          </p:cNvSpPr>
          <p:nvPr/>
        </p:nvSpPr>
        <p:spPr>
          <a:xfrm>
            <a:off x="7331768" y="4857750"/>
            <a:ext cx="571500" cy="0"/>
          </a:xfrm>
          <a:prstGeom prst="line">
            <a:avLst/>
          </a:prstGeom>
          <a:noFill/>
          <a:ln w="3810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41D9FA4-06AB-47BD-B028-C3EFD35207EB}"/>
              </a:ext>
            </a:extLst>
          </p:cNvPr>
          <p:cNvSpPr>
            <a:spLocks noGrp="1"/>
          </p:cNvSpPr>
          <p:nvPr/>
        </p:nvSpPr>
        <p:spPr>
          <a:xfrm>
            <a:off x="8112818" y="4667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atomic sites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8A2B2F-0F95-4480-9354-B25BA8CB08FC}"/>
              </a:ext>
            </a:extLst>
          </p:cNvPr>
          <p:cNvSpPr>
            <a:spLocks noGrp="1"/>
          </p:cNvSpPr>
          <p:nvPr/>
        </p:nvSpPr>
        <p:spPr>
          <a:xfrm>
            <a:off x="8112818" y="4991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where atoms sit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96A8566-AADC-AC93-5680-CF7CEBBBC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46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title">
            <a:extLst>
              <a:ext uri="{FF2B5EF4-FFF2-40B4-BE49-F238E27FC236}">
                <a16:creationId xmlns:a16="http://schemas.microsoft.com/office/drawing/2014/main" id="{A18EE51B-EE76-416A-B980-D29D5E83EE54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CrystaLLM reads CIFs as tokens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E43E0E4-07D1-4C15-9999-4EF322365E8B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3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E7B1E9F-1E63-4D3F-9BE2-CAFEE5B0D232}"/>
              </a:ext>
            </a:extLst>
          </p:cNvPr>
          <p:cNvSpPr>
            <a:spLocks noGrp="1"/>
          </p:cNvSpPr>
          <p:nvPr/>
        </p:nvSpPr>
        <p:spPr>
          <a:xfrm>
            <a:off x="811696" y="12287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raw CIF line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1DEAEC-A17A-4E65-9BE0-3F6C86C20972}"/>
              </a:ext>
            </a:extLst>
          </p:cNvPr>
          <p:cNvSpPr>
            <a:spLocks noGrp="1"/>
          </p:cNvSpPr>
          <p:nvPr/>
        </p:nvSpPr>
        <p:spPr>
          <a:xfrm>
            <a:off x="811696" y="1552575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02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 dirty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2025" b="0" i="0" dirty="0" err="1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cell_length_a</a:t>
            </a:r>
            <a:r>
              <a:rPr sz="2025" b="0" i="0" dirty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   4.594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7AC1F62-37DE-46E3-B4EA-6949CC3DF300}"/>
              </a:ext>
            </a:extLst>
          </p:cNvPr>
          <p:cNvSpPr>
            <a:spLocks noGrp="1"/>
          </p:cNvSpPr>
          <p:nvPr/>
        </p:nvSpPr>
        <p:spPr>
          <a:xfrm>
            <a:off x="3543300" y="2057399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  </a:t>
            </a:r>
            <a:r>
              <a:rPr sz="1500" b="0" i="0" dirty="0" err="1">
                <a:solidFill>
                  <a:srgbClr val="666A76"/>
                </a:solidFill>
                <a:latin typeface="Arial"/>
                <a:ea typeface="Arial"/>
                <a:cs typeface="Arial"/>
              </a:rPr>
              <a:t>tokenise</a:t>
            </a:r>
            <a:endParaRPr sz="1500" b="0" i="0" dirty="0">
              <a:solidFill>
                <a:srgbClr val="666A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oken-box-_cell_length_a">
            <a:extLst>
              <a:ext uri="{FF2B5EF4-FFF2-40B4-BE49-F238E27FC236}">
                <a16:creationId xmlns:a16="http://schemas.microsoft.com/office/drawing/2014/main" id="{9FDA6B3A-068E-4190-92CE-ACB8657BA45A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27241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oken-_cell_length_a">
            <a:extLst>
              <a:ext uri="{FF2B5EF4-FFF2-40B4-BE49-F238E27FC236}">
                <a16:creationId xmlns:a16="http://schemas.microsoft.com/office/drawing/2014/main" id="{00BB553D-D4BB-4235-AAD3-C679198995AE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2724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_cell_length_a</a:t>
            </a:r>
          </a:p>
        </p:txBody>
      </p:sp>
      <p:sp>
        <p:nvSpPr>
          <p:cNvPr id="8" name="token-box-4">
            <a:extLst>
              <a:ext uri="{FF2B5EF4-FFF2-40B4-BE49-F238E27FC236}">
                <a16:creationId xmlns:a16="http://schemas.microsoft.com/office/drawing/2014/main" id="{1DD2B7A9-B6ED-4456-A0A5-F589586724E0}"/>
              </a:ext>
            </a:extLst>
          </p:cNvPr>
          <p:cNvSpPr>
            <a:spLocks noGrp="1"/>
          </p:cNvSpPr>
          <p:nvPr/>
        </p:nvSpPr>
        <p:spPr>
          <a:xfrm>
            <a:off x="3600450" y="2457450"/>
            <a:ext cx="4953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oken-4">
            <a:extLst>
              <a:ext uri="{FF2B5EF4-FFF2-40B4-BE49-F238E27FC236}">
                <a16:creationId xmlns:a16="http://schemas.microsoft.com/office/drawing/2014/main" id="{9F0007A3-E1B9-41DD-BF94-ACA8C5B9D576}"/>
              </a:ext>
            </a:extLst>
          </p:cNvPr>
          <p:cNvSpPr>
            <a:spLocks noGrp="1"/>
          </p:cNvSpPr>
          <p:nvPr/>
        </p:nvSpPr>
        <p:spPr>
          <a:xfrm>
            <a:off x="3600450" y="24574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0" name="token-box-_">
            <a:extLst>
              <a:ext uri="{FF2B5EF4-FFF2-40B4-BE49-F238E27FC236}">
                <a16:creationId xmlns:a16="http://schemas.microsoft.com/office/drawing/2014/main" id="{917A2546-8810-4A66-94B5-773C605D10AD}"/>
              </a:ext>
            </a:extLst>
          </p:cNvPr>
          <p:cNvSpPr>
            <a:spLocks noGrp="1"/>
          </p:cNvSpPr>
          <p:nvPr/>
        </p:nvSpPr>
        <p:spPr>
          <a:xfrm>
            <a:off x="4171950" y="2457450"/>
            <a:ext cx="4572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oken-_">
            <a:extLst>
              <a:ext uri="{FF2B5EF4-FFF2-40B4-BE49-F238E27FC236}">
                <a16:creationId xmlns:a16="http://schemas.microsoft.com/office/drawing/2014/main" id="{E73FA515-1A47-4067-BC16-4D45D992A1DD}"/>
              </a:ext>
            </a:extLst>
          </p:cNvPr>
          <p:cNvSpPr>
            <a:spLocks noGrp="1"/>
          </p:cNvSpPr>
          <p:nvPr/>
        </p:nvSpPr>
        <p:spPr>
          <a:xfrm>
            <a:off x="4171950" y="2457450"/>
            <a:ext cx="457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12" name="token-box-5">
            <a:extLst>
              <a:ext uri="{FF2B5EF4-FFF2-40B4-BE49-F238E27FC236}">
                <a16:creationId xmlns:a16="http://schemas.microsoft.com/office/drawing/2014/main" id="{759926FE-EE95-4D2C-82BA-EC824F3FE270}"/>
              </a:ext>
            </a:extLst>
          </p:cNvPr>
          <p:cNvSpPr>
            <a:spLocks noGrp="1"/>
          </p:cNvSpPr>
          <p:nvPr/>
        </p:nvSpPr>
        <p:spPr>
          <a:xfrm>
            <a:off x="4705350" y="2457450"/>
            <a:ext cx="4953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oken-5">
            <a:extLst>
              <a:ext uri="{FF2B5EF4-FFF2-40B4-BE49-F238E27FC236}">
                <a16:creationId xmlns:a16="http://schemas.microsoft.com/office/drawing/2014/main" id="{D2C8D12F-56CB-4E28-AF9D-AC975472A9A3}"/>
              </a:ext>
            </a:extLst>
          </p:cNvPr>
          <p:cNvSpPr>
            <a:spLocks noGrp="1"/>
          </p:cNvSpPr>
          <p:nvPr/>
        </p:nvSpPr>
        <p:spPr>
          <a:xfrm>
            <a:off x="4705350" y="24574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14" name="token-box-9">
            <a:extLst>
              <a:ext uri="{FF2B5EF4-FFF2-40B4-BE49-F238E27FC236}">
                <a16:creationId xmlns:a16="http://schemas.microsoft.com/office/drawing/2014/main" id="{5B9AD965-8323-429C-B205-66366A07DDEF}"/>
              </a:ext>
            </a:extLst>
          </p:cNvPr>
          <p:cNvSpPr>
            <a:spLocks noGrp="1"/>
          </p:cNvSpPr>
          <p:nvPr/>
        </p:nvSpPr>
        <p:spPr>
          <a:xfrm>
            <a:off x="5276850" y="2457450"/>
            <a:ext cx="4953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oken-9">
            <a:extLst>
              <a:ext uri="{FF2B5EF4-FFF2-40B4-BE49-F238E27FC236}">
                <a16:creationId xmlns:a16="http://schemas.microsoft.com/office/drawing/2014/main" id="{4A2D6026-ED93-44AB-ACDE-B9AAE28EC0AA}"/>
              </a:ext>
            </a:extLst>
          </p:cNvPr>
          <p:cNvSpPr>
            <a:spLocks noGrp="1"/>
          </p:cNvSpPr>
          <p:nvPr/>
        </p:nvSpPr>
        <p:spPr>
          <a:xfrm>
            <a:off x="5276850" y="24574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16" name="token-box-4">
            <a:extLst>
              <a:ext uri="{FF2B5EF4-FFF2-40B4-BE49-F238E27FC236}">
                <a16:creationId xmlns:a16="http://schemas.microsoft.com/office/drawing/2014/main" id="{21226451-C501-432D-9223-B3982AC0327A}"/>
              </a:ext>
            </a:extLst>
          </p:cNvPr>
          <p:cNvSpPr>
            <a:spLocks noGrp="1"/>
          </p:cNvSpPr>
          <p:nvPr/>
        </p:nvSpPr>
        <p:spPr>
          <a:xfrm>
            <a:off x="5848350" y="2457450"/>
            <a:ext cx="4953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oken-4">
            <a:extLst>
              <a:ext uri="{FF2B5EF4-FFF2-40B4-BE49-F238E27FC236}">
                <a16:creationId xmlns:a16="http://schemas.microsoft.com/office/drawing/2014/main" id="{DE4DAAD4-FD47-4633-9534-8AAAD6516C48}"/>
              </a:ext>
            </a:extLst>
          </p:cNvPr>
          <p:cNvSpPr>
            <a:spLocks noGrp="1"/>
          </p:cNvSpPr>
          <p:nvPr/>
        </p:nvSpPr>
        <p:spPr>
          <a:xfrm>
            <a:off x="5848350" y="24574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8" name="token-box-_n">
            <a:extLst>
              <a:ext uri="{FF2B5EF4-FFF2-40B4-BE49-F238E27FC236}">
                <a16:creationId xmlns:a16="http://schemas.microsoft.com/office/drawing/2014/main" id="{39D1CA9A-C772-4C07-A588-744D14114993}"/>
              </a:ext>
            </a:extLst>
          </p:cNvPr>
          <p:cNvSpPr>
            <a:spLocks noGrp="1"/>
          </p:cNvSpPr>
          <p:nvPr/>
        </p:nvSpPr>
        <p:spPr>
          <a:xfrm>
            <a:off x="6419850" y="2457450"/>
            <a:ext cx="7048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oken-_n">
            <a:extLst>
              <a:ext uri="{FF2B5EF4-FFF2-40B4-BE49-F238E27FC236}">
                <a16:creationId xmlns:a16="http://schemas.microsoft.com/office/drawing/2014/main" id="{9EFD7178-C378-4533-B886-7FE3F0D0EAA0}"/>
              </a:ext>
            </a:extLst>
          </p:cNvPr>
          <p:cNvSpPr>
            <a:spLocks noGrp="1"/>
          </p:cNvSpPr>
          <p:nvPr/>
        </p:nvSpPr>
        <p:spPr>
          <a:xfrm>
            <a:off x="6419850" y="2457450"/>
            <a:ext cx="70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\n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FA334D9D-D2F3-4B90-AF3B-0D998B39DF72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CIF tag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FAD1094-1C22-48DF-84DA-2B000F5E7662}"/>
              </a:ext>
            </a:extLst>
          </p:cNvPr>
          <p:cNvSpPr>
            <a:spLocks noGrp="1"/>
          </p:cNvSpPr>
          <p:nvPr/>
        </p:nvSpPr>
        <p:spPr>
          <a:xfrm>
            <a:off x="3771900" y="314325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punctuation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07FFC18-33B1-42C5-AD86-F8929C586067}"/>
              </a:ext>
            </a:extLst>
          </p:cNvPr>
          <p:cNvSpPr>
            <a:spLocks noGrp="1"/>
          </p:cNvSpPr>
          <p:nvPr/>
        </p:nvSpPr>
        <p:spPr>
          <a:xfrm>
            <a:off x="4953000" y="3143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digits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24E3ABE6-C48B-4C19-A7C5-2B44831C5CC8}"/>
              </a:ext>
            </a:extLst>
          </p:cNvPr>
          <p:cNvSpPr>
            <a:spLocks noGrp="1"/>
          </p:cNvSpPr>
          <p:nvPr/>
        </p:nvSpPr>
        <p:spPr>
          <a:xfrm>
            <a:off x="6457950" y="31432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newline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B6B9C2FB-A497-4C2C-822A-BE33BE0C24EC}"/>
              </a:ext>
            </a:extLst>
          </p:cNvPr>
          <p:cNvSpPr>
            <a:spLocks noGrp="1"/>
          </p:cNvSpPr>
          <p:nvPr/>
        </p:nvSpPr>
        <p:spPr>
          <a:xfrm>
            <a:off x="811696" y="3659256"/>
            <a:ext cx="1028700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CF0A8617-6C09-4374-885B-409A7BB0A699}"/>
              </a:ext>
            </a:extLst>
          </p:cNvPr>
          <p:cNvSpPr>
            <a:spLocks noGrp="1"/>
          </p:cNvSpPr>
          <p:nvPr/>
        </p:nvSpPr>
        <p:spPr>
          <a:xfrm>
            <a:off x="800100" y="37213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atomic-site line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1AA4FF5-08F9-4DF3-9688-949F93AE4104}"/>
              </a:ext>
            </a:extLst>
          </p:cNvPr>
          <p:cNvSpPr>
            <a:spLocks noGrp="1"/>
          </p:cNvSpPr>
          <p:nvPr/>
        </p:nvSpPr>
        <p:spPr>
          <a:xfrm>
            <a:off x="800100" y="4045225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02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Ti   0.000   0.000   0.000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6F355A4B-A94D-4629-BFB1-474DA46E2111}"/>
              </a:ext>
            </a:extLst>
          </p:cNvPr>
          <p:cNvSpPr>
            <a:spLocks noGrp="1"/>
          </p:cNvSpPr>
          <p:nvPr/>
        </p:nvSpPr>
        <p:spPr>
          <a:xfrm>
            <a:off x="2201104" y="4667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  </a:t>
            </a:r>
            <a:r>
              <a:rPr sz="1500" b="0" i="0" dirty="0" err="1">
                <a:solidFill>
                  <a:srgbClr val="666A76"/>
                </a:solidFill>
                <a:latin typeface="Arial"/>
                <a:ea typeface="Arial"/>
                <a:cs typeface="Arial"/>
              </a:rPr>
              <a:t>tokenise</a:t>
            </a:r>
            <a:endParaRPr sz="1500" b="0" i="0" dirty="0">
              <a:solidFill>
                <a:srgbClr val="666A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oken-box-Ti">
            <a:extLst>
              <a:ext uri="{FF2B5EF4-FFF2-40B4-BE49-F238E27FC236}">
                <a16:creationId xmlns:a16="http://schemas.microsoft.com/office/drawing/2014/main" id="{E7EC8EA6-DC0F-4213-A7F9-299ECCC32C15}"/>
              </a:ext>
            </a:extLst>
          </p:cNvPr>
          <p:cNvSpPr>
            <a:spLocks noGrp="1"/>
          </p:cNvSpPr>
          <p:nvPr/>
        </p:nvSpPr>
        <p:spPr>
          <a:xfrm>
            <a:off x="789333" y="5129213"/>
            <a:ext cx="6096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oken-Ti">
            <a:extLst>
              <a:ext uri="{FF2B5EF4-FFF2-40B4-BE49-F238E27FC236}">
                <a16:creationId xmlns:a16="http://schemas.microsoft.com/office/drawing/2014/main" id="{A7A2D400-EDCC-4C79-B15D-08B962BE8020}"/>
              </a:ext>
            </a:extLst>
          </p:cNvPr>
          <p:cNvSpPr>
            <a:spLocks noGrp="1"/>
          </p:cNvSpPr>
          <p:nvPr/>
        </p:nvSpPr>
        <p:spPr>
          <a:xfrm>
            <a:off x="789333" y="5129213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30" name="token-box-0">
            <a:extLst>
              <a:ext uri="{FF2B5EF4-FFF2-40B4-BE49-F238E27FC236}">
                <a16:creationId xmlns:a16="http://schemas.microsoft.com/office/drawing/2014/main" id="{F2DC179B-8056-46E6-986E-A781510493C4}"/>
              </a:ext>
            </a:extLst>
          </p:cNvPr>
          <p:cNvSpPr>
            <a:spLocks noGrp="1"/>
          </p:cNvSpPr>
          <p:nvPr/>
        </p:nvSpPr>
        <p:spPr>
          <a:xfrm>
            <a:off x="1475133" y="5129213"/>
            <a:ext cx="476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oken-0">
            <a:extLst>
              <a:ext uri="{FF2B5EF4-FFF2-40B4-BE49-F238E27FC236}">
                <a16:creationId xmlns:a16="http://schemas.microsoft.com/office/drawing/2014/main" id="{C85E0EED-B53C-40F7-AFA7-28E4A24C0564}"/>
              </a:ext>
            </a:extLst>
          </p:cNvPr>
          <p:cNvSpPr>
            <a:spLocks noGrp="1"/>
          </p:cNvSpPr>
          <p:nvPr/>
        </p:nvSpPr>
        <p:spPr>
          <a:xfrm>
            <a:off x="1475133" y="5129213"/>
            <a:ext cx="47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2" name="token-box-_">
            <a:extLst>
              <a:ext uri="{FF2B5EF4-FFF2-40B4-BE49-F238E27FC236}">
                <a16:creationId xmlns:a16="http://schemas.microsoft.com/office/drawing/2014/main" id="{7B47B318-4666-406B-B93F-2591C12FF2AA}"/>
              </a:ext>
            </a:extLst>
          </p:cNvPr>
          <p:cNvSpPr>
            <a:spLocks noGrp="1"/>
          </p:cNvSpPr>
          <p:nvPr/>
        </p:nvSpPr>
        <p:spPr>
          <a:xfrm>
            <a:off x="2027583" y="5129213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oken-_">
            <a:extLst>
              <a:ext uri="{FF2B5EF4-FFF2-40B4-BE49-F238E27FC236}">
                <a16:creationId xmlns:a16="http://schemas.microsoft.com/office/drawing/2014/main" id="{207E2ADB-9C3E-493D-901D-565FB5F1C207}"/>
              </a:ext>
            </a:extLst>
          </p:cNvPr>
          <p:cNvSpPr>
            <a:spLocks noGrp="1"/>
          </p:cNvSpPr>
          <p:nvPr/>
        </p:nvSpPr>
        <p:spPr>
          <a:xfrm>
            <a:off x="2027583" y="5129213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34" name="token-box-0">
            <a:extLst>
              <a:ext uri="{FF2B5EF4-FFF2-40B4-BE49-F238E27FC236}">
                <a16:creationId xmlns:a16="http://schemas.microsoft.com/office/drawing/2014/main" id="{43D5B029-39E8-456A-98BE-B370E812DF7C}"/>
              </a:ext>
            </a:extLst>
          </p:cNvPr>
          <p:cNvSpPr>
            <a:spLocks noGrp="1"/>
          </p:cNvSpPr>
          <p:nvPr/>
        </p:nvSpPr>
        <p:spPr>
          <a:xfrm>
            <a:off x="2541933" y="5129213"/>
            <a:ext cx="476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oken-0">
            <a:extLst>
              <a:ext uri="{FF2B5EF4-FFF2-40B4-BE49-F238E27FC236}">
                <a16:creationId xmlns:a16="http://schemas.microsoft.com/office/drawing/2014/main" id="{3B9D93D8-91A5-40A7-AC2E-B3E44E56303F}"/>
              </a:ext>
            </a:extLst>
          </p:cNvPr>
          <p:cNvSpPr>
            <a:spLocks noGrp="1"/>
          </p:cNvSpPr>
          <p:nvPr/>
        </p:nvSpPr>
        <p:spPr>
          <a:xfrm>
            <a:off x="2541933" y="5129213"/>
            <a:ext cx="47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6" name="token-box-0">
            <a:extLst>
              <a:ext uri="{FF2B5EF4-FFF2-40B4-BE49-F238E27FC236}">
                <a16:creationId xmlns:a16="http://schemas.microsoft.com/office/drawing/2014/main" id="{EF7CFA01-C21B-411D-8436-1E092FD4994A}"/>
              </a:ext>
            </a:extLst>
          </p:cNvPr>
          <p:cNvSpPr>
            <a:spLocks noGrp="1"/>
          </p:cNvSpPr>
          <p:nvPr/>
        </p:nvSpPr>
        <p:spPr>
          <a:xfrm>
            <a:off x="3094383" y="5129213"/>
            <a:ext cx="476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oken-0">
            <a:extLst>
              <a:ext uri="{FF2B5EF4-FFF2-40B4-BE49-F238E27FC236}">
                <a16:creationId xmlns:a16="http://schemas.microsoft.com/office/drawing/2014/main" id="{398788A0-31F0-43CE-9140-0F2CE3DD972B}"/>
              </a:ext>
            </a:extLst>
          </p:cNvPr>
          <p:cNvSpPr>
            <a:spLocks noGrp="1"/>
          </p:cNvSpPr>
          <p:nvPr/>
        </p:nvSpPr>
        <p:spPr>
          <a:xfrm>
            <a:off x="3094383" y="5129213"/>
            <a:ext cx="47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8" name="token-box-0">
            <a:extLst>
              <a:ext uri="{FF2B5EF4-FFF2-40B4-BE49-F238E27FC236}">
                <a16:creationId xmlns:a16="http://schemas.microsoft.com/office/drawing/2014/main" id="{31917030-28F8-45B0-A9A0-9EE330C2E437}"/>
              </a:ext>
            </a:extLst>
          </p:cNvPr>
          <p:cNvSpPr>
            <a:spLocks noGrp="1"/>
          </p:cNvSpPr>
          <p:nvPr/>
        </p:nvSpPr>
        <p:spPr>
          <a:xfrm>
            <a:off x="3646833" y="5129213"/>
            <a:ext cx="4762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oken-0">
            <a:extLst>
              <a:ext uri="{FF2B5EF4-FFF2-40B4-BE49-F238E27FC236}">
                <a16:creationId xmlns:a16="http://schemas.microsoft.com/office/drawing/2014/main" id="{4F632F08-D0A8-4972-A2D7-E173F1DFB75D}"/>
              </a:ext>
            </a:extLst>
          </p:cNvPr>
          <p:cNvSpPr>
            <a:spLocks noGrp="1"/>
          </p:cNvSpPr>
          <p:nvPr/>
        </p:nvSpPr>
        <p:spPr>
          <a:xfrm>
            <a:off x="3646833" y="5129213"/>
            <a:ext cx="47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40" name="token-box-_">
            <a:extLst>
              <a:ext uri="{FF2B5EF4-FFF2-40B4-BE49-F238E27FC236}">
                <a16:creationId xmlns:a16="http://schemas.microsoft.com/office/drawing/2014/main" id="{EE1DEF7D-0887-4BD3-B725-3ECD4D8317FE}"/>
              </a:ext>
            </a:extLst>
          </p:cNvPr>
          <p:cNvSpPr>
            <a:spLocks noGrp="1"/>
          </p:cNvSpPr>
          <p:nvPr/>
        </p:nvSpPr>
        <p:spPr>
          <a:xfrm>
            <a:off x="4199283" y="5129213"/>
            <a:ext cx="5524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oken-_">
            <a:extLst>
              <a:ext uri="{FF2B5EF4-FFF2-40B4-BE49-F238E27FC236}">
                <a16:creationId xmlns:a16="http://schemas.microsoft.com/office/drawing/2014/main" id="{467A6F19-BD10-49F7-B805-9BFA5274A426}"/>
              </a:ext>
            </a:extLst>
          </p:cNvPr>
          <p:cNvSpPr>
            <a:spLocks noGrp="1"/>
          </p:cNvSpPr>
          <p:nvPr/>
        </p:nvSpPr>
        <p:spPr>
          <a:xfrm>
            <a:off x="4199283" y="5129213"/>
            <a:ext cx="55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666A76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666A76"/>
                </a:solidFill>
                <a:latin typeface="Courier New"/>
                <a:ea typeface="Courier New"/>
                <a:cs typeface="Courier New"/>
              </a:rPr>
              <a:t>…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6C0E1E1C-BBAE-4D2D-83F7-9EB00FEAAEEE}"/>
              </a:ext>
            </a:extLst>
          </p:cNvPr>
          <p:cNvSpPr>
            <a:spLocks noGrp="1"/>
          </p:cNvSpPr>
          <p:nvPr/>
        </p:nvSpPr>
        <p:spPr>
          <a:xfrm>
            <a:off x="6096000" y="4430494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atom symbol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7C4BF0E8-C3E2-458C-A393-D8A5DB949EAA}"/>
              </a:ext>
            </a:extLst>
          </p:cNvPr>
          <p:cNvSpPr>
            <a:spLocks noGrp="1"/>
          </p:cNvSpPr>
          <p:nvPr/>
        </p:nvSpPr>
        <p:spPr>
          <a:xfrm>
            <a:off x="5657850" y="4759473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coordinates are generated digit by digit</a:t>
            </a:r>
          </a:p>
        </p:txBody>
      </p:sp>
      <p:sp>
        <p:nvSpPr>
          <p:cNvPr id="44" name="text">
            <a:extLst>
              <a:ext uri="{FF2B5EF4-FFF2-40B4-BE49-F238E27FC236}">
                <a16:creationId xmlns:a16="http://schemas.microsoft.com/office/drawing/2014/main" id="{8D58ED4A-110D-4AE0-87F8-662A50E2301F}"/>
              </a:ext>
            </a:extLst>
          </p:cNvPr>
          <p:cNvSpPr>
            <a:spLocks noGrp="1"/>
          </p:cNvSpPr>
          <p:nvPr/>
        </p:nvSpPr>
        <p:spPr>
          <a:xfrm>
            <a:off x="1954696" y="6005146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500" b="0" i="1" dirty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exact boundaries depend on the tokenizer.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0090AF8C-A98F-C253-1E43-6DC4E295C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97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-title">
            <a:extLst>
              <a:ext uri="{FF2B5EF4-FFF2-40B4-BE49-F238E27FC236}">
                <a16:creationId xmlns:a16="http://schemas.microsoft.com/office/drawing/2014/main" id="{F2C38A68-7D25-46E7-9F7E-5A02B3A2770D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CrystaLLM applies next-token prediction to CIFs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4E39DE4-AEE6-43ED-B970-6744928FCB2F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14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31EFC8A-2CA1-4D36-BB00-5D132BABFF6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ORIGINAL STUDY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110A78C-1513-46AF-AD9F-48E1EBAFF8A9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8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2.3M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24A0D17-C48D-4F36-A3B0-2E21F260D48F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CIF dataset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D3BE46D-F771-40E7-A623-C1D0790CBA23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standardised and tokenised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AC89E772-FF1F-4E53-A8D0-A41DA0089BF8}"/>
              </a:ext>
            </a:extLst>
          </p:cNvPr>
          <p:cNvSpPr>
            <a:spLocks noGrp="1"/>
          </p:cNvSpPr>
          <p:nvPr/>
        </p:nvSpPr>
        <p:spPr>
          <a:xfrm>
            <a:off x="3714750" y="1504950"/>
            <a:ext cx="0" cy="201930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57BFDF6-09E7-47F1-B49F-5755DABADC8C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C896E79-0FBB-413A-837D-5D69C272626A}"/>
              </a:ext>
            </a:extLst>
          </p:cNvPr>
          <p:cNvSpPr>
            <a:spLocks noGrp="1"/>
          </p:cNvSpPr>
          <p:nvPr/>
        </p:nvSpPr>
        <p:spPr>
          <a:xfrm>
            <a:off x="4171950" y="180975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6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decoder-only</a:t>
            </a:r>
          </a:p>
          <a:p>
            <a:pPr algn="l">
              <a:lnSpc>
                <a:spcPct val="95000"/>
              </a:lnSpc>
              <a:buNone/>
              <a:defRPr sz="26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3984F85F-9D36-4A54-ADC5-A91F6C5E7481}"/>
              </a:ext>
            </a:extLst>
          </p:cNvPr>
          <p:cNvSpPr>
            <a:spLocks noGrp="1"/>
          </p:cNvSpPr>
          <p:nvPr/>
        </p:nvSpPr>
        <p:spPr>
          <a:xfrm>
            <a:off x="7524750" y="1504950"/>
            <a:ext cx="0" cy="201930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5E515D7-CB22-48C5-8F12-955F4A9F269B}"/>
              </a:ext>
            </a:extLst>
          </p:cNvPr>
          <p:cNvSpPr>
            <a:spLocks noGrp="1"/>
          </p:cNvSpPr>
          <p:nvPr/>
        </p:nvSpPr>
        <p:spPr>
          <a:xfrm>
            <a:off x="7962900" y="1428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2760546-7BC8-4BE1-ADF8-6FB6E5141EF0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143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6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predict the next</a:t>
            </a:r>
          </a:p>
          <a:p>
            <a:pPr algn="l">
              <a:lnSpc>
                <a:spcPct val="95000"/>
              </a:lnSpc>
              <a:buNone/>
              <a:defRPr sz="26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CIF token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D530BBC-F189-40A1-B495-576BF676AE0D}"/>
              </a:ext>
            </a:extLst>
          </p:cNvPr>
          <p:cNvSpPr>
            <a:spLocks noGrp="1"/>
          </p:cNvSpPr>
          <p:nvPr/>
        </p:nvSpPr>
        <p:spPr>
          <a:xfrm>
            <a:off x="7962900" y="2990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 probability for every token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8CAE5762-F7A7-4D51-9EED-2CEC63D7DBA9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076325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oken-box-data_">
            <a:extLst>
              <a:ext uri="{FF2B5EF4-FFF2-40B4-BE49-F238E27FC236}">
                <a16:creationId xmlns:a16="http://schemas.microsoft.com/office/drawing/2014/main" id="{98E2565C-76D0-466A-A59A-4AFF7EBBBF57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11049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oken-data_">
            <a:extLst>
              <a:ext uri="{FF2B5EF4-FFF2-40B4-BE49-F238E27FC236}">
                <a16:creationId xmlns:a16="http://schemas.microsoft.com/office/drawing/2014/main" id="{0A099FF8-D115-41D4-B462-D8E09B903A4D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110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18" name="token-box-Ti">
            <a:extLst>
              <a:ext uri="{FF2B5EF4-FFF2-40B4-BE49-F238E27FC236}">
                <a16:creationId xmlns:a16="http://schemas.microsoft.com/office/drawing/2014/main" id="{09B07B84-1E16-4CF7-8D42-17D3EE45056A}"/>
              </a:ext>
            </a:extLst>
          </p:cNvPr>
          <p:cNvSpPr>
            <a:spLocks noGrp="1"/>
          </p:cNvSpPr>
          <p:nvPr/>
        </p:nvSpPr>
        <p:spPr>
          <a:xfrm>
            <a:off x="1895475" y="4057650"/>
            <a:ext cx="5715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oken-Ti">
            <a:extLst>
              <a:ext uri="{FF2B5EF4-FFF2-40B4-BE49-F238E27FC236}">
                <a16:creationId xmlns:a16="http://schemas.microsoft.com/office/drawing/2014/main" id="{FD4EB3A2-5045-4FE6-9929-52F608144167}"/>
              </a:ext>
            </a:extLst>
          </p:cNvPr>
          <p:cNvSpPr>
            <a:spLocks noGrp="1"/>
          </p:cNvSpPr>
          <p:nvPr/>
        </p:nvSpPr>
        <p:spPr>
          <a:xfrm>
            <a:off x="1895475" y="4057650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20" name="token-box-2">
            <a:extLst>
              <a:ext uri="{FF2B5EF4-FFF2-40B4-BE49-F238E27FC236}">
                <a16:creationId xmlns:a16="http://schemas.microsoft.com/office/drawing/2014/main" id="{B3BD0591-AA27-4CBD-B21B-C1A9EF65E0CE}"/>
              </a:ext>
            </a:extLst>
          </p:cNvPr>
          <p:cNvSpPr>
            <a:spLocks noGrp="1"/>
          </p:cNvSpPr>
          <p:nvPr/>
        </p:nvSpPr>
        <p:spPr>
          <a:xfrm>
            <a:off x="2533650" y="4057650"/>
            <a:ext cx="4572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oken-2">
            <a:extLst>
              <a:ext uri="{FF2B5EF4-FFF2-40B4-BE49-F238E27FC236}">
                <a16:creationId xmlns:a16="http://schemas.microsoft.com/office/drawing/2014/main" id="{D4289CC2-3AF2-4BB5-B6AA-C93D11132EC7}"/>
              </a:ext>
            </a:extLst>
          </p:cNvPr>
          <p:cNvSpPr>
            <a:spLocks noGrp="1"/>
          </p:cNvSpPr>
          <p:nvPr/>
        </p:nvSpPr>
        <p:spPr>
          <a:xfrm>
            <a:off x="2533650" y="4057650"/>
            <a:ext cx="457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2" name="token-box-O">
            <a:extLst>
              <a:ext uri="{FF2B5EF4-FFF2-40B4-BE49-F238E27FC236}">
                <a16:creationId xmlns:a16="http://schemas.microsoft.com/office/drawing/2014/main" id="{07B04ADF-EB0E-4999-A9A7-328152ACA485}"/>
              </a:ext>
            </a:extLst>
          </p:cNvPr>
          <p:cNvSpPr>
            <a:spLocks noGrp="1"/>
          </p:cNvSpPr>
          <p:nvPr/>
        </p:nvSpPr>
        <p:spPr>
          <a:xfrm>
            <a:off x="3057525" y="4057650"/>
            <a:ext cx="51435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oken-O">
            <a:extLst>
              <a:ext uri="{FF2B5EF4-FFF2-40B4-BE49-F238E27FC236}">
                <a16:creationId xmlns:a16="http://schemas.microsoft.com/office/drawing/2014/main" id="{F8D5349E-3ECB-4043-B653-CF9BDCCB19BC}"/>
              </a:ext>
            </a:extLst>
          </p:cNvPr>
          <p:cNvSpPr>
            <a:spLocks noGrp="1"/>
          </p:cNvSpPr>
          <p:nvPr/>
        </p:nvSpPr>
        <p:spPr>
          <a:xfrm>
            <a:off x="3057525" y="4057650"/>
            <a:ext cx="514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24" name="token-box-4">
            <a:extLst>
              <a:ext uri="{FF2B5EF4-FFF2-40B4-BE49-F238E27FC236}">
                <a16:creationId xmlns:a16="http://schemas.microsoft.com/office/drawing/2014/main" id="{48890F80-0DC0-4548-AEA1-3A6CCACF5C5E}"/>
              </a:ext>
            </a:extLst>
          </p:cNvPr>
          <p:cNvSpPr>
            <a:spLocks noGrp="1"/>
          </p:cNvSpPr>
          <p:nvPr/>
        </p:nvSpPr>
        <p:spPr>
          <a:xfrm>
            <a:off x="3638550" y="4057650"/>
            <a:ext cx="4572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oken-4">
            <a:extLst>
              <a:ext uri="{FF2B5EF4-FFF2-40B4-BE49-F238E27FC236}">
                <a16:creationId xmlns:a16="http://schemas.microsoft.com/office/drawing/2014/main" id="{AE08C977-2C27-4EEA-8BF1-84C1DDB89CC9}"/>
              </a:ext>
            </a:extLst>
          </p:cNvPr>
          <p:cNvSpPr>
            <a:spLocks noGrp="1"/>
          </p:cNvSpPr>
          <p:nvPr/>
        </p:nvSpPr>
        <p:spPr>
          <a:xfrm>
            <a:off x="3638550" y="4057650"/>
            <a:ext cx="457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6" name="token-box-_n">
            <a:extLst>
              <a:ext uri="{FF2B5EF4-FFF2-40B4-BE49-F238E27FC236}">
                <a16:creationId xmlns:a16="http://schemas.microsoft.com/office/drawing/2014/main" id="{77334BC4-DA88-456D-897E-DDF2BFAE3913}"/>
              </a:ext>
            </a:extLst>
          </p:cNvPr>
          <p:cNvSpPr>
            <a:spLocks noGrp="1"/>
          </p:cNvSpPr>
          <p:nvPr/>
        </p:nvSpPr>
        <p:spPr>
          <a:xfrm>
            <a:off x="4162425" y="4057650"/>
            <a:ext cx="66675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oken-_n">
            <a:extLst>
              <a:ext uri="{FF2B5EF4-FFF2-40B4-BE49-F238E27FC236}">
                <a16:creationId xmlns:a16="http://schemas.microsoft.com/office/drawing/2014/main" id="{979B2F45-7BD1-4A45-B41F-98410D5063B7}"/>
              </a:ext>
            </a:extLst>
          </p:cNvPr>
          <p:cNvSpPr>
            <a:spLocks noGrp="1"/>
          </p:cNvSpPr>
          <p:nvPr/>
        </p:nvSpPr>
        <p:spPr>
          <a:xfrm>
            <a:off x="4162425" y="4057650"/>
            <a:ext cx="66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\n</a:t>
            </a:r>
          </a:p>
        </p:txBody>
      </p:sp>
      <p:sp>
        <p:nvSpPr>
          <p:cNvPr id="28" name="token-box-_cell_length_a">
            <a:extLst>
              <a:ext uri="{FF2B5EF4-FFF2-40B4-BE49-F238E27FC236}">
                <a16:creationId xmlns:a16="http://schemas.microsoft.com/office/drawing/2014/main" id="{FE812ACE-836A-4398-9B65-CC9B29D09A12}"/>
              </a:ext>
            </a:extLst>
          </p:cNvPr>
          <p:cNvSpPr>
            <a:spLocks noGrp="1"/>
          </p:cNvSpPr>
          <p:nvPr/>
        </p:nvSpPr>
        <p:spPr>
          <a:xfrm>
            <a:off x="4895850" y="4057650"/>
            <a:ext cx="24384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oken-_cell_length_a">
            <a:extLst>
              <a:ext uri="{FF2B5EF4-FFF2-40B4-BE49-F238E27FC236}">
                <a16:creationId xmlns:a16="http://schemas.microsoft.com/office/drawing/2014/main" id="{65E68B02-4E56-49AF-8E2F-E5FD8D27F95F}"/>
              </a:ext>
            </a:extLst>
          </p:cNvPr>
          <p:cNvSpPr>
            <a:spLocks noGrp="1"/>
          </p:cNvSpPr>
          <p:nvPr/>
        </p:nvSpPr>
        <p:spPr>
          <a:xfrm>
            <a:off x="4895850" y="4057650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_cell_length_a</a:t>
            </a:r>
          </a:p>
        </p:txBody>
      </p:sp>
      <p:sp>
        <p:nvSpPr>
          <p:cNvPr id="30" name="token-box-4">
            <a:extLst>
              <a:ext uri="{FF2B5EF4-FFF2-40B4-BE49-F238E27FC236}">
                <a16:creationId xmlns:a16="http://schemas.microsoft.com/office/drawing/2014/main" id="{1AC16EFE-9621-4FB6-B3D3-457C49288F56}"/>
              </a:ext>
            </a:extLst>
          </p:cNvPr>
          <p:cNvSpPr>
            <a:spLocks noGrp="1"/>
          </p:cNvSpPr>
          <p:nvPr/>
        </p:nvSpPr>
        <p:spPr>
          <a:xfrm>
            <a:off x="7400925" y="4057650"/>
            <a:ext cx="4572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oken-4">
            <a:extLst>
              <a:ext uri="{FF2B5EF4-FFF2-40B4-BE49-F238E27FC236}">
                <a16:creationId xmlns:a16="http://schemas.microsoft.com/office/drawing/2014/main" id="{76B06EA8-0172-4159-8280-F84B57A5F99F}"/>
              </a:ext>
            </a:extLst>
          </p:cNvPr>
          <p:cNvSpPr>
            <a:spLocks noGrp="1"/>
          </p:cNvSpPr>
          <p:nvPr/>
        </p:nvSpPr>
        <p:spPr>
          <a:xfrm>
            <a:off x="7400925" y="4057650"/>
            <a:ext cx="457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2" name="token-box-_">
            <a:extLst>
              <a:ext uri="{FF2B5EF4-FFF2-40B4-BE49-F238E27FC236}">
                <a16:creationId xmlns:a16="http://schemas.microsoft.com/office/drawing/2014/main" id="{31F56850-B161-4546-95CC-7C0FB5F03FB4}"/>
              </a:ext>
            </a:extLst>
          </p:cNvPr>
          <p:cNvSpPr>
            <a:spLocks noGrp="1"/>
          </p:cNvSpPr>
          <p:nvPr/>
        </p:nvSpPr>
        <p:spPr>
          <a:xfrm>
            <a:off x="7924800" y="4057650"/>
            <a:ext cx="4572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oken-_">
            <a:extLst>
              <a:ext uri="{FF2B5EF4-FFF2-40B4-BE49-F238E27FC236}">
                <a16:creationId xmlns:a16="http://schemas.microsoft.com/office/drawing/2014/main" id="{40F2F8B1-A59D-4BE9-A488-EDE524F33C12}"/>
              </a:ext>
            </a:extLst>
          </p:cNvPr>
          <p:cNvSpPr>
            <a:spLocks noGrp="1"/>
          </p:cNvSpPr>
          <p:nvPr/>
        </p:nvSpPr>
        <p:spPr>
          <a:xfrm>
            <a:off x="7924800" y="4057650"/>
            <a:ext cx="457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34" name="token-box-_">
            <a:extLst>
              <a:ext uri="{FF2B5EF4-FFF2-40B4-BE49-F238E27FC236}">
                <a16:creationId xmlns:a16="http://schemas.microsoft.com/office/drawing/2014/main" id="{B14774E5-74DD-4276-89F1-B38D6615CB43}"/>
              </a:ext>
            </a:extLst>
          </p:cNvPr>
          <p:cNvSpPr>
            <a:spLocks noGrp="1"/>
          </p:cNvSpPr>
          <p:nvPr/>
        </p:nvSpPr>
        <p:spPr>
          <a:xfrm>
            <a:off x="8448675" y="4057650"/>
            <a:ext cx="51435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oken-_">
            <a:extLst>
              <a:ext uri="{FF2B5EF4-FFF2-40B4-BE49-F238E27FC236}">
                <a16:creationId xmlns:a16="http://schemas.microsoft.com/office/drawing/2014/main" id="{18A46F31-8929-435A-85A9-E398134409A1}"/>
              </a:ext>
            </a:extLst>
          </p:cNvPr>
          <p:cNvSpPr>
            <a:spLocks noGrp="1"/>
          </p:cNvSpPr>
          <p:nvPr/>
        </p:nvSpPr>
        <p:spPr>
          <a:xfrm>
            <a:off x="8448675" y="4057650"/>
            <a:ext cx="514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E2028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E2028"/>
                </a:solidFill>
                <a:latin typeface="Courier New"/>
                <a:ea typeface="Courier New"/>
                <a:cs typeface="Courier New"/>
              </a:rPr>
              <a:t>?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7EECEEA8-75D5-48BC-82DC-18BD0DDD91F4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7" name="rich-text">
            <a:extLst>
              <a:ext uri="{FF2B5EF4-FFF2-40B4-BE49-F238E27FC236}">
                <a16:creationId xmlns:a16="http://schemas.microsoft.com/office/drawing/2014/main" id="{B9EA70E5-157A-4B73-92C0-9AEA443BA98E}"/>
              </a:ext>
            </a:extLst>
          </p:cNvPr>
          <p:cNvSpPr>
            <a:spLocks noGrp="1"/>
          </p:cNvSpPr>
          <p:nvPr/>
        </p:nvSpPr>
        <p:spPr>
          <a:xfrm>
            <a:off x="1143000" y="52768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predicted probabilities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dirty="0"/>
              <a:t> true next token</a:t>
            </a:r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F4EC3CF9-3F84-4A59-8BBE-A1140DE91249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0" cy="85725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E10FBB0D-B545-4B51-BE2D-185F4CD40AF7}"/>
              </a:ext>
            </a:extLst>
          </p:cNvPr>
          <p:cNvSpPr>
            <a:spLocks noGrp="1"/>
          </p:cNvSpPr>
          <p:nvPr/>
        </p:nvSpPr>
        <p:spPr>
          <a:xfrm>
            <a:off x="6553200" y="49530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40" name="rich-text">
            <a:extLst>
              <a:ext uri="{FF2B5EF4-FFF2-40B4-BE49-F238E27FC236}">
                <a16:creationId xmlns:a16="http://schemas.microsoft.com/office/drawing/2014/main" id="{89643B9D-7C05-4173-866A-963E10361298}"/>
              </a:ext>
            </a:extLst>
          </p:cNvPr>
          <p:cNvSpPr>
            <a:spLocks noGrp="1"/>
          </p:cNvSpPr>
          <p:nvPr/>
        </p:nvSpPr>
        <p:spPr>
          <a:xfrm>
            <a:off x="6553200" y="52768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5F80"/>
                </a:solidFill>
                <a:latin typeface="Arial"/>
                <a:ea typeface="Arial"/>
                <a:cs typeface="Arial"/>
              </a:rPr>
              <a:t>sample</a:t>
            </a:r>
            <a:r>
              <a:t>  →  </a:t>
            </a:r>
            <a:r>
              <a:rPr sz="1650" b="1">
                <a:solidFill>
                  <a:srgbClr val="2E9AA7"/>
                </a:solidFill>
                <a:latin typeface="Arial"/>
                <a:ea typeface="Arial"/>
                <a:cs typeface="Arial"/>
              </a:rPr>
              <a:t>append</a:t>
            </a:r>
            <a:r>
              <a:t>  →  repeat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F3378C9-9DFE-80E5-4D41-B989DE91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-title">
            <a:extLst>
              <a:ext uri="{FF2B5EF4-FFF2-40B4-BE49-F238E27FC236}">
                <a16:creationId xmlns:a16="http://schemas.microsoft.com/office/drawing/2014/main" id="{EBC523E4-73A4-400A-A5F5-27BFCE7E7133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CrystaLLM trains a decoder-only Transformer on CIF tokens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11A8A897-CB23-43FA-A095-F26C4328A5A8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5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367ABD6-4A34-4672-BD4F-7ECB2B72B4A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token-box-data_">
            <a:extLst>
              <a:ext uri="{FF2B5EF4-FFF2-40B4-BE49-F238E27FC236}">
                <a16:creationId xmlns:a16="http://schemas.microsoft.com/office/drawing/2014/main" id="{7914CB59-8C43-4C35-821B-AE994C1E33A0}"/>
              </a:ext>
            </a:extLst>
          </p:cNvPr>
          <p:cNvSpPr>
            <a:spLocks noGrp="1"/>
          </p:cNvSpPr>
          <p:nvPr/>
        </p:nvSpPr>
        <p:spPr>
          <a:xfrm>
            <a:off x="1619250" y="1562100"/>
            <a:ext cx="11049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ken-data_">
            <a:extLst>
              <a:ext uri="{FF2B5EF4-FFF2-40B4-BE49-F238E27FC236}">
                <a16:creationId xmlns:a16="http://schemas.microsoft.com/office/drawing/2014/main" id="{FFEC5D04-CF92-4B98-B525-BAA82B0CD92D}"/>
              </a:ext>
            </a:extLst>
          </p:cNvPr>
          <p:cNvSpPr>
            <a:spLocks noGrp="1"/>
          </p:cNvSpPr>
          <p:nvPr/>
        </p:nvSpPr>
        <p:spPr>
          <a:xfrm>
            <a:off x="1619250" y="1562100"/>
            <a:ext cx="110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6" name="token-box-Ti">
            <a:extLst>
              <a:ext uri="{FF2B5EF4-FFF2-40B4-BE49-F238E27FC236}">
                <a16:creationId xmlns:a16="http://schemas.microsoft.com/office/drawing/2014/main" id="{EEEB2F70-14FB-4AE2-BE31-7E2C2AD43F49}"/>
              </a:ext>
            </a:extLst>
          </p:cNvPr>
          <p:cNvSpPr>
            <a:spLocks noGrp="1"/>
          </p:cNvSpPr>
          <p:nvPr/>
        </p:nvSpPr>
        <p:spPr>
          <a:xfrm>
            <a:off x="2800350" y="1562100"/>
            <a:ext cx="5905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oken-Ti">
            <a:extLst>
              <a:ext uri="{FF2B5EF4-FFF2-40B4-BE49-F238E27FC236}">
                <a16:creationId xmlns:a16="http://schemas.microsoft.com/office/drawing/2014/main" id="{300FF0D5-74B7-4BCB-A4F7-35E1B1C1BEF2}"/>
              </a:ext>
            </a:extLst>
          </p:cNvPr>
          <p:cNvSpPr>
            <a:spLocks noGrp="1"/>
          </p:cNvSpPr>
          <p:nvPr/>
        </p:nvSpPr>
        <p:spPr>
          <a:xfrm>
            <a:off x="2800350" y="1562100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8" name="token-box-2">
            <a:extLst>
              <a:ext uri="{FF2B5EF4-FFF2-40B4-BE49-F238E27FC236}">
                <a16:creationId xmlns:a16="http://schemas.microsoft.com/office/drawing/2014/main" id="{B70FE6C4-DFEC-41B0-AC63-04C383D8763F}"/>
              </a:ext>
            </a:extLst>
          </p:cNvPr>
          <p:cNvSpPr>
            <a:spLocks noGrp="1"/>
          </p:cNvSpPr>
          <p:nvPr/>
        </p:nvSpPr>
        <p:spPr>
          <a:xfrm>
            <a:off x="3467100" y="15621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oken-2">
            <a:extLst>
              <a:ext uri="{FF2B5EF4-FFF2-40B4-BE49-F238E27FC236}">
                <a16:creationId xmlns:a16="http://schemas.microsoft.com/office/drawing/2014/main" id="{50C06AD9-93E5-4C82-AB79-FEEAA34CD6C5}"/>
              </a:ext>
            </a:extLst>
          </p:cNvPr>
          <p:cNvSpPr>
            <a:spLocks noGrp="1"/>
          </p:cNvSpPr>
          <p:nvPr/>
        </p:nvSpPr>
        <p:spPr>
          <a:xfrm>
            <a:off x="3467100" y="15621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0" name="token-box-O">
            <a:extLst>
              <a:ext uri="{FF2B5EF4-FFF2-40B4-BE49-F238E27FC236}">
                <a16:creationId xmlns:a16="http://schemas.microsoft.com/office/drawing/2014/main" id="{5861D6A8-772A-4D6B-BBB1-B6A43556A95F}"/>
              </a:ext>
            </a:extLst>
          </p:cNvPr>
          <p:cNvSpPr>
            <a:spLocks noGrp="1"/>
          </p:cNvSpPr>
          <p:nvPr/>
        </p:nvSpPr>
        <p:spPr>
          <a:xfrm>
            <a:off x="3981450" y="1562100"/>
            <a:ext cx="5905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oken-O">
            <a:extLst>
              <a:ext uri="{FF2B5EF4-FFF2-40B4-BE49-F238E27FC236}">
                <a16:creationId xmlns:a16="http://schemas.microsoft.com/office/drawing/2014/main" id="{DCBD9C67-A965-4BFC-B9A8-77E477041BA7}"/>
              </a:ext>
            </a:extLst>
          </p:cNvPr>
          <p:cNvSpPr>
            <a:spLocks noGrp="1"/>
          </p:cNvSpPr>
          <p:nvPr/>
        </p:nvSpPr>
        <p:spPr>
          <a:xfrm>
            <a:off x="3981450" y="1562100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12" name="token-box-4">
            <a:extLst>
              <a:ext uri="{FF2B5EF4-FFF2-40B4-BE49-F238E27FC236}">
                <a16:creationId xmlns:a16="http://schemas.microsoft.com/office/drawing/2014/main" id="{5C7B799C-7773-47FC-AC99-6CAD8305F519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oken-4">
            <a:extLst>
              <a:ext uri="{FF2B5EF4-FFF2-40B4-BE49-F238E27FC236}">
                <a16:creationId xmlns:a16="http://schemas.microsoft.com/office/drawing/2014/main" id="{5B275360-4A6D-4CF3-B44C-3C911BD0819F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4" name="token-box-_n">
            <a:extLst>
              <a:ext uri="{FF2B5EF4-FFF2-40B4-BE49-F238E27FC236}">
                <a16:creationId xmlns:a16="http://schemas.microsoft.com/office/drawing/2014/main" id="{A3A4A2A9-6405-44AD-B64F-DE60EF9EAFC2}"/>
              </a:ext>
            </a:extLst>
          </p:cNvPr>
          <p:cNvSpPr>
            <a:spLocks noGrp="1"/>
          </p:cNvSpPr>
          <p:nvPr/>
        </p:nvSpPr>
        <p:spPr>
          <a:xfrm>
            <a:off x="5162550" y="1562100"/>
            <a:ext cx="666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oken-_n">
            <a:extLst>
              <a:ext uri="{FF2B5EF4-FFF2-40B4-BE49-F238E27FC236}">
                <a16:creationId xmlns:a16="http://schemas.microsoft.com/office/drawing/2014/main" id="{C0BA52DE-6B69-462A-8E41-902C34249C95}"/>
              </a:ext>
            </a:extLst>
          </p:cNvPr>
          <p:cNvSpPr>
            <a:spLocks noGrp="1"/>
          </p:cNvSpPr>
          <p:nvPr/>
        </p:nvSpPr>
        <p:spPr>
          <a:xfrm>
            <a:off x="5162550" y="156210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\n</a:t>
            </a:r>
          </a:p>
        </p:txBody>
      </p:sp>
      <p:sp>
        <p:nvSpPr>
          <p:cNvPr id="16" name="token-box-_cell_length_a">
            <a:extLst>
              <a:ext uri="{FF2B5EF4-FFF2-40B4-BE49-F238E27FC236}">
                <a16:creationId xmlns:a16="http://schemas.microsoft.com/office/drawing/2014/main" id="{D54E13E3-C6DE-46C0-A710-66D660DB7A2B}"/>
              </a:ext>
            </a:extLst>
          </p:cNvPr>
          <p:cNvSpPr>
            <a:spLocks noGrp="1"/>
          </p:cNvSpPr>
          <p:nvPr/>
        </p:nvSpPr>
        <p:spPr>
          <a:xfrm>
            <a:off x="5905500" y="1562100"/>
            <a:ext cx="24384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oken-_cell_length_a">
            <a:extLst>
              <a:ext uri="{FF2B5EF4-FFF2-40B4-BE49-F238E27FC236}">
                <a16:creationId xmlns:a16="http://schemas.microsoft.com/office/drawing/2014/main" id="{E6C58A5C-206E-4F68-9088-BCCB5A3E5ADF}"/>
              </a:ext>
            </a:extLst>
          </p:cNvPr>
          <p:cNvSpPr>
            <a:spLocks noGrp="1"/>
          </p:cNvSpPr>
          <p:nvPr/>
        </p:nvSpPr>
        <p:spPr>
          <a:xfrm>
            <a:off x="5905500" y="1562100"/>
            <a:ext cx="243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_cell_length_a</a:t>
            </a:r>
          </a:p>
        </p:txBody>
      </p:sp>
      <p:sp>
        <p:nvSpPr>
          <p:cNvPr id="18" name="token-box-4">
            <a:extLst>
              <a:ext uri="{FF2B5EF4-FFF2-40B4-BE49-F238E27FC236}">
                <a16:creationId xmlns:a16="http://schemas.microsoft.com/office/drawing/2014/main" id="{57657C07-841A-4C2C-AB7D-EC18380CD8CA}"/>
              </a:ext>
            </a:extLst>
          </p:cNvPr>
          <p:cNvSpPr>
            <a:spLocks noGrp="1"/>
          </p:cNvSpPr>
          <p:nvPr/>
        </p:nvSpPr>
        <p:spPr>
          <a:xfrm>
            <a:off x="8420100" y="15621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oken-4">
            <a:extLst>
              <a:ext uri="{FF2B5EF4-FFF2-40B4-BE49-F238E27FC236}">
                <a16:creationId xmlns:a16="http://schemas.microsoft.com/office/drawing/2014/main" id="{F3328812-65C8-44A9-80A1-8BE1EC04ACB8}"/>
              </a:ext>
            </a:extLst>
          </p:cNvPr>
          <p:cNvSpPr>
            <a:spLocks noGrp="1"/>
          </p:cNvSpPr>
          <p:nvPr/>
        </p:nvSpPr>
        <p:spPr>
          <a:xfrm>
            <a:off x="8420100" y="15621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E593D751-A8C1-4FAE-ABCE-A4561688C796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21" name="token-box-Ti">
            <a:extLst>
              <a:ext uri="{FF2B5EF4-FFF2-40B4-BE49-F238E27FC236}">
                <a16:creationId xmlns:a16="http://schemas.microsoft.com/office/drawing/2014/main" id="{E7B26285-F78B-4923-903F-E2DD1F3FF32B}"/>
              </a:ext>
            </a:extLst>
          </p:cNvPr>
          <p:cNvSpPr>
            <a:spLocks noGrp="1"/>
          </p:cNvSpPr>
          <p:nvPr/>
        </p:nvSpPr>
        <p:spPr>
          <a:xfrm>
            <a:off x="1619250" y="2590800"/>
            <a:ext cx="5905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oken-Ti">
            <a:extLst>
              <a:ext uri="{FF2B5EF4-FFF2-40B4-BE49-F238E27FC236}">
                <a16:creationId xmlns:a16="http://schemas.microsoft.com/office/drawing/2014/main" id="{BA74D477-8B51-49FF-80A6-E1400A39975A}"/>
              </a:ext>
            </a:extLst>
          </p:cNvPr>
          <p:cNvSpPr>
            <a:spLocks noGrp="1"/>
          </p:cNvSpPr>
          <p:nvPr/>
        </p:nvSpPr>
        <p:spPr>
          <a:xfrm>
            <a:off x="1619250" y="2590800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23" name="token-box-2">
            <a:extLst>
              <a:ext uri="{FF2B5EF4-FFF2-40B4-BE49-F238E27FC236}">
                <a16:creationId xmlns:a16="http://schemas.microsoft.com/office/drawing/2014/main" id="{7297500E-31C2-4B0D-9DF7-33BA5A980612}"/>
              </a:ext>
            </a:extLst>
          </p:cNvPr>
          <p:cNvSpPr>
            <a:spLocks noGrp="1"/>
          </p:cNvSpPr>
          <p:nvPr/>
        </p:nvSpPr>
        <p:spPr>
          <a:xfrm>
            <a:off x="2286000" y="25908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oken-2">
            <a:extLst>
              <a:ext uri="{FF2B5EF4-FFF2-40B4-BE49-F238E27FC236}">
                <a16:creationId xmlns:a16="http://schemas.microsoft.com/office/drawing/2014/main" id="{C493032A-C589-41DB-B278-E89BF6684B26}"/>
              </a:ext>
            </a:extLst>
          </p:cNvPr>
          <p:cNvSpPr>
            <a:spLocks noGrp="1"/>
          </p:cNvSpPr>
          <p:nvPr/>
        </p:nvSpPr>
        <p:spPr>
          <a:xfrm>
            <a:off x="2286000" y="25908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5" name="token-box-O">
            <a:extLst>
              <a:ext uri="{FF2B5EF4-FFF2-40B4-BE49-F238E27FC236}">
                <a16:creationId xmlns:a16="http://schemas.microsoft.com/office/drawing/2014/main" id="{4F88A086-2563-4027-8F65-0C00FB7E5983}"/>
              </a:ext>
            </a:extLst>
          </p:cNvPr>
          <p:cNvSpPr>
            <a:spLocks noGrp="1"/>
          </p:cNvSpPr>
          <p:nvPr/>
        </p:nvSpPr>
        <p:spPr>
          <a:xfrm>
            <a:off x="2800350" y="2590800"/>
            <a:ext cx="5905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oken-O">
            <a:extLst>
              <a:ext uri="{FF2B5EF4-FFF2-40B4-BE49-F238E27FC236}">
                <a16:creationId xmlns:a16="http://schemas.microsoft.com/office/drawing/2014/main" id="{FC60295E-4951-4860-8EEF-B0ECF433DA86}"/>
              </a:ext>
            </a:extLst>
          </p:cNvPr>
          <p:cNvSpPr>
            <a:spLocks noGrp="1"/>
          </p:cNvSpPr>
          <p:nvPr/>
        </p:nvSpPr>
        <p:spPr>
          <a:xfrm>
            <a:off x="2800350" y="2590800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27" name="token-box-4">
            <a:extLst>
              <a:ext uri="{FF2B5EF4-FFF2-40B4-BE49-F238E27FC236}">
                <a16:creationId xmlns:a16="http://schemas.microsoft.com/office/drawing/2014/main" id="{2D3E8BEB-B8AB-40D3-BF32-A877309FFDE4}"/>
              </a:ext>
            </a:extLst>
          </p:cNvPr>
          <p:cNvSpPr>
            <a:spLocks noGrp="1"/>
          </p:cNvSpPr>
          <p:nvPr/>
        </p:nvSpPr>
        <p:spPr>
          <a:xfrm>
            <a:off x="3467100" y="25908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oken-4">
            <a:extLst>
              <a:ext uri="{FF2B5EF4-FFF2-40B4-BE49-F238E27FC236}">
                <a16:creationId xmlns:a16="http://schemas.microsoft.com/office/drawing/2014/main" id="{B6326950-EA91-45E5-8FE4-B2FA3A053EFA}"/>
              </a:ext>
            </a:extLst>
          </p:cNvPr>
          <p:cNvSpPr>
            <a:spLocks noGrp="1"/>
          </p:cNvSpPr>
          <p:nvPr/>
        </p:nvSpPr>
        <p:spPr>
          <a:xfrm>
            <a:off x="3467100" y="25908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9" name="token-box-_n">
            <a:extLst>
              <a:ext uri="{FF2B5EF4-FFF2-40B4-BE49-F238E27FC236}">
                <a16:creationId xmlns:a16="http://schemas.microsoft.com/office/drawing/2014/main" id="{BB7CAAC6-3A36-45F3-8F73-216848F8E3A9}"/>
              </a:ext>
            </a:extLst>
          </p:cNvPr>
          <p:cNvSpPr>
            <a:spLocks noGrp="1"/>
          </p:cNvSpPr>
          <p:nvPr/>
        </p:nvSpPr>
        <p:spPr>
          <a:xfrm>
            <a:off x="3981450" y="2590800"/>
            <a:ext cx="666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oken-_n">
            <a:extLst>
              <a:ext uri="{FF2B5EF4-FFF2-40B4-BE49-F238E27FC236}">
                <a16:creationId xmlns:a16="http://schemas.microsoft.com/office/drawing/2014/main" id="{2113C181-2B74-47AB-8AC9-6E80BAE7B7FF}"/>
              </a:ext>
            </a:extLst>
          </p:cNvPr>
          <p:cNvSpPr>
            <a:spLocks noGrp="1"/>
          </p:cNvSpPr>
          <p:nvPr/>
        </p:nvSpPr>
        <p:spPr>
          <a:xfrm>
            <a:off x="3981450" y="259080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\n</a:t>
            </a:r>
          </a:p>
        </p:txBody>
      </p:sp>
      <p:sp>
        <p:nvSpPr>
          <p:cNvPr id="31" name="token-box-_cell_length_a">
            <a:extLst>
              <a:ext uri="{FF2B5EF4-FFF2-40B4-BE49-F238E27FC236}">
                <a16:creationId xmlns:a16="http://schemas.microsoft.com/office/drawing/2014/main" id="{32400243-9000-49ED-AAF8-A9C7436C0C66}"/>
              </a:ext>
            </a:extLst>
          </p:cNvPr>
          <p:cNvSpPr>
            <a:spLocks noGrp="1"/>
          </p:cNvSpPr>
          <p:nvPr/>
        </p:nvSpPr>
        <p:spPr>
          <a:xfrm>
            <a:off x="4724400" y="2590800"/>
            <a:ext cx="24384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oken-_cell_length_a">
            <a:extLst>
              <a:ext uri="{FF2B5EF4-FFF2-40B4-BE49-F238E27FC236}">
                <a16:creationId xmlns:a16="http://schemas.microsoft.com/office/drawing/2014/main" id="{1EE8F072-3BD9-42B6-86F5-21B224239DC0}"/>
              </a:ext>
            </a:extLst>
          </p:cNvPr>
          <p:cNvSpPr>
            <a:spLocks noGrp="1"/>
          </p:cNvSpPr>
          <p:nvPr/>
        </p:nvSpPr>
        <p:spPr>
          <a:xfrm>
            <a:off x="4724400" y="2590800"/>
            <a:ext cx="243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_cell_length_a</a:t>
            </a:r>
          </a:p>
        </p:txBody>
      </p:sp>
      <p:sp>
        <p:nvSpPr>
          <p:cNvPr id="33" name="token-box-4">
            <a:extLst>
              <a:ext uri="{FF2B5EF4-FFF2-40B4-BE49-F238E27FC236}">
                <a16:creationId xmlns:a16="http://schemas.microsoft.com/office/drawing/2014/main" id="{85BECD4B-D0CB-4005-B82D-FFBAAE8F0063}"/>
              </a:ext>
            </a:extLst>
          </p:cNvPr>
          <p:cNvSpPr>
            <a:spLocks noGrp="1"/>
          </p:cNvSpPr>
          <p:nvPr/>
        </p:nvSpPr>
        <p:spPr>
          <a:xfrm>
            <a:off x="7239000" y="25908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oken-4">
            <a:extLst>
              <a:ext uri="{FF2B5EF4-FFF2-40B4-BE49-F238E27FC236}">
                <a16:creationId xmlns:a16="http://schemas.microsoft.com/office/drawing/2014/main" id="{C7007670-0724-4B12-B801-EABE216AEEB9}"/>
              </a:ext>
            </a:extLst>
          </p:cNvPr>
          <p:cNvSpPr>
            <a:spLocks noGrp="1"/>
          </p:cNvSpPr>
          <p:nvPr/>
        </p:nvSpPr>
        <p:spPr>
          <a:xfrm>
            <a:off x="7239000" y="25908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5" name="token-box-_">
            <a:extLst>
              <a:ext uri="{FF2B5EF4-FFF2-40B4-BE49-F238E27FC236}">
                <a16:creationId xmlns:a16="http://schemas.microsoft.com/office/drawing/2014/main" id="{65564C14-12A8-4BC2-B0D7-4D4E733783E3}"/>
              </a:ext>
            </a:extLst>
          </p:cNvPr>
          <p:cNvSpPr>
            <a:spLocks noGrp="1"/>
          </p:cNvSpPr>
          <p:nvPr/>
        </p:nvSpPr>
        <p:spPr>
          <a:xfrm>
            <a:off x="7753350" y="2590800"/>
            <a:ext cx="4381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oken-_">
            <a:extLst>
              <a:ext uri="{FF2B5EF4-FFF2-40B4-BE49-F238E27FC236}">
                <a16:creationId xmlns:a16="http://schemas.microsoft.com/office/drawing/2014/main" id="{A6A50711-4C55-4F5B-9F1B-236D41E2246E}"/>
              </a:ext>
            </a:extLst>
          </p:cNvPr>
          <p:cNvSpPr>
            <a:spLocks noGrp="1"/>
          </p:cNvSpPr>
          <p:nvPr/>
        </p:nvSpPr>
        <p:spPr>
          <a:xfrm>
            <a:off x="7753350" y="259080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ED7A1EBD-36D4-43B9-AE67-CD8862013347}"/>
              </a:ext>
            </a:extLst>
          </p:cNvPr>
          <p:cNvSpPr>
            <a:spLocks noGrp="1"/>
          </p:cNvSpPr>
          <p:nvPr/>
        </p:nvSpPr>
        <p:spPr>
          <a:xfrm>
            <a:off x="1619250" y="2324100"/>
            <a:ext cx="8096250" cy="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EB17DBC6-62D8-49E3-9FD3-152422390929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666A76"/>
                </a:solidFill>
                <a:latin typeface="Arial"/>
                <a:ea typeface="Arial"/>
                <a:cs typeface="Arial"/>
              </a:rPr>
              <a:t>same sequence, shifted left by one token</a:t>
            </a:r>
          </a:p>
        </p:txBody>
      </p:sp>
      <p:sp>
        <p:nvSpPr>
          <p:cNvPr id="39" name="training-predict">
            <a:extLst>
              <a:ext uri="{FF2B5EF4-FFF2-40B4-BE49-F238E27FC236}">
                <a16:creationId xmlns:a16="http://schemas.microsoft.com/office/drawing/2014/main" id="{90ECA360-412D-492D-A0F6-2A34086763EE}"/>
              </a:ext>
            </a:extLst>
          </p:cNvPr>
          <p:cNvSpPr>
            <a:spLocks noGrp="1"/>
          </p:cNvSpPr>
          <p:nvPr/>
        </p:nvSpPr>
        <p:spPr>
          <a:xfrm>
            <a:off x="895350" y="4248150"/>
            <a:ext cx="26670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162F2BB8-FFB2-43A7-BCC5-380C4EF73607}"/>
              </a:ext>
            </a:extLst>
          </p:cNvPr>
          <p:cNvSpPr>
            <a:spLocks noGrp="1"/>
          </p:cNvSpPr>
          <p:nvPr/>
        </p:nvSpPr>
        <p:spPr>
          <a:xfrm>
            <a:off x="895350" y="42481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7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predict the next-token</a:t>
            </a:r>
          </a:p>
          <a:p>
            <a:pPr algn="ctr">
              <a:lnSpc>
                <a:spcPct val="95000"/>
              </a:lnSpc>
              <a:buNone/>
              <a:defRPr sz="157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D92C7D71-CD89-4134-A3FE-09021B8596B8}"/>
              </a:ext>
            </a:extLst>
          </p:cNvPr>
          <p:cNvSpPr>
            <a:spLocks noGrp="1"/>
          </p:cNvSpPr>
          <p:nvPr/>
        </p:nvSpPr>
        <p:spPr>
          <a:xfrm>
            <a:off x="3676650" y="43624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training-loss">
            <a:extLst>
              <a:ext uri="{FF2B5EF4-FFF2-40B4-BE49-F238E27FC236}">
                <a16:creationId xmlns:a16="http://schemas.microsoft.com/office/drawing/2014/main" id="{2A9536BF-8134-4220-91CB-A0DA5D742AE2}"/>
              </a:ext>
            </a:extLst>
          </p:cNvPr>
          <p:cNvSpPr>
            <a:spLocks noGrp="1"/>
          </p:cNvSpPr>
          <p:nvPr/>
        </p:nvSpPr>
        <p:spPr>
          <a:xfrm>
            <a:off x="4381500" y="424815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75750F28-2536-437B-AA60-3FA1F56C4965}"/>
              </a:ext>
            </a:extLst>
          </p:cNvPr>
          <p:cNvSpPr>
            <a:spLocks noGrp="1"/>
          </p:cNvSpPr>
          <p:nvPr/>
        </p:nvSpPr>
        <p:spPr>
          <a:xfrm>
            <a:off x="4381500" y="424815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compare with the correct token</a:t>
            </a:r>
          </a:p>
          <a:p>
            <a:pPr algn="ctr">
              <a:lnSpc>
                <a:spcPct val="95000"/>
              </a:lnSpc>
              <a:buNone/>
              <a:defRPr sz="15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(cross-entropy loss)</a:t>
            </a:r>
          </a:p>
        </p:txBody>
      </p:sp>
      <p:sp>
        <p:nvSpPr>
          <p:cNvPr id="44" name="text">
            <a:extLst>
              <a:ext uri="{FF2B5EF4-FFF2-40B4-BE49-F238E27FC236}">
                <a16:creationId xmlns:a16="http://schemas.microsoft.com/office/drawing/2014/main" id="{6266706F-CE49-476D-BD0B-9AE2893668DB}"/>
              </a:ext>
            </a:extLst>
          </p:cNvPr>
          <p:cNvSpPr>
            <a:spLocks noGrp="1"/>
          </p:cNvSpPr>
          <p:nvPr/>
        </p:nvSpPr>
        <p:spPr>
          <a:xfrm>
            <a:off x="7734300" y="43624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5" name="training-update">
            <a:extLst>
              <a:ext uri="{FF2B5EF4-FFF2-40B4-BE49-F238E27FC236}">
                <a16:creationId xmlns:a16="http://schemas.microsoft.com/office/drawing/2014/main" id="{1855817D-2D7C-48C5-9878-E058FF4251C5}"/>
              </a:ext>
            </a:extLst>
          </p:cNvPr>
          <p:cNvSpPr>
            <a:spLocks noGrp="1"/>
          </p:cNvSpPr>
          <p:nvPr/>
        </p:nvSpPr>
        <p:spPr>
          <a:xfrm>
            <a:off x="8439150" y="4248150"/>
            <a:ext cx="2857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7AF337BE-892B-44A8-8EB5-F55D9AE07F42}"/>
              </a:ext>
            </a:extLst>
          </p:cNvPr>
          <p:cNvSpPr>
            <a:spLocks noGrp="1"/>
          </p:cNvSpPr>
          <p:nvPr/>
        </p:nvSpPr>
        <p:spPr>
          <a:xfrm>
            <a:off x="8439150" y="42481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adjust the learned weights</a:t>
            </a:r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EDDF84F8-3603-4FE6-A54C-96A336F293AB}"/>
              </a:ext>
            </a:extLst>
          </p:cNvPr>
          <p:cNvSpPr>
            <a:spLocks noGrp="1"/>
          </p:cNvSpPr>
          <p:nvPr/>
        </p:nvSpPr>
        <p:spPr>
          <a:xfrm>
            <a:off x="2095500" y="54102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Repeat across many standardised CIF sequences.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8A9D7A1D-EDE3-0F2A-5F31-2EED1B714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F9DD29D-88A8-426B-8786-F9FC68707C9E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22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22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The prompt sets the starting information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CE3A1AC6-F40E-4E5B-BA8B-BFB4E51A9C1D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6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29C6247-9F1C-45C1-A808-A8E58A7337DD}"/>
              </a:ext>
            </a:extLst>
          </p:cNvPr>
          <p:cNvSpPr>
            <a:spLocks noGrp="1"/>
          </p:cNvSpPr>
          <p:nvPr/>
        </p:nvSpPr>
        <p:spPr>
          <a:xfrm>
            <a:off x="781050" y="1832611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D31797E-F78C-44EF-9150-3C864F552F67}"/>
              </a:ext>
            </a:extLst>
          </p:cNvPr>
          <p:cNvSpPr>
            <a:spLocks noGrp="1"/>
          </p:cNvSpPr>
          <p:nvPr/>
        </p:nvSpPr>
        <p:spPr>
          <a:xfrm>
            <a:off x="1428750" y="2099311"/>
            <a:ext cx="514350" cy="0"/>
          </a:xfrm>
          <a:prstGeom prst="line">
            <a:avLst/>
          </a:prstGeom>
          <a:noFill/>
          <a:ln w="38100">
            <a:solidFill>
              <a:srgbClr val="B8B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0667051-6C8C-4CD9-B482-04CCC61FBA01}"/>
              </a:ext>
            </a:extLst>
          </p:cNvPr>
          <p:cNvSpPr>
            <a:spLocks noGrp="1"/>
          </p:cNvSpPr>
          <p:nvPr/>
        </p:nvSpPr>
        <p:spPr>
          <a:xfrm>
            <a:off x="2152650" y="1813561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minimal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A7ECD9F-7B25-4F14-8AF8-A35CC3BC9E48}"/>
              </a:ext>
            </a:extLst>
          </p:cNvPr>
          <p:cNvSpPr>
            <a:spLocks noGrp="1"/>
          </p:cNvSpPr>
          <p:nvPr/>
        </p:nvSpPr>
        <p:spPr>
          <a:xfrm>
            <a:off x="2152650" y="2156461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B8BBC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B8BBC4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EFC8455-419F-48FC-A2C6-44103D5506A9}"/>
              </a:ext>
            </a:extLst>
          </p:cNvPr>
          <p:cNvSpPr>
            <a:spLocks noGrp="1"/>
          </p:cNvSpPr>
          <p:nvPr/>
        </p:nvSpPr>
        <p:spPr>
          <a:xfrm>
            <a:off x="781050" y="2823211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E52F4860-4BEF-490C-9885-14F21CC8C4FC}"/>
              </a:ext>
            </a:extLst>
          </p:cNvPr>
          <p:cNvSpPr>
            <a:spLocks noGrp="1"/>
          </p:cNvSpPr>
          <p:nvPr/>
        </p:nvSpPr>
        <p:spPr>
          <a:xfrm>
            <a:off x="1428750" y="3089911"/>
            <a:ext cx="514350" cy="0"/>
          </a:xfrm>
          <a:prstGeom prst="line">
            <a:avLst/>
          </a:prstGeom>
          <a:noFill/>
          <a:ln w="3810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D0FD7FF-EFD7-4785-A662-3A9230C0EBCB}"/>
              </a:ext>
            </a:extLst>
          </p:cNvPr>
          <p:cNvSpPr>
            <a:spLocks noGrp="1"/>
          </p:cNvSpPr>
          <p:nvPr/>
        </p:nvSpPr>
        <p:spPr>
          <a:xfrm>
            <a:off x="2152650" y="2804161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2D37918-AD23-42FE-ABCD-BF547E97BD15}"/>
              </a:ext>
            </a:extLst>
          </p:cNvPr>
          <p:cNvSpPr>
            <a:spLocks noGrp="1"/>
          </p:cNvSpPr>
          <p:nvPr/>
        </p:nvSpPr>
        <p:spPr>
          <a:xfrm>
            <a:off x="2152650" y="3147061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data_Ti2O4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24DF3AA-0C6A-4494-9EF7-E23076F1A278}"/>
              </a:ext>
            </a:extLst>
          </p:cNvPr>
          <p:cNvSpPr>
            <a:spLocks noGrp="1"/>
          </p:cNvSpPr>
          <p:nvPr/>
        </p:nvSpPr>
        <p:spPr>
          <a:xfrm>
            <a:off x="781050" y="3813811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CD8A5379-056F-4DE7-B28E-B8BEC746B17A}"/>
              </a:ext>
            </a:extLst>
          </p:cNvPr>
          <p:cNvSpPr>
            <a:spLocks noGrp="1"/>
          </p:cNvSpPr>
          <p:nvPr/>
        </p:nvSpPr>
        <p:spPr>
          <a:xfrm>
            <a:off x="1428750" y="4080511"/>
            <a:ext cx="514350" cy="0"/>
          </a:xfrm>
          <a:prstGeom prst="line">
            <a:avLst/>
          </a:prstGeom>
          <a:noFill/>
          <a:ln w="3810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226DE14-E72D-44CA-8372-DB432316DB89}"/>
              </a:ext>
            </a:extLst>
          </p:cNvPr>
          <p:cNvSpPr>
            <a:spLocks noGrp="1"/>
          </p:cNvSpPr>
          <p:nvPr/>
        </p:nvSpPr>
        <p:spPr>
          <a:xfrm>
            <a:off x="2152650" y="3794761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composition + atomic properties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F006191-FBDA-40F2-8E76-FEEFD5B20EE0}"/>
              </a:ext>
            </a:extLst>
          </p:cNvPr>
          <p:cNvSpPr>
            <a:spLocks noGrp="1"/>
          </p:cNvSpPr>
          <p:nvPr/>
        </p:nvSpPr>
        <p:spPr>
          <a:xfrm>
            <a:off x="2152650" y="4137661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+ element/property lines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9756EC2-E872-453D-BCA4-0A81FC74BF2C}"/>
              </a:ext>
            </a:extLst>
          </p:cNvPr>
          <p:cNvSpPr>
            <a:spLocks noGrp="1"/>
          </p:cNvSpPr>
          <p:nvPr/>
        </p:nvSpPr>
        <p:spPr>
          <a:xfrm>
            <a:off x="781050" y="4804411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C066D400-275A-4176-A383-26BF341EEB57}"/>
              </a:ext>
            </a:extLst>
          </p:cNvPr>
          <p:cNvSpPr>
            <a:spLocks noGrp="1"/>
          </p:cNvSpPr>
          <p:nvPr/>
        </p:nvSpPr>
        <p:spPr>
          <a:xfrm>
            <a:off x="1428750" y="5071111"/>
            <a:ext cx="514350" cy="0"/>
          </a:xfrm>
          <a:prstGeom prst="line">
            <a:avLst/>
          </a:prstGeom>
          <a:noFill/>
          <a:ln w="38100">
            <a:solidFill>
              <a:srgbClr val="D85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43AF311-39DE-4A93-9888-E7A4536CBA6A}"/>
              </a:ext>
            </a:extLst>
          </p:cNvPr>
          <p:cNvSpPr>
            <a:spLocks noGrp="1"/>
          </p:cNvSpPr>
          <p:nvPr/>
        </p:nvSpPr>
        <p:spPr>
          <a:xfrm>
            <a:off x="2152650" y="4785361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composition + space group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553A322-7B63-45F0-B020-C0352ACF886C}"/>
              </a:ext>
            </a:extLst>
          </p:cNvPr>
          <p:cNvSpPr>
            <a:spLocks noGrp="1"/>
          </p:cNvSpPr>
          <p:nvPr/>
        </p:nvSpPr>
        <p:spPr>
          <a:xfrm>
            <a:off x="2152650" y="5128261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D85F80"/>
                </a:solidFill>
                <a:latin typeface="Courier New"/>
                <a:ea typeface="Courier New"/>
                <a:cs typeface="Courier New"/>
              </a:rPr>
              <a:t>+ P4_2/mnm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E7A67E85-938F-6AF6-EF63-9FCC5DACDBD2}"/>
              </a:ext>
            </a:extLst>
          </p:cNvPr>
          <p:cNvSpPr>
            <a:spLocks noGrp="1"/>
          </p:cNvSpPr>
          <p:nvPr/>
        </p:nvSpPr>
        <p:spPr>
          <a:xfrm>
            <a:off x="7524750" y="2575616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more starting information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E06391FF-9579-61A8-26CD-E8888A3D121C}"/>
              </a:ext>
            </a:extLst>
          </p:cNvPr>
          <p:cNvSpPr>
            <a:spLocks noGrp="1"/>
          </p:cNvSpPr>
          <p:nvPr/>
        </p:nvSpPr>
        <p:spPr>
          <a:xfrm>
            <a:off x="8677275" y="3074777"/>
            <a:ext cx="838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buNone/>
              <a:defRPr sz="3150" b="0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3150" b="0" i="0" dirty="0">
                <a:solidFill>
                  <a:srgbClr val="51469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0EDA9DE7-F2C6-7885-229E-9DA71B1CE71D}"/>
              </a:ext>
            </a:extLst>
          </p:cNvPr>
          <p:cNvSpPr>
            <a:spLocks noGrp="1"/>
          </p:cNvSpPr>
          <p:nvPr/>
        </p:nvSpPr>
        <p:spPr>
          <a:xfrm>
            <a:off x="7524750" y="3732002"/>
            <a:ext cx="3143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21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less freedom</a:t>
            </a:r>
          </a:p>
          <a:p>
            <a:pPr algn="ctr">
              <a:lnSpc>
                <a:spcPct val="95000"/>
              </a:lnSpc>
              <a:buNone/>
              <a:defRPr sz="217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2175" b="1" i="0" dirty="0">
                <a:solidFill>
                  <a:srgbClr val="D85F80"/>
                </a:solidFill>
                <a:latin typeface="Arial"/>
                <a:ea typeface="Arial"/>
                <a:cs typeface="Arial"/>
              </a:rPr>
              <a:t>during generation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BE4814E-B86A-492B-D35F-23C3A8786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09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-title">
            <a:extLst>
              <a:ext uri="{FF2B5EF4-FFF2-40B4-BE49-F238E27FC236}">
                <a16:creationId xmlns:a16="http://schemas.microsoft.com/office/drawing/2014/main" id="{5537D77B-B15D-4FFC-8777-5F25FCD1E116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7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lang="en-US" sz="307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Generation</a:t>
            </a:r>
            <a:endParaRPr sz="3075" b="1" i="0" dirty="0">
              <a:solidFill>
                <a:srgbClr val="1E20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2BAD049D-E2EC-4CAF-8CF4-6B42BBDC5F35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7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76C1279-E7A3-4209-BF40-86B61BF7FB16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4" name="token-box-data_">
            <a:extLst>
              <a:ext uri="{FF2B5EF4-FFF2-40B4-BE49-F238E27FC236}">
                <a16:creationId xmlns:a16="http://schemas.microsoft.com/office/drawing/2014/main" id="{914527A1-D9B8-4951-9D71-A66BD247A5C2}"/>
              </a:ext>
            </a:extLst>
          </p:cNvPr>
          <p:cNvSpPr>
            <a:spLocks noGrp="1"/>
          </p:cNvSpPr>
          <p:nvPr/>
        </p:nvSpPr>
        <p:spPr>
          <a:xfrm>
            <a:off x="1809750" y="1619250"/>
            <a:ext cx="11049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ken-data_">
            <a:extLst>
              <a:ext uri="{FF2B5EF4-FFF2-40B4-BE49-F238E27FC236}">
                <a16:creationId xmlns:a16="http://schemas.microsoft.com/office/drawing/2014/main" id="{C285A49D-441E-49DD-ADFC-56A7292ECA80}"/>
              </a:ext>
            </a:extLst>
          </p:cNvPr>
          <p:cNvSpPr>
            <a:spLocks noGrp="1"/>
          </p:cNvSpPr>
          <p:nvPr/>
        </p:nvSpPr>
        <p:spPr>
          <a:xfrm>
            <a:off x="1809750" y="1619250"/>
            <a:ext cx="1104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6" name="token-box-Ti">
            <a:extLst>
              <a:ext uri="{FF2B5EF4-FFF2-40B4-BE49-F238E27FC236}">
                <a16:creationId xmlns:a16="http://schemas.microsoft.com/office/drawing/2014/main" id="{1547356D-5A9D-4020-A67D-84F87F201CA8}"/>
              </a:ext>
            </a:extLst>
          </p:cNvPr>
          <p:cNvSpPr>
            <a:spLocks noGrp="1"/>
          </p:cNvSpPr>
          <p:nvPr/>
        </p:nvSpPr>
        <p:spPr>
          <a:xfrm>
            <a:off x="2990850" y="1619250"/>
            <a:ext cx="552450" cy="552450"/>
          </a:xfrm>
          <a:prstGeom prst="rect">
            <a:avLst/>
          </a:prstGeom>
          <a:solidFill>
            <a:srgbClr val="DDF1F2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oken-Ti">
            <a:extLst>
              <a:ext uri="{FF2B5EF4-FFF2-40B4-BE49-F238E27FC236}">
                <a16:creationId xmlns:a16="http://schemas.microsoft.com/office/drawing/2014/main" id="{AB04CBA3-4F2B-4599-9348-9E5E789BE3EE}"/>
              </a:ext>
            </a:extLst>
          </p:cNvPr>
          <p:cNvSpPr>
            <a:spLocks noGrp="1"/>
          </p:cNvSpPr>
          <p:nvPr/>
        </p:nvSpPr>
        <p:spPr>
          <a:xfrm>
            <a:off x="2990850" y="1619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D6B71D2-4FC5-4E29-B597-BA2018F280E6}"/>
              </a:ext>
            </a:extLst>
          </p:cNvPr>
          <p:cNvSpPr>
            <a:spLocks noGrp="1"/>
          </p:cNvSpPr>
          <p:nvPr/>
        </p:nvSpPr>
        <p:spPr>
          <a:xfrm>
            <a:off x="3695700" y="17335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 next token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53C7ECD-57F8-46D2-85FB-24CE129423A1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0" name="token-box-data_">
            <a:extLst>
              <a:ext uri="{FF2B5EF4-FFF2-40B4-BE49-F238E27FC236}">
                <a16:creationId xmlns:a16="http://schemas.microsoft.com/office/drawing/2014/main" id="{EAB66723-E066-4226-AEC7-13FDD9440605}"/>
              </a:ext>
            </a:extLst>
          </p:cNvPr>
          <p:cNvSpPr>
            <a:spLocks noGrp="1"/>
          </p:cNvSpPr>
          <p:nvPr/>
        </p:nvSpPr>
        <p:spPr>
          <a:xfrm>
            <a:off x="1809750" y="2552700"/>
            <a:ext cx="11049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oken-data_">
            <a:extLst>
              <a:ext uri="{FF2B5EF4-FFF2-40B4-BE49-F238E27FC236}">
                <a16:creationId xmlns:a16="http://schemas.microsoft.com/office/drawing/2014/main" id="{C6DA818A-0FA1-48BF-9ED3-EA96D54E4505}"/>
              </a:ext>
            </a:extLst>
          </p:cNvPr>
          <p:cNvSpPr>
            <a:spLocks noGrp="1"/>
          </p:cNvSpPr>
          <p:nvPr/>
        </p:nvSpPr>
        <p:spPr>
          <a:xfrm>
            <a:off x="1809750" y="2552700"/>
            <a:ext cx="1104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12" name="token-box-Ti">
            <a:extLst>
              <a:ext uri="{FF2B5EF4-FFF2-40B4-BE49-F238E27FC236}">
                <a16:creationId xmlns:a16="http://schemas.microsoft.com/office/drawing/2014/main" id="{3EDEAC4C-AE41-4616-8D03-998DAE92560E}"/>
              </a:ext>
            </a:extLst>
          </p:cNvPr>
          <p:cNvSpPr>
            <a:spLocks noGrp="1"/>
          </p:cNvSpPr>
          <p:nvPr/>
        </p:nvSpPr>
        <p:spPr>
          <a:xfrm>
            <a:off x="2990850" y="2552700"/>
            <a:ext cx="5524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oken-Ti">
            <a:extLst>
              <a:ext uri="{FF2B5EF4-FFF2-40B4-BE49-F238E27FC236}">
                <a16:creationId xmlns:a16="http://schemas.microsoft.com/office/drawing/2014/main" id="{B4390AC0-0A6D-4C05-9978-2F1C36020D81}"/>
              </a:ext>
            </a:extLst>
          </p:cNvPr>
          <p:cNvSpPr>
            <a:spLocks noGrp="1"/>
          </p:cNvSpPr>
          <p:nvPr/>
        </p:nvSpPr>
        <p:spPr>
          <a:xfrm>
            <a:off x="2990850" y="255270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14" name="token-box-2">
            <a:extLst>
              <a:ext uri="{FF2B5EF4-FFF2-40B4-BE49-F238E27FC236}">
                <a16:creationId xmlns:a16="http://schemas.microsoft.com/office/drawing/2014/main" id="{A0DD491C-3F88-4756-A875-CED0BB0B8D7A}"/>
              </a:ext>
            </a:extLst>
          </p:cNvPr>
          <p:cNvSpPr>
            <a:spLocks noGrp="1"/>
          </p:cNvSpPr>
          <p:nvPr/>
        </p:nvSpPr>
        <p:spPr>
          <a:xfrm>
            <a:off x="3619500" y="2552700"/>
            <a:ext cx="457200" cy="552450"/>
          </a:xfrm>
          <a:prstGeom prst="rect">
            <a:avLst/>
          </a:prstGeom>
          <a:solidFill>
            <a:srgbClr val="F8EDB8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oken-2">
            <a:extLst>
              <a:ext uri="{FF2B5EF4-FFF2-40B4-BE49-F238E27FC236}">
                <a16:creationId xmlns:a16="http://schemas.microsoft.com/office/drawing/2014/main" id="{5176282A-F643-43F9-8C53-4AF953232AAB}"/>
              </a:ext>
            </a:extLst>
          </p:cNvPr>
          <p:cNvSpPr>
            <a:spLocks noGrp="1"/>
          </p:cNvSpPr>
          <p:nvPr/>
        </p:nvSpPr>
        <p:spPr>
          <a:xfrm>
            <a:off x="3619500" y="2552700"/>
            <a:ext cx="457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DE86270-B435-45E1-8C4C-68F1406ED703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 next token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5EB41F7-3E23-4E69-8BDE-BB97A528B2A4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8" name="token-box-data_">
            <a:extLst>
              <a:ext uri="{FF2B5EF4-FFF2-40B4-BE49-F238E27FC236}">
                <a16:creationId xmlns:a16="http://schemas.microsoft.com/office/drawing/2014/main" id="{FFABD4C3-376E-41B5-BB65-141A5F852155}"/>
              </a:ext>
            </a:extLst>
          </p:cNvPr>
          <p:cNvSpPr>
            <a:spLocks noGrp="1"/>
          </p:cNvSpPr>
          <p:nvPr/>
        </p:nvSpPr>
        <p:spPr>
          <a:xfrm>
            <a:off x="1809750" y="3486150"/>
            <a:ext cx="11049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oken-data_">
            <a:extLst>
              <a:ext uri="{FF2B5EF4-FFF2-40B4-BE49-F238E27FC236}">
                <a16:creationId xmlns:a16="http://schemas.microsoft.com/office/drawing/2014/main" id="{87E4D355-FB8D-4F14-9338-3175FBD13E10}"/>
              </a:ext>
            </a:extLst>
          </p:cNvPr>
          <p:cNvSpPr>
            <a:spLocks noGrp="1"/>
          </p:cNvSpPr>
          <p:nvPr/>
        </p:nvSpPr>
        <p:spPr>
          <a:xfrm>
            <a:off x="1809750" y="3486150"/>
            <a:ext cx="1104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20" name="token-box-Ti">
            <a:extLst>
              <a:ext uri="{FF2B5EF4-FFF2-40B4-BE49-F238E27FC236}">
                <a16:creationId xmlns:a16="http://schemas.microsoft.com/office/drawing/2014/main" id="{153466DC-ECE6-49B8-8BA9-DEE36B6568F8}"/>
              </a:ext>
            </a:extLst>
          </p:cNvPr>
          <p:cNvSpPr>
            <a:spLocks noGrp="1"/>
          </p:cNvSpPr>
          <p:nvPr/>
        </p:nvSpPr>
        <p:spPr>
          <a:xfrm>
            <a:off x="2990850" y="3486150"/>
            <a:ext cx="5524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oken-Ti">
            <a:extLst>
              <a:ext uri="{FF2B5EF4-FFF2-40B4-BE49-F238E27FC236}">
                <a16:creationId xmlns:a16="http://schemas.microsoft.com/office/drawing/2014/main" id="{70E27C1D-CB30-4187-8EFC-C3AD466A2CBB}"/>
              </a:ext>
            </a:extLst>
          </p:cNvPr>
          <p:cNvSpPr>
            <a:spLocks noGrp="1"/>
          </p:cNvSpPr>
          <p:nvPr/>
        </p:nvSpPr>
        <p:spPr>
          <a:xfrm>
            <a:off x="2990850" y="34861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22" name="token-box-2">
            <a:extLst>
              <a:ext uri="{FF2B5EF4-FFF2-40B4-BE49-F238E27FC236}">
                <a16:creationId xmlns:a16="http://schemas.microsoft.com/office/drawing/2014/main" id="{4A6145FD-68C0-44DD-9ABD-B41A06BF94DC}"/>
              </a:ext>
            </a:extLst>
          </p:cNvPr>
          <p:cNvSpPr>
            <a:spLocks noGrp="1"/>
          </p:cNvSpPr>
          <p:nvPr/>
        </p:nvSpPr>
        <p:spPr>
          <a:xfrm>
            <a:off x="3619500" y="3486150"/>
            <a:ext cx="4572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oken-2">
            <a:extLst>
              <a:ext uri="{FF2B5EF4-FFF2-40B4-BE49-F238E27FC236}">
                <a16:creationId xmlns:a16="http://schemas.microsoft.com/office/drawing/2014/main" id="{F1CD4642-FF21-4088-AAA0-BDCB28642A69}"/>
              </a:ext>
            </a:extLst>
          </p:cNvPr>
          <p:cNvSpPr>
            <a:spLocks noGrp="1"/>
          </p:cNvSpPr>
          <p:nvPr/>
        </p:nvSpPr>
        <p:spPr>
          <a:xfrm>
            <a:off x="3619500" y="3486150"/>
            <a:ext cx="457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4" name="token-box-O">
            <a:extLst>
              <a:ext uri="{FF2B5EF4-FFF2-40B4-BE49-F238E27FC236}">
                <a16:creationId xmlns:a16="http://schemas.microsoft.com/office/drawing/2014/main" id="{23FD8295-FAD8-47C0-AB41-70CB375288ED}"/>
              </a:ext>
            </a:extLst>
          </p:cNvPr>
          <p:cNvSpPr>
            <a:spLocks noGrp="1"/>
          </p:cNvSpPr>
          <p:nvPr/>
        </p:nvSpPr>
        <p:spPr>
          <a:xfrm>
            <a:off x="4152900" y="3486150"/>
            <a:ext cx="495300" cy="552450"/>
          </a:xfrm>
          <a:prstGeom prst="rect">
            <a:avLst/>
          </a:prstGeom>
          <a:solidFill>
            <a:srgbClr val="DDF1F2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oken-O">
            <a:extLst>
              <a:ext uri="{FF2B5EF4-FFF2-40B4-BE49-F238E27FC236}">
                <a16:creationId xmlns:a16="http://schemas.microsoft.com/office/drawing/2014/main" id="{6B475534-A5AC-4811-AC82-6867D017F1C6}"/>
              </a:ext>
            </a:extLst>
          </p:cNvPr>
          <p:cNvSpPr>
            <a:spLocks noGrp="1"/>
          </p:cNvSpPr>
          <p:nvPr/>
        </p:nvSpPr>
        <p:spPr>
          <a:xfrm>
            <a:off x="4152900" y="34861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A65E449-9920-473C-B743-1CB5EFAE87AA}"/>
              </a:ext>
            </a:extLst>
          </p:cNvPr>
          <p:cNvSpPr>
            <a:spLocks noGrp="1"/>
          </p:cNvSpPr>
          <p:nvPr/>
        </p:nvSpPr>
        <p:spPr>
          <a:xfrm>
            <a:off x="4800600" y="36004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 next token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4BFAFE9D-0508-409B-B547-3C293A4406BF}"/>
              </a:ext>
            </a:extLst>
          </p:cNvPr>
          <p:cNvSpPr>
            <a:spLocks noGrp="1"/>
          </p:cNvSpPr>
          <p:nvPr/>
        </p:nvSpPr>
        <p:spPr>
          <a:xfrm>
            <a:off x="704850" y="455295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8" name="token-box-data_">
            <a:extLst>
              <a:ext uri="{FF2B5EF4-FFF2-40B4-BE49-F238E27FC236}">
                <a16:creationId xmlns:a16="http://schemas.microsoft.com/office/drawing/2014/main" id="{B04413A1-5F62-447B-ABFF-C39E4D6FB167}"/>
              </a:ext>
            </a:extLst>
          </p:cNvPr>
          <p:cNvSpPr>
            <a:spLocks noGrp="1"/>
          </p:cNvSpPr>
          <p:nvPr/>
        </p:nvSpPr>
        <p:spPr>
          <a:xfrm>
            <a:off x="1809750" y="4419600"/>
            <a:ext cx="11049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46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oken-data_">
            <a:extLst>
              <a:ext uri="{FF2B5EF4-FFF2-40B4-BE49-F238E27FC236}">
                <a16:creationId xmlns:a16="http://schemas.microsoft.com/office/drawing/2014/main" id="{B46CFBC6-E9DD-4483-85ED-895C01AB0FB7}"/>
              </a:ext>
            </a:extLst>
          </p:cNvPr>
          <p:cNvSpPr>
            <a:spLocks noGrp="1"/>
          </p:cNvSpPr>
          <p:nvPr/>
        </p:nvSpPr>
        <p:spPr>
          <a:xfrm>
            <a:off x="1809750" y="4419600"/>
            <a:ext cx="1104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51469A"/>
                </a:solidFill>
                <a:latin typeface="Courier New"/>
                <a:ea typeface="Courier New"/>
                <a:cs typeface="Courier New"/>
              </a:rPr>
              <a:t>data_</a:t>
            </a:r>
          </a:p>
        </p:txBody>
      </p:sp>
      <p:sp>
        <p:nvSpPr>
          <p:cNvPr id="30" name="token-box-Ti">
            <a:extLst>
              <a:ext uri="{FF2B5EF4-FFF2-40B4-BE49-F238E27FC236}">
                <a16:creationId xmlns:a16="http://schemas.microsoft.com/office/drawing/2014/main" id="{ECBCD94E-CCAB-44B6-8D99-9079B0C9EEEF}"/>
              </a:ext>
            </a:extLst>
          </p:cNvPr>
          <p:cNvSpPr>
            <a:spLocks noGrp="1"/>
          </p:cNvSpPr>
          <p:nvPr/>
        </p:nvSpPr>
        <p:spPr>
          <a:xfrm>
            <a:off x="2990850" y="4419600"/>
            <a:ext cx="5524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oken-Ti">
            <a:extLst>
              <a:ext uri="{FF2B5EF4-FFF2-40B4-BE49-F238E27FC236}">
                <a16:creationId xmlns:a16="http://schemas.microsoft.com/office/drawing/2014/main" id="{1F702B89-3AB9-4145-945E-6B5200C7A244}"/>
              </a:ext>
            </a:extLst>
          </p:cNvPr>
          <p:cNvSpPr>
            <a:spLocks noGrp="1"/>
          </p:cNvSpPr>
          <p:nvPr/>
        </p:nvSpPr>
        <p:spPr>
          <a:xfrm>
            <a:off x="2990850" y="441960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Ti</a:t>
            </a:r>
          </a:p>
        </p:txBody>
      </p:sp>
      <p:sp>
        <p:nvSpPr>
          <p:cNvPr id="32" name="token-box-2">
            <a:extLst>
              <a:ext uri="{FF2B5EF4-FFF2-40B4-BE49-F238E27FC236}">
                <a16:creationId xmlns:a16="http://schemas.microsoft.com/office/drawing/2014/main" id="{5E75D70D-4802-4F86-90CF-C2DB99AA4D8F}"/>
              </a:ext>
            </a:extLst>
          </p:cNvPr>
          <p:cNvSpPr>
            <a:spLocks noGrp="1"/>
          </p:cNvSpPr>
          <p:nvPr/>
        </p:nvSpPr>
        <p:spPr>
          <a:xfrm>
            <a:off x="3619500" y="4419600"/>
            <a:ext cx="4572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oken-2">
            <a:extLst>
              <a:ext uri="{FF2B5EF4-FFF2-40B4-BE49-F238E27FC236}">
                <a16:creationId xmlns:a16="http://schemas.microsoft.com/office/drawing/2014/main" id="{2264D248-4743-4A7C-97A1-95C421E8B935}"/>
              </a:ext>
            </a:extLst>
          </p:cNvPr>
          <p:cNvSpPr>
            <a:spLocks noGrp="1"/>
          </p:cNvSpPr>
          <p:nvPr/>
        </p:nvSpPr>
        <p:spPr>
          <a:xfrm>
            <a:off x="3619500" y="4419600"/>
            <a:ext cx="457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4" name="token-box-O">
            <a:extLst>
              <a:ext uri="{FF2B5EF4-FFF2-40B4-BE49-F238E27FC236}">
                <a16:creationId xmlns:a16="http://schemas.microsoft.com/office/drawing/2014/main" id="{5A9B3BBF-A4A2-4922-B7A4-ECD71A86ADCE}"/>
              </a:ext>
            </a:extLst>
          </p:cNvPr>
          <p:cNvSpPr>
            <a:spLocks noGrp="1"/>
          </p:cNvSpPr>
          <p:nvPr/>
        </p:nvSpPr>
        <p:spPr>
          <a:xfrm>
            <a:off x="4152900" y="4419600"/>
            <a:ext cx="4953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oken-O">
            <a:extLst>
              <a:ext uri="{FF2B5EF4-FFF2-40B4-BE49-F238E27FC236}">
                <a16:creationId xmlns:a16="http://schemas.microsoft.com/office/drawing/2014/main" id="{E518C8F9-0811-4FC5-9A44-766B9F92FE57}"/>
              </a:ext>
            </a:extLst>
          </p:cNvPr>
          <p:cNvSpPr>
            <a:spLocks noGrp="1"/>
          </p:cNvSpPr>
          <p:nvPr/>
        </p:nvSpPr>
        <p:spPr>
          <a:xfrm>
            <a:off x="4152900" y="441960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2E9AA7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36" name="token-box-4">
            <a:extLst>
              <a:ext uri="{FF2B5EF4-FFF2-40B4-BE49-F238E27FC236}">
                <a16:creationId xmlns:a16="http://schemas.microsoft.com/office/drawing/2014/main" id="{755CAD0D-2062-433D-934D-32C9DD39B177}"/>
              </a:ext>
            </a:extLst>
          </p:cNvPr>
          <p:cNvSpPr>
            <a:spLocks noGrp="1"/>
          </p:cNvSpPr>
          <p:nvPr/>
        </p:nvSpPr>
        <p:spPr>
          <a:xfrm>
            <a:off x="4724400" y="4419600"/>
            <a:ext cx="457200" cy="552450"/>
          </a:xfrm>
          <a:prstGeom prst="rect">
            <a:avLst/>
          </a:prstGeom>
          <a:solidFill>
            <a:srgbClr val="F8EDB8"/>
          </a:solidFill>
          <a:ln w="19050">
            <a:solidFill>
              <a:srgbClr val="F1C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oken-4">
            <a:extLst>
              <a:ext uri="{FF2B5EF4-FFF2-40B4-BE49-F238E27FC236}">
                <a16:creationId xmlns:a16="http://schemas.microsoft.com/office/drawing/2014/main" id="{8D0964CA-7C4C-43C7-9947-D2C1E1848C50}"/>
              </a:ext>
            </a:extLst>
          </p:cNvPr>
          <p:cNvSpPr>
            <a:spLocks noGrp="1"/>
          </p:cNvSpPr>
          <p:nvPr/>
        </p:nvSpPr>
        <p:spPr>
          <a:xfrm>
            <a:off x="4724400" y="4419600"/>
            <a:ext cx="457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F1C94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AF3FDD19-A1BC-46A9-ADCF-C83F700B05EE}"/>
              </a:ext>
            </a:extLst>
          </p:cNvPr>
          <p:cNvSpPr>
            <a:spLocks noGrp="1"/>
          </p:cNvSpPr>
          <p:nvPr/>
        </p:nvSpPr>
        <p:spPr>
          <a:xfrm>
            <a:off x="5334000" y="45339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→ next token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FEBA1296-3707-4851-8E32-38BD6BD94006}"/>
              </a:ext>
            </a:extLst>
          </p:cNvPr>
          <p:cNvSpPr>
            <a:spLocks noGrp="1"/>
          </p:cNvSpPr>
          <p:nvPr/>
        </p:nvSpPr>
        <p:spPr>
          <a:xfrm>
            <a:off x="1828800" y="5410200"/>
            <a:ext cx="502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1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coloured box is the newly appended token</a:t>
            </a:r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6EBCD69B-0D8A-4DA8-818B-993B2CD03787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0" cy="3943350"/>
          </a:xfrm>
          <a:prstGeom prst="line">
            <a:avLst/>
          </a:prstGeom>
          <a:noFill/>
          <a:ln w="1905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D2B0C235-1FE3-41F6-9356-7DD25A597FE1}"/>
              </a:ext>
            </a:extLst>
          </p:cNvPr>
          <p:cNvSpPr>
            <a:spLocks noGrp="1"/>
          </p:cNvSpPr>
          <p:nvPr/>
        </p:nvSpPr>
        <p:spPr>
          <a:xfrm>
            <a:off x="8439150" y="19050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29CE3B2D-88DF-4D73-A12F-6E9E3CC2BC80}"/>
              </a:ext>
            </a:extLst>
          </p:cNvPr>
          <p:cNvSpPr>
            <a:spLocks noGrp="1"/>
          </p:cNvSpPr>
          <p:nvPr/>
        </p:nvSpPr>
        <p:spPr>
          <a:xfrm>
            <a:off x="9296400" y="23050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5093A5AB-CAA9-4FBE-A071-657A81B37780}"/>
              </a:ext>
            </a:extLst>
          </p:cNvPr>
          <p:cNvSpPr>
            <a:spLocks noGrp="1"/>
          </p:cNvSpPr>
          <p:nvPr/>
        </p:nvSpPr>
        <p:spPr>
          <a:xfrm>
            <a:off x="8439150" y="2705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44" name="text">
            <a:extLst>
              <a:ext uri="{FF2B5EF4-FFF2-40B4-BE49-F238E27FC236}">
                <a16:creationId xmlns:a16="http://schemas.microsoft.com/office/drawing/2014/main" id="{A1BCD320-C32F-4313-9F5B-E2049D49C106}"/>
              </a:ext>
            </a:extLst>
          </p:cNvPr>
          <p:cNvSpPr>
            <a:spLocks noGrp="1"/>
          </p:cNvSpPr>
          <p:nvPr/>
        </p:nvSpPr>
        <p:spPr>
          <a:xfrm>
            <a:off x="9296400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FE3292A3-15C9-41E4-B081-6134AD8E1ECC}"/>
              </a:ext>
            </a:extLst>
          </p:cNvPr>
          <p:cNvSpPr>
            <a:spLocks noGrp="1"/>
          </p:cNvSpPr>
          <p:nvPr/>
        </p:nvSpPr>
        <p:spPr>
          <a:xfrm>
            <a:off x="8439150" y="35052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APPEND</a:t>
            </a:r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9CF10C9F-B5D9-4E49-BD67-682143D26902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104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5100" b="0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5764207E-0980-48F5-A57F-1FB2ED3B73DB}"/>
              </a:ext>
            </a:extLst>
          </p:cNvPr>
          <p:cNvSpPr>
            <a:spLocks noGrp="1"/>
          </p:cNvSpPr>
          <p:nvPr/>
        </p:nvSpPr>
        <p:spPr>
          <a:xfrm>
            <a:off x="8229600" y="49530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longer sequence becomes</a:t>
            </a:r>
          </a:p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the next context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99642B15-9061-82C2-1419-A8882CD5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95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number">
            <a:extLst>
              <a:ext uri="{FF2B5EF4-FFF2-40B4-BE49-F238E27FC236}">
                <a16:creationId xmlns:a16="http://schemas.microsoft.com/office/drawing/2014/main" id="{20C06073-F86F-4E48-9924-01A187D1E9AC}"/>
              </a:ext>
            </a:extLst>
          </p:cNvPr>
          <p:cNvSpPr>
            <a:spLocks noGrp="1"/>
          </p:cNvSpPr>
          <p:nvPr/>
        </p:nvSpPr>
        <p:spPr>
          <a:xfrm>
            <a:off x="1129665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B8BBC4"/>
                </a:solidFill>
                <a:latin typeface="Arial"/>
                <a:ea typeface="Arial"/>
                <a:cs typeface="Arial"/>
              </a:defRPr>
            </a:pPr>
            <a:r>
              <a:rPr lang="en-US" sz="975" b="0" i="0" dirty="0">
                <a:solidFill>
                  <a:srgbClr val="B8BBC4"/>
                </a:solidFill>
                <a:latin typeface="Arial"/>
                <a:ea typeface="Arial"/>
                <a:cs typeface="Arial"/>
              </a:rPr>
              <a:t>18</a:t>
            </a:r>
            <a:endParaRPr sz="975" b="0" i="0" dirty="0">
              <a:solidFill>
                <a:srgbClr val="B8BB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ide-title">
            <a:extLst>
              <a:ext uri="{FF2B5EF4-FFF2-40B4-BE49-F238E27FC236}">
                <a16:creationId xmlns:a16="http://schemas.microsoft.com/office/drawing/2014/main" id="{41E12CBB-EEC3-2CC9-CEE3-183ACF03B02F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75" b="1" i="0">
                <a:solidFill>
                  <a:srgbClr val="1E2028"/>
                </a:solidFill>
                <a:latin typeface="Arial"/>
                <a:ea typeface="Arial"/>
                <a:cs typeface="Arial"/>
              </a:defRPr>
            </a:pPr>
            <a:r>
              <a:rPr sz="3375" b="1" i="0" dirty="0">
                <a:solidFill>
                  <a:srgbClr val="1E2028"/>
                </a:solidFill>
                <a:latin typeface="Arial"/>
                <a:ea typeface="Arial"/>
                <a:cs typeface="Arial"/>
              </a:rPr>
              <a:t>CrystaLLM</a:t>
            </a: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B2855A1D-73AF-AE10-C2DC-4EBBFB6F4081}"/>
              </a:ext>
            </a:extLst>
          </p:cNvPr>
          <p:cNvSpPr>
            <a:spLocks noGrp="1"/>
          </p:cNvSpPr>
          <p:nvPr/>
        </p:nvSpPr>
        <p:spPr>
          <a:xfrm>
            <a:off x="1364619" y="2686343"/>
            <a:ext cx="9715500" cy="0"/>
          </a:xfrm>
          <a:prstGeom prst="line">
            <a:avLst/>
          </a:prstGeom>
          <a:noFill/>
          <a:ln w="38100">
            <a:solidFill>
              <a:srgbClr val="E8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-1">
            <a:extLst>
              <a:ext uri="{FF2B5EF4-FFF2-40B4-BE49-F238E27FC236}">
                <a16:creationId xmlns:a16="http://schemas.microsoft.com/office/drawing/2014/main" id="{4F292EED-7E13-9BC3-DB17-470250A2E956}"/>
              </a:ext>
            </a:extLst>
          </p:cNvPr>
          <p:cNvSpPr>
            <a:spLocks noGrp="1"/>
          </p:cNvSpPr>
          <p:nvPr/>
        </p:nvSpPr>
        <p:spPr>
          <a:xfrm>
            <a:off x="1269369" y="2343443"/>
            <a:ext cx="571500" cy="571500"/>
          </a:xfrm>
          <a:prstGeom prst="ellipse">
            <a:avLst/>
          </a:prstGeom>
          <a:solidFill>
            <a:srgbClr val="51469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F34E99BC-C82F-D5C8-6300-2576C3447D03}"/>
              </a:ext>
            </a:extLst>
          </p:cNvPr>
          <p:cNvSpPr>
            <a:spLocks noGrp="1"/>
          </p:cNvSpPr>
          <p:nvPr/>
        </p:nvSpPr>
        <p:spPr>
          <a:xfrm>
            <a:off x="1269369" y="2343443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B851356B-4761-AF3F-B3EB-8D38EB965AD8}"/>
              </a:ext>
            </a:extLst>
          </p:cNvPr>
          <p:cNvSpPr>
            <a:spLocks noGrp="1"/>
          </p:cNvSpPr>
          <p:nvPr/>
        </p:nvSpPr>
        <p:spPr>
          <a:xfrm>
            <a:off x="755019" y="3238793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5146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1469A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EA079FA0-E180-4EC9-8C57-F44E00D56220}"/>
              </a:ext>
            </a:extLst>
          </p:cNvPr>
          <p:cNvSpPr>
            <a:spLocks noGrp="1"/>
          </p:cNvSpPr>
          <p:nvPr/>
        </p:nvSpPr>
        <p:spPr>
          <a:xfrm>
            <a:off x="469269" y="3695993"/>
            <a:ext cx="219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a pretrained checkpoint</a:t>
            </a:r>
          </a:p>
        </p:txBody>
      </p:sp>
      <p:sp>
        <p:nvSpPr>
          <p:cNvPr id="35" name="step-2">
            <a:extLst>
              <a:ext uri="{FF2B5EF4-FFF2-40B4-BE49-F238E27FC236}">
                <a16:creationId xmlns:a16="http://schemas.microsoft.com/office/drawing/2014/main" id="{7F02BBDB-5357-DB2C-67DD-88B761523BE6}"/>
              </a:ext>
            </a:extLst>
          </p:cNvPr>
          <p:cNvSpPr>
            <a:spLocks noGrp="1"/>
          </p:cNvSpPr>
          <p:nvPr/>
        </p:nvSpPr>
        <p:spPr>
          <a:xfrm>
            <a:off x="3955419" y="2343443"/>
            <a:ext cx="571500" cy="571500"/>
          </a:xfrm>
          <a:prstGeom prst="ellipse">
            <a:avLst/>
          </a:prstGeom>
          <a:solidFill>
            <a:srgbClr val="2E9A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A08BD470-3C08-1F58-9D2E-0EAA1FC2D4D4}"/>
              </a:ext>
            </a:extLst>
          </p:cNvPr>
          <p:cNvSpPr>
            <a:spLocks noGrp="1"/>
          </p:cNvSpPr>
          <p:nvPr/>
        </p:nvSpPr>
        <p:spPr>
          <a:xfrm>
            <a:off x="3955419" y="2343443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51670080-64C5-13ED-5B59-004647FAF940}"/>
              </a:ext>
            </a:extLst>
          </p:cNvPr>
          <p:cNvSpPr>
            <a:spLocks noGrp="1"/>
          </p:cNvSpPr>
          <p:nvPr/>
        </p:nvSpPr>
        <p:spPr>
          <a:xfrm>
            <a:off x="3441069" y="3238793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E9AA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9AA7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575C6094-4F5E-FA33-D213-F4D8129043DB}"/>
              </a:ext>
            </a:extLst>
          </p:cNvPr>
          <p:cNvSpPr>
            <a:spLocks noGrp="1"/>
          </p:cNvSpPr>
          <p:nvPr/>
        </p:nvSpPr>
        <p:spPr>
          <a:xfrm>
            <a:off x="3155319" y="3695993"/>
            <a:ext cx="219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choose the starting information</a:t>
            </a:r>
          </a:p>
        </p:txBody>
      </p:sp>
      <p:sp>
        <p:nvSpPr>
          <p:cNvPr id="39" name="step-3">
            <a:extLst>
              <a:ext uri="{FF2B5EF4-FFF2-40B4-BE49-F238E27FC236}">
                <a16:creationId xmlns:a16="http://schemas.microsoft.com/office/drawing/2014/main" id="{D0DBE66D-28A3-05A7-8419-37CFE43057F8}"/>
              </a:ext>
            </a:extLst>
          </p:cNvPr>
          <p:cNvSpPr>
            <a:spLocks noGrp="1"/>
          </p:cNvSpPr>
          <p:nvPr/>
        </p:nvSpPr>
        <p:spPr>
          <a:xfrm>
            <a:off x="6641469" y="2343443"/>
            <a:ext cx="571500" cy="571500"/>
          </a:xfrm>
          <a:prstGeom prst="ellipse">
            <a:avLst/>
          </a:prstGeom>
          <a:solidFill>
            <a:srgbClr val="D85F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13687CA5-3478-F773-C36E-32BCCF27CFBD}"/>
              </a:ext>
            </a:extLst>
          </p:cNvPr>
          <p:cNvSpPr>
            <a:spLocks noGrp="1"/>
          </p:cNvSpPr>
          <p:nvPr/>
        </p:nvSpPr>
        <p:spPr>
          <a:xfrm>
            <a:off x="6641469" y="2343443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60F74D6F-E1FB-6338-0830-14DF5C97AB88}"/>
              </a:ext>
            </a:extLst>
          </p:cNvPr>
          <p:cNvSpPr>
            <a:spLocks noGrp="1"/>
          </p:cNvSpPr>
          <p:nvPr/>
        </p:nvSpPr>
        <p:spPr>
          <a:xfrm>
            <a:off x="6127119" y="3238793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85F8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85F80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F0091A9E-56BC-A70D-9F5F-A18071D9E3E6}"/>
              </a:ext>
            </a:extLst>
          </p:cNvPr>
          <p:cNvSpPr>
            <a:spLocks noGrp="1"/>
          </p:cNvSpPr>
          <p:nvPr/>
        </p:nvSpPr>
        <p:spPr>
          <a:xfrm>
            <a:off x="5841369" y="3695993"/>
            <a:ext cx="219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write CIF tokens one by one</a:t>
            </a:r>
          </a:p>
        </p:txBody>
      </p:sp>
      <p:sp>
        <p:nvSpPr>
          <p:cNvPr id="43" name="step-4">
            <a:extLst>
              <a:ext uri="{FF2B5EF4-FFF2-40B4-BE49-F238E27FC236}">
                <a16:creationId xmlns:a16="http://schemas.microsoft.com/office/drawing/2014/main" id="{BADC1200-3B89-4FC3-4F8E-44874C30B39F}"/>
              </a:ext>
            </a:extLst>
          </p:cNvPr>
          <p:cNvSpPr>
            <a:spLocks noGrp="1"/>
          </p:cNvSpPr>
          <p:nvPr/>
        </p:nvSpPr>
        <p:spPr>
          <a:xfrm>
            <a:off x="9327519" y="2343443"/>
            <a:ext cx="571500" cy="571500"/>
          </a:xfrm>
          <a:prstGeom prst="ellipse">
            <a:avLst/>
          </a:prstGeom>
          <a:solidFill>
            <a:srgbClr val="F1C9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">
            <a:extLst>
              <a:ext uri="{FF2B5EF4-FFF2-40B4-BE49-F238E27FC236}">
                <a16:creationId xmlns:a16="http://schemas.microsoft.com/office/drawing/2014/main" id="{867D10E4-DF58-7150-C908-0FD4DE527B2D}"/>
              </a:ext>
            </a:extLst>
          </p:cNvPr>
          <p:cNvSpPr>
            <a:spLocks noGrp="1"/>
          </p:cNvSpPr>
          <p:nvPr/>
        </p:nvSpPr>
        <p:spPr>
          <a:xfrm>
            <a:off x="9327519" y="2343443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0CB77572-E430-37B6-62E0-C03B69C91280}"/>
              </a:ext>
            </a:extLst>
          </p:cNvPr>
          <p:cNvSpPr>
            <a:spLocks noGrp="1"/>
          </p:cNvSpPr>
          <p:nvPr/>
        </p:nvSpPr>
        <p:spPr>
          <a:xfrm>
            <a:off x="8813169" y="3238793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1C9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1C94A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7FFAD208-DCC0-A3D8-1E1A-C343177205C7}"/>
              </a:ext>
            </a:extLst>
          </p:cNvPr>
          <p:cNvSpPr>
            <a:spLocks noGrp="1"/>
          </p:cNvSpPr>
          <p:nvPr/>
        </p:nvSpPr>
        <p:spPr>
          <a:xfrm>
            <a:off x="8527419" y="3695993"/>
            <a:ext cx="219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1350" b="0" i="0">
                <a:solidFill>
                  <a:srgbClr val="666A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6"/>
                </a:solidFill>
                <a:latin typeface="Arial"/>
                <a:ea typeface="Arial"/>
                <a:cs typeface="Arial"/>
              </a:rPr>
              <a:t>parse and check the result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5DA5B89B-33FD-A587-DA91-97DF9E307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0" y="6375330"/>
            <a:ext cx="666750" cy="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204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8187</TotalTime>
  <Words>1190</Words>
  <Application>Microsoft Macintosh PowerPoint</Application>
  <DocSecurity>0</DocSecurity>
  <PresentationFormat>Widescreen</PresentationFormat>
  <Paragraphs>372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Joley Lin</cp:lastModifiedBy>
  <cp:revision>3</cp:revision>
  <dcterms:created xsi:type="dcterms:W3CDTF">2026-07-23T18:58:47Z</dcterms:created>
  <dcterms:modified xsi:type="dcterms:W3CDTF">2026-07-29T13:31:19Z</dcterms:modified>
</cp:coreProperties>
</file>