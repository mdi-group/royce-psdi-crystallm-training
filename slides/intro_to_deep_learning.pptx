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32"/>
  </p:notesMasterIdLst>
  <p:sldIdLst>
    <p:sldId id="256" r:id="rId3"/>
    <p:sldId id="257" r:id="rId4"/>
    <p:sldId id="284"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4968" autoAdjust="0"/>
  </p:normalViewPr>
  <p:slideViewPr>
    <p:cSldViewPr snapToGrid="0">
      <p:cViewPr varScale="1">
        <p:scale>
          <a:sx n="69" d="100"/>
          <a:sy n="69" d="100"/>
        </p:scale>
        <p:origin x="21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1 - Introduction to Deep Learning for Crystal Language Models</a:t>
            </a:r>
          </a:p>
          <a:p>
            <a:endParaRPr dirty="0"/>
          </a:p>
          <a:p>
            <a:r>
              <a:rPr dirty="0"/>
              <a:t>**Approx. timing: 45 seconds**</a:t>
            </a:r>
          </a:p>
          <a:p>
            <a:endParaRPr dirty="0"/>
          </a:p>
          <a:p>
            <a:r>
              <a:rPr dirty="0"/>
              <a:t>"Hi everyone. In this first part I am going to give the introduction to deep learning that we need for the rest of the workshop.</a:t>
            </a:r>
          </a:p>
          <a:p>
            <a:endParaRPr dirty="0"/>
          </a:p>
          <a:p>
            <a:r>
              <a:rPr lang="en-GB" dirty="0"/>
              <a:t>In this section we’ll cover: </a:t>
            </a:r>
            <a:r>
              <a:rPr dirty="0"/>
              <a:t>what we mean by representations, embeddings, neural network layers, losses, gradients, sequence models, and autoregressive generation.</a:t>
            </a:r>
          </a:p>
          <a:p>
            <a:endParaRPr dirty="0"/>
          </a:p>
          <a:p>
            <a:r>
              <a:rPr dirty="0"/>
              <a:t>Th</a:t>
            </a:r>
            <a:r>
              <a:rPr lang="en-GB" dirty="0"/>
              <a:t>ese concepts will be important </a:t>
            </a:r>
            <a:r>
              <a:rPr dirty="0"/>
              <a:t>because the rest of the workshop is about </a:t>
            </a:r>
            <a:r>
              <a:rPr dirty="0" err="1"/>
              <a:t>CrystaLLM</a:t>
            </a:r>
            <a:r>
              <a:rPr dirty="0"/>
              <a:t>: treating crystal structures, written as CIFs, as a kind of language. Joley will take over after me and go into attention, transformers, and the pretrained </a:t>
            </a:r>
            <a:r>
              <a:rPr dirty="0" err="1"/>
              <a:t>CrystaLLM</a:t>
            </a:r>
            <a:r>
              <a:rPr dirty="0"/>
              <a:t> model. Then Cyprien will cover conditioning, finetuning, and </a:t>
            </a:r>
            <a:r>
              <a:rPr dirty="0" err="1"/>
              <a:t>CrystaLLM</a:t>
            </a:r>
            <a:r>
              <a:rPr dirty="0"/>
              <a:t>-pi.</a:t>
            </a:r>
          </a:p>
          <a:p>
            <a:endParaRPr dirty="0"/>
          </a:p>
          <a:p>
            <a:r>
              <a:rPr dirty="0"/>
              <a:t>So</a:t>
            </a:r>
            <a:r>
              <a:rPr lang="en-GB" dirty="0"/>
              <a:t> for this workshop, w</a:t>
            </a:r>
            <a:r>
              <a:rPr dirty="0"/>
              <a:t>e </a:t>
            </a:r>
            <a:r>
              <a:rPr lang="en-GB" dirty="0"/>
              <a:t>will hopefully take you all the way </a:t>
            </a:r>
            <a:r>
              <a:rPr dirty="0"/>
              <a:t>from ordinary feature vectors to generated crystal structures</a:t>
            </a:r>
            <a:r>
              <a:rPr lang="en-GB" dirty="0"/>
              <a:t> conditioned on functional properties of interest</a:t>
            </a:r>
            <a:r>
              <a:rPr dirty="0"/>
              <a:t>"</a:t>
            </a:r>
          </a:p>
          <a:p>
            <a:endParaRPr dirty="0"/>
          </a:p>
          <a:p>
            <a:r>
              <a:rPr dirty="0"/>
              <a:t>**Transition:**</a:t>
            </a:r>
          </a:p>
          <a:p>
            <a:endParaRPr dirty="0"/>
          </a:p>
          <a:p>
            <a:r>
              <a:rPr dirty="0"/>
              <a:t>"Let me start by showing the whole workshop arc, so this first talk has a place in the larger story."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2 - What This Workshop Covers</a:t>
            </a:r>
          </a:p>
          <a:p>
            <a:endParaRPr dirty="0"/>
          </a:p>
          <a:p>
            <a:r>
              <a:rPr dirty="0"/>
              <a:t>**Approx. timing: 1 minute**</a:t>
            </a:r>
          </a:p>
          <a:p>
            <a:endParaRPr dirty="0"/>
          </a:p>
          <a:p>
            <a:r>
              <a:rPr dirty="0"/>
              <a:t>"The workshop has three connected pieces.</a:t>
            </a:r>
          </a:p>
          <a:p>
            <a:endParaRPr dirty="0"/>
          </a:p>
          <a:p>
            <a:r>
              <a:rPr dirty="0"/>
              <a:t>The first piece, which is this section, is about learning representations. We will start with classical machine learning intuition, then move to multilayer </a:t>
            </a:r>
            <a:r>
              <a:rPr dirty="0" err="1"/>
              <a:t>perceptrons</a:t>
            </a:r>
            <a:r>
              <a:rPr dirty="0"/>
              <a:t>, embeddings, and training by gradients. We will also talk about why fixed-length vector inputs are limiting once our data are sequences.</a:t>
            </a:r>
          </a:p>
          <a:p>
            <a:endParaRPr dirty="0"/>
          </a:p>
          <a:p>
            <a:r>
              <a:rPr dirty="0"/>
              <a:t>The second piece is about generating CIF text. That is where attention and transformers come in. Joley will explain how attention lets a model use context more flexibly than a recurrent model, and then connect that to large language models and </a:t>
            </a:r>
            <a:r>
              <a:rPr dirty="0" err="1"/>
              <a:t>CrystaLLM</a:t>
            </a:r>
            <a:r>
              <a:rPr dirty="0"/>
              <a:t> generation.</a:t>
            </a:r>
          </a:p>
          <a:p>
            <a:endParaRPr dirty="0"/>
          </a:p>
          <a:p>
            <a:r>
              <a:rPr dirty="0"/>
              <a:t>The third piece is about steering generation. Cyprien will cover conditioning mechanisms, finetuning, property injection, and </a:t>
            </a:r>
            <a:r>
              <a:rPr dirty="0" err="1"/>
              <a:t>CrystaLLM</a:t>
            </a:r>
            <a:r>
              <a:rPr dirty="0"/>
              <a:t>-pi.</a:t>
            </a:r>
          </a:p>
          <a:p>
            <a:endParaRPr dirty="0"/>
          </a:p>
          <a:p>
            <a:r>
              <a:rPr dirty="0"/>
              <a:t>The hands-on notebooks follow the same structure. The point is that the concepts and the code should reinforce each other."</a:t>
            </a:r>
          </a:p>
          <a:p>
            <a:endParaRPr dirty="0"/>
          </a:p>
          <a:p>
            <a:r>
              <a:rPr dirty="0"/>
              <a:t>**Optional add if useful:**</a:t>
            </a:r>
          </a:p>
          <a:p>
            <a:endParaRPr dirty="0"/>
          </a:p>
          <a:p>
            <a:r>
              <a:rPr dirty="0"/>
              <a:t>"So if one idea feels abstract in the slides, keep it in mind, because it will usually reappear in a notebook a little later."</a:t>
            </a:r>
          </a:p>
          <a:p>
            <a:endParaRPr dirty="0"/>
          </a:p>
          <a:p>
            <a:r>
              <a:rPr dirty="0"/>
              <a:t>**Transition:**</a:t>
            </a:r>
          </a:p>
          <a:p>
            <a:endParaRPr dirty="0"/>
          </a:p>
          <a:p>
            <a:r>
              <a:rPr dirty="0"/>
              <a:t>"For this first section, these are the specific things I want people to leave with."</a:t>
            </a:r>
          </a:p>
          <a:p>
            <a:endParaRPr dirty="0"/>
          </a:p>
          <a:p>
            <a:r>
              <a:rPr dirty="0"/>
              <a:t>[Sources]</a:t>
            </a:r>
          </a:p>
          <a:p>
            <a:r>
              <a:rPr dirty="0"/>
              <a:t>- </a:t>
            </a:r>
            <a:r>
              <a:rPr dirty="0" err="1"/>
              <a:t>CaMML</a:t>
            </a:r>
            <a:r>
              <a:rPr dirty="0"/>
              <a:t> School training material: https://workshop.camml.ac.uk/</a:t>
            </a:r>
          </a:p>
          <a:p>
            <a:r>
              <a:rPr dirty="0"/>
              <a:t>- Antunes, Butler, and Grau-Crespo, Crystal structure generation with autoregressive large language modeling, Nature Communications 15, 10570, 2024.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endParaRPr lang="en-GB"/>
          </a:p>
        </p:txBody>
      </p:sp>
    </p:spTree>
    <p:extLst>
      <p:ext uri="{BB962C8B-B14F-4D97-AF65-F5344CB8AC3E}">
        <p14:creationId xmlns:p14="http://schemas.microsoft.com/office/powerpoint/2010/main" val="35743485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3 - What Should People Leave With?</a:t>
            </a:r>
          </a:p>
          <a:p>
            <a:endParaRPr dirty="0"/>
          </a:p>
          <a:p>
            <a:r>
              <a:rPr dirty="0"/>
              <a:t>**Approx. timing: 1 minute**</a:t>
            </a:r>
          </a:p>
          <a:p>
            <a:endParaRPr dirty="0"/>
          </a:p>
          <a:p>
            <a:r>
              <a:rPr dirty="0"/>
              <a:t>"These are the learning outcomes for part 1.</a:t>
            </a:r>
          </a:p>
          <a:p>
            <a:endParaRPr dirty="0"/>
          </a:p>
          <a:p>
            <a:r>
              <a:rPr dirty="0"/>
              <a:t>First, I want you to be able to define the key words: representation, embedding, token, loss, and gradient. These words come up constantly in machine learning, and they can sound more mysterious than they really are.</a:t>
            </a:r>
          </a:p>
          <a:p>
            <a:endParaRPr dirty="0"/>
          </a:p>
          <a:p>
            <a:r>
              <a:rPr dirty="0"/>
              <a:t>Second, I want you to be able to explain why a basic MLP is a fixed vector-to-vector map. That is a useful starting point, but it is not enough for everything.</a:t>
            </a:r>
          </a:p>
          <a:p>
            <a:endParaRPr dirty="0"/>
          </a:p>
          <a:p>
            <a:r>
              <a:rPr dirty="0"/>
              <a:t>Third, I want you to </a:t>
            </a:r>
            <a:r>
              <a:rPr dirty="0" err="1"/>
              <a:t>recognise</a:t>
            </a:r>
            <a:r>
              <a:rPr dirty="0"/>
              <a:t> the shape of sequence tasks. Sometimes we map a sequence to a label. Sometimes we map one sequence to another. Sometimes we predict the next token from the previous tokens.</a:t>
            </a:r>
          </a:p>
          <a:p>
            <a:endParaRPr dirty="0"/>
          </a:p>
          <a:p>
            <a:r>
              <a:rPr dirty="0"/>
              <a:t>Fourth, I want you to connect CIF generation to next-token prediction. That is the key conceptual bridge to </a:t>
            </a:r>
            <a:r>
              <a:rPr dirty="0" err="1"/>
              <a:t>CrystaLLM</a:t>
            </a:r>
            <a:r>
              <a:rPr dirty="0"/>
              <a:t>.</a:t>
            </a:r>
          </a:p>
          <a:p>
            <a:endParaRPr dirty="0"/>
          </a:p>
          <a:p>
            <a:r>
              <a:rPr dirty="0"/>
              <a:t>And finally, I want this to prepare you for attention and transformers, rather than teach those fully here."</a:t>
            </a:r>
          </a:p>
          <a:p>
            <a:endParaRPr dirty="0"/>
          </a:p>
          <a:p>
            <a:r>
              <a:rPr dirty="0"/>
              <a:t>**Transition:**</a:t>
            </a:r>
          </a:p>
          <a:p>
            <a:endParaRPr dirty="0"/>
          </a:p>
          <a:p>
            <a:r>
              <a:rPr dirty="0"/>
              <a:t>"The first big idea is that deep learning is not just about fitting labels. It is mostly about learning representations."</a:t>
            </a:r>
          </a:p>
          <a:p>
            <a:endParaRPr dirty="0"/>
          </a:p>
          <a:p>
            <a:r>
              <a:rPr dirty="0"/>
              <a:t>[Sources]</a:t>
            </a:r>
          </a:p>
          <a:p>
            <a:r>
              <a:rPr dirty="0"/>
              <a:t>- </a:t>
            </a:r>
            <a:r>
              <a:rPr dirty="0" err="1"/>
              <a:t>CaMML</a:t>
            </a:r>
            <a:r>
              <a:rPr dirty="0"/>
              <a:t> School training material: https://workshop.camml.ac.uk/</a:t>
            </a:r>
          </a:p>
          <a:p>
            <a:r>
              <a:rPr dirty="0"/>
              <a:t>- Goodfellow, Bengio, and Courville, Deep Learning, MIT Press, 2016.</a:t>
            </a:r>
          </a:p>
          <a:p>
            <a:r>
              <a:rPr dirty="0"/>
              <a:t>- Antunes, Butler, and Grau-Crespo, Crystal structure generation with autoregressive large language modeling, Nature Communications 15, 10570, 2024.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4 - Deep Learning Is Mostly Representation Learning</a:t>
            </a:r>
          </a:p>
          <a:p>
            <a:endParaRPr dirty="0"/>
          </a:p>
          <a:p>
            <a:r>
              <a:rPr dirty="0"/>
              <a:t>**Approx. timing: 1 minute 30 seconds**</a:t>
            </a:r>
            <a:endParaRPr lang="en-GB" dirty="0"/>
          </a:p>
          <a:p>
            <a:endParaRPr dirty="0"/>
          </a:p>
          <a:p>
            <a:r>
              <a:rPr dirty="0"/>
              <a:t>"A useful way to think about the difference between classical machine learning and deep learning is to ask where the representation comes from.</a:t>
            </a:r>
          </a:p>
          <a:p>
            <a:endParaRPr dirty="0"/>
          </a:p>
          <a:p>
            <a:r>
              <a:rPr dirty="0"/>
              <a:t>In a lot of classical machine learning workflows, we start with data and then we design features by hand. We decide what quantities we think matter, compute those quantities, and pass them to a model. That can work extremely well. In fact, in scientific machine learning, carefully chosen descriptors are often a huge part of the success.</a:t>
            </a:r>
          </a:p>
          <a:p>
            <a:endParaRPr dirty="0"/>
          </a:p>
          <a:p>
            <a:r>
              <a:rPr dirty="0"/>
              <a:t>Deep learning changes the balance. Instead of saying, 'Here are exactly the features the model should use,' we give the model rawer or less compressed data and allow it to learn intermediate representations during training.</a:t>
            </a:r>
          </a:p>
          <a:p>
            <a:endParaRPr dirty="0"/>
          </a:p>
          <a:p>
            <a:r>
              <a:rPr dirty="0"/>
              <a:t>So the important phrase here is not just 'deep' and it is not just 'neural network'. The important phrase is representation learning: learning internal variables that make the task easier."</a:t>
            </a:r>
          </a:p>
          <a:p>
            <a:endParaRPr dirty="0"/>
          </a:p>
          <a:p>
            <a:r>
              <a:rPr dirty="0"/>
              <a:t>**Shorten if needed:**</a:t>
            </a:r>
          </a:p>
          <a:p>
            <a:endParaRPr dirty="0"/>
          </a:p>
          <a:p>
            <a:r>
              <a:rPr dirty="0"/>
              <a:t>"This does not mean features disappear. It means more of the feature construction is learned from data."</a:t>
            </a:r>
          </a:p>
          <a:p>
            <a:endParaRPr dirty="0"/>
          </a:p>
          <a:p>
            <a:r>
              <a:rPr dirty="0"/>
              <a:t>**Transition:**</a:t>
            </a:r>
          </a:p>
          <a:p>
            <a:endParaRPr dirty="0"/>
          </a:p>
          <a:p>
            <a:r>
              <a:rPr dirty="0"/>
              <a:t>"To make that concrete, let us start with a deliberately simple example."</a:t>
            </a:r>
          </a:p>
          <a:p>
            <a:endParaRPr dirty="0"/>
          </a:p>
          <a:p>
            <a:r>
              <a:rPr dirty="0"/>
              <a:t>[Sources]</a:t>
            </a:r>
          </a:p>
          <a:p>
            <a:r>
              <a:rPr dirty="0"/>
              <a:t>- Goodfellow, Bengio, and Courville, Deep Learning, MIT Press, 2016.</a:t>
            </a:r>
          </a:p>
          <a:p>
            <a:r>
              <a:rPr dirty="0"/>
              <a:t>- Bengio, Courville, and Vincent, Representation Learning: A Review and New Perspectives, IEEE TPAMI 35(8), 1798-1828, 2013.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5 - Hand-Crafted Features Put the Burden on Us</a:t>
            </a:r>
          </a:p>
          <a:p>
            <a:endParaRPr dirty="0"/>
          </a:p>
          <a:p>
            <a:r>
              <a:rPr dirty="0"/>
              <a:t>**Approx. timing: 1 minute 30 seconds**</a:t>
            </a:r>
          </a:p>
          <a:p>
            <a:endParaRPr dirty="0"/>
          </a:p>
          <a:p>
            <a:r>
              <a:rPr dirty="0"/>
              <a:t>"Imagine we are trying to build a classifier that distinguishes cats from snakes.</a:t>
            </a:r>
          </a:p>
          <a:p>
            <a:endParaRPr dirty="0"/>
          </a:p>
          <a:p>
            <a:r>
              <a:rPr dirty="0"/>
              <a:t>In a classical machine learning setup, we might hand-design a table of features. Number of eyes: two. Whiskers: yes or no. Legs: maybe four, maybe none. Scales: yes or no. Then a model takes that table and learns a boundary between the classes.</a:t>
            </a:r>
          </a:p>
          <a:p>
            <a:endParaRPr dirty="0"/>
          </a:p>
          <a:p>
            <a:r>
              <a:rPr dirty="0"/>
              <a:t>There is nothing wrong with this in principle. If the features are good, the model can be simple and still perform well. The catch is that a lot of the intelligence has been moved into the feature design. Someone had to know which questions to ask about the object before learning started.</a:t>
            </a:r>
          </a:p>
          <a:p>
            <a:endParaRPr dirty="0"/>
          </a:p>
          <a:p>
            <a:r>
              <a:rPr dirty="0"/>
              <a:t>Deep learning tries to reduce that manual burden. Instead of explicitly giving 'whiskers' and 'scales', we might give pixels, tokens, graphs, or structures, and let the model learn useful intermediate features."</a:t>
            </a:r>
          </a:p>
          <a:p>
            <a:endParaRPr dirty="0"/>
          </a:p>
          <a:p>
            <a:r>
              <a:rPr dirty="0"/>
              <a:t>**Audience prompt:**</a:t>
            </a:r>
          </a:p>
          <a:p>
            <a:endParaRPr dirty="0"/>
          </a:p>
          <a:p>
            <a:r>
              <a:rPr dirty="0"/>
              <a:t>"The useful question is: what information have we already built into the representation before the model sees the data?"</a:t>
            </a:r>
          </a:p>
          <a:p>
            <a:endParaRPr dirty="0"/>
          </a:p>
          <a:p>
            <a:r>
              <a:rPr dirty="0"/>
              <a:t>**Transition:**</a:t>
            </a:r>
          </a:p>
          <a:p>
            <a:endParaRPr dirty="0"/>
          </a:p>
          <a:p>
            <a:r>
              <a:rPr dirty="0"/>
              <a:t>"In materials science, that question becomes even more important."</a:t>
            </a:r>
          </a:p>
          <a:p>
            <a:endParaRPr dirty="0"/>
          </a:p>
          <a:p>
            <a:r>
              <a:rPr dirty="0"/>
              <a:t>[Sources]</a:t>
            </a:r>
          </a:p>
          <a:p>
            <a:r>
              <a:rPr dirty="0"/>
              <a:t>- </a:t>
            </a:r>
            <a:r>
              <a:rPr dirty="0" err="1"/>
              <a:t>CaMML</a:t>
            </a:r>
            <a:r>
              <a:rPr dirty="0"/>
              <a:t> School training material: https://workshop.camml.ac.uk/</a:t>
            </a:r>
          </a:p>
          <a:p>
            <a:r>
              <a:rPr dirty="0"/>
              <a:t>- Goodfellow, Bengio, and Courville, Deep Learning, MIT Press, 2016.</a:t>
            </a:r>
          </a:p>
          <a:p>
            <a:r>
              <a:rPr dirty="0"/>
              <a:t>- Bengio, Courville, and Vincent, Representation Learning: A Review and New Perspectives, IEEE TPAMI 35(8), 1798-1828, 2013.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6 - In Materials, </a:t>
            </a:r>
            <a:r>
              <a:rPr dirty="0" err="1"/>
              <a:t>Featurisation</a:t>
            </a:r>
            <a:r>
              <a:rPr dirty="0"/>
              <a:t> Is Already a Modelling Choice</a:t>
            </a:r>
          </a:p>
          <a:p>
            <a:endParaRPr dirty="0"/>
          </a:p>
          <a:p>
            <a:r>
              <a:rPr dirty="0"/>
              <a:t>**Approx. timing: 1 minute 45 seconds**</a:t>
            </a:r>
          </a:p>
          <a:p>
            <a:endParaRPr dirty="0"/>
          </a:p>
          <a:p>
            <a:r>
              <a:rPr dirty="0"/>
              <a:t>"Materials are a very good example of why representation is not just a technical detail.</a:t>
            </a:r>
          </a:p>
          <a:p>
            <a:endParaRPr dirty="0"/>
          </a:p>
          <a:p>
            <a:r>
              <a:rPr dirty="0"/>
              <a:t>If I represent a material by composition, I have to decide which chemical information to include. Do I include just elements and stoichiometry? Do I include oxidation states? Do I include chemical priors or periodic-table properties?</a:t>
            </a:r>
          </a:p>
          <a:p>
            <a:endParaRPr dirty="0"/>
          </a:p>
          <a:p>
            <a:r>
              <a:rPr dirty="0"/>
              <a:t>If I represent the crystal structure, I have another set of choices. Do I use distances, angles, symmetry information, local coordination environments, </a:t>
            </a:r>
            <a:r>
              <a:rPr dirty="0" err="1"/>
              <a:t>neighbour</a:t>
            </a:r>
            <a:r>
              <a:rPr dirty="0"/>
              <a:t> lists, graphs, or something else?</a:t>
            </a:r>
          </a:p>
          <a:p>
            <a:endParaRPr dirty="0"/>
          </a:p>
          <a:p>
            <a:r>
              <a:rPr dirty="0"/>
              <a:t>And underneath all of those choices are invariances. A crystal property should not change because I rotate the cell, translate the origin, or relabel equivalent atoms. So a representation should make the right things easy for the model and avoid making the wrong things matter.</a:t>
            </a:r>
          </a:p>
          <a:p>
            <a:endParaRPr dirty="0"/>
          </a:p>
          <a:p>
            <a:r>
              <a:rPr dirty="0"/>
              <a:t>The key line on this slide is this: deep learning does not remove representation choices. It moves many of them inside the training problem."</a:t>
            </a:r>
          </a:p>
          <a:p>
            <a:endParaRPr dirty="0"/>
          </a:p>
          <a:p>
            <a:r>
              <a:rPr dirty="0"/>
              <a:t>**Shorten if needed:**</a:t>
            </a:r>
          </a:p>
          <a:p>
            <a:endParaRPr dirty="0"/>
          </a:p>
          <a:p>
            <a:r>
              <a:rPr dirty="0"/>
              <a:t>"That is powerful, but it also means the training data and objective now carry more responsibility."</a:t>
            </a:r>
          </a:p>
          <a:p>
            <a:endParaRPr dirty="0"/>
          </a:p>
          <a:p>
            <a:r>
              <a:rPr dirty="0"/>
              <a:t>**Transition:**</a:t>
            </a:r>
          </a:p>
          <a:p>
            <a:endParaRPr dirty="0"/>
          </a:p>
          <a:p>
            <a:r>
              <a:rPr dirty="0"/>
              <a:t>"This brings us to two styles of representation: </a:t>
            </a:r>
            <a:r>
              <a:rPr dirty="0" err="1"/>
              <a:t>localised</a:t>
            </a:r>
            <a:r>
              <a:rPr dirty="0"/>
              <a:t> representations and distributed representations."</a:t>
            </a:r>
          </a:p>
          <a:p>
            <a:endParaRPr dirty="0"/>
          </a:p>
          <a:p>
            <a:r>
              <a:rPr dirty="0"/>
              <a:t>[Sources]</a:t>
            </a:r>
          </a:p>
          <a:p>
            <a:r>
              <a:rPr dirty="0"/>
              <a:t>- Bengio, Courville, and Vincent, Representation Learning: A Review and New Perspectives, IEEE TPAMI 35(8), 1798-1828, 2013.</a:t>
            </a:r>
          </a:p>
          <a:p>
            <a:r>
              <a:rPr dirty="0"/>
              <a:t>- </a:t>
            </a:r>
            <a:r>
              <a:rPr dirty="0" err="1"/>
              <a:t>CaMML</a:t>
            </a:r>
            <a:r>
              <a:rPr dirty="0"/>
              <a:t> School training material: https://workshop.camml.ac.uk/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7 - </a:t>
            </a:r>
            <a:r>
              <a:rPr dirty="0" err="1"/>
              <a:t>Localised</a:t>
            </a:r>
            <a:r>
              <a:rPr dirty="0"/>
              <a:t> or Distributed Representations?</a:t>
            </a:r>
          </a:p>
          <a:p>
            <a:endParaRPr dirty="0"/>
          </a:p>
          <a:p>
            <a:r>
              <a:rPr dirty="0"/>
              <a:t>**Approx. timing: 1 minute 45 seconds**</a:t>
            </a:r>
          </a:p>
          <a:p>
            <a:endParaRPr dirty="0"/>
          </a:p>
          <a:p>
            <a:r>
              <a:rPr dirty="0"/>
              <a:t>"On the left, we have a localist, or one-hot, style of representation. Each object gets its own slot. Bear is one slot, tiger is another slot, fish is another slot, and so on.</a:t>
            </a:r>
          </a:p>
          <a:p>
            <a:endParaRPr dirty="0"/>
          </a:p>
          <a:p>
            <a:r>
              <a:rPr dirty="0"/>
              <a:t>This is simple and clean, but it has a big limitation: it does not say anything about similarity. In a one-hot representation, hydrogen and helium are just as different as hydrogen and plutonium. Cat and tiger are just as different as cat and goldfish. The representation knows identity, but not relationship.</a:t>
            </a:r>
          </a:p>
          <a:p>
            <a:endParaRPr dirty="0"/>
          </a:p>
          <a:p>
            <a:r>
              <a:rPr dirty="0"/>
              <a:t>On the right, we have a distributed representation. Each object is represented by many numbers. None of the individual coordinates has to mean 'furry' or 'metallic' or 'large atom'. But the pattern across the coordinates can encode useful relationships.</a:t>
            </a:r>
          </a:p>
          <a:p>
            <a:endParaRPr dirty="0"/>
          </a:p>
          <a:p>
            <a:r>
              <a:rPr dirty="0"/>
              <a:t>This is the basic idea behind learned embeddings. The model gets a vector space where related things can end up near each other, or separated along useful directions."</a:t>
            </a:r>
          </a:p>
          <a:p>
            <a:endParaRPr dirty="0"/>
          </a:p>
          <a:p>
            <a:r>
              <a:rPr dirty="0"/>
              <a:t>**Optional add:**</a:t>
            </a:r>
          </a:p>
          <a:p>
            <a:endParaRPr dirty="0"/>
          </a:p>
          <a:p>
            <a:r>
              <a:rPr dirty="0"/>
              <a:t>"The geometry is learned for a task, so it is not a universal map of reality. But it can be very useful."</a:t>
            </a:r>
          </a:p>
          <a:p>
            <a:endParaRPr dirty="0"/>
          </a:p>
          <a:p>
            <a:r>
              <a:rPr dirty="0"/>
              <a:t>**Transition:**</a:t>
            </a:r>
          </a:p>
          <a:p>
            <a:endParaRPr dirty="0"/>
          </a:p>
          <a:p>
            <a:r>
              <a:rPr dirty="0"/>
              <a:t>"So let us define that word precisely: embedding."</a:t>
            </a:r>
          </a:p>
          <a:p>
            <a:endParaRPr dirty="0"/>
          </a:p>
          <a:p>
            <a:r>
              <a:rPr dirty="0"/>
              <a:t>[Sources]</a:t>
            </a:r>
          </a:p>
          <a:p>
            <a:r>
              <a:rPr dirty="0"/>
              <a:t>- Bengio, Courville, and Vincent, Representation Learning: A Review and New Perspectives, IEEE TPAMI 35(8), 1798-1828, 2013.</a:t>
            </a:r>
          </a:p>
          <a:p>
            <a:r>
              <a:rPr dirty="0"/>
              <a:t>- Existing deck visual source; visible slide cites Neural Computing and Applications 36, 12809 (2024).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8 - What Exactly Is an Embedding?</a:t>
            </a:r>
          </a:p>
          <a:p>
            <a:endParaRPr dirty="0"/>
          </a:p>
          <a:p>
            <a:r>
              <a:rPr dirty="0"/>
              <a:t>**Approx. timing: 1 minute 45 seconds**</a:t>
            </a:r>
          </a:p>
          <a:p>
            <a:endParaRPr dirty="0"/>
          </a:p>
          <a:p>
            <a:r>
              <a:rPr dirty="0"/>
              <a:t>"An embedding is a learned vector representation of an object.</a:t>
            </a:r>
          </a:p>
          <a:p>
            <a:endParaRPr dirty="0"/>
          </a:p>
          <a:p>
            <a:r>
              <a:rPr dirty="0"/>
              <a:t>The object might be a word, an atom, a token, a CIF tag, or even a whole structure depending on the model. We start with a discrete object from some vocabulary. In a language model that vocabulary might contain word pieces or characters. In a CIF model it might contain chemical symbols, numbers, punctuation, tags, and line breaks.</a:t>
            </a:r>
          </a:p>
          <a:p>
            <a:endParaRPr dirty="0"/>
          </a:p>
          <a:p>
            <a:r>
              <a:rPr dirty="0"/>
              <a:t>The model maps that discrete index to a vector: a point in a continuous space. That vector is what the rest of the neural network sees.</a:t>
            </a:r>
          </a:p>
          <a:p>
            <a:endParaRPr dirty="0"/>
          </a:p>
          <a:p>
            <a:r>
              <a:rPr dirty="0"/>
              <a:t>The important point is that the entries of the vector do not usually have clean human labels. Dimension 17 is not necessarily 'oxygen-ness' or 'symmetry-ness'. What matters is the learned geometry: which things are close, which directions are useful, and what information the downstream task can extract."</a:t>
            </a:r>
          </a:p>
          <a:p>
            <a:endParaRPr dirty="0"/>
          </a:p>
          <a:p>
            <a:r>
              <a:rPr dirty="0"/>
              <a:t>**Audience prompt:**</a:t>
            </a:r>
          </a:p>
          <a:p>
            <a:endParaRPr dirty="0"/>
          </a:p>
          <a:p>
            <a:r>
              <a:rPr dirty="0"/>
              <a:t>"So if someone asks, 'what is the embedding of this token?', the practical answer is: it is the vector the model has learned to use for that token."</a:t>
            </a:r>
          </a:p>
          <a:p>
            <a:endParaRPr dirty="0"/>
          </a:p>
          <a:p>
            <a:r>
              <a:rPr dirty="0"/>
              <a:t>**Transition:**</a:t>
            </a:r>
          </a:p>
          <a:p>
            <a:endParaRPr dirty="0"/>
          </a:p>
          <a:p>
            <a:r>
              <a:rPr dirty="0"/>
              <a:t>"The next question is: how can a model learn a useful embedding without us manually labelling every semantic relationship?"</a:t>
            </a:r>
          </a:p>
          <a:p>
            <a:endParaRPr dirty="0"/>
          </a:p>
          <a:p>
            <a:r>
              <a:rPr dirty="0"/>
              <a:t>[Sources]</a:t>
            </a:r>
          </a:p>
          <a:p>
            <a:r>
              <a:rPr dirty="0"/>
              <a:t>- Bengio, Courville, and Vincent, Representation Learning: A Review and New Perspectives, IEEE TPAMI 35(8), 1798-1828, 2013.</a:t>
            </a:r>
          </a:p>
          <a:p>
            <a:r>
              <a:rPr dirty="0"/>
              <a:t>- Goodfellow, Bengio, and Courville, Deep Learning, MIT Press, 2016.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9 - Context Can Teach a Representation</a:t>
            </a:r>
          </a:p>
          <a:p>
            <a:endParaRPr dirty="0"/>
          </a:p>
          <a:p>
            <a:r>
              <a:rPr dirty="0"/>
              <a:t>**Approx. timing: 1 minute 30 seconds**</a:t>
            </a:r>
          </a:p>
          <a:p>
            <a:endParaRPr dirty="0"/>
          </a:p>
          <a:p>
            <a:r>
              <a:rPr dirty="0"/>
              <a:t>"One very old and very powerful idea from linguistics is the distributional hypothesis. Firth's famous version is: 'You know a word by the company it keeps.'</a:t>
            </a:r>
          </a:p>
          <a:p>
            <a:endParaRPr dirty="0"/>
          </a:p>
          <a:p>
            <a:r>
              <a:rPr dirty="0"/>
              <a:t>The made-up word here is '</a:t>
            </a:r>
            <a:r>
              <a:rPr dirty="0" err="1"/>
              <a:t>wampamink</a:t>
            </a:r>
            <a:r>
              <a:rPr dirty="0"/>
              <a:t>'. You probably have not seen that word before, but the sentence gives you clues. Marianne saw a furry little </a:t>
            </a:r>
            <a:r>
              <a:rPr dirty="0" err="1"/>
              <a:t>wampamink</a:t>
            </a:r>
            <a:r>
              <a:rPr dirty="0"/>
              <a:t> hiding in the tree. Without a dictionary, you can infer that it is probably an animal, probably small, probably something that can hide in a tree.</a:t>
            </a:r>
          </a:p>
          <a:p>
            <a:endParaRPr dirty="0"/>
          </a:p>
          <a:p>
            <a:r>
              <a:rPr dirty="0"/>
              <a:t>The word's meaning is being constrained by its context.</a:t>
            </a:r>
          </a:p>
          <a:p>
            <a:endParaRPr dirty="0"/>
          </a:p>
          <a:p>
            <a:r>
              <a:rPr dirty="0"/>
              <a:t>This same idea is central to language modelling. If a token appears in similar contexts to another token, the model has a reason to give them related representations. And this will matter for CIFs as well: CIF tokens are not English, but they have very strong local and long-range context."</a:t>
            </a:r>
          </a:p>
          <a:p>
            <a:endParaRPr dirty="0"/>
          </a:p>
          <a:p>
            <a:r>
              <a:rPr dirty="0"/>
              <a:t>**Transition:**</a:t>
            </a:r>
          </a:p>
          <a:p>
            <a:endParaRPr dirty="0"/>
          </a:p>
          <a:p>
            <a:r>
              <a:rPr dirty="0"/>
              <a:t>"A prediction objective can turn that contextual information into embeddings."</a:t>
            </a:r>
          </a:p>
          <a:p>
            <a:endParaRPr dirty="0"/>
          </a:p>
          <a:p>
            <a:r>
              <a:rPr dirty="0"/>
              <a:t>[Sources]</a:t>
            </a:r>
          </a:p>
          <a:p>
            <a:r>
              <a:rPr dirty="0"/>
              <a:t>- Firth, A synopsis of linguistic theory 1930-1955, Studies in Linguistic Analysis, 1957.</a:t>
            </a:r>
          </a:p>
          <a:p>
            <a:r>
              <a:rPr dirty="0"/>
              <a:t>- Bengio, Courville, and Vincent, Representation Learning: A Review and New Perspectives, IEEE TPAMI 35(8), 1798-1828, 2013.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10 - Prediction Objectives Can Create Embeddings</a:t>
            </a:r>
          </a:p>
          <a:p>
            <a:endParaRPr dirty="0"/>
          </a:p>
          <a:p>
            <a:r>
              <a:rPr dirty="0"/>
              <a:t>**Approx. timing: 1 minute 30 seconds**</a:t>
            </a:r>
          </a:p>
          <a:p>
            <a:endParaRPr dirty="0"/>
          </a:p>
          <a:p>
            <a:r>
              <a:rPr dirty="0"/>
              <a:t>"A practical way to learn embeddings is to train a model on a prediction task.</a:t>
            </a:r>
          </a:p>
          <a:p>
            <a:endParaRPr dirty="0"/>
          </a:p>
          <a:p>
            <a:r>
              <a:rPr dirty="0"/>
              <a:t>For example, we can take a word and ask a model to predict the words around it, or take the surrounding words and ask it to predict the missing word. To do that well across a large corpus, the model needs useful internal vectors.</a:t>
            </a:r>
          </a:p>
          <a:p>
            <a:endParaRPr dirty="0"/>
          </a:p>
          <a:p>
            <a:r>
              <a:rPr dirty="0"/>
              <a:t>The embedding is then a by-product of learning to predict context. We do not need to sit down and manually specify that 'cat' and 'kitten' should be close, or that '_</a:t>
            </a:r>
            <a:r>
              <a:rPr dirty="0" err="1"/>
              <a:t>cell_length_a</a:t>
            </a:r>
            <a:r>
              <a:rPr dirty="0"/>
              <a:t>' and '_</a:t>
            </a:r>
            <a:r>
              <a:rPr dirty="0" err="1"/>
              <a:t>cell_length_b</a:t>
            </a:r>
            <a:r>
              <a:rPr dirty="0"/>
              <a:t>' are related CIF tags. If the training objective repeatedly rewards the model for using those relationships, the representation can </a:t>
            </a:r>
            <a:r>
              <a:rPr dirty="0" err="1"/>
              <a:t>organise</a:t>
            </a:r>
            <a:r>
              <a:rPr dirty="0"/>
              <a:t> itself.</a:t>
            </a:r>
          </a:p>
          <a:p>
            <a:endParaRPr dirty="0"/>
          </a:p>
          <a:p>
            <a:r>
              <a:rPr dirty="0"/>
              <a:t>That is a recurring pattern in deep learning: choose a task, train the model, and then inspect or reuse the internal representation that training produced."</a:t>
            </a:r>
          </a:p>
          <a:p>
            <a:endParaRPr dirty="0"/>
          </a:p>
          <a:p>
            <a:r>
              <a:rPr dirty="0"/>
              <a:t>**Shorten if needed:**</a:t>
            </a:r>
          </a:p>
          <a:p>
            <a:endParaRPr dirty="0"/>
          </a:p>
          <a:p>
            <a:r>
              <a:rPr dirty="0"/>
              <a:t>"This is why self-supervised learning is so powerful: the data can provide its own prediction problems."</a:t>
            </a:r>
          </a:p>
          <a:p>
            <a:endParaRPr dirty="0"/>
          </a:p>
          <a:p>
            <a:r>
              <a:rPr dirty="0"/>
              <a:t>**Transition:**</a:t>
            </a:r>
          </a:p>
          <a:p>
            <a:endParaRPr dirty="0"/>
          </a:p>
          <a:p>
            <a:r>
              <a:rPr dirty="0"/>
              <a:t>"Now that we have the representation idea, let us talk about the simplest neural network architecture we need: the MLP."</a:t>
            </a:r>
          </a:p>
          <a:p>
            <a:endParaRPr dirty="0"/>
          </a:p>
          <a:p>
            <a:r>
              <a:rPr dirty="0"/>
              <a:t>[Sources]</a:t>
            </a:r>
          </a:p>
          <a:p>
            <a:r>
              <a:rPr dirty="0"/>
              <a:t>- </a:t>
            </a:r>
            <a:r>
              <a:rPr dirty="0" err="1"/>
              <a:t>Mikolov</a:t>
            </a:r>
            <a:r>
              <a:rPr dirty="0"/>
              <a:t> et al., Efficient Estimation of Word Representations in Vector Space, arXiv:1301.3781, 2013.</a:t>
            </a:r>
          </a:p>
          <a:p>
            <a:r>
              <a:rPr dirty="0"/>
              <a:t>- Bengio, Courville, and Vincent, Representation Learning: A Review and New Perspectives, IEEE TPAMI 35(8), 1798-1828, 2013.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11 - MLPs Are Learned Vector-to-Vector Maps</a:t>
            </a:r>
          </a:p>
          <a:p>
            <a:endParaRPr dirty="0"/>
          </a:p>
          <a:p>
            <a:r>
              <a:rPr dirty="0"/>
              <a:t>**Approx. timing: 1 minute 20 seconds**</a:t>
            </a:r>
          </a:p>
          <a:p>
            <a:endParaRPr dirty="0"/>
          </a:p>
          <a:p>
            <a:r>
              <a:rPr dirty="0"/>
              <a:t>"A multilayer perceptron, or MLP, is the cleanest first example of a neural network.</a:t>
            </a:r>
          </a:p>
          <a:p>
            <a:endParaRPr dirty="0"/>
          </a:p>
          <a:p>
            <a:r>
              <a:rPr dirty="0"/>
              <a:t>The input is a fixed-length vector. That might be a hand-crafted descriptor vector, a set of numerical features, or an embedding. The output is also a fixed-length vector. For a regression task, it might be one number. For a classification task, it might be one score per class.</a:t>
            </a:r>
          </a:p>
          <a:p>
            <a:endParaRPr dirty="0"/>
          </a:p>
          <a:p>
            <a:r>
              <a:rPr dirty="0"/>
              <a:t>Between the input and the output are hidden layers. Each hidden layer transforms the representation. So instead of thinking of the model as just a black box that outputs a label, it is useful to think of it as a sequence of representation changes.</a:t>
            </a:r>
          </a:p>
          <a:p>
            <a:endParaRPr dirty="0"/>
          </a:p>
          <a:p>
            <a:r>
              <a:rPr dirty="0"/>
              <a:t>The first layer learns one representation, the next layer learns another representation, and the final layer turns that representation into the thing we want to predict."</a:t>
            </a:r>
          </a:p>
          <a:p>
            <a:endParaRPr dirty="0"/>
          </a:p>
          <a:p>
            <a:r>
              <a:rPr dirty="0"/>
              <a:t>**Transition:**</a:t>
            </a:r>
          </a:p>
          <a:p>
            <a:endParaRPr dirty="0"/>
          </a:p>
          <a:p>
            <a:r>
              <a:rPr dirty="0"/>
              <a:t>"The basic operation inside those layers is very simple: an affine map plus a nonlinearity."</a:t>
            </a:r>
          </a:p>
          <a:p>
            <a:endParaRPr dirty="0"/>
          </a:p>
          <a:p>
            <a:r>
              <a:rPr dirty="0"/>
              <a:t>[Sources]</a:t>
            </a:r>
          </a:p>
          <a:p>
            <a:r>
              <a:rPr dirty="0"/>
              <a:t>- Goodfellow, Bengio, and Courville, Deep Learning, MIT Press, 2016.</a:t>
            </a:r>
          </a:p>
          <a:p>
            <a:r>
              <a:rPr dirty="0"/>
              <a:t>- </a:t>
            </a:r>
            <a:r>
              <a:rPr dirty="0" err="1"/>
              <a:t>CaMML</a:t>
            </a:r>
            <a:r>
              <a:rPr dirty="0"/>
              <a:t> MLP notebook: https://workshop.camml.ac.uk/notebooks/nn-materials/mlp-from-scratch-numpy-teaching/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12 - A Dense Layer Is Affine Map Plus Nonlinearity</a:t>
            </a:r>
          </a:p>
          <a:p>
            <a:endParaRPr dirty="0"/>
          </a:p>
          <a:p>
            <a:r>
              <a:rPr dirty="0"/>
              <a:t>**Approx. timing: 1 minute 45 seconds**</a:t>
            </a:r>
          </a:p>
          <a:p>
            <a:endParaRPr dirty="0"/>
          </a:p>
          <a:p>
            <a:r>
              <a:rPr dirty="0"/>
              <a:t>"A dense layer does two things.</a:t>
            </a:r>
          </a:p>
          <a:p>
            <a:endParaRPr dirty="0"/>
          </a:p>
          <a:p>
            <a:r>
              <a:rPr dirty="0"/>
              <a:t>First, it computes an affine transformation: z equals W x plus b. The input vector x is multiplied by a weight matrix W, and then we add a bias vector b.</a:t>
            </a:r>
          </a:p>
          <a:p>
            <a:endParaRPr dirty="0"/>
          </a:p>
          <a:p>
            <a:r>
              <a:rPr dirty="0"/>
              <a:t>The weights decide how input signals are mixed together. One output neuron might look strongly at one input feature, weakly at another, and ignore a third. The bias shifts the result up or down.</a:t>
            </a:r>
          </a:p>
          <a:p>
            <a:endParaRPr dirty="0"/>
          </a:p>
          <a:p>
            <a:r>
              <a:rPr dirty="0"/>
              <a:t>Second, we apply a nonlinear activation function: a equals g of z. This might be a sigmoid, tanh, </a:t>
            </a:r>
            <a:r>
              <a:rPr dirty="0" err="1"/>
              <a:t>ReLU</a:t>
            </a:r>
            <a:r>
              <a:rPr dirty="0"/>
              <a:t>, GELU, or another activation depending on the model.</a:t>
            </a:r>
          </a:p>
          <a:p>
            <a:endParaRPr dirty="0"/>
          </a:p>
          <a:p>
            <a:r>
              <a:rPr dirty="0"/>
              <a:t>So a dense layer is not magic. It is linear algebra followed by a nonlinear squashing or reshaping step. Deep learning gets power by composing many of these simple transformations and learning the weights from data."</a:t>
            </a:r>
          </a:p>
          <a:p>
            <a:endParaRPr dirty="0"/>
          </a:p>
          <a:p>
            <a:r>
              <a:rPr dirty="0"/>
              <a:t>**Optional link to practical:**</a:t>
            </a:r>
          </a:p>
          <a:p>
            <a:endParaRPr dirty="0"/>
          </a:p>
          <a:p>
            <a:r>
              <a:rPr dirty="0"/>
              <a:t>"In the NumPy MLP practical, this is exactly what you will see in code: matrix multiplication, bias addition, activation, loss, and gradient updates."</a:t>
            </a:r>
          </a:p>
          <a:p>
            <a:endParaRPr dirty="0"/>
          </a:p>
          <a:p>
            <a:r>
              <a:rPr dirty="0"/>
              <a:t>**Transition:**</a:t>
            </a:r>
          </a:p>
          <a:p>
            <a:endParaRPr dirty="0"/>
          </a:p>
          <a:p>
            <a:r>
              <a:rPr dirty="0"/>
              <a:t>"The nonlinearity is not decorative. It is what makes depth useful."</a:t>
            </a:r>
          </a:p>
          <a:p>
            <a:endParaRPr dirty="0"/>
          </a:p>
          <a:p>
            <a:r>
              <a:rPr dirty="0"/>
              <a:t>[Sources]</a:t>
            </a:r>
          </a:p>
          <a:p>
            <a:r>
              <a:rPr dirty="0"/>
              <a:t>- Goodfellow, Bengio, and Courville, Deep Learning, MIT Press, 2016.</a:t>
            </a:r>
          </a:p>
          <a:p>
            <a:r>
              <a:rPr dirty="0"/>
              <a:t>- </a:t>
            </a:r>
            <a:r>
              <a:rPr dirty="0" err="1"/>
              <a:t>CaMML</a:t>
            </a:r>
            <a:r>
              <a:rPr dirty="0"/>
              <a:t> MLP notebook: https://workshop.camml.ac.uk/notebooks/nn-materials/mlp-from-scratch-numpy-teaching/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13 - Why Nonlinearities Matter</a:t>
            </a:r>
          </a:p>
          <a:p>
            <a:endParaRPr dirty="0"/>
          </a:p>
          <a:p>
            <a:r>
              <a:rPr dirty="0"/>
              <a:t>**Approx. timing: 1 minute 20 seconds**</a:t>
            </a:r>
          </a:p>
          <a:p>
            <a:endParaRPr dirty="0"/>
          </a:p>
          <a:p>
            <a:r>
              <a:rPr dirty="0"/>
              <a:t>"If we stack linear maps without activation functions, the whole stack collapses into a single linear map.</a:t>
            </a:r>
          </a:p>
          <a:p>
            <a:endParaRPr dirty="0"/>
          </a:p>
          <a:p>
            <a:r>
              <a:rPr dirty="0"/>
              <a:t>In other words, doing W3 times W2 times W1 times x is still just some new matrix times x. We have added parameters, but we have not changed the class of functions the model can represent.</a:t>
            </a:r>
          </a:p>
          <a:p>
            <a:endParaRPr dirty="0"/>
          </a:p>
          <a:p>
            <a:r>
              <a:rPr dirty="0"/>
              <a:t>The nonlinear activation is what breaks that collapse. Once each layer applies a nonlinear transformation, the composition of layers can build much more complicated decision boundaries.</a:t>
            </a:r>
          </a:p>
          <a:p>
            <a:endParaRPr dirty="0"/>
          </a:p>
          <a:p>
            <a:r>
              <a:rPr dirty="0"/>
              <a:t>This is the step from fitting a plane to learning a useful transformation of the data. The hidden layers can bend, fold, and separate the representation so that the final prediction becomes easier."</a:t>
            </a:r>
          </a:p>
          <a:p>
            <a:endParaRPr dirty="0"/>
          </a:p>
          <a:p>
            <a:r>
              <a:rPr dirty="0"/>
              <a:t>**Shorten if needed:**</a:t>
            </a:r>
          </a:p>
          <a:p>
            <a:endParaRPr dirty="0"/>
          </a:p>
          <a:p>
            <a:r>
              <a:rPr dirty="0"/>
              <a:t>"So when we say depth matters, we really mean depth plus nonlinear composition."</a:t>
            </a:r>
          </a:p>
          <a:p>
            <a:endParaRPr dirty="0"/>
          </a:p>
          <a:p>
            <a:r>
              <a:rPr dirty="0"/>
              <a:t>**Transition:**</a:t>
            </a:r>
          </a:p>
          <a:p>
            <a:endParaRPr dirty="0"/>
          </a:p>
          <a:p>
            <a:r>
              <a:rPr dirty="0"/>
              <a:t>"But none of this learns anything unless we define what 'better' means. That is the job of the loss function."</a:t>
            </a:r>
          </a:p>
          <a:p>
            <a:endParaRPr dirty="0"/>
          </a:p>
          <a:p>
            <a:r>
              <a:rPr dirty="0"/>
              <a:t>[Sources]</a:t>
            </a:r>
          </a:p>
          <a:p>
            <a:r>
              <a:rPr dirty="0"/>
              <a:t>- Goodfellow, Bengio, and Courville, Deep Learning, MIT Press, 2016.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14 - Loss Functions Turn Learning into </a:t>
            </a:r>
            <a:r>
              <a:rPr dirty="0" err="1"/>
              <a:t>Optimisation</a:t>
            </a:r>
            <a:endParaRPr dirty="0"/>
          </a:p>
          <a:p>
            <a:endParaRPr dirty="0"/>
          </a:p>
          <a:p>
            <a:r>
              <a:rPr dirty="0"/>
              <a:t>**Approx. timing: 1 minute 45 seconds**</a:t>
            </a:r>
          </a:p>
          <a:p>
            <a:endParaRPr dirty="0"/>
          </a:p>
          <a:p>
            <a:r>
              <a:rPr dirty="0"/>
              <a:t>"Training a neural network needs a scalar objective. That scalar is the loss.</a:t>
            </a:r>
          </a:p>
          <a:p>
            <a:endParaRPr dirty="0"/>
          </a:p>
          <a:p>
            <a:r>
              <a:rPr dirty="0"/>
              <a:t>The loop is conceptually simple. First, the model makes a prediction. Second, the loss measures how wrong that prediction is. Third, we compute gradients: we ask how changing each parameter would change the loss. Fourth, we update the parameters by taking a small step in the direction that should reduce the loss.</a:t>
            </a:r>
          </a:p>
          <a:p>
            <a:endParaRPr dirty="0"/>
          </a:p>
          <a:p>
            <a:r>
              <a:rPr dirty="0"/>
              <a:t>For the MLP practical, the task is binary classification on a simple two-moons dataset. The loss is binary cross-entropy, and the </a:t>
            </a:r>
            <a:r>
              <a:rPr dirty="0" err="1"/>
              <a:t>optimiser</a:t>
            </a:r>
            <a:r>
              <a:rPr dirty="0"/>
              <a:t> is plain gradient descent. That is deliberately simple so you can see all the moving pieces.</a:t>
            </a:r>
          </a:p>
          <a:p>
            <a:endParaRPr dirty="0"/>
          </a:p>
          <a:p>
            <a:r>
              <a:rPr dirty="0"/>
              <a:t>In larger models, the same idea remains. The loss might be next-token cross-entropy, and the </a:t>
            </a:r>
            <a:r>
              <a:rPr dirty="0" err="1"/>
              <a:t>optimiser</a:t>
            </a:r>
            <a:r>
              <a:rPr dirty="0"/>
              <a:t> might be </a:t>
            </a:r>
            <a:r>
              <a:rPr dirty="0" err="1"/>
              <a:t>AdamW</a:t>
            </a:r>
            <a:r>
              <a:rPr dirty="0"/>
              <a:t> rather than plain gradient descent, but the conceptual loop is still prediction, loss, gradient, update."</a:t>
            </a:r>
          </a:p>
          <a:p>
            <a:endParaRPr dirty="0"/>
          </a:p>
          <a:p>
            <a:r>
              <a:rPr dirty="0"/>
              <a:t>**Audience prompt:**</a:t>
            </a:r>
          </a:p>
          <a:p>
            <a:endParaRPr dirty="0"/>
          </a:p>
          <a:p>
            <a:r>
              <a:rPr dirty="0"/>
              <a:t>"So whenever you see a deep learning paper, it is worth asking: what exactly is the model being rewarded for?"</a:t>
            </a:r>
          </a:p>
          <a:p>
            <a:endParaRPr dirty="0"/>
          </a:p>
          <a:p>
            <a:r>
              <a:rPr dirty="0"/>
              <a:t>**Transition:**</a:t>
            </a:r>
          </a:p>
          <a:p>
            <a:endParaRPr dirty="0"/>
          </a:p>
          <a:p>
            <a:r>
              <a:rPr dirty="0"/>
              <a:t>"The efficient way to compute those gradients is backpropagation."</a:t>
            </a:r>
          </a:p>
          <a:p>
            <a:endParaRPr dirty="0"/>
          </a:p>
          <a:p>
            <a:r>
              <a:rPr dirty="0"/>
              <a:t>[Sources]</a:t>
            </a:r>
          </a:p>
          <a:p>
            <a:r>
              <a:rPr dirty="0"/>
              <a:t>- Goodfellow, Bengio, and Courville, Deep Learning, MIT Press, 2016.</a:t>
            </a:r>
          </a:p>
          <a:p>
            <a:r>
              <a:rPr dirty="0"/>
              <a:t>- </a:t>
            </a:r>
            <a:r>
              <a:rPr dirty="0" err="1"/>
              <a:t>CaMML</a:t>
            </a:r>
            <a:r>
              <a:rPr dirty="0"/>
              <a:t> MLP notebook: https://workshop.camml.ac.uk/notebooks/nn-materials/mlp-from-scratch-numpy-teaching/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15 - Backpropagation Is Efficient Chain Rule</a:t>
            </a:r>
          </a:p>
          <a:p>
            <a:endParaRPr dirty="0"/>
          </a:p>
          <a:p>
            <a:r>
              <a:rPr dirty="0"/>
              <a:t>**Approx. timing: 1 minute 45 seconds**</a:t>
            </a:r>
          </a:p>
          <a:p>
            <a:endParaRPr dirty="0"/>
          </a:p>
          <a:p>
            <a:r>
              <a:rPr dirty="0"/>
              <a:t>"Backpropagation often sounds like a special neural-network trick, but the core idea is just the chain rule from calculus, </a:t>
            </a:r>
            <a:r>
              <a:rPr dirty="0" err="1"/>
              <a:t>organised</a:t>
            </a:r>
            <a:r>
              <a:rPr dirty="0"/>
              <a:t> efficiently.</a:t>
            </a:r>
          </a:p>
          <a:p>
            <a:endParaRPr dirty="0"/>
          </a:p>
          <a:p>
            <a:r>
              <a:rPr dirty="0"/>
              <a:t>A neural network is a composed function. Layer one produces an output. Layer two uses that output. Layer three uses that output, and eventually we compute a loss. If we want to know how a weight in an early layer affects the loss, we need to chain together all the downstream effects.</a:t>
            </a:r>
          </a:p>
          <a:p>
            <a:endParaRPr dirty="0"/>
          </a:p>
          <a:p>
            <a:r>
              <a:rPr dirty="0"/>
              <a:t>The diagram is showing that information flowing forward creates intermediate activations, and the gradient flowing backward tells each layer how its weights and biases contributed to the final loss.</a:t>
            </a:r>
          </a:p>
          <a:p>
            <a:endParaRPr dirty="0"/>
          </a:p>
          <a:p>
            <a:r>
              <a:rPr dirty="0"/>
              <a:t>Modern frameworks like </a:t>
            </a:r>
            <a:r>
              <a:rPr dirty="0" err="1"/>
              <a:t>PyTorch</a:t>
            </a:r>
            <a:r>
              <a:rPr dirty="0"/>
              <a:t> and JAX do this automatically. You do not usually write backprop by hand. But conceptually, this is what training is: using the chain rule to assign credit or blame to every parameter."</a:t>
            </a:r>
          </a:p>
          <a:p>
            <a:endParaRPr dirty="0"/>
          </a:p>
          <a:p>
            <a:r>
              <a:rPr dirty="0"/>
              <a:t>**Shorten if needed:**</a:t>
            </a:r>
          </a:p>
          <a:p>
            <a:endParaRPr dirty="0"/>
          </a:p>
          <a:p>
            <a:r>
              <a:rPr dirty="0"/>
              <a:t>"That is the engine that lets millions or billions of parameters be trained from one scalar loss."</a:t>
            </a:r>
          </a:p>
          <a:p>
            <a:endParaRPr dirty="0"/>
          </a:p>
          <a:p>
            <a:r>
              <a:rPr dirty="0"/>
              <a:t>**Transition:**</a:t>
            </a:r>
          </a:p>
          <a:p>
            <a:endParaRPr dirty="0"/>
          </a:p>
          <a:p>
            <a:r>
              <a:rPr dirty="0"/>
              <a:t>"So far, everything has assumed a fixed-length input vector. That assumption breaks very quickly when we move to language and CIFs."</a:t>
            </a:r>
          </a:p>
          <a:p>
            <a:endParaRPr dirty="0"/>
          </a:p>
          <a:p>
            <a:r>
              <a:rPr dirty="0"/>
              <a:t>[Sources]</a:t>
            </a:r>
          </a:p>
          <a:p>
            <a:r>
              <a:rPr dirty="0"/>
              <a:t>- Rumelhart, Hinton, and Williams, Learning representations by back-propagating errors, Nature 323, 533-536, 1986.</a:t>
            </a:r>
          </a:p>
          <a:p>
            <a:r>
              <a:rPr dirty="0"/>
              <a:t>- Goodfellow, Bengio, and Courville, Deep Learning, MIT Press, 2016.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16 - Sequences Break the Fixed-Vector Assumption</a:t>
            </a:r>
          </a:p>
          <a:p>
            <a:endParaRPr dirty="0"/>
          </a:p>
          <a:p>
            <a:r>
              <a:rPr dirty="0"/>
              <a:t>**Approx. timing: 1 minute 20 seconds**</a:t>
            </a:r>
          </a:p>
          <a:p>
            <a:endParaRPr dirty="0"/>
          </a:p>
          <a:p>
            <a:r>
              <a:rPr dirty="0"/>
              <a:t>"MLPs expect fixed-size inputs. If the input vector has length 100, the weight matrix is built for length 100. If tomorrow the input has length 137, that same layer does not directly apply.</a:t>
            </a:r>
          </a:p>
          <a:p>
            <a:endParaRPr dirty="0"/>
          </a:p>
          <a:p>
            <a:r>
              <a:rPr dirty="0"/>
              <a:t>But text, code, proteins, trajectories, and CIF files are variable-length ordered objects. A CIF can be short or long. A sentence can be short or long. More importantly, order matters. The same tokens in a different order can mean something different.</a:t>
            </a:r>
          </a:p>
          <a:p>
            <a:endParaRPr dirty="0"/>
          </a:p>
          <a:p>
            <a:r>
              <a:rPr dirty="0"/>
              <a:t>Predictions also depend on context. The meaning of a token is not just the token itself; it is shaped by what came before and what surrounds it.</a:t>
            </a:r>
          </a:p>
          <a:p>
            <a:endParaRPr dirty="0"/>
          </a:p>
          <a:p>
            <a:r>
              <a:rPr dirty="0"/>
              <a:t>So we need architectures that can handle variable length, order, and context."</a:t>
            </a:r>
          </a:p>
          <a:p>
            <a:endParaRPr dirty="0"/>
          </a:p>
          <a:p>
            <a:r>
              <a:rPr dirty="0"/>
              <a:t>**Transition:**</a:t>
            </a:r>
          </a:p>
          <a:p>
            <a:endParaRPr dirty="0"/>
          </a:p>
          <a:p>
            <a:r>
              <a:rPr dirty="0"/>
              <a:t>"It helps to name the different shapes of sequence problem."</a:t>
            </a:r>
          </a:p>
          <a:p>
            <a:endParaRPr dirty="0"/>
          </a:p>
          <a:p>
            <a:r>
              <a:rPr dirty="0"/>
              <a:t>[Sources]</a:t>
            </a:r>
          </a:p>
          <a:p>
            <a:r>
              <a:rPr dirty="0"/>
              <a:t>- Goodfellow, Bengio, and Courville, Deep Learning, MIT Press, 2016.</a:t>
            </a:r>
          </a:p>
          <a:p>
            <a:r>
              <a:rPr dirty="0"/>
              <a:t>- Elman, Finding Structure in Time, Cognitive Science 14(2), 179-211, 1990.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17 - Neural Models Differ by Data Shape</a:t>
            </a:r>
          </a:p>
          <a:p>
            <a:endParaRPr dirty="0"/>
          </a:p>
          <a:p>
            <a:r>
              <a:rPr dirty="0"/>
              <a:t>**Approx. timing: 1 minute 45 seconds**</a:t>
            </a:r>
          </a:p>
          <a:p>
            <a:endParaRPr dirty="0"/>
          </a:p>
          <a:p>
            <a:r>
              <a:rPr dirty="0"/>
              <a:t>"This table is a map of task shapes.</a:t>
            </a:r>
          </a:p>
          <a:p>
            <a:endParaRPr dirty="0"/>
          </a:p>
          <a:p>
            <a:r>
              <a:rPr dirty="0"/>
              <a:t>The first row is fixed vector to label. This is the MLP setting: a descriptor vector goes in, and we predict a class or a number. In the practical, that is the two-moons classifier. In materials, it might be property prediction from descriptors.</a:t>
            </a:r>
          </a:p>
          <a:p>
            <a:endParaRPr dirty="0"/>
          </a:p>
          <a:p>
            <a:r>
              <a:rPr dirty="0"/>
              <a:t>The second row is sequence to label. Here the input is ordered and variable length, but the output is one label. For example, we could take a </a:t>
            </a:r>
            <a:r>
              <a:rPr dirty="0" err="1"/>
              <a:t>tokenised</a:t>
            </a:r>
            <a:r>
              <a:rPr dirty="0"/>
              <a:t> material description and classify validity or material type.</a:t>
            </a:r>
          </a:p>
          <a:p>
            <a:endParaRPr dirty="0"/>
          </a:p>
          <a:p>
            <a:r>
              <a:rPr dirty="0"/>
              <a:t>The third row is sequence to sequence. This is translation-like: an input sequence is transformed into an output sequence.</a:t>
            </a:r>
          </a:p>
          <a:p>
            <a:endParaRPr dirty="0"/>
          </a:p>
          <a:p>
            <a:r>
              <a:rPr dirty="0"/>
              <a:t>The final row is the one we need for language models: previous tokens to next token. This is autoregressive modelling. The model learns to predict the next token from the tokens it has already seen."</a:t>
            </a:r>
          </a:p>
          <a:p>
            <a:endParaRPr dirty="0"/>
          </a:p>
          <a:p>
            <a:r>
              <a:rPr dirty="0"/>
              <a:t>**Optional add:**</a:t>
            </a:r>
          </a:p>
          <a:p>
            <a:endParaRPr dirty="0"/>
          </a:p>
          <a:p>
            <a:r>
              <a:rPr dirty="0"/>
              <a:t>"Once you can </a:t>
            </a:r>
            <a:r>
              <a:rPr dirty="0" err="1"/>
              <a:t>recognise</a:t>
            </a:r>
            <a:r>
              <a:rPr dirty="0"/>
              <a:t> the data shape, the architecture choice makes much more sense."</a:t>
            </a:r>
          </a:p>
          <a:p>
            <a:endParaRPr dirty="0"/>
          </a:p>
          <a:p>
            <a:r>
              <a:rPr dirty="0"/>
              <a:t>**Transition:**</a:t>
            </a:r>
          </a:p>
          <a:p>
            <a:endParaRPr dirty="0"/>
          </a:p>
          <a:p>
            <a:r>
              <a:rPr dirty="0"/>
              <a:t>"Historically, one of the main ways to handle sequences was the recurrent neural network."</a:t>
            </a:r>
          </a:p>
          <a:p>
            <a:endParaRPr dirty="0"/>
          </a:p>
          <a:p>
            <a:r>
              <a:rPr dirty="0"/>
              <a:t>[Sources]</a:t>
            </a:r>
          </a:p>
          <a:p>
            <a:r>
              <a:rPr dirty="0"/>
              <a:t>- Goodfellow, Bengio, and Courville, Deep Learning, MIT Press, 2016.</a:t>
            </a:r>
          </a:p>
          <a:p>
            <a:r>
              <a:rPr dirty="0"/>
              <a:t>- Elman, Finding Structure in Time, Cognitive Science 14(2), 179-211, 1990.</a:t>
            </a:r>
          </a:p>
          <a:p>
            <a:r>
              <a:rPr dirty="0"/>
              <a:t>- Vaswani et al., Attention Is All You Need, </a:t>
            </a:r>
            <a:r>
              <a:rPr dirty="0" err="1"/>
              <a:t>NeurIPS</a:t>
            </a:r>
            <a:r>
              <a:rPr dirty="0"/>
              <a:t> 2017; arXiv:1706.03762.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18 - RNNs Carry Context in a Hidden State</a:t>
            </a:r>
          </a:p>
          <a:p>
            <a:endParaRPr dirty="0"/>
          </a:p>
          <a:p>
            <a:r>
              <a:rPr dirty="0"/>
              <a:t>**Approx. timing: 1 minute 20 seconds**</a:t>
            </a:r>
          </a:p>
          <a:p>
            <a:endParaRPr dirty="0"/>
          </a:p>
          <a:p>
            <a:r>
              <a:rPr dirty="0"/>
              <a:t>"A recurrent neural network processes a sequence one token at a time.</a:t>
            </a:r>
          </a:p>
          <a:p>
            <a:endParaRPr dirty="0"/>
          </a:p>
          <a:p>
            <a:r>
              <a:rPr dirty="0"/>
              <a:t>At each time step, it receives the current input token, </a:t>
            </a:r>
            <a:r>
              <a:rPr dirty="0" err="1"/>
              <a:t>x_t</a:t>
            </a:r>
            <a:r>
              <a:rPr dirty="0"/>
              <a:t>, and it also receives a hidden state from the previous time step, h_{t-1}. It combines those to produce a new hidden state, </a:t>
            </a:r>
            <a:r>
              <a:rPr dirty="0" err="1"/>
              <a:t>h_t</a:t>
            </a:r>
            <a:r>
              <a:rPr dirty="0"/>
              <a:t>, and often an output, </a:t>
            </a:r>
            <a:r>
              <a:rPr dirty="0" err="1"/>
              <a:t>y_t</a:t>
            </a:r>
            <a:r>
              <a:rPr dirty="0"/>
              <a:t>.</a:t>
            </a:r>
          </a:p>
          <a:p>
            <a:endParaRPr dirty="0"/>
          </a:p>
          <a:p>
            <a:r>
              <a:rPr dirty="0"/>
              <a:t>The hidden state is the model's running memory. It is how information from earlier tokens can influence later predictions.</a:t>
            </a:r>
          </a:p>
          <a:p>
            <a:endParaRPr dirty="0"/>
          </a:p>
          <a:p>
            <a:r>
              <a:rPr dirty="0"/>
              <a:t>This is an elegant idea. The same set of weights is reused at each position, so the model can in principle process sequences of different lengths. It does not need a separate parameter for position one, position two, position three, and so on."</a:t>
            </a:r>
          </a:p>
          <a:p>
            <a:endParaRPr dirty="0"/>
          </a:p>
          <a:p>
            <a:r>
              <a:rPr dirty="0"/>
              <a:t>**Shorten if needed:**</a:t>
            </a:r>
          </a:p>
          <a:p>
            <a:endParaRPr dirty="0"/>
          </a:p>
          <a:p>
            <a:r>
              <a:rPr dirty="0"/>
              <a:t>"The tradeoff is that all past information has to be compressed into that evolving hidden state."</a:t>
            </a:r>
          </a:p>
          <a:p>
            <a:endParaRPr dirty="0"/>
          </a:p>
          <a:p>
            <a:r>
              <a:rPr dirty="0"/>
              <a:t>**Transition:**</a:t>
            </a:r>
          </a:p>
          <a:p>
            <a:endParaRPr dirty="0"/>
          </a:p>
          <a:p>
            <a:r>
              <a:rPr dirty="0"/>
              <a:t>"That compression becomes the pressure point."</a:t>
            </a:r>
          </a:p>
          <a:p>
            <a:endParaRPr dirty="0"/>
          </a:p>
          <a:p>
            <a:r>
              <a:rPr dirty="0"/>
              <a:t>[Sources]</a:t>
            </a:r>
          </a:p>
          <a:p>
            <a:r>
              <a:rPr dirty="0"/>
              <a:t>- Elman, Finding Structure in Time, Cognitive Science 14(2), 179-211, 1990.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19 - Long-Range Context Is the Pressure Point</a:t>
            </a:r>
          </a:p>
          <a:p>
            <a:endParaRPr dirty="0"/>
          </a:p>
          <a:p>
            <a:r>
              <a:rPr dirty="0"/>
              <a:t>**Approx. timing: 1 minute 35 seconds**</a:t>
            </a:r>
          </a:p>
          <a:p>
            <a:endParaRPr dirty="0"/>
          </a:p>
          <a:p>
            <a:r>
              <a:rPr dirty="0"/>
              <a:t>"For very local context, recurrent models can work nicely.</a:t>
            </a:r>
          </a:p>
          <a:p>
            <a:endParaRPr dirty="0"/>
          </a:p>
          <a:p>
            <a:r>
              <a:rPr dirty="0"/>
              <a:t>If I say, 'The clouds are in the blank,' you can probably guess 'sky' without needing much long-range memory.</a:t>
            </a:r>
          </a:p>
          <a:p>
            <a:endParaRPr dirty="0"/>
          </a:p>
          <a:p>
            <a:r>
              <a:rPr dirty="0"/>
              <a:t>But now look at the second example. 'I was born in France. At the age of 16 I moved country. I have lived here since I was 21. Nonetheless, I still speak fluent blank.' The answer is probably 'French', and the relevant clue is far back at the beginning of the sentence.</a:t>
            </a:r>
          </a:p>
          <a:p>
            <a:endParaRPr dirty="0"/>
          </a:p>
          <a:p>
            <a:r>
              <a:rPr dirty="0"/>
              <a:t>For an RNN, the information about France has to survive through the hidden state across many time steps. Nearby information can overwrite or dilute it. Gradients can also become difficult over long chains.</a:t>
            </a:r>
          </a:p>
          <a:p>
            <a:endParaRPr dirty="0"/>
          </a:p>
          <a:p>
            <a:r>
              <a:rPr dirty="0"/>
              <a:t>This is not just a natural language problem. In CIFs, information near the top of the file can constrain what should happen much later: symmetry, species, cell parameters, coordinates, and consistency checks."</a:t>
            </a:r>
          </a:p>
          <a:p>
            <a:endParaRPr dirty="0"/>
          </a:p>
          <a:p>
            <a:r>
              <a:rPr dirty="0"/>
              <a:t>**Transition:**</a:t>
            </a:r>
          </a:p>
          <a:p>
            <a:endParaRPr dirty="0"/>
          </a:p>
          <a:p>
            <a:r>
              <a:rPr dirty="0"/>
              <a:t>"LSTMs and GRUs were designed to improve exactly this kind of recurrent memory."</a:t>
            </a:r>
          </a:p>
          <a:p>
            <a:endParaRPr dirty="0"/>
          </a:p>
          <a:p>
            <a:r>
              <a:rPr dirty="0"/>
              <a:t>[Sources]</a:t>
            </a:r>
          </a:p>
          <a:p>
            <a:r>
              <a:rPr dirty="0"/>
              <a:t>- Elman, Finding Structure in Time, Cognitive Science 14(2), 179-211, 1990.</a:t>
            </a:r>
          </a:p>
          <a:p>
            <a:r>
              <a:rPr dirty="0"/>
              <a:t>- Hochreiter and </a:t>
            </a:r>
            <a:r>
              <a:rPr dirty="0" err="1"/>
              <a:t>Schmidhuber</a:t>
            </a:r>
            <a:r>
              <a:rPr dirty="0"/>
              <a:t>, Long Short-Term Memory, Neural Computation 9(8), 1735-1780, 1997.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20 - LSTMs and GRUs Add Gates, but Remain Sequential</a:t>
            </a:r>
          </a:p>
          <a:p>
            <a:endParaRPr dirty="0"/>
          </a:p>
          <a:p>
            <a:r>
              <a:rPr dirty="0"/>
              <a:t>**Approx. timing: 1 minute 25 seconds**</a:t>
            </a:r>
          </a:p>
          <a:p>
            <a:endParaRPr dirty="0"/>
          </a:p>
          <a:p>
            <a:r>
              <a:rPr dirty="0"/>
              <a:t>"LSTMs </a:t>
            </a:r>
            <a:r>
              <a:rPr lang="en-GB" dirty="0"/>
              <a:t>(Long Short-Term Memory) </a:t>
            </a:r>
            <a:r>
              <a:rPr dirty="0"/>
              <a:t>and GRUs </a:t>
            </a:r>
            <a:r>
              <a:rPr lang="en-GB" dirty="0"/>
              <a:t>(Gated-Recurrent) </a:t>
            </a:r>
            <a:r>
              <a:rPr dirty="0"/>
              <a:t>are gated recurrent architectures.</a:t>
            </a:r>
          </a:p>
          <a:p>
            <a:endParaRPr dirty="0"/>
          </a:p>
          <a:p>
            <a:r>
              <a:rPr dirty="0"/>
              <a:t>The idea is that the model should not treat every new token equally. It should learn when to keep information, when to forget information, and when to write new information into the hidden state.</a:t>
            </a:r>
          </a:p>
          <a:p>
            <a:endParaRPr dirty="0"/>
          </a:p>
          <a:p>
            <a:r>
              <a:rPr dirty="0"/>
              <a:t>A keep gate can preserve useful information over many time steps. A forget gate can suppress information that no longer helps. A write gate can decide what new information enters memory.</a:t>
            </a:r>
          </a:p>
          <a:p>
            <a:endParaRPr dirty="0"/>
          </a:p>
          <a:p>
            <a:r>
              <a:rPr dirty="0"/>
              <a:t>These gates are extremely useful, and LSTMs and GRUs were a major step forward for sequence modelling.</a:t>
            </a:r>
          </a:p>
          <a:p>
            <a:endParaRPr dirty="0"/>
          </a:p>
          <a:p>
            <a:r>
              <a:rPr dirty="0"/>
              <a:t>But they still process tokens step by step. The path from an early token to a late token still runs through a long chain of recurrent updates. That is the bottleneck that attention will address."</a:t>
            </a:r>
          </a:p>
          <a:p>
            <a:endParaRPr dirty="0"/>
          </a:p>
          <a:p>
            <a:r>
              <a:rPr dirty="0"/>
              <a:t>**Shorten if needed:**</a:t>
            </a:r>
          </a:p>
          <a:p>
            <a:endParaRPr dirty="0"/>
          </a:p>
          <a:p>
            <a:r>
              <a:rPr dirty="0"/>
              <a:t>"So the story is not 'RNNs bad'. The story is 'RNNs reveal why flexible access to context is valuable'."</a:t>
            </a:r>
          </a:p>
          <a:p>
            <a:endParaRPr dirty="0"/>
          </a:p>
          <a:p>
            <a:r>
              <a:rPr dirty="0"/>
              <a:t>**Transition:**</a:t>
            </a:r>
          </a:p>
          <a:p>
            <a:endParaRPr dirty="0"/>
          </a:p>
          <a:p>
            <a:r>
              <a:rPr dirty="0"/>
              <a:t>"Before attention, though, we need one more idea: autoregressive generation."</a:t>
            </a:r>
          </a:p>
          <a:p>
            <a:endParaRPr dirty="0"/>
          </a:p>
          <a:p>
            <a:r>
              <a:rPr dirty="0"/>
              <a:t>[Sources]</a:t>
            </a:r>
          </a:p>
          <a:p>
            <a:r>
              <a:rPr dirty="0"/>
              <a:t>- Hochreiter and </a:t>
            </a:r>
            <a:r>
              <a:rPr dirty="0" err="1"/>
              <a:t>Schmidhuber</a:t>
            </a:r>
            <a:r>
              <a:rPr dirty="0"/>
              <a:t>, Long Short-Term Memory, Neural Computation 9(8), 1735-1780, 1997.</a:t>
            </a:r>
          </a:p>
          <a:p>
            <a:r>
              <a:rPr dirty="0"/>
              <a:t>- Cho et al., Learning Phrase Representations using RNN Encoder-Decoder for Statistical Machine Translation, EMNLP 2014.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21 - Autoregressive Models Turn Sequences into Generation</a:t>
            </a:r>
          </a:p>
          <a:p>
            <a:endParaRPr dirty="0"/>
          </a:p>
          <a:p>
            <a:r>
              <a:rPr dirty="0"/>
              <a:t>**Approx. timing: 2 minutes**</a:t>
            </a:r>
          </a:p>
          <a:p>
            <a:endParaRPr dirty="0"/>
          </a:p>
          <a:p>
            <a:r>
              <a:rPr dirty="0"/>
              <a:t>"Autoregressive modelling is the key bridge from prediction to generation.</a:t>
            </a:r>
          </a:p>
          <a:p>
            <a:endParaRPr dirty="0"/>
          </a:p>
          <a:p>
            <a:r>
              <a:rPr dirty="0"/>
              <a:t>The model learns a conditional probability: the probability of the next token given the previous tokens. So during training, we give it a sequence and repeatedly ask: given everything up to this point, what should come next?</a:t>
            </a:r>
          </a:p>
          <a:p>
            <a:endParaRPr dirty="0"/>
          </a:p>
          <a:p>
            <a:r>
              <a:rPr dirty="0"/>
              <a:t>Mathematically, this </a:t>
            </a:r>
            <a:r>
              <a:rPr dirty="0" err="1"/>
              <a:t>factorises</a:t>
            </a:r>
            <a:r>
              <a:rPr dirty="0"/>
              <a:t> the probability of the whole sequence into a product of next-token probabilities. The first token has some probability. The second token is conditioned on the first. The third token is conditioned on the first two, and so on until the end of the sequence.</a:t>
            </a:r>
          </a:p>
          <a:p>
            <a:endParaRPr dirty="0"/>
          </a:p>
          <a:p>
            <a:r>
              <a:rPr dirty="0"/>
              <a:t>During generation, we run that process forward. We provide a starting context, the model predicts a distribution over possible next tokens, we sample or choose one token, append it to the context, and repeat.</a:t>
            </a:r>
          </a:p>
          <a:p>
            <a:endParaRPr dirty="0"/>
          </a:p>
          <a:p>
            <a:r>
              <a:rPr dirty="0"/>
              <a:t>That simple loop is how a language model writes text. And for CIFs, the generated text is a candidate crystal structure."</a:t>
            </a:r>
          </a:p>
          <a:p>
            <a:endParaRPr dirty="0"/>
          </a:p>
          <a:p>
            <a:r>
              <a:rPr dirty="0"/>
              <a:t>**Optional add:**</a:t>
            </a:r>
          </a:p>
          <a:p>
            <a:endParaRPr dirty="0"/>
          </a:p>
          <a:p>
            <a:r>
              <a:rPr dirty="0"/>
              <a:t>"The word 'candidate' is important. Generation gives us a proposed structure, not a guarantee that it is syntactically valid, chemically sensible, or thermodynamically stable."</a:t>
            </a:r>
          </a:p>
          <a:p>
            <a:endParaRPr dirty="0"/>
          </a:p>
          <a:p>
            <a:r>
              <a:rPr dirty="0"/>
              <a:t>**Transition:**</a:t>
            </a:r>
          </a:p>
          <a:p>
            <a:endParaRPr dirty="0"/>
          </a:p>
          <a:p>
            <a:r>
              <a:rPr dirty="0"/>
              <a:t>"That leads to an important distinction between training and generation."</a:t>
            </a:r>
          </a:p>
          <a:p>
            <a:endParaRPr dirty="0"/>
          </a:p>
          <a:p>
            <a:r>
              <a:rPr dirty="0"/>
              <a:t>[Sources]</a:t>
            </a:r>
          </a:p>
          <a:p>
            <a:r>
              <a:rPr dirty="0"/>
              <a:t>- Goodfellow, Bengio, and Courville, Deep Learning, MIT Press, 2016.</a:t>
            </a:r>
          </a:p>
          <a:p>
            <a:r>
              <a:rPr dirty="0"/>
              <a:t>- Antunes, Butler, and Grau-Crespo, Crystal structure generation with autoregressive large language modeling, Nature Communications 15, 10570, 2024.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22 - Training and Generation Are Related but Not Identical</a:t>
            </a:r>
          </a:p>
          <a:p>
            <a:endParaRPr dirty="0"/>
          </a:p>
          <a:p>
            <a:r>
              <a:rPr dirty="0"/>
              <a:t>**Approx. timing: 1 minute 45 seconds**</a:t>
            </a:r>
          </a:p>
          <a:p>
            <a:endParaRPr dirty="0"/>
          </a:p>
          <a:p>
            <a:r>
              <a:rPr dirty="0"/>
              <a:t>"Training and generation use the same model, but they are not the same situation.</a:t>
            </a:r>
          </a:p>
          <a:p>
            <a:endParaRPr dirty="0"/>
          </a:p>
          <a:p>
            <a:r>
              <a:rPr dirty="0"/>
              <a:t>During training, the model usually sees correct previous tokens from the dataset. It is asked to predict the next token at each position, and the loss compares its prediction with the true next token. This is sometimes called teacher forcing.</a:t>
            </a:r>
          </a:p>
          <a:p>
            <a:endParaRPr dirty="0"/>
          </a:p>
          <a:p>
            <a:r>
              <a:rPr dirty="0"/>
              <a:t>During generation, the model has to condition on its own previous outputs. If it makes a slightly odd choice early on, that choice becomes part of the context for later choices. Small errors can compound.</a:t>
            </a:r>
          </a:p>
          <a:p>
            <a:endParaRPr dirty="0"/>
          </a:p>
          <a:p>
            <a:r>
              <a:rPr dirty="0"/>
              <a:t>That is why validation is so important for generated structures. A generated CIF might look plausible as text but fail syntax checks. It might parse but have unreasonable interatomic distances. It might satisfy some local patterns but fail charge balance, symmetry expectations, or energetic plausibility.</a:t>
            </a:r>
          </a:p>
          <a:p>
            <a:endParaRPr dirty="0"/>
          </a:p>
          <a:p>
            <a:r>
              <a:rPr dirty="0"/>
              <a:t>So generated text is not automatically a good material. It is an input to a scientific filtering and validation pipeline."</a:t>
            </a:r>
          </a:p>
          <a:p>
            <a:endParaRPr dirty="0"/>
          </a:p>
          <a:p>
            <a:r>
              <a:rPr dirty="0"/>
              <a:t>**Transition:**</a:t>
            </a:r>
          </a:p>
          <a:p>
            <a:endParaRPr dirty="0"/>
          </a:p>
          <a:p>
            <a:r>
              <a:rPr dirty="0"/>
              <a:t>"Now we can say why CIFs are a natural target for this kind of model."</a:t>
            </a:r>
          </a:p>
          <a:p>
            <a:endParaRPr dirty="0"/>
          </a:p>
          <a:p>
            <a:r>
              <a:rPr dirty="0"/>
              <a:t>[Sources]</a:t>
            </a:r>
          </a:p>
          <a:p>
            <a:r>
              <a:rPr dirty="0"/>
              <a:t>- Goodfellow, Bengio, and Courville, Deep Learning, MIT Press, 2016.</a:t>
            </a:r>
          </a:p>
          <a:p>
            <a:r>
              <a:rPr dirty="0"/>
              <a:t>- Antunes, Butler, and Grau-Crespo, Crystal structure generation with autoregressive large language modeling, Nature Communications 15, 10570, 2024.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23 - CIFs Can Be Treated as a Language</a:t>
            </a:r>
          </a:p>
          <a:p>
            <a:endParaRPr dirty="0"/>
          </a:p>
          <a:p>
            <a:r>
              <a:rPr dirty="0"/>
              <a:t>**Approx. timing: 2 minutes**</a:t>
            </a:r>
          </a:p>
          <a:p>
            <a:endParaRPr dirty="0"/>
          </a:p>
          <a:p>
            <a:r>
              <a:rPr dirty="0"/>
              <a:t>"A CIF file is not natural language, but it is structured text.</a:t>
            </a:r>
          </a:p>
          <a:p>
            <a:endParaRPr dirty="0"/>
          </a:p>
          <a:p>
            <a:r>
              <a:rPr dirty="0"/>
              <a:t>On the left, you can see a small CIF-like example. It has tags, cell lengths, cell angles, symmetry information, formula information, loops, atom labels, element symbols, fractional coordinates, and occupancies.</a:t>
            </a:r>
          </a:p>
          <a:p>
            <a:endParaRPr dirty="0"/>
          </a:p>
          <a:p>
            <a:r>
              <a:rPr dirty="0"/>
              <a:t>On the right, the same idea is viewed as a token prediction problem. The CIF is </a:t>
            </a:r>
            <a:r>
              <a:rPr dirty="0" err="1"/>
              <a:t>tokenised</a:t>
            </a:r>
            <a:r>
              <a:rPr dirty="0"/>
              <a:t>. The model receives a sequence of tokens as input. It predicts a probability distribution over the next token. The training target is the actual next token from the data, and the loss is cross-entropy.</a:t>
            </a:r>
          </a:p>
          <a:p>
            <a:endParaRPr dirty="0"/>
          </a:p>
          <a:p>
            <a:r>
              <a:rPr dirty="0" err="1"/>
              <a:t>CrystaLLM</a:t>
            </a:r>
            <a:r>
              <a:rPr dirty="0"/>
              <a:t> uses this idea: a decoder-only transformer trained on CIF files for crystal structure generation. It is conceptually close to ordinary language modelling, but the domain is scientific structured text rather than prose.</a:t>
            </a:r>
          </a:p>
          <a:p>
            <a:endParaRPr dirty="0"/>
          </a:p>
          <a:p>
            <a:r>
              <a:rPr dirty="0"/>
              <a:t>The powerful bet is that, by learning the patterns in many CIFs, the model can learn both syntax-like regularities and some chemistry-like regularities."</a:t>
            </a:r>
          </a:p>
          <a:p>
            <a:endParaRPr dirty="0"/>
          </a:p>
          <a:p>
            <a:r>
              <a:rPr dirty="0"/>
              <a:t>**Optional add:**</a:t>
            </a:r>
          </a:p>
          <a:p>
            <a:endParaRPr dirty="0"/>
          </a:p>
          <a:p>
            <a:r>
              <a:rPr dirty="0"/>
              <a:t>"Again, that does not remove the need for validation. It means we can generate structured candidates in a way that is informed by the training distribution."</a:t>
            </a:r>
          </a:p>
          <a:p>
            <a:endParaRPr dirty="0"/>
          </a:p>
          <a:p>
            <a:r>
              <a:rPr dirty="0"/>
              <a:t>**Transition:**</a:t>
            </a:r>
          </a:p>
          <a:p>
            <a:endParaRPr dirty="0"/>
          </a:p>
          <a:p>
            <a:r>
              <a:rPr dirty="0"/>
              <a:t>"To see what the model has to learn, it helps to look at what </a:t>
            </a:r>
            <a:r>
              <a:rPr dirty="0" err="1"/>
              <a:t>tokenisation</a:t>
            </a:r>
            <a:r>
              <a:rPr dirty="0"/>
              <a:t> contains."</a:t>
            </a:r>
          </a:p>
          <a:p>
            <a:endParaRPr dirty="0"/>
          </a:p>
          <a:p>
            <a:r>
              <a:rPr dirty="0"/>
              <a:t>[Sources]</a:t>
            </a:r>
          </a:p>
          <a:p>
            <a:r>
              <a:rPr dirty="0"/>
              <a:t>- Hall, Allen, and Brown, The Crystallographic Information File (CIF): a new standard archive file for crystallography, Acta </a:t>
            </a:r>
            <a:r>
              <a:rPr dirty="0" err="1"/>
              <a:t>Crystallographica</a:t>
            </a:r>
            <a:r>
              <a:rPr dirty="0"/>
              <a:t> A47, 655-685, 1991.</a:t>
            </a:r>
          </a:p>
          <a:p>
            <a:r>
              <a:rPr dirty="0"/>
              <a:t>- Antunes, Butler, and Grau-Crespo, Crystal structure generation with autoregressive large language modeling, Nature Communications 15, 10570, 2024.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24 - CIF </a:t>
            </a:r>
            <a:r>
              <a:rPr dirty="0" err="1"/>
              <a:t>Tokenisation</a:t>
            </a:r>
            <a:r>
              <a:rPr dirty="0"/>
              <a:t> Carries Scientific Structure</a:t>
            </a:r>
          </a:p>
          <a:p>
            <a:endParaRPr dirty="0"/>
          </a:p>
          <a:p>
            <a:r>
              <a:rPr dirty="0"/>
              <a:t>**Approx. timing: 1 minute 45 seconds**</a:t>
            </a:r>
          </a:p>
          <a:p>
            <a:endParaRPr dirty="0"/>
          </a:p>
          <a:p>
            <a:r>
              <a:rPr dirty="0"/>
              <a:t>"When we </a:t>
            </a:r>
            <a:r>
              <a:rPr dirty="0" err="1"/>
              <a:t>tokenise</a:t>
            </a:r>
            <a:r>
              <a:rPr dirty="0"/>
              <a:t> a CIF, we are not just chopping up arbitrary text.</a:t>
            </a:r>
          </a:p>
          <a:p>
            <a:endParaRPr dirty="0"/>
          </a:p>
          <a:p>
            <a:r>
              <a:rPr dirty="0"/>
              <a:t>Some tokens are CIF tags, like _</a:t>
            </a:r>
            <a:r>
              <a:rPr dirty="0" err="1"/>
              <a:t>cell_length_a</a:t>
            </a:r>
            <a:r>
              <a:rPr dirty="0"/>
              <a:t> or symmetry-related fields. These tell the model what kind of information is expected next.</a:t>
            </a:r>
          </a:p>
          <a:p>
            <a:endParaRPr dirty="0"/>
          </a:p>
          <a:p>
            <a:r>
              <a:rPr dirty="0"/>
              <a:t>Some tokens are chemical symbols: Ba, Ti, O, Br, K, and so on. These carry chemical identity.</a:t>
            </a:r>
          </a:p>
          <a:p>
            <a:endParaRPr dirty="0"/>
          </a:p>
          <a:p>
            <a:r>
              <a:rPr dirty="0"/>
              <a:t>Some tokens are numbers: cell lengths, angles, fractional coordinates, occupancies. Numbers are tricky for language models because they are both symbols in the text and quantities in the world.</a:t>
            </a:r>
          </a:p>
          <a:p>
            <a:endParaRPr dirty="0"/>
          </a:p>
          <a:p>
            <a:r>
              <a:rPr dirty="0"/>
              <a:t>Some tokens are punctuation and layout: loops, line breaks, separators. These are part of the syntax that makes the file </a:t>
            </a:r>
            <a:r>
              <a:rPr dirty="0" err="1"/>
              <a:t>parseable</a:t>
            </a:r>
            <a:r>
              <a:rPr dirty="0"/>
              <a:t>.</a:t>
            </a:r>
          </a:p>
          <a:p>
            <a:endParaRPr dirty="0"/>
          </a:p>
          <a:p>
            <a:r>
              <a:rPr dirty="0"/>
              <a:t>And then there is local context: which fields tend to appear together, what order they appear in, and which combinations are plausible.</a:t>
            </a:r>
          </a:p>
          <a:p>
            <a:endParaRPr dirty="0"/>
          </a:p>
          <a:p>
            <a:r>
              <a:rPr dirty="0"/>
              <a:t>So CIF language is constrained. It is text, but it is text with scientific structure."</a:t>
            </a:r>
          </a:p>
          <a:p>
            <a:endParaRPr dirty="0"/>
          </a:p>
          <a:p>
            <a:r>
              <a:rPr dirty="0"/>
              <a:t>**Shorten if needed:**</a:t>
            </a:r>
          </a:p>
          <a:p>
            <a:endParaRPr dirty="0"/>
          </a:p>
          <a:p>
            <a:r>
              <a:rPr dirty="0"/>
              <a:t>"This is why it is plausible to train a language model on CIFs, and also why we need domain-aware checks afterwards."</a:t>
            </a:r>
          </a:p>
          <a:p>
            <a:endParaRPr dirty="0"/>
          </a:p>
          <a:p>
            <a:r>
              <a:rPr dirty="0"/>
              <a:t>**Transition:**</a:t>
            </a:r>
          </a:p>
          <a:p>
            <a:endParaRPr dirty="0"/>
          </a:p>
          <a:p>
            <a:r>
              <a:rPr dirty="0"/>
              <a:t>"At this point we have arrived at the need for a better way to use context. That is where attention enters."</a:t>
            </a:r>
          </a:p>
          <a:p>
            <a:endParaRPr dirty="0"/>
          </a:p>
          <a:p>
            <a:r>
              <a:rPr dirty="0"/>
              <a:t>[Sources]</a:t>
            </a:r>
          </a:p>
          <a:p>
            <a:r>
              <a:rPr dirty="0"/>
              <a:t>- Hall, Allen, and Brown, The Crystallographic Information File (CIF): a new standard archive file for crystallography, Acta </a:t>
            </a:r>
            <a:r>
              <a:rPr dirty="0" err="1"/>
              <a:t>Crystallographica</a:t>
            </a:r>
            <a:r>
              <a:rPr dirty="0"/>
              <a:t> A47, 655-685, 1991.</a:t>
            </a:r>
          </a:p>
          <a:p>
            <a:r>
              <a:rPr dirty="0"/>
              <a:t>- Antunes, Butler, and Grau-Crespo, Crystal structure generation with autoregressive large language modeling, Nature Communications 15, 10570, 2024.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lnSpc>
                <a:spcPct val="100000"/>
              </a:lnSpc>
              <a:spcBef>
                <a:spcPts val="0"/>
              </a:spcBef>
              <a:spcAft>
                <a:spcPts val="0"/>
              </a:spcAft>
              <a:buNone/>
            </a:pPr>
            <a:r>
              <a:rPr sz="1200" dirty="0">
                <a:latin typeface="Abadi Extra Light"/>
                <a:ea typeface="Abadi Extra Light"/>
                <a:cs typeface="Abadi Extra Light"/>
              </a:rPr>
              <a:t>Slide 25 - Attention Selects Relevant Context</a:t>
            </a:r>
          </a:p>
          <a:p>
            <a:pPr marL="0" indent="0" algn="l">
              <a:lnSpc>
                <a:spcPct val="100000"/>
              </a:lnSpc>
              <a:spcBef>
                <a:spcPts val="0"/>
              </a:spcBef>
              <a:spcAft>
                <a:spcPts val="0"/>
              </a:spcAft>
              <a:buNone/>
            </a:pPr>
            <a:endParaRPr sz="1200" dirty="0">
              <a:latin typeface="Abadi Extra Light"/>
              <a:ea typeface="Abadi Extra Light"/>
              <a:cs typeface="Abadi Extra Light"/>
            </a:endParaRPr>
          </a:p>
          <a:p>
            <a:pPr marL="0" indent="0" algn="l">
              <a:lnSpc>
                <a:spcPct val="100000"/>
              </a:lnSpc>
              <a:spcBef>
                <a:spcPts val="0"/>
              </a:spcBef>
              <a:spcAft>
                <a:spcPts val="0"/>
              </a:spcAft>
              <a:buNone/>
            </a:pPr>
            <a:r>
              <a:rPr sz="1200" dirty="0">
                <a:latin typeface="Abadi Extra Light"/>
                <a:ea typeface="Abadi Extra Light"/>
                <a:cs typeface="Abadi Extra Light"/>
              </a:rPr>
              <a:t>**Approx. timing: 1 minute 20 seconds**</a:t>
            </a:r>
          </a:p>
          <a:p>
            <a:pPr marL="0" indent="0" algn="l">
              <a:lnSpc>
                <a:spcPct val="100000"/>
              </a:lnSpc>
              <a:spcBef>
                <a:spcPts val="0"/>
              </a:spcBef>
              <a:spcAft>
                <a:spcPts val="0"/>
              </a:spcAft>
              <a:buNone/>
            </a:pPr>
            <a:endParaRPr sz="1200" dirty="0">
              <a:latin typeface="Abadi Extra Light"/>
              <a:ea typeface="Abadi Extra Light"/>
              <a:cs typeface="Abadi Extra Light"/>
            </a:endParaRPr>
          </a:p>
          <a:p>
            <a:pPr marL="0" indent="0" algn="l">
              <a:lnSpc>
                <a:spcPct val="100000"/>
              </a:lnSpc>
              <a:spcBef>
                <a:spcPts val="0"/>
              </a:spcBef>
              <a:spcAft>
                <a:spcPts val="0"/>
              </a:spcAft>
              <a:buNone/>
            </a:pPr>
            <a:r>
              <a:rPr sz="1200" dirty="0">
                <a:latin typeface="Abadi Extra Light"/>
                <a:ea typeface="Abadi Extra Light"/>
                <a:cs typeface="Abadi Extra Light"/>
              </a:rPr>
              <a:t>"The intuition for attention is simple: for this token, which other tokens are relevant right now?</a:t>
            </a:r>
          </a:p>
          <a:p>
            <a:pPr marL="0" indent="0" algn="l">
              <a:lnSpc>
                <a:spcPct val="100000"/>
              </a:lnSpc>
              <a:spcBef>
                <a:spcPts val="0"/>
              </a:spcBef>
              <a:spcAft>
                <a:spcPts val="0"/>
              </a:spcAft>
              <a:buNone/>
            </a:pPr>
            <a:endParaRPr sz="1200" dirty="0">
              <a:latin typeface="Abadi Extra Light"/>
              <a:ea typeface="Abadi Extra Light"/>
              <a:cs typeface="Abadi Extra Light"/>
            </a:endParaRPr>
          </a:p>
          <a:p>
            <a:pPr marL="0" indent="0" algn="l">
              <a:lnSpc>
                <a:spcPct val="100000"/>
              </a:lnSpc>
              <a:spcBef>
                <a:spcPts val="0"/>
              </a:spcBef>
              <a:spcAft>
                <a:spcPts val="0"/>
              </a:spcAft>
              <a:buNone/>
            </a:pPr>
            <a:r>
              <a:rPr sz="1200" dirty="0">
                <a:latin typeface="Abadi Extra Light"/>
                <a:ea typeface="Abadi Extra Light"/>
                <a:cs typeface="Abadi Extra Light"/>
              </a:rPr>
              <a:t>In the sentence on the slide, if the model is interpreting 'apple', the word 'green' is probably relevant. The word 'eating' may also be relevant. Other tokens may matter less for that immediate decision.</a:t>
            </a:r>
          </a:p>
          <a:p>
            <a:pPr marL="0" indent="0" algn="l">
              <a:lnSpc>
                <a:spcPct val="100000"/>
              </a:lnSpc>
              <a:spcBef>
                <a:spcPts val="0"/>
              </a:spcBef>
              <a:spcAft>
                <a:spcPts val="0"/>
              </a:spcAft>
              <a:buNone/>
            </a:pPr>
            <a:endParaRPr sz="1200" dirty="0">
              <a:latin typeface="Abadi Extra Light"/>
              <a:ea typeface="Abadi Extra Light"/>
              <a:cs typeface="Abadi Extra Light"/>
            </a:endParaRPr>
          </a:p>
          <a:p>
            <a:pPr marL="0" indent="0" algn="l">
              <a:lnSpc>
                <a:spcPct val="100000"/>
              </a:lnSpc>
              <a:spcBef>
                <a:spcPts val="0"/>
              </a:spcBef>
              <a:spcAft>
                <a:spcPts val="0"/>
              </a:spcAft>
              <a:buNone/>
            </a:pPr>
            <a:r>
              <a:rPr sz="1200" dirty="0">
                <a:latin typeface="Abadi Extra Light"/>
                <a:ea typeface="Abadi Extra Light"/>
                <a:cs typeface="Abadi Extra Light"/>
              </a:rPr>
              <a:t>Attention gives the model a way to assign different weights to different context tokens. Instead of forcing all past information through one recurrent hidden state, a token can look back across the context and select what it needs.</a:t>
            </a:r>
          </a:p>
          <a:p>
            <a:pPr marL="0" indent="0" algn="l">
              <a:lnSpc>
                <a:spcPct val="100000"/>
              </a:lnSpc>
              <a:spcBef>
                <a:spcPts val="0"/>
              </a:spcBef>
              <a:spcAft>
                <a:spcPts val="0"/>
              </a:spcAft>
              <a:buNone/>
            </a:pPr>
            <a:endParaRPr sz="1200" dirty="0">
              <a:latin typeface="Abadi Extra Light"/>
              <a:ea typeface="Abadi Extra Light"/>
              <a:cs typeface="Abadi Extra Light"/>
            </a:endParaRPr>
          </a:p>
          <a:p>
            <a:pPr marL="0" indent="0" algn="l">
              <a:lnSpc>
                <a:spcPct val="100000"/>
              </a:lnSpc>
              <a:spcBef>
                <a:spcPts val="0"/>
              </a:spcBef>
              <a:spcAft>
                <a:spcPts val="0"/>
              </a:spcAft>
              <a:buNone/>
            </a:pPr>
            <a:r>
              <a:rPr sz="1200" dirty="0">
                <a:latin typeface="Abadi Extra Light"/>
                <a:ea typeface="Abadi Extra Light"/>
                <a:cs typeface="Abadi Extra Light"/>
              </a:rPr>
              <a:t>This is the idea that unlocks transformers. The details matter, but the motivation is this: flexible access to relevant context."</a:t>
            </a:r>
          </a:p>
          <a:p>
            <a:pPr marL="0" indent="0" algn="l">
              <a:lnSpc>
                <a:spcPct val="100000"/>
              </a:lnSpc>
              <a:spcBef>
                <a:spcPts val="0"/>
              </a:spcBef>
              <a:spcAft>
                <a:spcPts val="0"/>
              </a:spcAft>
              <a:buNone/>
            </a:pPr>
            <a:endParaRPr sz="1200" dirty="0">
              <a:latin typeface="Abadi Extra Light"/>
              <a:ea typeface="Abadi Extra Light"/>
              <a:cs typeface="Abadi Extra Light"/>
            </a:endParaRPr>
          </a:p>
          <a:p>
            <a:pPr marL="0" indent="0" algn="l">
              <a:lnSpc>
                <a:spcPct val="100000"/>
              </a:lnSpc>
              <a:spcBef>
                <a:spcPts val="0"/>
              </a:spcBef>
              <a:spcAft>
                <a:spcPts val="0"/>
              </a:spcAft>
              <a:buNone/>
            </a:pPr>
            <a:r>
              <a:rPr sz="1200" dirty="0">
                <a:latin typeface="Abadi Extra Light"/>
                <a:ea typeface="Abadi Extra Light"/>
                <a:cs typeface="Abadi Extra Light"/>
              </a:rPr>
              <a:t>**Important boundary:**</a:t>
            </a:r>
          </a:p>
          <a:p>
            <a:pPr marL="0" indent="0" algn="l">
              <a:lnSpc>
                <a:spcPct val="100000"/>
              </a:lnSpc>
              <a:spcBef>
                <a:spcPts val="0"/>
              </a:spcBef>
              <a:spcAft>
                <a:spcPts val="0"/>
              </a:spcAft>
              <a:buNone/>
            </a:pPr>
            <a:endParaRPr sz="1200" dirty="0">
              <a:latin typeface="Abadi Extra Light"/>
              <a:ea typeface="Abadi Extra Light"/>
              <a:cs typeface="Abadi Extra Light"/>
            </a:endParaRPr>
          </a:p>
          <a:p>
            <a:pPr marL="0" indent="0" algn="l">
              <a:lnSpc>
                <a:spcPct val="100000"/>
              </a:lnSpc>
              <a:spcBef>
                <a:spcPts val="0"/>
              </a:spcBef>
              <a:spcAft>
                <a:spcPts val="0"/>
              </a:spcAft>
              <a:buNone/>
            </a:pPr>
            <a:r>
              <a:rPr sz="1200" dirty="0">
                <a:latin typeface="Abadi Extra Light"/>
                <a:ea typeface="Abadi Extra Light"/>
                <a:cs typeface="Abadi Extra Light"/>
              </a:rPr>
              <a:t>"I am deliberately keeping this at the intuition level, because Joley is going to do the mechanism properly."</a:t>
            </a:r>
          </a:p>
          <a:p>
            <a:pPr marL="0" indent="0" algn="l">
              <a:lnSpc>
                <a:spcPct val="100000"/>
              </a:lnSpc>
              <a:spcBef>
                <a:spcPts val="0"/>
              </a:spcBef>
              <a:spcAft>
                <a:spcPts val="0"/>
              </a:spcAft>
              <a:buNone/>
            </a:pPr>
            <a:endParaRPr sz="1200" dirty="0">
              <a:latin typeface="Abadi Extra Light"/>
              <a:ea typeface="Abadi Extra Light"/>
              <a:cs typeface="Abadi Extra Light"/>
            </a:endParaRPr>
          </a:p>
          <a:p>
            <a:pPr marL="0" indent="0" algn="l">
              <a:lnSpc>
                <a:spcPct val="100000"/>
              </a:lnSpc>
              <a:spcBef>
                <a:spcPts val="0"/>
              </a:spcBef>
              <a:spcAft>
                <a:spcPts val="0"/>
              </a:spcAft>
              <a:buNone/>
            </a:pPr>
            <a:r>
              <a:rPr sz="1200" dirty="0">
                <a:latin typeface="Abadi Extra Light"/>
                <a:ea typeface="Abadi Extra Light"/>
                <a:cs typeface="Abadi Extra Light"/>
              </a:rPr>
              <a:t>**Transition:**</a:t>
            </a:r>
          </a:p>
          <a:p>
            <a:pPr marL="0" indent="0" algn="l">
              <a:lnSpc>
                <a:spcPct val="100000"/>
              </a:lnSpc>
              <a:spcBef>
                <a:spcPts val="0"/>
              </a:spcBef>
              <a:spcAft>
                <a:spcPts val="0"/>
              </a:spcAft>
              <a:buNone/>
            </a:pPr>
            <a:endParaRPr sz="1200" dirty="0">
              <a:latin typeface="Abadi Extra Light"/>
              <a:ea typeface="Abadi Extra Light"/>
              <a:cs typeface="Abadi Extra Light"/>
            </a:endParaRPr>
          </a:p>
          <a:p>
            <a:pPr marL="0" indent="0" algn="l">
              <a:lnSpc>
                <a:spcPct val="100000"/>
              </a:lnSpc>
              <a:spcBef>
                <a:spcPts val="0"/>
              </a:spcBef>
              <a:spcAft>
                <a:spcPts val="0"/>
              </a:spcAft>
              <a:buNone/>
            </a:pPr>
            <a:r>
              <a:rPr sz="1200" dirty="0">
                <a:latin typeface="Abadi Extra Light"/>
                <a:ea typeface="Abadi Extra Light"/>
                <a:cs typeface="Abadi Extra Light"/>
              </a:rPr>
              <a:t>"The terms Joley will use are queries, keys, and values."</a:t>
            </a:r>
          </a:p>
          <a:p>
            <a:pPr marL="0" indent="0" algn="l">
              <a:lnSpc>
                <a:spcPct val="100000"/>
              </a:lnSpc>
              <a:spcBef>
                <a:spcPts val="0"/>
              </a:spcBef>
              <a:spcAft>
                <a:spcPts val="0"/>
              </a:spcAft>
              <a:buNone/>
            </a:pPr>
            <a:endParaRPr sz="1200" dirty="0">
              <a:latin typeface="Abadi Extra Light"/>
              <a:ea typeface="Abadi Extra Light"/>
              <a:cs typeface="Abadi Extra Light"/>
            </a:endParaRPr>
          </a:p>
          <a:p>
            <a:pPr marL="0" indent="0" algn="l">
              <a:lnSpc>
                <a:spcPct val="100000"/>
              </a:lnSpc>
              <a:spcBef>
                <a:spcPts val="0"/>
              </a:spcBef>
              <a:spcAft>
                <a:spcPts val="0"/>
              </a:spcAft>
              <a:buNone/>
            </a:pPr>
            <a:r>
              <a:rPr sz="1200" dirty="0">
                <a:latin typeface="Abadi Extra Light"/>
                <a:ea typeface="Abadi Extra Light"/>
                <a:cs typeface="Abadi Extra Light"/>
              </a:rPr>
              <a:t>[Sources]</a:t>
            </a:r>
          </a:p>
          <a:p>
            <a:pPr marL="0" indent="0" algn="l">
              <a:lnSpc>
                <a:spcPct val="100000"/>
              </a:lnSpc>
              <a:spcBef>
                <a:spcPts val="0"/>
              </a:spcBef>
              <a:spcAft>
                <a:spcPts val="0"/>
              </a:spcAft>
              <a:buNone/>
            </a:pPr>
            <a:r>
              <a:rPr sz="1200" dirty="0">
                <a:latin typeface="Abadi Extra Light"/>
                <a:ea typeface="Abadi Extra Light"/>
                <a:cs typeface="Abadi Extra Light"/>
              </a:rPr>
              <a:t>- Vaswani et al., Attention Is All You Need, </a:t>
            </a:r>
            <a:r>
              <a:rPr sz="1200" dirty="0" err="1">
                <a:latin typeface="Abadi Extra Light"/>
                <a:ea typeface="Abadi Extra Light"/>
                <a:cs typeface="Abadi Extra Light"/>
              </a:rPr>
              <a:t>NeurIPS</a:t>
            </a:r>
            <a:r>
              <a:rPr sz="1200" dirty="0">
                <a:latin typeface="Abadi Extra Light"/>
                <a:ea typeface="Abadi Extra Light"/>
                <a:cs typeface="Abadi Extra Light"/>
              </a:rPr>
              <a:t> 2017; arXiv:1706.03762.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lnSpc>
                <a:spcPct val="100000"/>
              </a:lnSpc>
              <a:spcBef>
                <a:spcPts val="0"/>
              </a:spcBef>
              <a:spcAft>
                <a:spcPts val="0"/>
              </a:spcAft>
              <a:buNone/>
            </a:pPr>
            <a:r>
              <a:rPr sz="1200" dirty="0">
                <a:latin typeface="Abadi Extra Light"/>
                <a:ea typeface="Abadi Extra Light"/>
                <a:cs typeface="Abadi Extra Light"/>
              </a:rPr>
              <a:t>Slide 26 - The Handoff: Queries, Keys, and Values</a:t>
            </a:r>
          </a:p>
          <a:p>
            <a:pPr marL="0" indent="0" algn="l">
              <a:lnSpc>
                <a:spcPct val="100000"/>
              </a:lnSpc>
              <a:spcBef>
                <a:spcPts val="0"/>
              </a:spcBef>
              <a:spcAft>
                <a:spcPts val="0"/>
              </a:spcAft>
              <a:buNone/>
            </a:pPr>
            <a:endParaRPr sz="1200" dirty="0">
              <a:latin typeface="Abadi Extra Light"/>
              <a:ea typeface="Abadi Extra Light"/>
              <a:cs typeface="Abadi Extra Light"/>
            </a:endParaRPr>
          </a:p>
          <a:p>
            <a:pPr marL="0" indent="0" algn="l">
              <a:lnSpc>
                <a:spcPct val="100000"/>
              </a:lnSpc>
              <a:spcBef>
                <a:spcPts val="0"/>
              </a:spcBef>
              <a:spcAft>
                <a:spcPts val="0"/>
              </a:spcAft>
              <a:buNone/>
            </a:pPr>
            <a:r>
              <a:rPr sz="1200" dirty="0">
                <a:latin typeface="Abadi Extra Light"/>
                <a:ea typeface="Abadi Extra Light"/>
                <a:cs typeface="Abadi Extra Light"/>
              </a:rPr>
              <a:t>**Approx. timing: 1 minute 20 seconds**</a:t>
            </a:r>
          </a:p>
          <a:p>
            <a:pPr marL="0" indent="0" algn="l">
              <a:lnSpc>
                <a:spcPct val="100000"/>
              </a:lnSpc>
              <a:spcBef>
                <a:spcPts val="0"/>
              </a:spcBef>
              <a:spcAft>
                <a:spcPts val="0"/>
              </a:spcAft>
              <a:buNone/>
            </a:pPr>
            <a:endParaRPr sz="1200" dirty="0">
              <a:latin typeface="Abadi Extra Light"/>
              <a:ea typeface="Abadi Extra Light"/>
              <a:cs typeface="Abadi Extra Light"/>
            </a:endParaRPr>
          </a:p>
          <a:p>
            <a:pPr marL="0" indent="0" algn="l">
              <a:lnSpc>
                <a:spcPct val="100000"/>
              </a:lnSpc>
              <a:spcBef>
                <a:spcPts val="0"/>
              </a:spcBef>
              <a:spcAft>
                <a:spcPts val="0"/>
              </a:spcAft>
              <a:buNone/>
            </a:pPr>
            <a:r>
              <a:rPr sz="1200" dirty="0">
                <a:latin typeface="Abadi Extra Light"/>
                <a:ea typeface="Abadi Extra Light"/>
                <a:cs typeface="Abadi Extra Light"/>
              </a:rPr>
              <a:t>"Here is the vocabulary for the handoff.</a:t>
            </a:r>
          </a:p>
          <a:p>
            <a:pPr marL="0" indent="0" algn="l">
              <a:lnSpc>
                <a:spcPct val="100000"/>
              </a:lnSpc>
              <a:spcBef>
                <a:spcPts val="0"/>
              </a:spcBef>
              <a:spcAft>
                <a:spcPts val="0"/>
              </a:spcAft>
              <a:buNone/>
            </a:pPr>
            <a:endParaRPr sz="1200" dirty="0">
              <a:latin typeface="Abadi Extra Light"/>
              <a:ea typeface="Abadi Extra Light"/>
              <a:cs typeface="Abadi Extra Light"/>
            </a:endParaRPr>
          </a:p>
          <a:p>
            <a:pPr marL="0" indent="0" algn="l">
              <a:lnSpc>
                <a:spcPct val="100000"/>
              </a:lnSpc>
              <a:spcBef>
                <a:spcPts val="0"/>
              </a:spcBef>
              <a:spcAft>
                <a:spcPts val="0"/>
              </a:spcAft>
              <a:buNone/>
            </a:pPr>
            <a:r>
              <a:rPr sz="1200" dirty="0">
                <a:latin typeface="Abadi Extra Light"/>
                <a:ea typeface="Abadi Extra Light"/>
                <a:cs typeface="Abadi Extra Light"/>
              </a:rPr>
              <a:t>A query represents what the current token is looking for. A key represents what another token advertises about itself. A value represents the information that is actually passed forward if that token is attended to.</a:t>
            </a:r>
          </a:p>
          <a:p>
            <a:pPr marL="0" indent="0" algn="l">
              <a:lnSpc>
                <a:spcPct val="100000"/>
              </a:lnSpc>
              <a:spcBef>
                <a:spcPts val="0"/>
              </a:spcBef>
              <a:spcAft>
                <a:spcPts val="0"/>
              </a:spcAft>
              <a:buNone/>
            </a:pPr>
            <a:endParaRPr sz="1200" dirty="0">
              <a:latin typeface="Abadi Extra Light"/>
              <a:ea typeface="Abadi Extra Light"/>
              <a:cs typeface="Abadi Extra Light"/>
            </a:endParaRPr>
          </a:p>
          <a:p>
            <a:pPr marL="0" indent="0" algn="l">
              <a:lnSpc>
                <a:spcPct val="100000"/>
              </a:lnSpc>
              <a:spcBef>
                <a:spcPts val="0"/>
              </a:spcBef>
              <a:spcAft>
                <a:spcPts val="0"/>
              </a:spcAft>
              <a:buNone/>
            </a:pPr>
            <a:r>
              <a:rPr sz="1200" dirty="0">
                <a:latin typeface="Abadi Extra Light"/>
                <a:ea typeface="Abadi Extra Light"/>
                <a:cs typeface="Abadi Extra Light"/>
              </a:rPr>
              <a:t>The attention mechanism compares queries and keys to decide relevance, then uses those scores to combine values. In the transformer, this happens many times, in many heads, across many layers.</a:t>
            </a:r>
          </a:p>
          <a:p>
            <a:pPr marL="0" indent="0" algn="l">
              <a:lnSpc>
                <a:spcPct val="100000"/>
              </a:lnSpc>
              <a:spcBef>
                <a:spcPts val="0"/>
              </a:spcBef>
              <a:spcAft>
                <a:spcPts val="0"/>
              </a:spcAft>
              <a:buNone/>
            </a:pPr>
            <a:endParaRPr sz="1200" dirty="0">
              <a:latin typeface="Abadi Extra Light"/>
              <a:ea typeface="Abadi Extra Light"/>
              <a:cs typeface="Abadi Extra Light"/>
            </a:endParaRPr>
          </a:p>
          <a:p>
            <a:pPr marL="0" indent="0" algn="l">
              <a:lnSpc>
                <a:spcPct val="100000"/>
              </a:lnSpc>
              <a:spcBef>
                <a:spcPts val="0"/>
              </a:spcBef>
              <a:spcAft>
                <a:spcPts val="0"/>
              </a:spcAft>
              <a:buNone/>
            </a:pPr>
            <a:r>
              <a:rPr sz="1200" dirty="0">
                <a:latin typeface="Abadi Extra Light"/>
                <a:ea typeface="Abadi Extra Light"/>
                <a:cs typeface="Abadi Extra Light"/>
              </a:rPr>
              <a:t>You do not need to </a:t>
            </a:r>
            <a:r>
              <a:rPr sz="1200" dirty="0" err="1">
                <a:latin typeface="Abadi Extra Light"/>
                <a:ea typeface="Abadi Extra Light"/>
                <a:cs typeface="Abadi Extra Light"/>
              </a:rPr>
              <a:t>memorise</a:t>
            </a:r>
            <a:r>
              <a:rPr sz="1200" dirty="0">
                <a:latin typeface="Abadi Extra Light"/>
                <a:ea typeface="Abadi Extra Light"/>
                <a:cs typeface="Abadi Extra Light"/>
              </a:rPr>
              <a:t> the equation yet. The useful intuition is: each token constructs a question, compares it against the keys of other tokens, and then gathers information from the values.</a:t>
            </a:r>
          </a:p>
          <a:p>
            <a:pPr marL="0" indent="0" algn="l">
              <a:lnSpc>
                <a:spcPct val="100000"/>
              </a:lnSpc>
              <a:spcBef>
                <a:spcPts val="0"/>
              </a:spcBef>
              <a:spcAft>
                <a:spcPts val="0"/>
              </a:spcAft>
              <a:buNone/>
            </a:pPr>
            <a:endParaRPr sz="1200" dirty="0">
              <a:latin typeface="Abadi Extra Light"/>
              <a:ea typeface="Abadi Extra Light"/>
              <a:cs typeface="Abadi Extra Light"/>
            </a:endParaRPr>
          </a:p>
          <a:p>
            <a:pPr marL="0" indent="0" algn="l">
              <a:lnSpc>
                <a:spcPct val="100000"/>
              </a:lnSpc>
              <a:spcBef>
                <a:spcPts val="0"/>
              </a:spcBef>
              <a:spcAft>
                <a:spcPts val="0"/>
              </a:spcAft>
              <a:buNone/>
            </a:pPr>
            <a:r>
              <a:rPr sz="1200" dirty="0">
                <a:latin typeface="Abadi Extra Light"/>
                <a:ea typeface="Abadi Extra Light"/>
                <a:cs typeface="Abadi Extra Light"/>
              </a:rPr>
              <a:t>Joley will turn that intuition into scaled dot-product attention, </a:t>
            </a:r>
            <a:r>
              <a:rPr sz="1200" dirty="0" err="1">
                <a:latin typeface="Abadi Extra Light"/>
                <a:ea typeface="Abadi Extra Light"/>
                <a:cs typeface="Abadi Extra Light"/>
              </a:rPr>
              <a:t>softmax</a:t>
            </a:r>
            <a:r>
              <a:rPr sz="1200" dirty="0">
                <a:latin typeface="Abadi Extra Light"/>
                <a:ea typeface="Abadi Extra Light"/>
                <a:cs typeface="Abadi Extra Light"/>
              </a:rPr>
              <a:t> weights, multi-head attention, and transformer blocks."</a:t>
            </a:r>
          </a:p>
          <a:p>
            <a:pPr marL="0" indent="0" algn="l">
              <a:lnSpc>
                <a:spcPct val="100000"/>
              </a:lnSpc>
              <a:spcBef>
                <a:spcPts val="0"/>
              </a:spcBef>
              <a:spcAft>
                <a:spcPts val="0"/>
              </a:spcAft>
              <a:buNone/>
            </a:pPr>
            <a:endParaRPr sz="1200" dirty="0">
              <a:latin typeface="Abadi Extra Light"/>
              <a:ea typeface="Abadi Extra Light"/>
              <a:cs typeface="Abadi Extra Light"/>
            </a:endParaRPr>
          </a:p>
          <a:p>
            <a:pPr marL="0" indent="0" algn="l">
              <a:lnSpc>
                <a:spcPct val="100000"/>
              </a:lnSpc>
              <a:spcBef>
                <a:spcPts val="0"/>
              </a:spcBef>
              <a:spcAft>
                <a:spcPts val="0"/>
              </a:spcAft>
              <a:buNone/>
            </a:pPr>
            <a:r>
              <a:rPr sz="1200" dirty="0">
                <a:latin typeface="Abadi Extra Light"/>
                <a:ea typeface="Abadi Extra Light"/>
                <a:cs typeface="Abadi Extra Light"/>
              </a:rPr>
              <a:t>**Transition:**</a:t>
            </a:r>
          </a:p>
          <a:p>
            <a:pPr marL="0" indent="0" algn="l">
              <a:lnSpc>
                <a:spcPct val="100000"/>
              </a:lnSpc>
              <a:spcBef>
                <a:spcPts val="0"/>
              </a:spcBef>
              <a:spcAft>
                <a:spcPts val="0"/>
              </a:spcAft>
              <a:buNone/>
            </a:pPr>
            <a:endParaRPr sz="1200" dirty="0">
              <a:latin typeface="Abadi Extra Light"/>
              <a:ea typeface="Abadi Extra Light"/>
              <a:cs typeface="Abadi Extra Light"/>
            </a:endParaRPr>
          </a:p>
          <a:p>
            <a:pPr marL="0" indent="0" algn="l">
              <a:lnSpc>
                <a:spcPct val="100000"/>
              </a:lnSpc>
              <a:spcBef>
                <a:spcPts val="0"/>
              </a:spcBef>
              <a:spcAft>
                <a:spcPts val="0"/>
              </a:spcAft>
              <a:buNone/>
            </a:pPr>
            <a:r>
              <a:rPr sz="1200" dirty="0">
                <a:latin typeface="Abadi Extra Light"/>
                <a:ea typeface="Abadi Extra Light"/>
                <a:cs typeface="Abadi Extra Light"/>
              </a:rPr>
              <a:t>"So the bridge from this section to the next is now complete."</a:t>
            </a:r>
          </a:p>
          <a:p>
            <a:pPr marL="0" indent="0" algn="l">
              <a:lnSpc>
                <a:spcPct val="100000"/>
              </a:lnSpc>
              <a:spcBef>
                <a:spcPts val="0"/>
              </a:spcBef>
              <a:spcAft>
                <a:spcPts val="0"/>
              </a:spcAft>
              <a:buNone/>
            </a:pPr>
            <a:endParaRPr sz="1200" dirty="0">
              <a:latin typeface="Abadi Extra Light"/>
              <a:ea typeface="Abadi Extra Light"/>
              <a:cs typeface="Abadi Extra Light"/>
            </a:endParaRPr>
          </a:p>
          <a:p>
            <a:pPr marL="0" indent="0" algn="l">
              <a:lnSpc>
                <a:spcPct val="100000"/>
              </a:lnSpc>
              <a:spcBef>
                <a:spcPts val="0"/>
              </a:spcBef>
              <a:spcAft>
                <a:spcPts val="0"/>
              </a:spcAft>
              <a:buNone/>
            </a:pPr>
            <a:r>
              <a:rPr sz="1200" dirty="0">
                <a:latin typeface="Abadi Extra Light"/>
                <a:ea typeface="Abadi Extra Light"/>
                <a:cs typeface="Abadi Extra Light"/>
              </a:rPr>
              <a:t>[Sources]</a:t>
            </a:r>
          </a:p>
          <a:p>
            <a:pPr marL="0" indent="0" algn="l">
              <a:lnSpc>
                <a:spcPct val="100000"/>
              </a:lnSpc>
              <a:spcBef>
                <a:spcPts val="0"/>
              </a:spcBef>
              <a:spcAft>
                <a:spcPts val="0"/>
              </a:spcAft>
              <a:buNone/>
            </a:pPr>
            <a:r>
              <a:rPr sz="1200" dirty="0">
                <a:latin typeface="Abadi Extra Light"/>
                <a:ea typeface="Abadi Extra Light"/>
                <a:cs typeface="Abadi Extra Light"/>
              </a:rPr>
              <a:t>- Vaswani et al., Attention Is All You Need, </a:t>
            </a:r>
            <a:r>
              <a:rPr sz="1200" dirty="0" err="1">
                <a:latin typeface="Abadi Extra Light"/>
                <a:ea typeface="Abadi Extra Light"/>
                <a:cs typeface="Abadi Extra Light"/>
              </a:rPr>
              <a:t>NeurIPS</a:t>
            </a:r>
            <a:r>
              <a:rPr sz="1200" dirty="0">
                <a:latin typeface="Abadi Extra Light"/>
                <a:ea typeface="Abadi Extra Light"/>
                <a:cs typeface="Abadi Extra Light"/>
              </a:rPr>
              <a:t> 2017; arXiv:1706.03762.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27 - Over to Transformers and </a:t>
            </a:r>
            <a:r>
              <a:rPr dirty="0" err="1"/>
              <a:t>CrystaLLM</a:t>
            </a:r>
            <a:endParaRPr dirty="0"/>
          </a:p>
          <a:p>
            <a:endParaRPr dirty="0"/>
          </a:p>
          <a:p>
            <a:r>
              <a:rPr dirty="0"/>
              <a:t>**Approx. timing: 40 seconds**</a:t>
            </a:r>
          </a:p>
          <a:p>
            <a:endParaRPr dirty="0"/>
          </a:p>
          <a:p>
            <a:r>
              <a:rPr dirty="0"/>
              <a:t>"This is the point where Joley takes over.</a:t>
            </a:r>
          </a:p>
          <a:p>
            <a:endParaRPr dirty="0"/>
          </a:p>
          <a:p>
            <a:r>
              <a:rPr dirty="0"/>
              <a:t>We have built the ingredients: learned representations, embeddings, training by gradients, sequence models, autoregressive next-token prediction, and the need for flexible context.</a:t>
            </a:r>
          </a:p>
          <a:p>
            <a:endParaRPr dirty="0"/>
          </a:p>
          <a:p>
            <a:r>
              <a:rPr dirty="0"/>
              <a:t>Joley will now take the attention idea and build it into transformer blocks. Then she will connect those blocks to CIF tokens and pretrained </a:t>
            </a:r>
            <a:r>
              <a:rPr dirty="0" err="1"/>
              <a:t>CrystaLLM</a:t>
            </a:r>
            <a:r>
              <a:rPr dirty="0"/>
              <a:t> generation.</a:t>
            </a:r>
          </a:p>
          <a:p>
            <a:endParaRPr dirty="0"/>
          </a:p>
          <a:p>
            <a:r>
              <a:rPr dirty="0"/>
              <a:t>So mentally, keep this chain in mind: representation learning gives us embeddings; sequence modelling gives us next-token prediction; attention gives each token access to useful context; transformers package that into the architecture used by modern language models."</a:t>
            </a:r>
          </a:p>
          <a:p>
            <a:endParaRPr dirty="0"/>
          </a:p>
          <a:p>
            <a:r>
              <a:rPr dirty="0"/>
              <a:t>**Transition:**</a:t>
            </a:r>
          </a:p>
          <a:p>
            <a:endParaRPr dirty="0"/>
          </a:p>
          <a:p>
            <a:r>
              <a:rPr dirty="0"/>
              <a:t>"Before I hand over, I will close with the five takeaways from part 1."</a:t>
            </a:r>
          </a:p>
          <a:p>
            <a:endParaRPr dirty="0"/>
          </a:p>
          <a:p>
            <a:r>
              <a:rPr dirty="0"/>
              <a:t>[Sources]</a:t>
            </a:r>
          </a:p>
          <a:p>
            <a:r>
              <a:rPr dirty="0"/>
              <a:t>- Vaswani et al., Attention Is All You Need, </a:t>
            </a:r>
            <a:r>
              <a:rPr dirty="0" err="1"/>
              <a:t>NeurIPS</a:t>
            </a:r>
            <a:r>
              <a:rPr dirty="0"/>
              <a:t> 2017; arXiv:1706.03762.</a:t>
            </a:r>
          </a:p>
          <a:p>
            <a:r>
              <a:rPr dirty="0"/>
              <a:t>- Antunes, Butler, and Grau-Crespo, Crystal structure generation with autoregressive large language modeling, Nature Communications 15, 10570, 2024.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28 - Part 1 Takeaways</a:t>
            </a:r>
          </a:p>
          <a:p>
            <a:endParaRPr dirty="0"/>
          </a:p>
          <a:p>
            <a:r>
              <a:rPr dirty="0"/>
              <a:t>**Approx. timing: 1 minute 20 seconds**</a:t>
            </a:r>
          </a:p>
          <a:p>
            <a:endParaRPr dirty="0"/>
          </a:p>
          <a:p>
            <a:r>
              <a:rPr dirty="0"/>
              <a:t>"The five things I want to stay in working memory are these.</a:t>
            </a:r>
          </a:p>
          <a:p>
            <a:endParaRPr dirty="0"/>
          </a:p>
          <a:p>
            <a:r>
              <a:rPr dirty="0"/>
              <a:t>First, deep learning learns representations, not just labels. A lot of the power is in the internal vectors the model learns to build.</a:t>
            </a:r>
          </a:p>
          <a:p>
            <a:endParaRPr dirty="0"/>
          </a:p>
          <a:p>
            <a:r>
              <a:rPr dirty="0"/>
              <a:t>Second, embeddings are learned vectors whose geometry matters. The individual dimensions do not need to be human-interpretable for the vector space to be useful.</a:t>
            </a:r>
          </a:p>
          <a:p>
            <a:endParaRPr dirty="0"/>
          </a:p>
          <a:p>
            <a:r>
              <a:rPr dirty="0"/>
              <a:t>Third, training is loss </a:t>
            </a:r>
            <a:r>
              <a:rPr dirty="0" err="1"/>
              <a:t>minimisation</a:t>
            </a:r>
            <a:r>
              <a:rPr dirty="0"/>
              <a:t> by gradients. The model predicts, the loss scores the error, backpropagation computes gradients, and the </a:t>
            </a:r>
            <a:r>
              <a:rPr dirty="0" err="1"/>
              <a:t>optimiser</a:t>
            </a:r>
            <a:r>
              <a:rPr dirty="0"/>
              <a:t> updates parameters.</a:t>
            </a:r>
          </a:p>
          <a:p>
            <a:endParaRPr dirty="0"/>
          </a:p>
          <a:p>
            <a:r>
              <a:rPr dirty="0"/>
              <a:t>Fourth, sequences need architectures that handle order and context. Fixed-length MLPs are a starting point, but language and CIFs are variable-length ordered data.</a:t>
            </a:r>
          </a:p>
          <a:p>
            <a:endParaRPr dirty="0"/>
          </a:p>
          <a:p>
            <a:r>
              <a:rPr dirty="0"/>
              <a:t>Fifth, autoregressive models generate by repeated next-token prediction. For CIFs, that turns a language model into a generator of candidate crystal structures.</a:t>
            </a:r>
          </a:p>
          <a:p>
            <a:endParaRPr dirty="0"/>
          </a:p>
          <a:p>
            <a:r>
              <a:rPr dirty="0"/>
              <a:t>The next section starts from the final line: attention gives every token a controlled way to use the rest of the sequence."</a:t>
            </a:r>
          </a:p>
          <a:p>
            <a:endParaRPr dirty="0"/>
          </a:p>
          <a:p>
            <a:r>
              <a:rPr dirty="0"/>
              <a:t>**Closing handoff:**</a:t>
            </a:r>
          </a:p>
          <a:p>
            <a:endParaRPr dirty="0"/>
          </a:p>
          <a:p>
            <a:r>
              <a:rPr dirty="0"/>
              <a:t>"With that, I will hand over to Joley for attention, transformers, and </a:t>
            </a:r>
            <a:r>
              <a:rPr dirty="0" err="1"/>
              <a:t>CrystaLLM</a:t>
            </a:r>
            <a:r>
              <a:rPr dirty="0"/>
              <a:t>."</a:t>
            </a:r>
          </a:p>
          <a:p>
            <a:endParaRPr dirty="0"/>
          </a:p>
          <a:p>
            <a:r>
              <a:rPr dirty="0"/>
              <a:t>[Sources]</a:t>
            </a:r>
          </a:p>
          <a:p>
            <a:r>
              <a:rPr dirty="0"/>
              <a:t>- Goodfellow, Bengio, and Courville, Deep Learning, MIT Press, 2016.</a:t>
            </a:r>
          </a:p>
          <a:p>
            <a:r>
              <a:rPr dirty="0"/>
              <a:t>- Bengio, Courville, and Vincent, Representation Learning: A Review and New Perspectives, IEEE TPAMI 35(8), 1798-1828, 2013.</a:t>
            </a:r>
          </a:p>
          <a:p>
            <a:r>
              <a:rPr dirty="0"/>
              <a:t>- Vaswani et al., Attention Is All You Need, </a:t>
            </a:r>
            <a:r>
              <a:rPr dirty="0" err="1"/>
              <a:t>NeurIPS</a:t>
            </a:r>
            <a:r>
              <a:rPr dirty="0"/>
              <a:t> 2017; arXiv:1706.03762.</a:t>
            </a:r>
          </a:p>
          <a:p>
            <a:r>
              <a:rPr dirty="0"/>
              <a:t>- Antunes, Butler, and Grau-Crespo, Crystal structure generation with autoregressive large language modeling, Nature Communications 15, 10570, 2024.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2.xml"/><Relationship Id="rId4" Type="http://schemas.openxmlformats.org/officeDocument/2006/relationships/image" Target="../media/image8.svg"/></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3C9ED-085F-C4F3-61E2-4CA5E66E4BCE}"/>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BBE5AFEE-8C0C-1B3B-FE4A-8A21A387D8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29DD97EA-CB09-FD0A-1094-B38E6DA034C8}"/>
              </a:ext>
            </a:extLst>
          </p:cNvPr>
          <p:cNvSpPr>
            <a:spLocks noGrp="1"/>
          </p:cNvSpPr>
          <p:nvPr>
            <p:ph type="dt" idx="10"/>
          </p:nvPr>
        </p:nvSpPr>
        <p:spPr/>
        <p:txBody>
          <a:bodyPr/>
          <a:lstStyle/>
          <a:p>
            <a:fld id="{4AAD737D-49FC-4931-8044-95F5E6B6FF62}" type="datetime1">
              <a:t>7/29/2026</a:t>
            </a:fld>
            <a:endParaRPr/>
          </a:p>
        </p:txBody>
      </p:sp>
      <p:sp>
        <p:nvSpPr>
          <p:cNvPr id="5" name="Footer Placeholder 4">
            <a:extLst>
              <a:ext uri="{FF2B5EF4-FFF2-40B4-BE49-F238E27FC236}">
                <a16:creationId xmlns:a16="http://schemas.microsoft.com/office/drawing/2014/main" id="{C0886505-5AD1-ED78-F967-069C4B2F0B58}"/>
              </a:ext>
            </a:extLst>
          </p:cNvPr>
          <p:cNvSpPr>
            <a:spLocks noGrp="1"/>
          </p:cNvSpPr>
          <p:nvPr>
            <p:ph type="ftr" idx="11"/>
          </p:nvPr>
        </p:nvSpPr>
        <p:spPr/>
        <p:txBody>
          <a:bodyPr/>
          <a:lstStyle/>
          <a:p>
            <a:r>
              <a:t>Introduction to Deep Learning - PSDI &amp; Royce Materials Data Summit</a:t>
            </a:r>
          </a:p>
        </p:txBody>
      </p:sp>
      <p:sp>
        <p:nvSpPr>
          <p:cNvPr id="6" name="Slide Number Placeholder 5">
            <a:extLst>
              <a:ext uri="{FF2B5EF4-FFF2-40B4-BE49-F238E27FC236}">
                <a16:creationId xmlns:a16="http://schemas.microsoft.com/office/drawing/2014/main" id="{750AAFFF-D826-B3F2-E96A-C44042943051}"/>
              </a:ext>
            </a:extLst>
          </p:cNvPr>
          <p:cNvSpPr>
            <a:spLocks noGrp="1"/>
          </p:cNvSpPr>
          <p:nvPr>
            <p:ph type="sldNum" idx="12"/>
          </p:nvPr>
        </p:nvSpPr>
        <p:spPr/>
        <p:txBody>
          <a:bodyPr/>
          <a:lstStyle/>
          <a:p>
            <a:fld id="{9BAE28AA-A9BE-496E-A55F-EE330C3CEB4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7AEB9-ADDE-2F09-7B96-B439191F32BF}"/>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33B92F86-85A6-7428-F2F1-6E5846334F89}"/>
              </a:ext>
            </a:extLst>
          </p:cNvPr>
          <p:cNvSpPr>
            <a:spLocks noGrp="1"/>
          </p:cNvSpPr>
          <p:nvPr>
            <p:ph idx="1"/>
          </p:nvPr>
        </p:nvSpPr>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B933E0B0-EF4F-97BF-F42E-BFC20C088C3C}"/>
              </a:ext>
            </a:extLst>
          </p:cNvPr>
          <p:cNvSpPr>
            <a:spLocks noGrp="1"/>
          </p:cNvSpPr>
          <p:nvPr>
            <p:ph type="dt" idx="10"/>
          </p:nvPr>
        </p:nvSpPr>
        <p:spPr/>
        <p:txBody>
          <a:bodyPr/>
          <a:lstStyle/>
          <a:p>
            <a:fld id="{A8BE690D-6B60-435F-8D67-968E335AF7A4}" type="datetime1">
              <a:t>7/29/2026</a:t>
            </a:fld>
            <a:endParaRPr/>
          </a:p>
        </p:txBody>
      </p:sp>
      <p:sp>
        <p:nvSpPr>
          <p:cNvPr id="5" name="Footer Placeholder 4">
            <a:extLst>
              <a:ext uri="{FF2B5EF4-FFF2-40B4-BE49-F238E27FC236}">
                <a16:creationId xmlns:a16="http://schemas.microsoft.com/office/drawing/2014/main" id="{03585B35-18C2-676E-F1D1-F925B47B9601}"/>
              </a:ext>
            </a:extLst>
          </p:cNvPr>
          <p:cNvSpPr>
            <a:spLocks noGrp="1"/>
          </p:cNvSpPr>
          <p:nvPr>
            <p:ph type="ftr" idx="11"/>
          </p:nvPr>
        </p:nvSpPr>
        <p:spPr/>
        <p:txBody>
          <a:bodyPr/>
          <a:lstStyle/>
          <a:p>
            <a:r>
              <a:t>Introduction to Deep Learning - PSDI &amp; Royce Materials Data Summit</a:t>
            </a:r>
          </a:p>
        </p:txBody>
      </p:sp>
      <p:sp>
        <p:nvSpPr>
          <p:cNvPr id="6" name="Slide Number Placeholder 5">
            <a:extLst>
              <a:ext uri="{FF2B5EF4-FFF2-40B4-BE49-F238E27FC236}">
                <a16:creationId xmlns:a16="http://schemas.microsoft.com/office/drawing/2014/main" id="{36CED932-4799-0DAE-EB04-AC0934218981}"/>
              </a:ext>
            </a:extLst>
          </p:cNvPr>
          <p:cNvSpPr>
            <a:spLocks noGrp="1"/>
          </p:cNvSpPr>
          <p:nvPr>
            <p:ph type="sldNum" idx="12"/>
          </p:nvPr>
        </p:nvSpPr>
        <p:spPr/>
        <p:txBody>
          <a:bodyPr/>
          <a:lstStyle/>
          <a:p>
            <a:fld id="{9BAE28AA-A9BE-496E-A55F-EE330C3CEB4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94A72-AF39-8411-239E-2D78595EB139}"/>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95975DA7-DD5B-218F-717F-6176DB4F800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a:buNone/>
            </a:pPr>
            <a:r>
              <a:t>Click to edit Master text styles</a:t>
            </a:r>
          </a:p>
        </p:txBody>
      </p:sp>
      <p:sp>
        <p:nvSpPr>
          <p:cNvPr id="4" name="Date Placeholder 3">
            <a:extLst>
              <a:ext uri="{FF2B5EF4-FFF2-40B4-BE49-F238E27FC236}">
                <a16:creationId xmlns:a16="http://schemas.microsoft.com/office/drawing/2014/main" id="{0558A1AF-C566-656D-EEAA-48E6825EBA1E}"/>
              </a:ext>
            </a:extLst>
          </p:cNvPr>
          <p:cNvSpPr>
            <a:spLocks noGrp="1"/>
          </p:cNvSpPr>
          <p:nvPr>
            <p:ph type="dt" idx="10"/>
          </p:nvPr>
        </p:nvSpPr>
        <p:spPr/>
        <p:txBody>
          <a:bodyPr/>
          <a:lstStyle/>
          <a:p>
            <a:fld id="{E18D2B00-560F-4598-A72C-65DD2B6AFE59}" type="datetime1">
              <a:t>7/29/2026</a:t>
            </a:fld>
            <a:endParaRPr/>
          </a:p>
        </p:txBody>
      </p:sp>
      <p:sp>
        <p:nvSpPr>
          <p:cNvPr id="5" name="Footer Placeholder 4">
            <a:extLst>
              <a:ext uri="{FF2B5EF4-FFF2-40B4-BE49-F238E27FC236}">
                <a16:creationId xmlns:a16="http://schemas.microsoft.com/office/drawing/2014/main" id="{33ADAA2A-D90C-E793-57EC-F920F58942B7}"/>
              </a:ext>
            </a:extLst>
          </p:cNvPr>
          <p:cNvSpPr>
            <a:spLocks noGrp="1"/>
          </p:cNvSpPr>
          <p:nvPr>
            <p:ph type="ftr" idx="11"/>
          </p:nvPr>
        </p:nvSpPr>
        <p:spPr/>
        <p:txBody>
          <a:bodyPr/>
          <a:lstStyle/>
          <a:p>
            <a:r>
              <a:t>Introduction to Deep Learning - PSDI &amp; Royce Materials Data Summit</a:t>
            </a:r>
          </a:p>
        </p:txBody>
      </p:sp>
      <p:sp>
        <p:nvSpPr>
          <p:cNvPr id="6" name="Slide Number Placeholder 5">
            <a:extLst>
              <a:ext uri="{FF2B5EF4-FFF2-40B4-BE49-F238E27FC236}">
                <a16:creationId xmlns:a16="http://schemas.microsoft.com/office/drawing/2014/main" id="{697A8789-FE51-AC75-CF40-D5F27A815677}"/>
              </a:ext>
            </a:extLst>
          </p:cNvPr>
          <p:cNvSpPr>
            <a:spLocks noGrp="1"/>
          </p:cNvSpPr>
          <p:nvPr>
            <p:ph type="sldNum" idx="12"/>
          </p:nvPr>
        </p:nvSpPr>
        <p:spPr/>
        <p:txBody>
          <a:bodyPr/>
          <a:lstStyle/>
          <a:p>
            <a:fld id="{9BAE28AA-A9BE-496E-A55F-EE330C3CEB4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F4A40-F7B8-1F29-EBE5-B9F74938FB5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7412E93C-B1D1-1B02-B323-4A6B357E0E56}"/>
              </a:ext>
            </a:extLst>
          </p:cNvPr>
          <p:cNvSpPr>
            <a:spLocks noGrp="1"/>
          </p:cNvSpPr>
          <p:nvPr>
            <p:ph idx="1"/>
          </p:nvPr>
        </p:nvSpPr>
        <p:spPr>
          <a:xfrm>
            <a:off x="838200" y="1825625"/>
            <a:ext cx="5181600" cy="4351338"/>
          </a:xfr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Content Placeholder 3">
            <a:extLst>
              <a:ext uri="{FF2B5EF4-FFF2-40B4-BE49-F238E27FC236}">
                <a16:creationId xmlns:a16="http://schemas.microsoft.com/office/drawing/2014/main" id="{DF363ACD-055D-C53F-32A6-77D7F71B8025}"/>
              </a:ext>
            </a:extLst>
          </p:cNvPr>
          <p:cNvSpPr>
            <a:spLocks noGrp="1"/>
          </p:cNvSpPr>
          <p:nvPr>
            <p:ph idx="2"/>
          </p:nvPr>
        </p:nvSpPr>
        <p:spPr>
          <a:xfrm>
            <a:off x="6172200" y="1825625"/>
            <a:ext cx="5181600" cy="4351338"/>
          </a:xfr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5" name="Date Placeholder 4">
            <a:extLst>
              <a:ext uri="{FF2B5EF4-FFF2-40B4-BE49-F238E27FC236}">
                <a16:creationId xmlns:a16="http://schemas.microsoft.com/office/drawing/2014/main" id="{67CFF134-B80E-959F-C3EC-B5F0E55ABE08}"/>
              </a:ext>
            </a:extLst>
          </p:cNvPr>
          <p:cNvSpPr>
            <a:spLocks noGrp="1"/>
          </p:cNvSpPr>
          <p:nvPr>
            <p:ph type="dt" idx="10"/>
          </p:nvPr>
        </p:nvSpPr>
        <p:spPr/>
        <p:txBody>
          <a:bodyPr/>
          <a:lstStyle/>
          <a:p>
            <a:fld id="{87A6D153-A536-4354-AC9C-B3D2ADE9B5A7}" type="datetime1">
              <a:t>7/29/2026</a:t>
            </a:fld>
            <a:endParaRPr/>
          </a:p>
        </p:txBody>
      </p:sp>
      <p:sp>
        <p:nvSpPr>
          <p:cNvPr id="6" name="Footer Placeholder 5">
            <a:extLst>
              <a:ext uri="{FF2B5EF4-FFF2-40B4-BE49-F238E27FC236}">
                <a16:creationId xmlns:a16="http://schemas.microsoft.com/office/drawing/2014/main" id="{0D863096-3316-7C9A-C3FF-1653398D52C9}"/>
              </a:ext>
            </a:extLst>
          </p:cNvPr>
          <p:cNvSpPr>
            <a:spLocks noGrp="1"/>
          </p:cNvSpPr>
          <p:nvPr>
            <p:ph type="ftr" idx="11"/>
          </p:nvPr>
        </p:nvSpPr>
        <p:spPr/>
        <p:txBody>
          <a:bodyPr/>
          <a:lstStyle/>
          <a:p>
            <a:r>
              <a:t>Introduction to Deep Learning - PSDI &amp; Royce Materials Data Summit</a:t>
            </a:r>
          </a:p>
        </p:txBody>
      </p:sp>
      <p:sp>
        <p:nvSpPr>
          <p:cNvPr id="7" name="Slide Number Placeholder 6">
            <a:extLst>
              <a:ext uri="{FF2B5EF4-FFF2-40B4-BE49-F238E27FC236}">
                <a16:creationId xmlns:a16="http://schemas.microsoft.com/office/drawing/2014/main" id="{B1B868F6-6F10-45B2-6CF5-1BAC3B597A24}"/>
              </a:ext>
            </a:extLst>
          </p:cNvPr>
          <p:cNvSpPr>
            <a:spLocks noGrp="1"/>
          </p:cNvSpPr>
          <p:nvPr>
            <p:ph type="sldNum" idx="12"/>
          </p:nvPr>
        </p:nvSpPr>
        <p:spPr/>
        <p:txBody>
          <a:bodyPr/>
          <a:lstStyle/>
          <a:p>
            <a:fld id="{9BAE28AA-A9BE-496E-A55F-EE330C3CEB4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17FCA-A6E8-6B68-67C4-3493B59DA051}"/>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ACE8D10F-F755-1D8E-9B45-1EDDC7EA1E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 Master text styles</a:t>
            </a:r>
          </a:p>
        </p:txBody>
      </p:sp>
      <p:sp>
        <p:nvSpPr>
          <p:cNvPr id="4" name="Content Placeholder 3">
            <a:extLst>
              <a:ext uri="{FF2B5EF4-FFF2-40B4-BE49-F238E27FC236}">
                <a16:creationId xmlns:a16="http://schemas.microsoft.com/office/drawing/2014/main" id="{EC630A4B-3A2E-EF02-79A7-DBFABED26ECD}"/>
              </a:ext>
            </a:extLst>
          </p:cNvPr>
          <p:cNvSpPr>
            <a:spLocks noGrp="1"/>
          </p:cNvSpPr>
          <p:nvPr>
            <p:ph idx="2"/>
          </p:nvPr>
        </p:nvSpPr>
        <p:spPr>
          <a:xfrm>
            <a:off x="839788" y="2505075"/>
            <a:ext cx="5157787" cy="3684588"/>
          </a:xfr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5" name="Text Placeholder 4">
            <a:extLst>
              <a:ext uri="{FF2B5EF4-FFF2-40B4-BE49-F238E27FC236}">
                <a16:creationId xmlns:a16="http://schemas.microsoft.com/office/drawing/2014/main" id="{9B2F6ED3-41C9-B403-1073-A34173C95282}"/>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 Master text styles</a:t>
            </a:r>
          </a:p>
        </p:txBody>
      </p:sp>
      <p:sp>
        <p:nvSpPr>
          <p:cNvPr id="6" name="Content Placeholder 5">
            <a:extLst>
              <a:ext uri="{FF2B5EF4-FFF2-40B4-BE49-F238E27FC236}">
                <a16:creationId xmlns:a16="http://schemas.microsoft.com/office/drawing/2014/main" id="{6B885F55-4691-32B2-2156-05717555ED8D}"/>
              </a:ext>
            </a:extLst>
          </p:cNvPr>
          <p:cNvSpPr>
            <a:spLocks noGrp="1"/>
          </p:cNvSpPr>
          <p:nvPr>
            <p:ph idx="4"/>
          </p:nvPr>
        </p:nvSpPr>
        <p:spPr>
          <a:xfrm>
            <a:off x="6172200" y="2505075"/>
            <a:ext cx="5183188" cy="3684588"/>
          </a:xfrm>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7" name="Date Placeholder 6">
            <a:extLst>
              <a:ext uri="{FF2B5EF4-FFF2-40B4-BE49-F238E27FC236}">
                <a16:creationId xmlns:a16="http://schemas.microsoft.com/office/drawing/2014/main" id="{4904831A-B980-1B29-D71D-A088E25E37E2}"/>
              </a:ext>
            </a:extLst>
          </p:cNvPr>
          <p:cNvSpPr>
            <a:spLocks noGrp="1"/>
          </p:cNvSpPr>
          <p:nvPr>
            <p:ph type="dt" idx="10"/>
          </p:nvPr>
        </p:nvSpPr>
        <p:spPr/>
        <p:txBody>
          <a:bodyPr/>
          <a:lstStyle/>
          <a:p>
            <a:fld id="{25CB44C7-FFF1-4AE5-BE08-00AC9CA8FEF6}" type="datetime1">
              <a:t>7/29/2026</a:t>
            </a:fld>
            <a:endParaRPr/>
          </a:p>
        </p:txBody>
      </p:sp>
      <p:sp>
        <p:nvSpPr>
          <p:cNvPr id="8" name="Footer Placeholder 7">
            <a:extLst>
              <a:ext uri="{FF2B5EF4-FFF2-40B4-BE49-F238E27FC236}">
                <a16:creationId xmlns:a16="http://schemas.microsoft.com/office/drawing/2014/main" id="{882D8C89-C352-6E57-AF9B-49BE214CA5DB}"/>
              </a:ext>
            </a:extLst>
          </p:cNvPr>
          <p:cNvSpPr>
            <a:spLocks noGrp="1"/>
          </p:cNvSpPr>
          <p:nvPr>
            <p:ph type="ftr" idx="11"/>
          </p:nvPr>
        </p:nvSpPr>
        <p:spPr/>
        <p:txBody>
          <a:bodyPr/>
          <a:lstStyle/>
          <a:p>
            <a:r>
              <a:t>Introduction to Deep Learning - PSDI &amp; Royce Materials Data Summit</a:t>
            </a:r>
          </a:p>
        </p:txBody>
      </p:sp>
      <p:sp>
        <p:nvSpPr>
          <p:cNvPr id="9" name="Slide Number Placeholder 8">
            <a:extLst>
              <a:ext uri="{FF2B5EF4-FFF2-40B4-BE49-F238E27FC236}">
                <a16:creationId xmlns:a16="http://schemas.microsoft.com/office/drawing/2014/main" id="{0D8F0BC7-4196-5E48-7AA3-C216A3958EAA}"/>
              </a:ext>
            </a:extLst>
          </p:cNvPr>
          <p:cNvSpPr>
            <a:spLocks noGrp="1"/>
          </p:cNvSpPr>
          <p:nvPr>
            <p:ph type="sldNum" idx="12"/>
          </p:nvPr>
        </p:nvSpPr>
        <p:spPr/>
        <p:txBody>
          <a:bodyPr/>
          <a:lstStyle/>
          <a:p>
            <a:fld id="{9BAE28AA-A9BE-496E-A55F-EE330C3CEB4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5C4DF-559D-1424-C7B5-2B8051242FD5}"/>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B88F23A0-5E88-DD4C-F39E-A201066B699D}"/>
              </a:ext>
            </a:extLst>
          </p:cNvPr>
          <p:cNvSpPr>
            <a:spLocks noGrp="1"/>
          </p:cNvSpPr>
          <p:nvPr>
            <p:ph type="dt" idx="10"/>
          </p:nvPr>
        </p:nvSpPr>
        <p:spPr/>
        <p:txBody>
          <a:bodyPr/>
          <a:lstStyle/>
          <a:p>
            <a:fld id="{DF77C250-42C0-4147-BEDD-AE284B3C5684}" type="datetime1">
              <a:t>7/29/2026</a:t>
            </a:fld>
            <a:endParaRPr/>
          </a:p>
        </p:txBody>
      </p:sp>
      <p:sp>
        <p:nvSpPr>
          <p:cNvPr id="4" name="Footer Placeholder 3">
            <a:extLst>
              <a:ext uri="{FF2B5EF4-FFF2-40B4-BE49-F238E27FC236}">
                <a16:creationId xmlns:a16="http://schemas.microsoft.com/office/drawing/2014/main" id="{EE037821-C967-DE60-7F59-2CEFC1F258FC}"/>
              </a:ext>
            </a:extLst>
          </p:cNvPr>
          <p:cNvSpPr>
            <a:spLocks noGrp="1"/>
          </p:cNvSpPr>
          <p:nvPr>
            <p:ph type="ftr" idx="11"/>
          </p:nvPr>
        </p:nvSpPr>
        <p:spPr/>
        <p:txBody>
          <a:bodyPr/>
          <a:lstStyle/>
          <a:p>
            <a:r>
              <a:t>Introduction to Deep Learning - PSDI &amp; Royce Materials Data Summit</a:t>
            </a:r>
          </a:p>
        </p:txBody>
      </p:sp>
      <p:sp>
        <p:nvSpPr>
          <p:cNvPr id="5" name="Slide Number Placeholder 4">
            <a:extLst>
              <a:ext uri="{FF2B5EF4-FFF2-40B4-BE49-F238E27FC236}">
                <a16:creationId xmlns:a16="http://schemas.microsoft.com/office/drawing/2014/main" id="{FB04910D-448D-9B3A-B1F3-1F82FDDFB5CE}"/>
              </a:ext>
            </a:extLst>
          </p:cNvPr>
          <p:cNvSpPr>
            <a:spLocks noGrp="1"/>
          </p:cNvSpPr>
          <p:nvPr>
            <p:ph type="sldNum" idx="12"/>
          </p:nvPr>
        </p:nvSpPr>
        <p:spPr/>
        <p:txBody>
          <a:bodyPr/>
          <a:lstStyle/>
          <a:p>
            <a:fld id="{9BAE28AA-A9BE-496E-A55F-EE330C3CEB4B}"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0E5046-0AE8-6844-607F-F698E727FA43}"/>
              </a:ext>
            </a:extLst>
          </p:cNvPr>
          <p:cNvSpPr>
            <a:spLocks noGrp="1"/>
          </p:cNvSpPr>
          <p:nvPr>
            <p:ph type="dt" idx="10"/>
          </p:nvPr>
        </p:nvSpPr>
        <p:spPr/>
        <p:txBody>
          <a:bodyPr/>
          <a:lstStyle/>
          <a:p>
            <a:fld id="{3D4BA764-4259-4888-A41E-9EFA14276F87}" type="datetime1">
              <a:t>7/29/2026</a:t>
            </a:fld>
            <a:endParaRPr/>
          </a:p>
        </p:txBody>
      </p:sp>
      <p:sp>
        <p:nvSpPr>
          <p:cNvPr id="3" name="Footer Placeholder 2">
            <a:extLst>
              <a:ext uri="{FF2B5EF4-FFF2-40B4-BE49-F238E27FC236}">
                <a16:creationId xmlns:a16="http://schemas.microsoft.com/office/drawing/2014/main" id="{9A6F8109-B679-6466-5E6F-94D7771CDFFC}"/>
              </a:ext>
            </a:extLst>
          </p:cNvPr>
          <p:cNvSpPr>
            <a:spLocks noGrp="1"/>
          </p:cNvSpPr>
          <p:nvPr>
            <p:ph type="ftr" idx="11"/>
          </p:nvPr>
        </p:nvSpPr>
        <p:spPr/>
        <p:txBody>
          <a:bodyPr/>
          <a:lstStyle/>
          <a:p>
            <a:r>
              <a:t>Introduction to Deep Learning - PSDI &amp; Royce Materials Data Summit</a:t>
            </a:r>
          </a:p>
        </p:txBody>
      </p:sp>
      <p:sp>
        <p:nvSpPr>
          <p:cNvPr id="4" name="Slide Number Placeholder 3">
            <a:extLst>
              <a:ext uri="{FF2B5EF4-FFF2-40B4-BE49-F238E27FC236}">
                <a16:creationId xmlns:a16="http://schemas.microsoft.com/office/drawing/2014/main" id="{02230894-FC6D-264F-86C3-D9DCC042EC39}"/>
              </a:ext>
            </a:extLst>
          </p:cNvPr>
          <p:cNvSpPr>
            <a:spLocks noGrp="1"/>
          </p:cNvSpPr>
          <p:nvPr>
            <p:ph type="sldNum" idx="12"/>
          </p:nvPr>
        </p:nvSpPr>
        <p:spPr/>
        <p:txBody>
          <a:bodyPr/>
          <a:lstStyle/>
          <a:p>
            <a:fld id="{9BAE28AA-A9BE-496E-A55F-EE330C3CEB4B}"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61019-7C8A-4456-6045-1B18F00BDF27}"/>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321DACCC-352B-56EF-A72A-FE18A984AC65}"/>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Text Placeholder 3">
            <a:extLst>
              <a:ext uri="{FF2B5EF4-FFF2-40B4-BE49-F238E27FC236}">
                <a16:creationId xmlns:a16="http://schemas.microsoft.com/office/drawing/2014/main" id="{8A855F9D-E2E6-38C3-62BC-03F04BB484D2}"/>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Click to edit Master text styles</a:t>
            </a:r>
          </a:p>
        </p:txBody>
      </p:sp>
      <p:sp>
        <p:nvSpPr>
          <p:cNvPr id="5" name="Date Placeholder 4">
            <a:extLst>
              <a:ext uri="{FF2B5EF4-FFF2-40B4-BE49-F238E27FC236}">
                <a16:creationId xmlns:a16="http://schemas.microsoft.com/office/drawing/2014/main" id="{EEBB95AB-B80D-F4F5-B294-198DB1662BE0}"/>
              </a:ext>
            </a:extLst>
          </p:cNvPr>
          <p:cNvSpPr>
            <a:spLocks noGrp="1"/>
          </p:cNvSpPr>
          <p:nvPr>
            <p:ph type="dt" idx="10"/>
          </p:nvPr>
        </p:nvSpPr>
        <p:spPr/>
        <p:txBody>
          <a:bodyPr/>
          <a:lstStyle/>
          <a:p>
            <a:fld id="{7D76D347-FC17-42B9-8F7F-762C11D6AFD2}" type="datetime1">
              <a:t>7/29/2026</a:t>
            </a:fld>
            <a:endParaRPr/>
          </a:p>
        </p:txBody>
      </p:sp>
      <p:sp>
        <p:nvSpPr>
          <p:cNvPr id="6" name="Footer Placeholder 5">
            <a:extLst>
              <a:ext uri="{FF2B5EF4-FFF2-40B4-BE49-F238E27FC236}">
                <a16:creationId xmlns:a16="http://schemas.microsoft.com/office/drawing/2014/main" id="{77E4C70D-D269-6906-FE47-D3147B3381CE}"/>
              </a:ext>
            </a:extLst>
          </p:cNvPr>
          <p:cNvSpPr>
            <a:spLocks noGrp="1"/>
          </p:cNvSpPr>
          <p:nvPr>
            <p:ph type="ftr" idx="11"/>
          </p:nvPr>
        </p:nvSpPr>
        <p:spPr/>
        <p:txBody>
          <a:bodyPr/>
          <a:lstStyle/>
          <a:p>
            <a:r>
              <a:t>Introduction to Deep Learning - PSDI &amp; Royce Materials Data Summit</a:t>
            </a:r>
          </a:p>
        </p:txBody>
      </p:sp>
      <p:sp>
        <p:nvSpPr>
          <p:cNvPr id="7" name="Slide Number Placeholder 6">
            <a:extLst>
              <a:ext uri="{FF2B5EF4-FFF2-40B4-BE49-F238E27FC236}">
                <a16:creationId xmlns:a16="http://schemas.microsoft.com/office/drawing/2014/main" id="{716B695E-9A0F-66C7-5429-8AF537397911}"/>
              </a:ext>
            </a:extLst>
          </p:cNvPr>
          <p:cNvSpPr>
            <a:spLocks noGrp="1"/>
          </p:cNvSpPr>
          <p:nvPr>
            <p:ph type="sldNum" idx="12"/>
          </p:nvPr>
        </p:nvSpPr>
        <p:spPr/>
        <p:txBody>
          <a:bodyPr/>
          <a:lstStyle/>
          <a:p>
            <a:fld id="{9BAE28AA-A9BE-496E-A55F-EE330C3CEB4B}"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B7D6E-D909-9494-F944-B6A4C51DAEA3}"/>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18E7D687-4719-7117-6AF2-22A4E546AC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4437691D-A523-4567-362A-2D7282D28C7F}"/>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Click to edit Master text styles</a:t>
            </a:r>
          </a:p>
        </p:txBody>
      </p:sp>
      <p:sp>
        <p:nvSpPr>
          <p:cNvPr id="5" name="Date Placeholder 4">
            <a:extLst>
              <a:ext uri="{FF2B5EF4-FFF2-40B4-BE49-F238E27FC236}">
                <a16:creationId xmlns:a16="http://schemas.microsoft.com/office/drawing/2014/main" id="{D3B5A845-C0D3-3903-D310-DDB377CB8186}"/>
              </a:ext>
            </a:extLst>
          </p:cNvPr>
          <p:cNvSpPr>
            <a:spLocks noGrp="1"/>
          </p:cNvSpPr>
          <p:nvPr>
            <p:ph type="dt" idx="10"/>
          </p:nvPr>
        </p:nvSpPr>
        <p:spPr/>
        <p:txBody>
          <a:bodyPr/>
          <a:lstStyle/>
          <a:p>
            <a:fld id="{1001E8DF-12A5-4377-8661-A77C58EB4EDA}" type="datetime1">
              <a:t>7/29/2026</a:t>
            </a:fld>
            <a:endParaRPr/>
          </a:p>
        </p:txBody>
      </p:sp>
      <p:sp>
        <p:nvSpPr>
          <p:cNvPr id="6" name="Footer Placeholder 5">
            <a:extLst>
              <a:ext uri="{FF2B5EF4-FFF2-40B4-BE49-F238E27FC236}">
                <a16:creationId xmlns:a16="http://schemas.microsoft.com/office/drawing/2014/main" id="{AC99E784-7DBB-A7C2-3AB1-879D85054605}"/>
              </a:ext>
            </a:extLst>
          </p:cNvPr>
          <p:cNvSpPr>
            <a:spLocks noGrp="1"/>
          </p:cNvSpPr>
          <p:nvPr>
            <p:ph type="ftr" idx="11"/>
          </p:nvPr>
        </p:nvSpPr>
        <p:spPr/>
        <p:txBody>
          <a:bodyPr/>
          <a:lstStyle/>
          <a:p>
            <a:r>
              <a:t>Introduction to Deep Learning - PSDI &amp; Royce Materials Data Summit</a:t>
            </a:r>
          </a:p>
        </p:txBody>
      </p:sp>
      <p:sp>
        <p:nvSpPr>
          <p:cNvPr id="7" name="Slide Number Placeholder 6">
            <a:extLst>
              <a:ext uri="{FF2B5EF4-FFF2-40B4-BE49-F238E27FC236}">
                <a16:creationId xmlns:a16="http://schemas.microsoft.com/office/drawing/2014/main" id="{DE439C60-4764-710B-5A93-C809BA3DCF3A}"/>
              </a:ext>
            </a:extLst>
          </p:cNvPr>
          <p:cNvSpPr>
            <a:spLocks noGrp="1"/>
          </p:cNvSpPr>
          <p:nvPr>
            <p:ph type="sldNum" idx="12"/>
          </p:nvPr>
        </p:nvSpPr>
        <p:spPr/>
        <p:txBody>
          <a:bodyPr/>
          <a:lstStyle/>
          <a:p>
            <a:fld id="{9BAE28AA-A9BE-496E-A55F-EE330C3CEB4B}"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A219F-98D6-B59C-E3F6-B059EE7AA021}"/>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FB1FFB5F-E83E-0E7E-3B3B-C6CD7007652E}"/>
              </a:ext>
            </a:extLst>
          </p:cNvPr>
          <p:cNvSpPr>
            <a:spLocks noGrp="1"/>
          </p:cNvSpPr>
          <p:nvPr>
            <p:ph type="body" idx="1"/>
          </p:nvPr>
        </p:nvSpPr>
        <p:spPr/>
        <p:txBody>
          <a:bodyPr vert="eaVert"/>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FA6F401A-EF91-5D02-A733-C2BEBB6554E1}"/>
              </a:ext>
            </a:extLst>
          </p:cNvPr>
          <p:cNvSpPr>
            <a:spLocks noGrp="1"/>
          </p:cNvSpPr>
          <p:nvPr>
            <p:ph type="dt" idx="10"/>
          </p:nvPr>
        </p:nvSpPr>
        <p:spPr/>
        <p:txBody>
          <a:bodyPr/>
          <a:lstStyle/>
          <a:p>
            <a:fld id="{6D28F3E0-6761-4F38-B0D2-D3BBAECA68B2}" type="datetime1">
              <a:t>7/29/2026</a:t>
            </a:fld>
            <a:endParaRPr/>
          </a:p>
        </p:txBody>
      </p:sp>
      <p:sp>
        <p:nvSpPr>
          <p:cNvPr id="5" name="Footer Placeholder 4">
            <a:extLst>
              <a:ext uri="{FF2B5EF4-FFF2-40B4-BE49-F238E27FC236}">
                <a16:creationId xmlns:a16="http://schemas.microsoft.com/office/drawing/2014/main" id="{7609C464-D988-F793-FF82-091FB33EE03F}"/>
              </a:ext>
            </a:extLst>
          </p:cNvPr>
          <p:cNvSpPr>
            <a:spLocks noGrp="1"/>
          </p:cNvSpPr>
          <p:nvPr>
            <p:ph type="ftr" idx="11"/>
          </p:nvPr>
        </p:nvSpPr>
        <p:spPr/>
        <p:txBody>
          <a:bodyPr/>
          <a:lstStyle/>
          <a:p>
            <a:r>
              <a:t>Introduction to Deep Learning - PSDI &amp; Royce Materials Data Summit</a:t>
            </a:r>
          </a:p>
        </p:txBody>
      </p:sp>
      <p:sp>
        <p:nvSpPr>
          <p:cNvPr id="6" name="Slide Number Placeholder 5">
            <a:extLst>
              <a:ext uri="{FF2B5EF4-FFF2-40B4-BE49-F238E27FC236}">
                <a16:creationId xmlns:a16="http://schemas.microsoft.com/office/drawing/2014/main" id="{5844CED0-6CEF-0ED5-4682-130D3B90B8A6}"/>
              </a:ext>
            </a:extLst>
          </p:cNvPr>
          <p:cNvSpPr>
            <a:spLocks noGrp="1"/>
          </p:cNvSpPr>
          <p:nvPr>
            <p:ph type="sldNum" idx="12"/>
          </p:nvPr>
        </p:nvSpPr>
        <p:spPr/>
        <p:txBody>
          <a:bodyPr/>
          <a:lstStyle/>
          <a:p>
            <a:fld id="{9BAE28AA-A9BE-496E-A55F-EE330C3CEB4B}"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38B851-1C27-F443-99CD-D1A58B668877}"/>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24DA3897-826E-1EF1-39A5-192A3EA4DADB}"/>
              </a:ext>
            </a:extLst>
          </p:cNvPr>
          <p:cNvSpPr>
            <a:spLocks noGrp="1"/>
          </p:cNvSpPr>
          <p:nvPr>
            <p:ph type="body" idx="1"/>
          </p:nvPr>
        </p:nvSpPr>
        <p:spPr>
          <a:xfrm>
            <a:off x="838200" y="365125"/>
            <a:ext cx="7734300" cy="5811838"/>
          </a:xfrm>
        </p:spPr>
        <p:txBody>
          <a:bodyPr vert="eaVert"/>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DE318F82-A067-0A0F-7893-CE448EAA9891}"/>
              </a:ext>
            </a:extLst>
          </p:cNvPr>
          <p:cNvSpPr>
            <a:spLocks noGrp="1"/>
          </p:cNvSpPr>
          <p:nvPr>
            <p:ph type="dt" idx="10"/>
          </p:nvPr>
        </p:nvSpPr>
        <p:spPr/>
        <p:txBody>
          <a:bodyPr/>
          <a:lstStyle/>
          <a:p>
            <a:fld id="{A1E64DA5-32E5-4C84-B93B-409B4F3EFA94}" type="datetime1">
              <a:t>7/29/2026</a:t>
            </a:fld>
            <a:endParaRPr/>
          </a:p>
        </p:txBody>
      </p:sp>
      <p:sp>
        <p:nvSpPr>
          <p:cNvPr id="5" name="Footer Placeholder 4">
            <a:extLst>
              <a:ext uri="{FF2B5EF4-FFF2-40B4-BE49-F238E27FC236}">
                <a16:creationId xmlns:a16="http://schemas.microsoft.com/office/drawing/2014/main" id="{7D1A03F7-E36F-1ACB-CD92-46983494EF75}"/>
              </a:ext>
            </a:extLst>
          </p:cNvPr>
          <p:cNvSpPr>
            <a:spLocks noGrp="1"/>
          </p:cNvSpPr>
          <p:nvPr>
            <p:ph type="ftr" idx="11"/>
          </p:nvPr>
        </p:nvSpPr>
        <p:spPr/>
        <p:txBody>
          <a:bodyPr/>
          <a:lstStyle/>
          <a:p>
            <a:r>
              <a:t>Introduction to Deep Learning - PSDI &amp; Royce Materials Data Summit</a:t>
            </a:r>
          </a:p>
        </p:txBody>
      </p:sp>
      <p:sp>
        <p:nvSpPr>
          <p:cNvPr id="6" name="Slide Number Placeholder 5">
            <a:extLst>
              <a:ext uri="{FF2B5EF4-FFF2-40B4-BE49-F238E27FC236}">
                <a16:creationId xmlns:a16="http://schemas.microsoft.com/office/drawing/2014/main" id="{A1B22739-70B0-C976-C81F-EA0E1E0E142B}"/>
              </a:ext>
            </a:extLst>
          </p:cNvPr>
          <p:cNvSpPr>
            <a:spLocks noGrp="1"/>
          </p:cNvSpPr>
          <p:nvPr>
            <p:ph type="sldNum" idx="12"/>
          </p:nvPr>
        </p:nvSpPr>
        <p:spPr/>
        <p:txBody>
          <a:bodyPr/>
          <a:lstStyle/>
          <a:p>
            <a:fld id="{9BAE28AA-A9BE-496E-A55F-EE330C3CEB4B}"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buNone/>
              <a:defRPr sz="3600" cap="all" spc="150"/>
            </a:lvl1pPr>
          </a:lstStyle>
          <a:p>
            <a:pPr>
              <a:buNone/>
            </a:pPr>
            <a:r>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buNone/>
            </a:pPr>
            <a:r>
              <a:t>Click to edit Master subtitle style</a:t>
            </a:r>
          </a:p>
        </p:txBody>
      </p:sp>
      <p:pic>
        <p:nvPicPr>
          <p:cNvPr id="4" name="Graphic 7"/>
          <p:cNvPicPr>
            <a:picLocks noChangeAspect="1"/>
          </p:cNvPicPr>
          <p:nvPr/>
        </p:nvPicPr>
        <p:blipFill rotWithShape="1">
          <a:blip>
            <a:extLst>
              <a:ext uri="{96DAC541-7B7A-43D3-8B79-37D633B846F1}">
                <asvg:svgBlip xmlns:asvg="http://schemas.microsoft.com/office/drawing/2016/SVG/main" r:embed="rId2"/>
              </a:ext>
            </a:extLst>
          </a:blip>
          <a:srcRect l="9358" t="23650" b="-1"/>
          <a:stretch/>
        </p:blipFill>
        <p:spPr>
          <a:xfrm>
            <a:off x="0" y="0"/>
            <a:ext cx="9488312" cy="5054323"/>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7" name="Graphic 7"/>
          <p:cNvPicPr>
            <a:picLocks noChangeAspect="1"/>
          </p:cNvPicPr>
          <p:nvPr/>
        </p:nvPicPr>
        <p:blipFill rotWithShape="1">
          <a:blip>
            <a:extLst>
              <a:ext uri="{96DAC541-7B7A-43D3-8B79-37D633B846F1}">
                <asvg:svgBlip xmlns:asvg="http://schemas.microsoft.com/office/drawing/2016/SVG/main" r:embed="rId2"/>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buNone/>
              <a:defRPr sz="2800" spc="150">
                <a:solidFill>
                  <a:schemeClr val="bg1"/>
                </a:solidFill>
              </a:defRPr>
            </a:lvl1pPr>
          </a:lstStyle>
          <a:p>
            <a:pPr>
              <a:buNone/>
            </a:pPr>
            <a:r>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bg1"/>
                </a:solidFill>
              </a:defRPr>
            </a:lvl1pPr>
            <a:lvl2pPr marL="457200" indent="0">
              <a:lnSpc>
                <a:spcPct val="120000"/>
              </a:lnSpc>
              <a:spcBef>
                <a:spcPts val="1000"/>
              </a:spcBef>
              <a:buNone/>
              <a:defRPr sz="1400">
                <a:solidFill>
                  <a:schemeClr val="bg1"/>
                </a:solidFill>
              </a:defRPr>
            </a:lvl2pPr>
            <a:lvl3pPr marL="914400" indent="0">
              <a:lnSpc>
                <a:spcPct val="120000"/>
              </a:lnSpc>
              <a:spcBef>
                <a:spcPts val="1000"/>
              </a:spcBef>
              <a:buNone/>
              <a:defRPr sz="1400">
                <a:solidFill>
                  <a:schemeClr val="bg1"/>
                </a:solidFill>
              </a:defRPr>
            </a:lvl3pPr>
            <a:lvl4pPr marL="1371600" indent="0">
              <a:lnSpc>
                <a:spcPct val="120000"/>
              </a:lnSpc>
              <a:spcBef>
                <a:spcPts val="1000"/>
              </a:spcBef>
              <a:buNone/>
              <a:defRPr sz="1400">
                <a:solidFill>
                  <a:schemeClr val="bg1"/>
                </a:solidFill>
              </a:defRPr>
            </a:lvl4pPr>
            <a:lvl5pPr marL="1828800" indent="0">
              <a:lnSpc>
                <a:spcPct val="120000"/>
              </a:lnSpc>
              <a:spcBef>
                <a:spcPts val="1000"/>
              </a:spcBef>
              <a:buNone/>
              <a:defRPr sz="1400">
                <a:solidFill>
                  <a:schemeClr val="bg1"/>
                </a:solidFill>
              </a:defRPr>
            </a:lvl5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idx="10"/>
          </p:nvPr>
        </p:nvSpPr>
        <p:spPr>
          <a:xfrm>
            <a:off x="1333500" y="6356350"/>
            <a:ext cx="985157" cy="365125"/>
          </a:xfrm>
        </p:spPr>
        <p:txBody>
          <a:bodyPr/>
          <a:lstStyle>
            <a:lvl1pPr>
              <a:buNone/>
              <a:defRPr sz="900"/>
            </a:lvl1pPr>
          </a:lstStyle>
          <a:p>
            <a:pPr>
              <a:buNone/>
            </a:pPr>
            <a:fld id="{82642433-B20B-41CB-B257-E97B7A39CF4D}" type="datetime1">
              <a:t>7/29/2026</a:t>
            </a:fld>
            <a:endParaRP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idx="11"/>
          </p:nvPr>
        </p:nvSpPr>
        <p:spPr>
          <a:xfrm>
            <a:off x="2669886" y="6356349"/>
            <a:ext cx="2482842" cy="365125"/>
          </a:xfrm>
        </p:spPr>
        <p:txBody>
          <a:bodyPr/>
          <a:lstStyle>
            <a:lvl1pPr>
              <a:buNone/>
              <a:defRPr sz="900"/>
            </a:lvl1pPr>
          </a:lstStyle>
          <a:p>
            <a:pPr>
              <a:buNone/>
            </a:pPr>
            <a:r>
              <a:t>Introduction to Deep Learning - PSDI &amp; Royce Materials Data Summit</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idx="12"/>
          </p:nvPr>
        </p:nvSpPr>
        <p:spPr>
          <a:xfrm>
            <a:off x="5536305" y="6356350"/>
            <a:ext cx="987552" cy="365125"/>
          </a:xfrm>
        </p:spPr>
        <p:txBody>
          <a:bodyPr/>
          <a:lstStyle>
            <a:lvl1pPr>
              <a:buNone/>
              <a:defRPr sz="900"/>
            </a:lvl1pPr>
          </a:lstStyle>
          <a:p>
            <a:pPr>
              <a:buNone/>
            </a:pPr>
            <a:fld id="{B5CEABB6-07DC-46E8-9B57-56EC44A396E5}"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Lst>
          </p:cNvPr>
          <p:cNvSpPr>
            <a:spLocks noGrp="1"/>
          </p:cNvSpPr>
          <p:nvPr/>
        </p:nvSpPr>
        <p:spPr>
          <a:xfrm>
            <a:off x="2113884" y="0"/>
            <a:ext cx="10078116" cy="6858000"/>
          </a:xfrm>
          <a:custGeom>
            <a:avLst/>
            <a:gdLst/>
            <a:ahLst/>
            <a:cxnLst/>
            <a:rect l="l" t="t" r="r" b="b"/>
            <a:pathLst>
              <a:path w="10078116" h="6858000">
                <a:moveTo>
                  <a:pt x="3793236" y="6858000"/>
                </a:moveTo>
                <a:lnTo>
                  <a:pt x="0" y="0"/>
                </a:lnTo>
                <a:lnTo>
                  <a:pt x="10078116" y="0"/>
                </a:lnTo>
                <a:lnTo>
                  <a:pt x="10078116" y="6858000"/>
                </a:lnTo>
                <a:close/>
              </a:path>
            </a:pathLst>
          </a:custGeom>
          <a:solidFill>
            <a:schemeClr val="accent1"/>
          </a:solidFill>
          <a:ln w="9525">
            <a:noFill/>
            <a:prstDash val="solid"/>
          </a:ln>
        </p:spPr>
        <p:txBody>
          <a:bodyPr anchor="ctr"/>
          <a:lstStyle/>
          <a:p>
            <a:pPr>
              <a:buNone/>
            </a:pPr>
            <a:endParaRPr/>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buNone/>
              <a:defRPr sz="2800" cap="all" spc="150">
                <a:solidFill>
                  <a:schemeClr val="tx1"/>
                </a:solidFill>
                <a:latin typeface="+mj-lt"/>
                <a:ea typeface="+mj-lt"/>
                <a:cs typeface="+mj-lt"/>
              </a:defRPr>
            </a:lvl1pPr>
          </a:lstStyle>
          <a:p>
            <a:pPr>
              <a:buNone/>
            </a:pPr>
            <a:r>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idx="13" hasCustomPrompt="1"/>
          </p:nvPr>
        </p:nvSpPr>
        <p:spPr>
          <a:xfrm>
            <a:off x="148318" y="1481138"/>
            <a:ext cx="2141764" cy="514350"/>
          </a:xfrm>
        </p:spPr>
        <p:txBody>
          <a:bodyPr anchor="ctr">
            <a:noAutofit/>
          </a:bodyPr>
          <a:lstStyle>
            <a:lvl1pPr marL="0" indent="0" algn="r">
              <a:buNone/>
              <a:defRPr sz="1600" cap="all" spc="150"/>
            </a:lvl1pPr>
          </a:lstStyle>
          <a:p>
            <a:pPr>
              <a:buNone/>
            </a:pPr>
            <a:r>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idx="14" hasCustomPrompt="1"/>
          </p:nvPr>
        </p:nvSpPr>
        <p:spPr>
          <a:xfrm>
            <a:off x="714375" y="2557463"/>
            <a:ext cx="2141764" cy="514350"/>
          </a:xfrm>
        </p:spPr>
        <p:txBody>
          <a:bodyPr anchor="ctr">
            <a:noAutofit/>
          </a:bodyPr>
          <a:lstStyle>
            <a:lvl1pPr marL="0" indent="0" algn="r">
              <a:buNone/>
              <a:defRPr sz="1600" cap="all" spc="150"/>
            </a:lvl1pPr>
          </a:lstStyle>
          <a:p>
            <a:pPr>
              <a:buNone/>
            </a:pPr>
            <a:r>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idx="15" hasCustomPrompt="1"/>
          </p:nvPr>
        </p:nvSpPr>
        <p:spPr>
          <a:xfrm>
            <a:off x="1320800" y="3633788"/>
            <a:ext cx="2141764" cy="514350"/>
          </a:xfrm>
        </p:spPr>
        <p:txBody>
          <a:bodyPr anchor="ctr">
            <a:noAutofit/>
          </a:bodyPr>
          <a:lstStyle>
            <a:lvl1pPr marL="0" indent="0" algn="r">
              <a:buNone/>
              <a:defRPr sz="1600" cap="all" spc="150"/>
            </a:lvl1pPr>
          </a:lstStyle>
          <a:p>
            <a:pPr>
              <a:buNone/>
            </a:pPr>
            <a:r>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idx="16" hasCustomPrompt="1"/>
          </p:nvPr>
        </p:nvSpPr>
        <p:spPr>
          <a:xfrm>
            <a:off x="1905000" y="4710114"/>
            <a:ext cx="2141764" cy="514350"/>
          </a:xfrm>
        </p:spPr>
        <p:txBody>
          <a:bodyPr anchor="ctr">
            <a:noAutofit/>
          </a:bodyPr>
          <a:lstStyle>
            <a:lvl1pPr marL="0" indent="0" algn="r">
              <a:buNone/>
              <a:defRPr sz="1600" cap="all" spc="150"/>
            </a:lvl1pPr>
          </a:lstStyle>
          <a:p>
            <a:pPr>
              <a:buNone/>
            </a:pPr>
            <a:r>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idx="17" hasCustomPrompt="1"/>
          </p:nvPr>
        </p:nvSpPr>
        <p:spPr>
          <a:xfrm>
            <a:off x="4401535" y="1594478"/>
            <a:ext cx="5539095" cy="1010842"/>
          </a:xfrm>
        </p:spPr>
        <p:txBody>
          <a:bodyPr anchor="t">
            <a:normAutofit/>
          </a:bodyPr>
          <a:lstStyle>
            <a:lvl1pPr marL="0" indent="0" algn="l">
              <a:lnSpc>
                <a:spcPct val="100000"/>
              </a:lnSpc>
              <a:buNone/>
              <a:defRPr sz="1400" spc="50"/>
            </a:lvl1pPr>
          </a:lstStyle>
          <a:p>
            <a:pPr>
              <a:buNone/>
            </a:pPr>
            <a:r>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idx="18" hasCustomPrompt="1"/>
          </p:nvPr>
        </p:nvSpPr>
        <p:spPr>
          <a:xfrm>
            <a:off x="4986028" y="2673328"/>
            <a:ext cx="5539095" cy="1010842"/>
          </a:xfrm>
        </p:spPr>
        <p:txBody>
          <a:bodyPr anchor="t">
            <a:normAutofit/>
          </a:bodyPr>
          <a:lstStyle>
            <a:lvl1pPr marL="0" indent="0" algn="l">
              <a:lnSpc>
                <a:spcPct val="100000"/>
              </a:lnSpc>
              <a:buNone/>
              <a:defRPr sz="1400" spc="50"/>
            </a:lvl1pPr>
          </a:lstStyle>
          <a:p>
            <a:pPr>
              <a:buNone/>
            </a:pPr>
            <a:r>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idx="19" hasCustomPrompt="1"/>
          </p:nvPr>
        </p:nvSpPr>
        <p:spPr>
          <a:xfrm>
            <a:off x="5576937" y="3755394"/>
            <a:ext cx="5539095" cy="1010842"/>
          </a:xfrm>
        </p:spPr>
        <p:txBody>
          <a:bodyPr anchor="t">
            <a:normAutofit/>
          </a:bodyPr>
          <a:lstStyle>
            <a:lvl1pPr marL="0" indent="0" algn="l">
              <a:lnSpc>
                <a:spcPct val="100000"/>
              </a:lnSpc>
              <a:buNone/>
              <a:defRPr sz="1400" spc="50"/>
            </a:lvl1pPr>
          </a:lstStyle>
          <a:p>
            <a:pPr>
              <a:buNone/>
            </a:pPr>
            <a:r>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idx="20" hasCustomPrompt="1"/>
          </p:nvPr>
        </p:nvSpPr>
        <p:spPr>
          <a:xfrm>
            <a:off x="6175279" y="4824430"/>
            <a:ext cx="5539095" cy="1010842"/>
          </a:xfrm>
        </p:spPr>
        <p:txBody>
          <a:bodyPr anchor="t">
            <a:normAutofit/>
          </a:bodyPr>
          <a:lstStyle>
            <a:lvl1pPr marL="0" indent="0" algn="l">
              <a:lnSpc>
                <a:spcPct val="100000"/>
              </a:lnSpc>
              <a:buNone/>
              <a:defRPr sz="1400" spc="50"/>
            </a:lvl1pPr>
          </a:lstStyle>
          <a:p>
            <a:pPr>
              <a:buNone/>
            </a:pPr>
            <a:r>
              <a:t>Click to edit master text style</a:t>
            </a:r>
          </a:p>
        </p:txBody>
      </p:sp>
      <p:sp>
        <p:nvSpPr>
          <p:cNvPr id="3" name="Straight Connector 2">
            <a:extLst>
              <a:ext uri="{FF2B5EF4-FFF2-40B4-BE49-F238E27FC236}">
                <a16:creationId xmlns:a16="http://schemas.microsoft.com/office/drawing/2014/main" id="{6EDECE4A-F8D6-470B-B603-D0D5BC8DD66D}"/>
              </a:ext>
            </a:extLst>
          </p:cNvPr>
          <p:cNvSpPr>
            <a:spLocks noGrp="1"/>
          </p:cNvSpPr>
          <p:nvPr/>
        </p:nvSpPr>
        <p:spPr>
          <a:xfrm>
            <a:off x="4353515" y="502393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sp>
      <p:sp>
        <p:nvSpPr>
          <p:cNvPr id="4" name="Straight Connector 3">
            <a:extLst>
              <a:ext uri="{FF2B5EF4-FFF2-40B4-BE49-F238E27FC236}">
                <a16:creationId xmlns:a16="http://schemas.microsoft.com/office/drawing/2014/main" id="{89D5E8B7-91CC-434D-A2E7-566033B29FAB}"/>
              </a:ext>
            </a:extLst>
          </p:cNvPr>
          <p:cNvSpPr>
            <a:spLocks noGrp="1"/>
          </p:cNvSpPr>
          <p:nvPr/>
        </p:nvSpPr>
        <p:spPr>
          <a:xfrm>
            <a:off x="3759917" y="3948451"/>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sp>
      <p:sp>
        <p:nvSpPr>
          <p:cNvPr id="8" name="Straight Connector 7">
            <a:extLst>
              <a:ext uri="{FF2B5EF4-FFF2-40B4-BE49-F238E27FC236}">
                <a16:creationId xmlns:a16="http://schemas.microsoft.com/office/drawing/2014/main" id="{4C1775EB-D801-461A-BE80-A8E1320AA420}"/>
              </a:ext>
            </a:extLst>
          </p:cNvPr>
          <p:cNvSpPr>
            <a:spLocks noGrp="1"/>
          </p:cNvSpPr>
          <p:nvPr/>
        </p:nvSpPr>
        <p:spPr>
          <a:xfrm>
            <a:off x="3173453" y="2872686"/>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sp>
      <p:sp>
        <p:nvSpPr>
          <p:cNvPr id="9" name="Straight Connector 8">
            <a:extLst>
              <a:ext uri="{FF2B5EF4-FFF2-40B4-BE49-F238E27FC236}">
                <a16:creationId xmlns:a16="http://schemas.microsoft.com/office/drawing/2014/main" id="{7C45E0CF-BDE5-473C-88E4-73FF47EB8433}"/>
              </a:ext>
            </a:extLst>
          </p:cNvPr>
          <p:cNvSpPr>
            <a:spLocks noGrp="1"/>
          </p:cNvSpPr>
          <p:nvPr/>
        </p:nvSpPr>
        <p:spPr>
          <a:xfrm>
            <a:off x="2586263" y="179608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sp>
      <p:sp>
        <p:nvSpPr>
          <p:cNvPr id="5" name="Date Placeholder 4">
            <a:extLst>
              <a:ext uri="{FF2B5EF4-FFF2-40B4-BE49-F238E27FC236}">
                <a16:creationId xmlns:a16="http://schemas.microsoft.com/office/drawing/2014/main" id="{874DC36F-5D3E-439D-80B5-32633FC34434}"/>
              </a:ext>
            </a:extLst>
          </p:cNvPr>
          <p:cNvSpPr>
            <a:spLocks noGrp="1"/>
          </p:cNvSpPr>
          <p:nvPr>
            <p:ph type="dt" idx="10"/>
          </p:nvPr>
        </p:nvSpPr>
        <p:spPr/>
        <p:txBody>
          <a:bodyPr/>
          <a:lstStyle>
            <a:lvl1pPr>
              <a:buNone/>
              <a:defRPr sz="900">
                <a:solidFill>
                  <a:srgbClr val="898989"/>
                </a:solidFill>
              </a:defRPr>
            </a:lvl1pPr>
          </a:lstStyle>
          <a:p>
            <a:pPr>
              <a:buNone/>
            </a:pPr>
            <a:fld id="{1EC77A8F-26E6-4293-8E2E-9119200301AF}" type="datetime1">
              <a:t>7/29/2026</a:t>
            </a:fld>
            <a:endParaRP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idx="11"/>
          </p:nvPr>
        </p:nvSpPr>
        <p:spPr>
          <a:xfrm>
            <a:off x="6175279" y="6356350"/>
            <a:ext cx="1808712" cy="365125"/>
          </a:xfrm>
        </p:spPr>
        <p:txBody>
          <a:bodyPr/>
          <a:lstStyle>
            <a:lvl1pPr>
              <a:buNone/>
              <a:defRPr sz="900"/>
            </a:lvl1pPr>
          </a:lstStyle>
          <a:p>
            <a:pPr algn="l">
              <a:buNone/>
            </a:pPr>
            <a:r>
              <a:t>Introduction to Deep Learning - PSDI &amp; Royce Materials Data Summit</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idx="12"/>
          </p:nvPr>
        </p:nvSpPr>
        <p:spPr>
          <a:xfrm>
            <a:off x="10810874" y="6356350"/>
            <a:ext cx="542925" cy="365125"/>
          </a:xfrm>
        </p:spPr>
        <p:txBody>
          <a:bodyPr/>
          <a:lstStyle>
            <a:lvl1pPr>
              <a:buNone/>
              <a:defRPr sz="900"/>
            </a:lvl1pPr>
          </a:lstStyle>
          <a:p>
            <a:pPr>
              <a:buNone/>
            </a:pPr>
            <a:fld id="{B5CEABB6-07DC-46E8-9B57-56EC44A396E5}"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tx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buNone/>
              <a:defRPr sz="2800" spc="150">
                <a:solidFill>
                  <a:schemeClr val="bg1"/>
                </a:solidFill>
                <a:latin typeface="+mj-lt"/>
                <a:ea typeface="+mj-lt"/>
                <a:cs typeface="+mj-lt"/>
              </a:defRPr>
            </a:lvl1pPr>
          </a:lstStyle>
          <a:p>
            <a:pPr>
              <a:buNone/>
            </a:pPr>
            <a:r>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idx="13" hasCustomPrompt="1"/>
          </p:nvPr>
        </p:nvSpPr>
        <p:spPr>
          <a:xfrm>
            <a:off x="1485900" y="2563123"/>
            <a:ext cx="4031945" cy="365125"/>
          </a:xfrm>
        </p:spPr>
        <p:txBody>
          <a:bodyPr>
            <a:normAutofit/>
          </a:bodyPr>
          <a:lstStyle>
            <a:lvl1pPr marL="0" indent="0" algn="ctr">
              <a:buNone/>
              <a:defRPr sz="2000" spc="150">
                <a:solidFill>
                  <a:schemeClr val="bg1"/>
                </a:solidFill>
                <a:latin typeface="+mj-lt"/>
                <a:ea typeface="+mj-lt"/>
                <a:cs typeface="+mj-lt"/>
              </a:defRPr>
            </a:lvl1pPr>
          </a:lstStyle>
          <a:p>
            <a:pPr>
              <a:buNone/>
            </a:pPr>
            <a:r>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idx="15" hasCustomPrompt="1"/>
          </p:nvPr>
        </p:nvSpPr>
        <p:spPr>
          <a:xfrm>
            <a:off x="1485664" y="3070348"/>
            <a:ext cx="4031030" cy="1057308"/>
          </a:xfrm>
        </p:spPr>
        <p:txBody>
          <a:bodyPr>
            <a:normAutofit/>
          </a:bodyPr>
          <a:lstStyle>
            <a:lvl1pPr marL="0" indent="0" algn="ctr">
              <a:lnSpc>
                <a:spcPct val="100000"/>
              </a:lnSpc>
              <a:buNone/>
              <a:defRPr sz="1400">
                <a:solidFill>
                  <a:schemeClr val="bg1"/>
                </a:solidFill>
              </a:defRPr>
            </a:lvl1pPr>
          </a:lstStyle>
          <a:p>
            <a:pPr>
              <a:buNone/>
            </a:pPr>
            <a:r>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idx="16" hasCustomPrompt="1"/>
          </p:nvPr>
        </p:nvSpPr>
        <p:spPr>
          <a:xfrm>
            <a:off x="6673004" y="2563123"/>
            <a:ext cx="4031945" cy="365125"/>
          </a:xfrm>
        </p:spPr>
        <p:txBody>
          <a:bodyPr>
            <a:normAutofit/>
          </a:bodyPr>
          <a:lstStyle>
            <a:lvl1pPr marL="0" indent="0" algn="ctr">
              <a:buNone/>
              <a:defRPr sz="2000" spc="150">
                <a:solidFill>
                  <a:schemeClr val="bg1"/>
                </a:solidFill>
                <a:latin typeface="+mj-lt"/>
                <a:ea typeface="+mj-lt"/>
                <a:cs typeface="+mj-lt"/>
              </a:defRPr>
            </a:lvl1pPr>
          </a:lstStyle>
          <a:p>
            <a:pPr marL="0" indent="0" algn="l">
              <a:lnSpc>
                <a:spcPct val="90000"/>
              </a:lnSpc>
              <a:spcBef>
                <a:spcPts val="1000"/>
              </a:spcBef>
              <a:buNone/>
            </a:pPr>
            <a:r>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idx="17" hasCustomPrompt="1"/>
          </p:nvPr>
        </p:nvSpPr>
        <p:spPr>
          <a:xfrm>
            <a:off x="6673143" y="3070348"/>
            <a:ext cx="4031030" cy="1057308"/>
          </a:xfrm>
        </p:spPr>
        <p:txBody>
          <a:bodyPr>
            <a:normAutofit/>
          </a:bodyPr>
          <a:lstStyle>
            <a:lvl1pPr marL="0" indent="0" algn="ctr">
              <a:lnSpc>
                <a:spcPct val="100000"/>
              </a:lnSpc>
              <a:buNone/>
              <a:defRPr sz="1400">
                <a:solidFill>
                  <a:schemeClr val="bg1"/>
                </a:solidFill>
              </a:defRPr>
            </a:lvl1pPr>
          </a:lstStyle>
          <a:p>
            <a:pPr>
              <a:buNone/>
            </a:pPr>
            <a:r>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idx="18" hasCustomPrompt="1"/>
          </p:nvPr>
        </p:nvSpPr>
        <p:spPr>
          <a:xfrm>
            <a:off x="1485899" y="4319431"/>
            <a:ext cx="4031945" cy="365125"/>
          </a:xfrm>
        </p:spPr>
        <p:txBody>
          <a:bodyPr>
            <a:normAutofit/>
          </a:bodyPr>
          <a:lstStyle>
            <a:lvl1pPr marL="0" indent="0" algn="ctr">
              <a:buNone/>
              <a:defRPr sz="2000" spc="150">
                <a:solidFill>
                  <a:schemeClr val="bg1"/>
                </a:solidFill>
                <a:latin typeface="+mj-lt"/>
                <a:ea typeface="+mj-lt"/>
                <a:cs typeface="+mj-lt"/>
              </a:defRPr>
            </a:lvl1pPr>
          </a:lstStyle>
          <a:p>
            <a:pPr marL="0" indent="0" algn="l">
              <a:lnSpc>
                <a:spcPct val="90000"/>
              </a:lnSpc>
              <a:spcBef>
                <a:spcPts val="1000"/>
              </a:spcBef>
              <a:buNone/>
            </a:pPr>
            <a:r>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idx="19" hasCustomPrompt="1"/>
          </p:nvPr>
        </p:nvSpPr>
        <p:spPr>
          <a:xfrm>
            <a:off x="1486412" y="4826656"/>
            <a:ext cx="4031030" cy="1057308"/>
          </a:xfrm>
        </p:spPr>
        <p:txBody>
          <a:bodyPr>
            <a:normAutofit/>
          </a:bodyPr>
          <a:lstStyle>
            <a:lvl1pPr marL="0" indent="0" algn="ctr">
              <a:lnSpc>
                <a:spcPct val="100000"/>
              </a:lnSpc>
              <a:buNone/>
              <a:defRPr sz="1400">
                <a:solidFill>
                  <a:schemeClr val="bg1"/>
                </a:solidFill>
              </a:defRPr>
            </a:lvl1pPr>
          </a:lstStyle>
          <a:p>
            <a:pPr>
              <a:buNone/>
            </a:pPr>
            <a:r>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idx="23" hasCustomPrompt="1"/>
          </p:nvPr>
        </p:nvSpPr>
        <p:spPr>
          <a:xfrm>
            <a:off x="6672630" y="4319431"/>
            <a:ext cx="4031945" cy="365125"/>
          </a:xfrm>
        </p:spPr>
        <p:txBody>
          <a:bodyPr>
            <a:normAutofit/>
          </a:bodyPr>
          <a:lstStyle>
            <a:lvl1pPr marL="0" indent="0" algn="ctr">
              <a:buNone/>
              <a:defRPr sz="2000" spc="150">
                <a:solidFill>
                  <a:schemeClr val="bg1"/>
                </a:solidFill>
                <a:latin typeface="+mj-lt"/>
                <a:ea typeface="+mj-lt"/>
                <a:cs typeface="+mj-lt"/>
              </a:defRPr>
            </a:lvl1pPr>
          </a:lstStyle>
          <a:p>
            <a:pPr marL="0" indent="0" algn="l">
              <a:lnSpc>
                <a:spcPct val="90000"/>
              </a:lnSpc>
              <a:spcBef>
                <a:spcPts val="1000"/>
              </a:spcBef>
              <a:buNone/>
            </a:pPr>
            <a:r>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idx="24" hasCustomPrompt="1"/>
          </p:nvPr>
        </p:nvSpPr>
        <p:spPr>
          <a:xfrm>
            <a:off x="6673143" y="4826656"/>
            <a:ext cx="4031030" cy="1057308"/>
          </a:xfrm>
        </p:spPr>
        <p:txBody>
          <a:bodyPr>
            <a:normAutofit/>
          </a:bodyPr>
          <a:lstStyle>
            <a:lvl1pPr marL="0" indent="0" algn="ctr">
              <a:lnSpc>
                <a:spcPct val="100000"/>
              </a:lnSpc>
              <a:buNone/>
              <a:defRPr sz="1400">
                <a:solidFill>
                  <a:schemeClr val="bg1"/>
                </a:solidFill>
              </a:defRPr>
            </a:lvl1pPr>
          </a:lstStyle>
          <a:p>
            <a:pPr>
              <a:buNone/>
            </a:pPr>
            <a:r>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idx="20"/>
          </p:nvPr>
        </p:nvSpPr>
        <p:spPr/>
        <p:txBody>
          <a:bodyPr/>
          <a:lstStyle/>
          <a:p>
            <a:pPr>
              <a:buNone/>
            </a:pPr>
            <a:fld id="{697A7309-303D-4D64-BE01-AA541DB05D68}" type="datetime1">
              <a:t>7/29/2026</a:t>
            </a:fld>
            <a:endParaRP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idx="21"/>
          </p:nvPr>
        </p:nvSpPr>
        <p:spPr/>
        <p:txBody>
          <a:bodyPr/>
          <a:lstStyle/>
          <a:p>
            <a:pPr>
              <a:buNone/>
            </a:pPr>
            <a:r>
              <a:t>Introduction to Deep Learning - PSDI &amp; Royce Materials Data Summit</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idx="22"/>
          </p:nvPr>
        </p:nvSpPr>
        <p:spPr/>
        <p:txBody>
          <a:bodyPr/>
          <a:lstStyle/>
          <a:p>
            <a:pPr>
              <a:buNone/>
            </a:pPr>
            <a:fld id="{B5CEABB6-07DC-46E8-9B57-56EC44A396E5}" type="slidenum">
              <a:t>‹#›</a:t>
            </a:fld>
            <a:endParaRPr/>
          </a:p>
        </p:txBody>
      </p:sp>
      <p:sp>
        <p:nvSpPr>
          <p:cNvPr id="2" name="Straight Connector 1">
            <a:extLst>
              <a:ext uri="{FF2B5EF4-FFF2-40B4-BE49-F238E27FC236}">
                <a16:creationId xmlns:a16="http://schemas.microsoft.com/office/drawing/2014/main" id="{26C80DC6-71D2-4BEA-A42F-BC9E12023A67}"/>
              </a:ext>
            </a:extLst>
          </p:cNvPr>
          <p:cNvSpPr>
            <a:spLocks noGrp="1"/>
          </p:cNvSpPr>
          <p:nvPr/>
        </p:nvSpPr>
        <p:spPr>
          <a:xfrm>
            <a:off x="8688388" y="0"/>
            <a:ext cx="3503612" cy="235295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sp>
      <p:sp>
        <p:nvSpPr>
          <p:cNvPr id="6" name="Straight Connector 5">
            <a:extLst>
              <a:ext uri="{FF2B5EF4-FFF2-40B4-BE49-F238E27FC236}">
                <a16:creationId xmlns:a16="http://schemas.microsoft.com/office/drawing/2014/main" id="{8ACD1916-41E8-4E4A-BE58-74AF457067F5}"/>
              </a:ext>
            </a:extLst>
          </p:cNvPr>
          <p:cNvSpPr>
            <a:spLocks noGrp="1"/>
          </p:cNvSpPr>
          <p:nvPr/>
        </p:nvSpPr>
        <p:spPr>
          <a:xfrm>
            <a:off x="9720943" y="0"/>
            <a:ext cx="2471057" cy="269903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buNone/>
              <a:defRPr sz="2800" spc="150">
                <a:solidFill>
                  <a:schemeClr val="tx1"/>
                </a:solidFill>
                <a:latin typeface="+mj-lt"/>
                <a:ea typeface="+mj-lt"/>
                <a:cs typeface="+mj-lt"/>
              </a:defRPr>
            </a:lvl1pPr>
          </a:lstStyle>
          <a:p>
            <a:pPr>
              <a:buNone/>
            </a:pPr>
            <a:r>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idx="13" hasCustomPrompt="1"/>
          </p:nvPr>
        </p:nvSpPr>
        <p:spPr>
          <a:xfrm>
            <a:off x="5922254" y="1530635"/>
            <a:ext cx="5433204" cy="365125"/>
          </a:xfrm>
        </p:spPr>
        <p:txBody>
          <a:bodyPr>
            <a:normAutofit/>
          </a:bodyPr>
          <a:lstStyle>
            <a:lvl1pPr marL="0" indent="0">
              <a:buNone/>
              <a:defRPr sz="2000" spc="150">
                <a:solidFill>
                  <a:schemeClr val="tx1"/>
                </a:solidFill>
                <a:latin typeface="+mj-lt"/>
                <a:ea typeface="+mj-lt"/>
                <a:cs typeface="+mj-lt"/>
              </a:defRPr>
            </a:lvl1pPr>
          </a:lstStyle>
          <a:p>
            <a:pPr>
              <a:buNone/>
            </a:pPr>
            <a:r>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idx="15" hasCustomPrompt="1"/>
          </p:nvPr>
        </p:nvSpPr>
        <p:spPr>
          <a:xfrm>
            <a:off x="5921828" y="1860060"/>
            <a:ext cx="5431971" cy="557950"/>
          </a:xfrm>
        </p:spPr>
        <p:txBody>
          <a:bodyPr>
            <a:normAutofit/>
          </a:bodyPr>
          <a:lstStyle>
            <a:lvl1pPr marL="0" indent="0">
              <a:lnSpc>
                <a:spcPct val="100000"/>
              </a:lnSpc>
              <a:buNone/>
              <a:defRPr sz="1400">
                <a:solidFill>
                  <a:schemeClr val="tx1"/>
                </a:solidFill>
              </a:defRPr>
            </a:lvl1pPr>
          </a:lstStyle>
          <a:p>
            <a:pPr>
              <a:buNone/>
            </a:pPr>
            <a:r>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idx="23" hasCustomPrompt="1"/>
          </p:nvPr>
        </p:nvSpPr>
        <p:spPr>
          <a:xfrm>
            <a:off x="5922254" y="2630431"/>
            <a:ext cx="5433204" cy="365125"/>
          </a:xfrm>
        </p:spPr>
        <p:txBody>
          <a:bodyPr>
            <a:normAutofit/>
          </a:bodyPr>
          <a:lstStyle>
            <a:lvl1pPr marL="0" indent="0">
              <a:buNone/>
              <a:defRPr sz="2000" spc="150">
                <a:solidFill>
                  <a:schemeClr val="tx1"/>
                </a:solidFill>
                <a:latin typeface="+mj-lt"/>
                <a:ea typeface="+mj-lt"/>
                <a:cs typeface="+mj-lt"/>
              </a:defRPr>
            </a:lvl1pPr>
          </a:lstStyle>
          <a:p>
            <a:pPr>
              <a:buNone/>
            </a:pPr>
            <a:r>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idx="24" hasCustomPrompt="1"/>
          </p:nvPr>
        </p:nvSpPr>
        <p:spPr>
          <a:xfrm>
            <a:off x="5921828" y="2959856"/>
            <a:ext cx="5431971" cy="557950"/>
          </a:xfrm>
        </p:spPr>
        <p:txBody>
          <a:bodyPr>
            <a:normAutofit/>
          </a:bodyPr>
          <a:lstStyle>
            <a:lvl1pPr marL="0" indent="0">
              <a:lnSpc>
                <a:spcPct val="100000"/>
              </a:lnSpc>
              <a:buNone/>
              <a:defRPr sz="1400">
                <a:solidFill>
                  <a:schemeClr val="tx1"/>
                </a:solidFill>
              </a:defRPr>
            </a:lvl1pPr>
          </a:lstStyle>
          <a:p>
            <a:pPr>
              <a:buNone/>
            </a:pPr>
            <a:r>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idx="25" hasCustomPrompt="1"/>
          </p:nvPr>
        </p:nvSpPr>
        <p:spPr>
          <a:xfrm>
            <a:off x="5922254" y="3730227"/>
            <a:ext cx="5433204" cy="365125"/>
          </a:xfrm>
        </p:spPr>
        <p:txBody>
          <a:bodyPr>
            <a:normAutofit/>
          </a:bodyPr>
          <a:lstStyle>
            <a:lvl1pPr marL="0" indent="0">
              <a:buNone/>
              <a:defRPr sz="2000" spc="150">
                <a:solidFill>
                  <a:schemeClr val="tx1"/>
                </a:solidFill>
                <a:latin typeface="+mj-lt"/>
                <a:ea typeface="+mj-lt"/>
                <a:cs typeface="+mj-lt"/>
              </a:defRPr>
            </a:lvl1pPr>
          </a:lstStyle>
          <a:p>
            <a:pPr>
              <a:buNone/>
            </a:pPr>
            <a:r>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idx="26" hasCustomPrompt="1"/>
          </p:nvPr>
        </p:nvSpPr>
        <p:spPr>
          <a:xfrm>
            <a:off x="5921828" y="4059652"/>
            <a:ext cx="5431971" cy="557950"/>
          </a:xfrm>
        </p:spPr>
        <p:txBody>
          <a:bodyPr>
            <a:normAutofit/>
          </a:bodyPr>
          <a:lstStyle>
            <a:lvl1pPr marL="0" indent="0">
              <a:lnSpc>
                <a:spcPct val="100000"/>
              </a:lnSpc>
              <a:buNone/>
              <a:defRPr sz="1400">
                <a:solidFill>
                  <a:schemeClr val="tx1"/>
                </a:solidFill>
              </a:defRPr>
            </a:lvl1pPr>
          </a:lstStyle>
          <a:p>
            <a:pPr>
              <a:buNone/>
            </a:pPr>
            <a:r>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idx="27" hasCustomPrompt="1"/>
          </p:nvPr>
        </p:nvSpPr>
        <p:spPr>
          <a:xfrm>
            <a:off x="5920106" y="4830024"/>
            <a:ext cx="5433204" cy="365125"/>
          </a:xfrm>
        </p:spPr>
        <p:txBody>
          <a:bodyPr>
            <a:normAutofit/>
          </a:bodyPr>
          <a:lstStyle>
            <a:lvl1pPr marL="0" indent="0">
              <a:buNone/>
              <a:defRPr sz="2000" spc="150">
                <a:solidFill>
                  <a:schemeClr val="tx1"/>
                </a:solidFill>
                <a:latin typeface="+mj-lt"/>
                <a:ea typeface="+mj-lt"/>
                <a:cs typeface="+mj-lt"/>
              </a:defRPr>
            </a:lvl1pPr>
          </a:lstStyle>
          <a:p>
            <a:pPr>
              <a:buNone/>
            </a:pPr>
            <a:r>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idx="28" hasCustomPrompt="1"/>
          </p:nvPr>
        </p:nvSpPr>
        <p:spPr>
          <a:xfrm>
            <a:off x="5919680" y="5159449"/>
            <a:ext cx="5431971" cy="557950"/>
          </a:xfrm>
        </p:spPr>
        <p:txBody>
          <a:bodyPr>
            <a:normAutofit/>
          </a:bodyPr>
          <a:lstStyle>
            <a:lvl1pPr marL="0" indent="0">
              <a:lnSpc>
                <a:spcPct val="100000"/>
              </a:lnSpc>
              <a:buNone/>
              <a:defRPr sz="1400">
                <a:solidFill>
                  <a:schemeClr val="tx1"/>
                </a:solidFill>
              </a:defRPr>
            </a:lvl1pPr>
          </a:lstStyle>
          <a:p>
            <a:pPr>
              <a:buNone/>
            </a:pPr>
            <a:r>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idx="20"/>
          </p:nvPr>
        </p:nvSpPr>
        <p:spPr>
          <a:xfrm>
            <a:off x="5919680" y="6356350"/>
            <a:ext cx="947516" cy="365125"/>
          </a:xfrm>
        </p:spPr>
        <p:txBody>
          <a:bodyPr/>
          <a:lstStyle>
            <a:lvl1pPr>
              <a:buNone/>
              <a:defRPr sz="900"/>
            </a:lvl1pPr>
          </a:lstStyle>
          <a:p>
            <a:pPr>
              <a:buNone/>
            </a:pPr>
            <a:fld id="{A5340B65-517C-469D-A3F4-EA40C2771EC6}" type="datetime1">
              <a:t>7/29/2026</a:t>
            </a:fld>
            <a:endParaRP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idx="21"/>
          </p:nvPr>
        </p:nvSpPr>
        <p:spPr>
          <a:xfrm>
            <a:off x="7161955" y="6356350"/>
            <a:ext cx="3243942" cy="365125"/>
          </a:xfrm>
        </p:spPr>
        <p:txBody>
          <a:bodyPr/>
          <a:lstStyle>
            <a:lvl1pPr>
              <a:buNone/>
              <a:defRPr sz="900"/>
            </a:lvl1pPr>
          </a:lstStyle>
          <a:p>
            <a:pPr>
              <a:buNone/>
            </a:pPr>
            <a:r>
              <a:t>Introduction to Deep Learning - PSDI &amp; Royce Materials Data Summit</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idx="22"/>
          </p:nvPr>
        </p:nvSpPr>
        <p:spPr>
          <a:xfrm>
            <a:off x="10700656" y="6356350"/>
            <a:ext cx="653143" cy="365125"/>
          </a:xfrm>
        </p:spPr>
        <p:txBody>
          <a:bodyPr/>
          <a:lstStyle>
            <a:lvl1pPr>
              <a:buNone/>
              <a:defRPr sz="900"/>
            </a:lvl1pPr>
          </a:lstStyle>
          <a:p>
            <a:pPr>
              <a:buNone/>
            </a:pPr>
            <a:fld id="{B5CEABB6-07DC-46E8-9B57-56EC44A396E5}" type="slidenum">
              <a:t>‹#›</a:t>
            </a:fld>
            <a:endParaRPr/>
          </a:p>
        </p:txBody>
      </p:sp>
      <p:pic>
        <p:nvPicPr>
          <p:cNvPr id="28" name="Graphic 1"/>
          <p:cNvPicPr>
            <a:picLocks noChangeAspect="1"/>
          </p:cNvPicPr>
          <p:nvPr/>
        </p:nvPicPr>
        <p:blipFill rotWithShape="1">
          <a:blip>
            <a:extLst>
              <a:ext uri="{96DAC541-7B7A-43D3-8B79-37D633B846F1}">
                <asvg:svgBlip xmlns:asvg="http://schemas.microsoft.com/office/drawing/2016/SVG/main" r:embed="rId2"/>
              </a:ext>
            </a:extLst>
          </a:blip>
          <a:srcRect l="39434" t="20278" b="22673"/>
          <a:stretch/>
        </p:blipFill>
        <p:spPr>
          <a:xfrm>
            <a:off x="-4696" y="-1"/>
            <a:ext cx="4896735" cy="4385949"/>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buNone/>
              <a:defRPr sz="2800" spc="150">
                <a:solidFill>
                  <a:schemeClr val="tx1"/>
                </a:solidFill>
                <a:latin typeface="+mj-lt"/>
                <a:ea typeface="+mj-lt"/>
                <a:cs typeface="+mj-lt"/>
              </a:defRPr>
            </a:lvl1pPr>
          </a:lstStyle>
          <a:p>
            <a:pPr>
              <a:buNone/>
            </a:pPr>
            <a:r>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buNone/>
            </a:pPr>
            <a:r>
              <a:t>Click to edit Master text styles</a:t>
            </a:r>
          </a:p>
        </p:txBody>
      </p:sp>
      <p:sp>
        <p:nvSpPr>
          <p:cNvPr id="14" name="Straight Connector 13">
            <a:extLst>
              <a:ext uri="{FF2B5EF4-FFF2-40B4-BE49-F238E27FC236}">
                <a16:creationId xmlns:a16="http://schemas.microsoft.com/office/drawing/2014/main" id="{57022E09-1F6F-4B2F-905D-000B54A453C5}"/>
              </a:ext>
            </a:extLst>
          </p:cNvPr>
          <p:cNvSpPr>
            <a:spLocks noGrp="1"/>
          </p:cNvSpPr>
          <p:nvPr/>
        </p:nv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sp>
      <p:sp>
        <p:nvSpPr>
          <p:cNvPr id="23" name="Straight Connector 22">
            <a:extLst>
              <a:ext uri="{FF2B5EF4-FFF2-40B4-BE49-F238E27FC236}">
                <a16:creationId xmlns:a16="http://schemas.microsoft.com/office/drawing/2014/main" id="{AD2EBB41-756D-456F-8FBD-1ECF2487C5A4}"/>
              </a:ext>
            </a:extLst>
          </p:cNvPr>
          <p:cNvSpPr>
            <a:spLocks noGrp="1"/>
          </p:cNvSpPr>
          <p:nvPr/>
        </p:nvSpPr>
        <p:spPr>
          <a:xfrm flipH="1">
            <a:off x="6953250" y="-25401"/>
            <a:ext cx="3790950" cy="6902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sp>
      <p:sp>
        <p:nvSpPr>
          <p:cNvPr id="9" name="Date Placeholder 6">
            <a:extLst>
              <a:ext uri="{FF2B5EF4-FFF2-40B4-BE49-F238E27FC236}">
                <a16:creationId xmlns:a16="http://schemas.microsoft.com/office/drawing/2014/main" id="{70146B66-4F07-44BE-8AAB-48EA5170DA81}"/>
              </a:ext>
            </a:extLst>
          </p:cNvPr>
          <p:cNvSpPr>
            <a:spLocks noGrp="1"/>
          </p:cNvSpPr>
          <p:nvPr>
            <p:ph type="dt" idx="10"/>
          </p:nvPr>
        </p:nvSpPr>
        <p:spPr>
          <a:xfrm>
            <a:off x="838200" y="6356350"/>
            <a:ext cx="2743200" cy="365125"/>
          </a:xfrm>
        </p:spPr>
        <p:txBody>
          <a:bodyPr/>
          <a:lstStyle>
            <a:lvl1pPr>
              <a:buNone/>
              <a:defRPr sz="900"/>
            </a:lvl1pPr>
          </a:lstStyle>
          <a:p>
            <a:pPr>
              <a:buNone/>
            </a:pPr>
            <a:fld id="{49F16B23-CAA7-4BAB-B19F-7708C69D0279}" type="datetime1">
              <a:t>7/29/2026</a:t>
            </a:fld>
            <a:endParaRP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idx="11"/>
          </p:nvPr>
        </p:nvSpPr>
        <p:spPr>
          <a:xfrm>
            <a:off x="5224463" y="6356350"/>
            <a:ext cx="1743075" cy="365125"/>
          </a:xfrm>
        </p:spPr>
        <p:txBody>
          <a:bodyPr/>
          <a:lstStyle>
            <a:lvl1pPr>
              <a:buNone/>
              <a:defRPr sz="900"/>
            </a:lvl1pPr>
          </a:lstStyle>
          <a:p>
            <a:pPr>
              <a:buNone/>
            </a:pPr>
            <a:r>
              <a:t>Introduction to Deep Learning - PSDI &amp; Royce Materials Data Summit</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idx="12"/>
          </p:nvPr>
        </p:nvSpPr>
        <p:spPr>
          <a:xfrm>
            <a:off x="8610600" y="6356350"/>
            <a:ext cx="2743200" cy="365125"/>
          </a:xfrm>
        </p:spPr>
        <p:txBody>
          <a:bodyPr/>
          <a:lstStyle>
            <a:lvl1pPr>
              <a:buNone/>
              <a:defRPr sz="900"/>
            </a:lvl1pPr>
          </a:lstStyle>
          <a:p>
            <a:pPr>
              <a:buNone/>
            </a:pPr>
            <a:fld id="{B5CEABB6-07DC-46E8-9B57-56EC44A396E5}" type="slidenum">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buNone/>
              <a:defRPr sz="3600" spc="150">
                <a:solidFill>
                  <a:schemeClr val="bg1"/>
                </a:solidFill>
              </a:defRPr>
            </a:lvl1pPr>
          </a:lstStyle>
          <a:p>
            <a:pPr>
              <a:buNone/>
            </a:pPr>
            <a:r>
              <a:t>CLICK TO EDIT MASTER TITLE STYLE</a:t>
            </a:r>
          </a:p>
        </p:txBody>
      </p:sp>
      <p:pic>
        <p:nvPicPr>
          <p:cNvPr id="3" name="Graphic 4"/>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828675"/>
            <a:ext cx="5876925" cy="520065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3" name="Graphic 6"/>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buNone/>
              <a:defRPr sz="2800" cap="all" spc="150">
                <a:solidFill>
                  <a:schemeClr val="tx1"/>
                </a:solidFill>
                <a:latin typeface="+mj-lt"/>
                <a:ea typeface="+mj-lt"/>
                <a:cs typeface="+mj-lt"/>
              </a:defRPr>
            </a:lvl1pPr>
          </a:lstStyle>
          <a:p>
            <a:pPr>
              <a:buNone/>
            </a:pPr>
            <a:r>
              <a:t>CLICK TO EDIT MASTER TITLE STYLE</a:t>
            </a:r>
          </a:p>
        </p:txBody>
      </p:sp>
      <p:sp>
        <p:nvSpPr>
          <p:cNvPr id="9" name="Straight Connector 8">
            <a:extLst>
              <a:ext uri="{FF2B5EF4-FFF2-40B4-BE49-F238E27FC236}">
                <a16:creationId xmlns:a16="http://schemas.microsoft.com/office/drawing/2014/main" id="{DB67AD62-8137-480C-8D43-2EF8405D085D}"/>
              </a:ext>
            </a:extLst>
          </p:cNvPr>
          <p:cNvSpPr>
            <a:spLocks noGrp="1"/>
          </p:cNvSpPr>
          <p:nvPr/>
        </p:nvSpPr>
        <p:spPr>
          <a:xfrm flipV="1">
            <a:off x="2209800" y="0"/>
            <a:ext cx="243840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sp>
      <p:sp>
        <p:nvSpPr>
          <p:cNvPr id="11" name="Text Placeholder 15">
            <a:extLst>
              <a:ext uri="{FF2B5EF4-FFF2-40B4-BE49-F238E27FC236}">
                <a16:creationId xmlns:a16="http://schemas.microsoft.com/office/drawing/2014/main" id="{3864668D-D640-4ABF-BB9A-D60176660F07}"/>
              </a:ext>
            </a:extLst>
          </p:cNvPr>
          <p:cNvSpPr>
            <a:spLocks noGrp="1"/>
          </p:cNvSpPr>
          <p:nvPr>
            <p:ph type="body" idx="13" hasCustomPrompt="1"/>
          </p:nvPr>
        </p:nvSpPr>
        <p:spPr>
          <a:xfrm>
            <a:off x="5922254" y="2469515"/>
            <a:ext cx="5433204" cy="365125"/>
          </a:xfrm>
        </p:spPr>
        <p:txBody>
          <a:bodyPr>
            <a:normAutofit/>
          </a:bodyPr>
          <a:lstStyle>
            <a:lvl1pPr marL="0" indent="0">
              <a:buNone/>
              <a:defRPr sz="2000" cap="all" spc="150">
                <a:solidFill>
                  <a:schemeClr val="tx1"/>
                </a:solidFill>
                <a:latin typeface="+mj-lt"/>
                <a:ea typeface="+mj-lt"/>
                <a:cs typeface="+mj-lt"/>
              </a:defRPr>
            </a:lvl1pPr>
          </a:lstStyle>
          <a:p>
            <a:pPr>
              <a:buNone/>
            </a:pPr>
            <a:r>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idx="15" hasCustomPrompt="1"/>
          </p:nvPr>
        </p:nvSpPr>
        <p:spPr>
          <a:xfrm>
            <a:off x="5921828" y="2798940"/>
            <a:ext cx="5431971" cy="557950"/>
          </a:xfrm>
        </p:spPr>
        <p:txBody>
          <a:bodyPr>
            <a:normAutofit/>
          </a:bodyPr>
          <a:lstStyle>
            <a:lvl1pPr marL="0" indent="0">
              <a:lnSpc>
                <a:spcPct val="100000"/>
              </a:lnSpc>
              <a:buNone/>
              <a:defRPr sz="1400">
                <a:solidFill>
                  <a:schemeClr val="tx1"/>
                </a:solidFill>
              </a:defRPr>
            </a:lvl1pPr>
          </a:lstStyle>
          <a:p>
            <a:pPr>
              <a:buNone/>
            </a:pPr>
            <a:r>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idx="23" hasCustomPrompt="1"/>
          </p:nvPr>
        </p:nvSpPr>
        <p:spPr>
          <a:xfrm>
            <a:off x="5922254" y="3569311"/>
            <a:ext cx="5433204" cy="365125"/>
          </a:xfrm>
        </p:spPr>
        <p:txBody>
          <a:bodyPr>
            <a:normAutofit/>
          </a:bodyPr>
          <a:lstStyle>
            <a:lvl1pPr marL="0" indent="0">
              <a:buNone/>
              <a:defRPr sz="2000" cap="all" spc="150">
                <a:solidFill>
                  <a:schemeClr val="tx1"/>
                </a:solidFill>
                <a:latin typeface="+mj-lt"/>
                <a:ea typeface="+mj-lt"/>
                <a:cs typeface="+mj-lt"/>
              </a:defRPr>
            </a:lvl1pPr>
          </a:lstStyle>
          <a:p>
            <a:pPr>
              <a:buNone/>
            </a:pPr>
            <a:r>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idx="24" hasCustomPrompt="1"/>
          </p:nvPr>
        </p:nvSpPr>
        <p:spPr>
          <a:xfrm>
            <a:off x="5921828" y="3898736"/>
            <a:ext cx="5431971" cy="557950"/>
          </a:xfrm>
        </p:spPr>
        <p:txBody>
          <a:bodyPr>
            <a:normAutofit/>
          </a:bodyPr>
          <a:lstStyle>
            <a:lvl1pPr marL="0" indent="0">
              <a:lnSpc>
                <a:spcPct val="100000"/>
              </a:lnSpc>
              <a:buNone/>
              <a:defRPr sz="1400">
                <a:solidFill>
                  <a:schemeClr val="tx1"/>
                </a:solidFill>
              </a:defRPr>
            </a:lvl1pPr>
          </a:lstStyle>
          <a:p>
            <a:pPr>
              <a:buNone/>
            </a:pPr>
            <a:r>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idx="25" hasCustomPrompt="1"/>
          </p:nvPr>
        </p:nvSpPr>
        <p:spPr>
          <a:xfrm>
            <a:off x="5922254" y="4669107"/>
            <a:ext cx="5433204" cy="365125"/>
          </a:xfrm>
        </p:spPr>
        <p:txBody>
          <a:bodyPr>
            <a:normAutofit/>
          </a:bodyPr>
          <a:lstStyle>
            <a:lvl1pPr marL="0" indent="0">
              <a:buNone/>
              <a:defRPr sz="2000" cap="all" spc="150">
                <a:solidFill>
                  <a:schemeClr val="tx1"/>
                </a:solidFill>
                <a:latin typeface="+mj-lt"/>
                <a:ea typeface="+mj-lt"/>
                <a:cs typeface="+mj-lt"/>
              </a:defRPr>
            </a:lvl1pPr>
          </a:lstStyle>
          <a:p>
            <a:pPr>
              <a:buNone/>
            </a:pPr>
            <a:r>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idx="26" hasCustomPrompt="1"/>
          </p:nvPr>
        </p:nvSpPr>
        <p:spPr>
          <a:xfrm>
            <a:off x="5921828" y="4998532"/>
            <a:ext cx="5431971" cy="557950"/>
          </a:xfrm>
        </p:spPr>
        <p:txBody>
          <a:bodyPr>
            <a:normAutofit/>
          </a:bodyPr>
          <a:lstStyle>
            <a:lvl1pPr marL="0" indent="0">
              <a:lnSpc>
                <a:spcPct val="100000"/>
              </a:lnSpc>
              <a:buNone/>
              <a:defRPr sz="1400">
                <a:solidFill>
                  <a:schemeClr val="tx1"/>
                </a:solidFill>
              </a:defRPr>
            </a:lvl1pPr>
          </a:lstStyle>
          <a:p>
            <a:pPr>
              <a:buNone/>
            </a:pPr>
            <a:r>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idx="20"/>
          </p:nvPr>
        </p:nvSpPr>
        <p:spPr>
          <a:xfrm>
            <a:off x="5919680" y="6356350"/>
            <a:ext cx="947516" cy="365125"/>
          </a:xfrm>
        </p:spPr>
        <p:txBody>
          <a:bodyPr/>
          <a:lstStyle>
            <a:lvl1pPr>
              <a:buNone/>
              <a:defRPr sz="900"/>
            </a:lvl1pPr>
          </a:lstStyle>
          <a:p>
            <a:pPr>
              <a:buNone/>
            </a:pPr>
            <a:fld id="{D6E0A371-48E0-4D70-9938-7EAA11F25D6B}" type="datetime1">
              <a:t>7/29/2026</a:t>
            </a:fld>
            <a:endParaRP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idx="21"/>
          </p:nvPr>
        </p:nvSpPr>
        <p:spPr>
          <a:xfrm>
            <a:off x="7161955" y="6356350"/>
            <a:ext cx="3243942" cy="365125"/>
          </a:xfrm>
        </p:spPr>
        <p:txBody>
          <a:bodyPr/>
          <a:lstStyle>
            <a:lvl1pPr>
              <a:buNone/>
              <a:defRPr sz="900"/>
            </a:lvl1pPr>
          </a:lstStyle>
          <a:p>
            <a:pPr>
              <a:buNone/>
            </a:pPr>
            <a:r>
              <a:t>Introduction to Deep Learning - PSDI &amp; Royce Materials Data Summit</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idx="22"/>
          </p:nvPr>
        </p:nvSpPr>
        <p:spPr>
          <a:xfrm>
            <a:off x="10700656" y="6356350"/>
            <a:ext cx="653143" cy="365125"/>
          </a:xfrm>
        </p:spPr>
        <p:txBody>
          <a:bodyPr/>
          <a:lstStyle>
            <a:lvl1pPr>
              <a:buNone/>
              <a:defRPr sz="900"/>
            </a:lvl1pPr>
          </a:lstStyle>
          <a:p>
            <a:pPr>
              <a:buNone/>
            </a:pPr>
            <a:fld id="{B5CEABB6-07DC-46E8-9B57-56EC44A396E5}"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buNone/>
              <a:defRPr sz="2800" cap="all" spc="150">
                <a:solidFill>
                  <a:schemeClr val="tx1"/>
                </a:solidFill>
                <a:latin typeface="+mj-lt"/>
                <a:ea typeface="+mj-lt"/>
                <a:cs typeface="+mj-lt"/>
              </a:defRPr>
            </a:lvl1pPr>
          </a:lstStyle>
          <a:p>
            <a:pPr>
              <a:buNone/>
            </a:pPr>
            <a:r>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sz="2000" cap="all" spc="15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idx="2"/>
          </p:nvPr>
        </p:nvSpPr>
        <p:spPr>
          <a:xfrm>
            <a:off x="1243104" y="3834606"/>
            <a:ext cx="2882475" cy="1997867"/>
          </a:xfrm>
        </p:spPr>
        <p:txBody>
          <a:bodyPr>
            <a:normAutofit/>
          </a:bodyPr>
          <a:lstStyle>
            <a:lvl1pPr marL="0" indent="0">
              <a:lnSpc>
                <a:spcPct val="100000"/>
              </a:lnSpc>
              <a:buNone/>
              <a:defRPr sz="1400" spc="50"/>
            </a:lvl1pPr>
            <a:lvl2pPr marL="457200" indent="0">
              <a:lnSpc>
                <a:spcPct val="100000"/>
              </a:lnSpc>
              <a:buNone/>
              <a:defRPr sz="1400" spc="50"/>
            </a:lvl2pPr>
            <a:lvl3pPr marL="914400" indent="0">
              <a:lnSpc>
                <a:spcPct val="100000"/>
              </a:lnSpc>
              <a:buNone/>
              <a:defRPr sz="1400" spc="50"/>
            </a:lvl3pPr>
            <a:lvl4pPr marL="1371600" indent="0">
              <a:lnSpc>
                <a:spcPct val="100000"/>
              </a:lnSpc>
              <a:buNone/>
              <a:defRPr sz="1400" spc="50"/>
            </a:lvl4pPr>
            <a:lvl5pPr marL="1828800" indent="0">
              <a:lnSpc>
                <a:spcPct val="100000"/>
              </a:lnSpc>
              <a:buNone/>
              <a:defRPr sz="1400" spc="50"/>
            </a:lvl5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idx="3" hasCustomPrompt="1"/>
          </p:nvPr>
        </p:nvSpPr>
        <p:spPr>
          <a:xfrm>
            <a:off x="4647665" y="2776936"/>
            <a:ext cx="2896671" cy="823912"/>
          </a:xfrm>
        </p:spPr>
        <p:txBody>
          <a:bodyPr anchor="b">
            <a:noAutofit/>
          </a:bodyPr>
          <a:lstStyle>
            <a:lvl1pPr marL="0" indent="0">
              <a:buNone/>
              <a:defRPr sz="2000" cap="all" spc="15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indent="0" algn="l">
              <a:lnSpc>
                <a:spcPct val="90000"/>
              </a:lnSpc>
              <a:spcBef>
                <a:spcPts val="1000"/>
              </a:spcBef>
              <a:buNone/>
            </a:pPr>
            <a:r>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idx="4"/>
          </p:nvPr>
        </p:nvSpPr>
        <p:spPr>
          <a:xfrm>
            <a:off x="4647665" y="3834606"/>
            <a:ext cx="2896671" cy="1997867"/>
          </a:xfrm>
        </p:spPr>
        <p:txBody>
          <a:bodyPr>
            <a:normAutofit/>
          </a:bodyPr>
          <a:lstStyle>
            <a:lvl1pPr marL="0" indent="0">
              <a:lnSpc>
                <a:spcPct val="100000"/>
              </a:lnSpc>
              <a:buNone/>
              <a:defRPr sz="1400" spc="50"/>
            </a:lvl1pPr>
            <a:lvl2pPr marL="457200" indent="0">
              <a:lnSpc>
                <a:spcPct val="100000"/>
              </a:lnSpc>
              <a:buNone/>
              <a:defRPr sz="1400" spc="50"/>
            </a:lvl2pPr>
            <a:lvl3pPr marL="914400" indent="0">
              <a:lnSpc>
                <a:spcPct val="100000"/>
              </a:lnSpc>
              <a:buNone/>
              <a:defRPr sz="1400" spc="50"/>
            </a:lvl3pPr>
            <a:lvl4pPr marL="1371600" indent="0">
              <a:lnSpc>
                <a:spcPct val="100000"/>
              </a:lnSpc>
              <a:buNone/>
              <a:defRPr sz="1400" spc="50"/>
            </a:lvl4pPr>
            <a:lvl5pPr marL="1828800" indent="0">
              <a:lnSpc>
                <a:spcPct val="100000"/>
              </a:lnSpc>
              <a:buNone/>
              <a:defRPr sz="1400" spc="50"/>
            </a:lvl5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16" name="Straight Connector 15">
            <a:extLst>
              <a:ext uri="{FF2B5EF4-FFF2-40B4-BE49-F238E27FC236}">
                <a16:creationId xmlns:a16="http://schemas.microsoft.com/office/drawing/2014/main" id="{7A318D2A-0F50-438F-94E1-9BFBD8D76CCE}"/>
              </a:ext>
            </a:extLst>
          </p:cNvPr>
          <p:cNvSpPr>
            <a:spLocks noGrp="1"/>
          </p:cNvSpPr>
          <p:nvPr/>
        </p:nv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txBody>
          <a:bodyPr/>
          <a:lstStyle/>
          <a:p>
            <a:endParaRPr lang="en-GB"/>
          </a:p>
        </p:txBody>
      </p:sp>
      <p:sp>
        <p:nvSpPr>
          <p:cNvPr id="20" name="Straight Connector 19">
            <a:extLst>
              <a:ext uri="{FF2B5EF4-FFF2-40B4-BE49-F238E27FC236}">
                <a16:creationId xmlns:a16="http://schemas.microsoft.com/office/drawing/2014/main" id="{21F8973D-5D76-4E95-A2DB-486E1B484BDE}"/>
              </a:ext>
            </a:extLst>
          </p:cNvPr>
          <p:cNvSpPr>
            <a:spLocks noGrp="1"/>
          </p:cNvSpPr>
          <p:nvPr/>
        </p:nv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lstStyle/>
          <a:p>
            <a:endParaRPr lang="en-GB"/>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sz="2000" cap="all" spc="15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idx="14"/>
          </p:nvPr>
        </p:nvSpPr>
        <p:spPr>
          <a:xfrm>
            <a:off x="8066421" y="3834606"/>
            <a:ext cx="2882475" cy="1997867"/>
          </a:xfrm>
        </p:spPr>
        <p:txBody>
          <a:bodyPr>
            <a:normAutofit/>
          </a:bodyPr>
          <a:lstStyle>
            <a:lvl1pPr marL="0" indent="0">
              <a:lnSpc>
                <a:spcPct val="100000"/>
              </a:lnSpc>
              <a:buNone/>
              <a:defRPr sz="1400" spc="50"/>
            </a:lvl1pPr>
            <a:lvl2pPr marL="457200" indent="0">
              <a:lnSpc>
                <a:spcPct val="100000"/>
              </a:lnSpc>
              <a:buNone/>
              <a:defRPr sz="1400" spc="50"/>
            </a:lvl2pPr>
            <a:lvl3pPr marL="914400" indent="0">
              <a:lnSpc>
                <a:spcPct val="100000"/>
              </a:lnSpc>
              <a:buNone/>
              <a:defRPr sz="1400" spc="50"/>
            </a:lvl3pPr>
            <a:lvl4pPr marL="1371600" indent="0">
              <a:lnSpc>
                <a:spcPct val="100000"/>
              </a:lnSpc>
              <a:buNone/>
              <a:defRPr sz="1400" spc="50"/>
            </a:lvl4pPr>
            <a:lvl5pPr marL="1828800" indent="0">
              <a:lnSpc>
                <a:spcPct val="100000"/>
              </a:lnSpc>
              <a:buNone/>
              <a:defRPr sz="1400" spc="50"/>
            </a:lvl5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idx="10"/>
          </p:nvPr>
        </p:nvSpPr>
        <p:spPr/>
        <p:txBody>
          <a:bodyPr/>
          <a:lstStyle>
            <a:lvl1pPr>
              <a:buNone/>
              <a:defRPr sz="900"/>
            </a:lvl1pPr>
          </a:lstStyle>
          <a:p>
            <a:pPr>
              <a:buNone/>
            </a:pPr>
            <a:fld id="{1670726F-BED8-4EFC-A674-72E147BEF1CD}" type="datetime1">
              <a:t>7/29/2026</a:t>
            </a:fld>
            <a:endParaRP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idx="11"/>
          </p:nvPr>
        </p:nvSpPr>
        <p:spPr/>
        <p:txBody>
          <a:bodyPr/>
          <a:lstStyle>
            <a:lvl1pPr>
              <a:buNone/>
              <a:defRPr sz="900"/>
            </a:lvl1pPr>
          </a:lstStyle>
          <a:p>
            <a:pPr>
              <a:buNone/>
            </a:pPr>
            <a:r>
              <a:t>Introduction to Deep Learning - PSDI &amp; Royce Materials Data Summit</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idx="12"/>
          </p:nvPr>
        </p:nvSpPr>
        <p:spPr/>
        <p:txBody>
          <a:bodyPr/>
          <a:lstStyle>
            <a:lvl1pPr>
              <a:buNone/>
              <a:defRPr sz="900"/>
            </a:lvl1pPr>
          </a:lstStyle>
          <a:p>
            <a:pPr>
              <a:buNone/>
            </a:pPr>
            <a:fld id="{B5CEABB6-07DC-46E8-9B57-56EC44A396E5}" type="slidenum">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buNone/>
              <a:defRPr sz="2800" cap="all" spc="150">
                <a:solidFill>
                  <a:schemeClr val="bg1"/>
                </a:solidFill>
                <a:latin typeface="+mj-lt"/>
                <a:ea typeface="+mj-lt"/>
                <a:cs typeface="+mj-lt"/>
              </a:defRPr>
            </a:lvl1pPr>
          </a:lstStyle>
          <a:p>
            <a:pPr>
              <a:buNone/>
            </a:pPr>
            <a:r>
              <a:t>CLICK TO EDIT MASTER TITLE STYLE</a:t>
            </a:r>
          </a:p>
        </p:txBody>
      </p:sp>
      <p:pic>
        <p:nvPicPr>
          <p:cNvPr id="3" name="Graphic 10"/>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65141" y="2358007"/>
            <a:ext cx="2438400" cy="2019300"/>
          </a:xfrm>
          <a:prstGeom prst="rect">
            <a:avLst/>
          </a:prstGeom>
        </p:spPr>
      </p:pic>
      <p:pic>
        <p:nvPicPr>
          <p:cNvPr id="4" name="Graphic 1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00625" y="2531837"/>
            <a:ext cx="2190750" cy="1943100"/>
          </a:xfrm>
          <a:prstGeom prst="rect">
            <a:avLst/>
          </a:prstGeom>
        </p:spPr>
      </p:pic>
      <p:pic>
        <p:nvPicPr>
          <p:cNvPr id="5" name="Graphic 14"/>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45608" y="2421056"/>
            <a:ext cx="2324100" cy="2057400"/>
          </a:xfrm>
          <a:prstGeom prst="rect">
            <a:avLst/>
          </a:prstGeom>
        </p:spPr>
      </p:pic>
      <p:sp>
        <p:nvSpPr>
          <p:cNvPr id="10"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sz="4000" cap="all" spc="150">
                <a:solidFill>
                  <a:schemeClr val="bg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sz="4000" cap="all" spc="150">
                <a:solidFill>
                  <a:schemeClr val="bg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sz="4000" cap="all" spc="150">
                <a:solidFill>
                  <a:schemeClr val="bg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a:t>
            </a:r>
          </a:p>
        </p:txBody>
      </p:sp>
      <p:sp>
        <p:nvSpPr>
          <p:cNvPr id="11" name="Content Placeholder 3">
            <a:extLst>
              <a:ext uri="{FF2B5EF4-FFF2-40B4-BE49-F238E27FC236}">
                <a16:creationId xmlns:a16="http://schemas.microsoft.com/office/drawing/2014/main" id="{AC9B20CF-6B91-4562-B799-0ABDAEBC0D2A}"/>
              </a:ext>
            </a:extLst>
          </p:cNvPr>
          <p:cNvSpPr>
            <a:spLocks noGrp="1"/>
          </p:cNvSpPr>
          <p:nvPr>
            <p:ph idx="2"/>
          </p:nvPr>
        </p:nvSpPr>
        <p:spPr>
          <a:xfrm>
            <a:off x="1129698" y="4824188"/>
            <a:ext cx="3124093" cy="462927"/>
          </a:xfrm>
        </p:spPr>
        <p:txBody>
          <a:bodyPr>
            <a:noAutofit/>
          </a:bodyPr>
          <a:lstStyle>
            <a:lvl1pPr marL="0" indent="0" algn="ctr">
              <a:lnSpc>
                <a:spcPct val="100000"/>
              </a:lnSpc>
              <a:buNone/>
              <a:defRPr sz="2000" cap="all" spc="50">
                <a:solidFill>
                  <a:schemeClr val="bg1"/>
                </a:solidFill>
              </a:defRPr>
            </a:lvl1pPr>
            <a:lvl2pPr marL="457200" indent="0">
              <a:lnSpc>
                <a:spcPct val="100000"/>
              </a:lnSpc>
              <a:buNone/>
              <a:defRPr sz="1400" spc="50">
                <a:solidFill>
                  <a:schemeClr val="bg1"/>
                </a:solidFill>
              </a:defRPr>
            </a:lvl2pPr>
            <a:lvl3pPr marL="914400" indent="0">
              <a:lnSpc>
                <a:spcPct val="100000"/>
              </a:lnSpc>
              <a:buNone/>
              <a:defRPr sz="1400" spc="50">
                <a:solidFill>
                  <a:schemeClr val="bg1"/>
                </a:solidFill>
              </a:defRPr>
            </a:lvl3pPr>
            <a:lvl4pPr marL="1371600" indent="0">
              <a:lnSpc>
                <a:spcPct val="100000"/>
              </a:lnSpc>
              <a:buNone/>
              <a:defRPr sz="1400" spc="50">
                <a:solidFill>
                  <a:schemeClr val="bg1"/>
                </a:solidFill>
              </a:defRPr>
            </a:lvl4pPr>
            <a:lvl5pPr marL="1828800" indent="0">
              <a:lnSpc>
                <a:spcPct val="100000"/>
              </a:lnSpc>
              <a:buNone/>
              <a:defRPr sz="1400" spc="50">
                <a:solidFill>
                  <a:schemeClr val="bg1"/>
                </a:solidFill>
              </a:defRPr>
            </a:lvl5pPr>
          </a:lstStyle>
          <a:p>
            <a:pPr>
              <a:buNone/>
            </a:pPr>
            <a:r>
              <a:t>Click to edit Master text styles</a:t>
            </a:r>
          </a:p>
        </p:txBody>
      </p:sp>
      <p:sp>
        <p:nvSpPr>
          <p:cNvPr id="25" name="Content Placeholder 3">
            <a:extLst>
              <a:ext uri="{FF2B5EF4-FFF2-40B4-BE49-F238E27FC236}">
                <a16:creationId xmlns:a16="http://schemas.microsoft.com/office/drawing/2014/main" id="{82D8880F-3EAC-45C9-91F2-19A193791A18}"/>
              </a:ext>
            </a:extLst>
          </p:cNvPr>
          <p:cNvSpPr>
            <a:spLocks noGrp="1"/>
          </p:cNvSpPr>
          <p:nvPr>
            <p:ph idx="17"/>
          </p:nvPr>
        </p:nvSpPr>
        <p:spPr>
          <a:xfrm>
            <a:off x="1129698" y="5280763"/>
            <a:ext cx="3124093" cy="462927"/>
          </a:xfrm>
        </p:spPr>
        <p:txBody>
          <a:bodyPr>
            <a:normAutofit/>
          </a:bodyPr>
          <a:lstStyle>
            <a:lvl1pPr marL="0" indent="0" algn="ctr">
              <a:lnSpc>
                <a:spcPct val="100000"/>
              </a:lnSpc>
              <a:buNone/>
              <a:defRPr sz="1400" cap="none" spc="50">
                <a:solidFill>
                  <a:schemeClr val="bg1"/>
                </a:solidFill>
              </a:defRPr>
            </a:lvl1pPr>
            <a:lvl2pPr marL="457200" indent="0">
              <a:lnSpc>
                <a:spcPct val="100000"/>
              </a:lnSpc>
              <a:buNone/>
              <a:defRPr sz="1400" spc="50">
                <a:solidFill>
                  <a:schemeClr val="bg1"/>
                </a:solidFill>
              </a:defRPr>
            </a:lvl2pPr>
            <a:lvl3pPr marL="914400" indent="0">
              <a:lnSpc>
                <a:spcPct val="100000"/>
              </a:lnSpc>
              <a:buNone/>
              <a:defRPr sz="1400" spc="50">
                <a:solidFill>
                  <a:schemeClr val="bg1"/>
                </a:solidFill>
              </a:defRPr>
            </a:lvl3pPr>
            <a:lvl4pPr marL="1371600" indent="0">
              <a:lnSpc>
                <a:spcPct val="100000"/>
              </a:lnSpc>
              <a:buNone/>
              <a:defRPr sz="1400" spc="50">
                <a:solidFill>
                  <a:schemeClr val="bg1"/>
                </a:solidFill>
              </a:defRPr>
            </a:lvl4pPr>
            <a:lvl5pPr marL="1828800" indent="0">
              <a:lnSpc>
                <a:spcPct val="100000"/>
              </a:lnSpc>
              <a:buNone/>
              <a:defRPr sz="1400" spc="50">
                <a:solidFill>
                  <a:schemeClr val="bg1"/>
                </a:solidFill>
              </a:defRPr>
            </a:lvl5pPr>
          </a:lstStyle>
          <a:p>
            <a:pPr>
              <a:buNone/>
            </a:pPr>
            <a:r>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idx="4"/>
          </p:nvPr>
        </p:nvSpPr>
        <p:spPr>
          <a:xfrm>
            <a:off x="4526261" y="4824188"/>
            <a:ext cx="3139479" cy="462927"/>
          </a:xfrm>
        </p:spPr>
        <p:txBody>
          <a:bodyPr>
            <a:normAutofit/>
          </a:bodyPr>
          <a:lstStyle>
            <a:lvl1pPr marL="0" indent="0" algn="ctr">
              <a:lnSpc>
                <a:spcPct val="100000"/>
              </a:lnSpc>
              <a:buNone/>
              <a:defRPr sz="2000" cap="all" spc="50">
                <a:solidFill>
                  <a:schemeClr val="bg1"/>
                </a:solidFill>
              </a:defRPr>
            </a:lvl1pPr>
            <a:lvl2pPr marL="457200" indent="0">
              <a:lnSpc>
                <a:spcPct val="100000"/>
              </a:lnSpc>
              <a:buNone/>
              <a:defRPr sz="2000" cap="all" spc="50">
                <a:solidFill>
                  <a:schemeClr val="bg1"/>
                </a:solidFill>
              </a:defRPr>
            </a:lvl2pPr>
            <a:lvl3pPr marL="914400" indent="0">
              <a:lnSpc>
                <a:spcPct val="100000"/>
              </a:lnSpc>
              <a:buNone/>
              <a:defRPr sz="1400" spc="50">
                <a:solidFill>
                  <a:schemeClr val="bg1"/>
                </a:solidFill>
              </a:defRPr>
            </a:lvl3pPr>
            <a:lvl4pPr marL="1371600" indent="0">
              <a:lnSpc>
                <a:spcPct val="100000"/>
              </a:lnSpc>
              <a:buNone/>
              <a:defRPr sz="1400" spc="50">
                <a:solidFill>
                  <a:schemeClr val="bg1"/>
                </a:solidFill>
              </a:defRPr>
            </a:lvl4pPr>
            <a:lvl5pPr marL="1828800" indent="0">
              <a:lnSpc>
                <a:spcPct val="100000"/>
              </a:lnSpc>
              <a:buNone/>
              <a:defRPr sz="1400" spc="50">
                <a:solidFill>
                  <a:schemeClr val="bg1"/>
                </a:solidFill>
              </a:defRPr>
            </a:lvl5pPr>
          </a:lstStyle>
          <a:p>
            <a:pPr>
              <a:buNone/>
            </a:pPr>
            <a:r>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idx="18"/>
          </p:nvPr>
        </p:nvSpPr>
        <p:spPr>
          <a:xfrm>
            <a:off x="4526261" y="5280763"/>
            <a:ext cx="3139479" cy="462927"/>
          </a:xfrm>
        </p:spPr>
        <p:txBody>
          <a:bodyPr>
            <a:normAutofit/>
          </a:bodyPr>
          <a:lstStyle>
            <a:lvl1pPr marL="0" indent="0" algn="ctr">
              <a:lnSpc>
                <a:spcPct val="100000"/>
              </a:lnSpc>
              <a:buNone/>
              <a:defRPr sz="1400" cap="none" spc="50">
                <a:solidFill>
                  <a:schemeClr val="bg1"/>
                </a:solidFill>
              </a:defRPr>
            </a:lvl1pPr>
            <a:lvl2pPr marL="457200" indent="0" algn="ctr">
              <a:lnSpc>
                <a:spcPct val="100000"/>
              </a:lnSpc>
              <a:buNone/>
              <a:defRPr sz="1400" cap="none" spc="50">
                <a:solidFill>
                  <a:schemeClr val="bg1"/>
                </a:solidFill>
              </a:defRPr>
            </a:lvl2pPr>
            <a:lvl3pPr marL="914400" indent="0">
              <a:lnSpc>
                <a:spcPct val="100000"/>
              </a:lnSpc>
              <a:buNone/>
              <a:defRPr sz="1400" spc="50">
                <a:solidFill>
                  <a:schemeClr val="bg1"/>
                </a:solidFill>
              </a:defRPr>
            </a:lvl3pPr>
            <a:lvl4pPr marL="1371600" indent="0">
              <a:lnSpc>
                <a:spcPct val="100000"/>
              </a:lnSpc>
              <a:buNone/>
              <a:defRPr sz="1400" spc="50">
                <a:solidFill>
                  <a:schemeClr val="bg1"/>
                </a:solidFill>
              </a:defRPr>
            </a:lvl4pPr>
            <a:lvl5pPr marL="1828800" indent="0">
              <a:lnSpc>
                <a:spcPct val="100000"/>
              </a:lnSpc>
              <a:buNone/>
              <a:defRPr sz="1400" spc="50">
                <a:solidFill>
                  <a:schemeClr val="bg1"/>
                </a:solidFill>
              </a:defRPr>
            </a:lvl5pPr>
          </a:lstStyle>
          <a:p>
            <a:pPr>
              <a:buNone/>
            </a:pPr>
            <a:r>
              <a:t>Click to edit Master text styles</a:t>
            </a:r>
          </a:p>
          <a:p>
            <a:pPr>
              <a:buNone/>
            </a:pPr>
            <a:r>
              <a:t>Second level</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idx="14"/>
          </p:nvPr>
        </p:nvSpPr>
        <p:spPr>
          <a:xfrm>
            <a:off x="7938210" y="4824188"/>
            <a:ext cx="3124093" cy="462927"/>
          </a:xfrm>
        </p:spPr>
        <p:txBody>
          <a:bodyPr>
            <a:noAutofit/>
          </a:bodyPr>
          <a:lstStyle>
            <a:lvl1pPr marL="0" indent="0" algn="ctr">
              <a:lnSpc>
                <a:spcPct val="100000"/>
              </a:lnSpc>
              <a:buNone/>
              <a:defRPr sz="2000" cap="all" spc="50">
                <a:solidFill>
                  <a:schemeClr val="bg1"/>
                </a:solidFill>
              </a:defRPr>
            </a:lvl1pPr>
            <a:lvl2pPr marL="457200" indent="0">
              <a:lnSpc>
                <a:spcPct val="100000"/>
              </a:lnSpc>
              <a:buNone/>
              <a:defRPr sz="1400" spc="50">
                <a:solidFill>
                  <a:schemeClr val="bg1"/>
                </a:solidFill>
              </a:defRPr>
            </a:lvl2pPr>
            <a:lvl3pPr marL="914400" indent="0">
              <a:lnSpc>
                <a:spcPct val="100000"/>
              </a:lnSpc>
              <a:buNone/>
              <a:defRPr sz="1400" spc="50">
                <a:solidFill>
                  <a:schemeClr val="bg1"/>
                </a:solidFill>
              </a:defRPr>
            </a:lvl3pPr>
            <a:lvl4pPr marL="1371600" indent="0">
              <a:lnSpc>
                <a:spcPct val="100000"/>
              </a:lnSpc>
              <a:buNone/>
              <a:defRPr sz="1400" spc="50">
                <a:solidFill>
                  <a:schemeClr val="bg1"/>
                </a:solidFill>
              </a:defRPr>
            </a:lvl4pPr>
            <a:lvl5pPr marL="1828800" indent="0">
              <a:lnSpc>
                <a:spcPct val="100000"/>
              </a:lnSpc>
              <a:buNone/>
              <a:defRPr sz="1400" spc="50">
                <a:solidFill>
                  <a:schemeClr val="bg1"/>
                </a:solidFill>
              </a:defRPr>
            </a:lvl5pPr>
          </a:lstStyle>
          <a:p>
            <a:pPr>
              <a:buNone/>
            </a:pPr>
            <a:r>
              <a:t>Click to edit Master text styles</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idx="19"/>
          </p:nvPr>
        </p:nvSpPr>
        <p:spPr>
          <a:xfrm>
            <a:off x="7938210" y="5280763"/>
            <a:ext cx="3124093" cy="462927"/>
          </a:xfrm>
        </p:spPr>
        <p:txBody>
          <a:bodyPr>
            <a:normAutofit/>
          </a:bodyPr>
          <a:lstStyle>
            <a:lvl1pPr marL="0" indent="0" algn="ctr">
              <a:lnSpc>
                <a:spcPct val="100000"/>
              </a:lnSpc>
              <a:buNone/>
              <a:defRPr sz="1400" cap="none" spc="50">
                <a:solidFill>
                  <a:schemeClr val="bg1"/>
                </a:solidFill>
              </a:defRPr>
            </a:lvl1pPr>
            <a:lvl2pPr marL="457200" indent="0">
              <a:lnSpc>
                <a:spcPct val="100000"/>
              </a:lnSpc>
              <a:buNone/>
              <a:defRPr sz="1400" spc="50">
                <a:solidFill>
                  <a:schemeClr val="bg1"/>
                </a:solidFill>
              </a:defRPr>
            </a:lvl2pPr>
            <a:lvl3pPr marL="914400" indent="0">
              <a:lnSpc>
                <a:spcPct val="100000"/>
              </a:lnSpc>
              <a:buNone/>
              <a:defRPr sz="1400" spc="50">
                <a:solidFill>
                  <a:schemeClr val="bg1"/>
                </a:solidFill>
              </a:defRPr>
            </a:lvl3pPr>
            <a:lvl4pPr marL="1371600" indent="0">
              <a:lnSpc>
                <a:spcPct val="100000"/>
              </a:lnSpc>
              <a:buNone/>
              <a:defRPr sz="1400" spc="50">
                <a:solidFill>
                  <a:schemeClr val="bg1"/>
                </a:solidFill>
              </a:defRPr>
            </a:lvl4pPr>
            <a:lvl5pPr marL="1828800" indent="0">
              <a:lnSpc>
                <a:spcPct val="100000"/>
              </a:lnSpc>
              <a:buNone/>
              <a:defRPr sz="1400" spc="50">
                <a:solidFill>
                  <a:schemeClr val="bg1"/>
                </a:solidFill>
              </a:defRPr>
            </a:lvl5pPr>
          </a:lstStyle>
          <a:p>
            <a:pPr>
              <a:buNone/>
            </a:pPr>
            <a:r>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idx="10"/>
          </p:nvPr>
        </p:nvSpPr>
        <p:spPr/>
        <p:txBody>
          <a:bodyPr/>
          <a:lstStyle>
            <a:lvl1pPr>
              <a:buNone/>
              <a:defRPr sz="900"/>
            </a:lvl1pPr>
          </a:lstStyle>
          <a:p>
            <a:pPr>
              <a:buNone/>
            </a:pPr>
            <a:fld id="{A10B1F04-7F66-485F-9A4F-09828C6E769B}" type="datetime1">
              <a:t>7/29/2026</a:t>
            </a:fld>
            <a:endParaRP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idx="11"/>
          </p:nvPr>
        </p:nvSpPr>
        <p:spPr/>
        <p:txBody>
          <a:bodyPr/>
          <a:lstStyle>
            <a:lvl1pPr>
              <a:buNone/>
              <a:defRPr sz="900"/>
            </a:lvl1pPr>
          </a:lstStyle>
          <a:p>
            <a:pPr>
              <a:buNone/>
            </a:pPr>
            <a:r>
              <a:t>Introduction to Deep Learning - PSDI &amp; Royce Materials Data Summit</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idx="12"/>
          </p:nvPr>
        </p:nvSpPr>
        <p:spPr/>
        <p:txBody>
          <a:bodyPr/>
          <a:lstStyle>
            <a:lvl1pPr>
              <a:buNone/>
              <a:defRPr sz="900"/>
            </a:lvl1pPr>
          </a:lstStyle>
          <a:p>
            <a:pPr>
              <a:buNone/>
            </a:pPr>
            <a:fld id="{B5CEABB6-07DC-46E8-9B57-56EC44A396E5}" type="slidenum">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buNone/>
              <a:defRPr sz="2800" spc="150">
                <a:solidFill>
                  <a:schemeClr val="tx1"/>
                </a:solidFill>
                <a:latin typeface="+mj-lt"/>
                <a:ea typeface="+mj-lt"/>
                <a:cs typeface="+mj-lt"/>
              </a:defRPr>
            </a:lvl1pPr>
          </a:lstStyle>
          <a:p>
            <a:pPr>
              <a:buNone/>
            </a:pPr>
            <a:r>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sz="2000" spc="15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idx="2"/>
          </p:nvPr>
        </p:nvSpPr>
        <p:spPr>
          <a:xfrm>
            <a:off x="2933700" y="3834606"/>
            <a:ext cx="3924300" cy="1997867"/>
          </a:xfrm>
        </p:spPr>
        <p:txBody>
          <a:bodyPr>
            <a:normAutofit/>
          </a:bodyPr>
          <a:lstStyle>
            <a:lvl1pPr marL="0" indent="0">
              <a:lnSpc>
                <a:spcPct val="100000"/>
              </a:lnSpc>
              <a:buNone/>
              <a:defRPr sz="1400" spc="50"/>
            </a:lvl1pPr>
            <a:lvl2pPr marL="457200" indent="0">
              <a:lnSpc>
                <a:spcPct val="100000"/>
              </a:lnSpc>
              <a:buNone/>
              <a:defRPr sz="1400" spc="50"/>
            </a:lvl2pPr>
            <a:lvl3pPr marL="914400" indent="0">
              <a:lnSpc>
                <a:spcPct val="100000"/>
              </a:lnSpc>
              <a:buNone/>
              <a:defRPr sz="1400" spc="50"/>
            </a:lvl3pPr>
            <a:lvl4pPr marL="1371600" indent="0">
              <a:lnSpc>
                <a:spcPct val="100000"/>
              </a:lnSpc>
              <a:buNone/>
              <a:defRPr sz="1400" spc="50"/>
            </a:lvl4pPr>
            <a:lvl5pPr marL="1828800" indent="0">
              <a:lnSpc>
                <a:spcPct val="100000"/>
              </a:lnSpc>
              <a:buNone/>
              <a:defRPr sz="1400" spc="50"/>
            </a:lvl5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idx="3" hasCustomPrompt="1"/>
          </p:nvPr>
        </p:nvSpPr>
        <p:spPr>
          <a:xfrm>
            <a:off x="7410173" y="2776936"/>
            <a:ext cx="3943627" cy="823912"/>
          </a:xfrm>
        </p:spPr>
        <p:txBody>
          <a:bodyPr anchor="b">
            <a:noAutofit/>
          </a:bodyPr>
          <a:lstStyle>
            <a:lvl1pPr marL="0" indent="0">
              <a:buNone/>
              <a:defRPr sz="2000" spc="15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indent="0" algn="l">
              <a:lnSpc>
                <a:spcPct val="90000"/>
              </a:lnSpc>
              <a:spcBef>
                <a:spcPts val="1000"/>
              </a:spcBef>
              <a:buNone/>
            </a:pPr>
            <a:r>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idx="4"/>
          </p:nvPr>
        </p:nvSpPr>
        <p:spPr>
          <a:xfrm>
            <a:off x="7410173" y="3834606"/>
            <a:ext cx="3943627" cy="1997867"/>
          </a:xfrm>
        </p:spPr>
        <p:txBody>
          <a:bodyPr>
            <a:normAutofit/>
          </a:bodyPr>
          <a:lstStyle>
            <a:lvl1pPr marL="0" indent="0">
              <a:lnSpc>
                <a:spcPct val="100000"/>
              </a:lnSpc>
              <a:buNone/>
              <a:defRPr sz="1400" spc="50"/>
            </a:lvl1pPr>
            <a:lvl2pPr marL="457200" indent="0">
              <a:lnSpc>
                <a:spcPct val="100000"/>
              </a:lnSpc>
              <a:buNone/>
              <a:defRPr sz="1400" spc="50"/>
            </a:lvl2pPr>
            <a:lvl3pPr marL="914400" indent="0">
              <a:lnSpc>
                <a:spcPct val="100000"/>
              </a:lnSpc>
              <a:buNone/>
              <a:defRPr sz="1400" spc="50"/>
            </a:lvl3pPr>
            <a:lvl4pPr marL="1371600" indent="0">
              <a:lnSpc>
                <a:spcPct val="100000"/>
              </a:lnSpc>
              <a:buNone/>
              <a:defRPr sz="1400" spc="50"/>
            </a:lvl4pPr>
            <a:lvl5pPr marL="1828800" indent="0">
              <a:lnSpc>
                <a:spcPct val="100000"/>
              </a:lnSpc>
              <a:buNone/>
              <a:defRPr sz="1400" spc="50"/>
            </a:lvl5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idx="10"/>
          </p:nvPr>
        </p:nvSpPr>
        <p:spPr/>
        <p:txBody>
          <a:bodyPr/>
          <a:lstStyle>
            <a:lvl1pPr>
              <a:buNone/>
              <a:defRPr sz="900"/>
            </a:lvl1pPr>
          </a:lstStyle>
          <a:p>
            <a:pPr>
              <a:buNone/>
            </a:pPr>
            <a:fld id="{4E4007F7-B6F2-4822-962A-9A59D6AFEBA1}" type="datetime1">
              <a:t>7/29/2026</a:t>
            </a:fld>
            <a:endParaRP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idx="11"/>
          </p:nvPr>
        </p:nvSpPr>
        <p:spPr/>
        <p:txBody>
          <a:bodyPr/>
          <a:lstStyle>
            <a:lvl1pPr>
              <a:buNone/>
              <a:defRPr sz="900"/>
            </a:lvl1pPr>
          </a:lstStyle>
          <a:p>
            <a:pPr>
              <a:buNone/>
            </a:pPr>
            <a:r>
              <a:t>Introduction to Deep Learning - PSDI &amp; Royce Materials Data Summit</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idx="12"/>
          </p:nvPr>
        </p:nvSpPr>
        <p:spPr/>
        <p:txBody>
          <a:bodyPr/>
          <a:lstStyle>
            <a:lvl1pPr>
              <a:buNone/>
              <a:defRPr sz="900"/>
            </a:lvl1pPr>
          </a:lstStyle>
          <a:p>
            <a:pPr>
              <a:buNone/>
            </a:pPr>
            <a:fld id="{B5CEABB6-07DC-46E8-9B57-56EC44A396E5}" type="slidenum">
              <a:t>‹#›</a:t>
            </a:fld>
            <a:endParaRPr/>
          </a:p>
        </p:txBody>
      </p:sp>
      <p:pic>
        <p:nvPicPr>
          <p:cNvPr id="10" name="Graphic 10"/>
          <p:cNvPicPr>
            <a:picLocks noChangeAspect="1"/>
          </p:cNvPicPr>
          <p:nvPr/>
        </p:nvPicPr>
        <p:blipFill rotWithShape="1">
          <a:blip>
            <a:extLst>
              <a:ext uri="{96DAC541-7B7A-43D3-8B79-37D633B846F1}">
                <asvg:svgBlip xmlns:asvg="http://schemas.microsoft.com/office/drawing/2016/SVG/main" r:embed="rId2"/>
              </a:ext>
            </a:extLst>
          </a:blip>
          <a:srcRect l="39434" t="20278" b="22673"/>
          <a:stretch/>
        </p:blipFill>
        <p:spPr>
          <a:xfrm>
            <a:off x="25785" y="0"/>
            <a:ext cx="4368030" cy="3912394"/>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2" name="Graphic 13"/>
          <p:cNvPicPr>
            <a:picLocks noChangeAspect="1"/>
          </p:cNvPicPr>
          <p:nvPr/>
        </p:nvPicPr>
        <p:blipFill rotWithShape="1">
          <a:blip>
            <a:extLst>
              <a:ext uri="{96DAC541-7B7A-43D3-8B79-37D633B846F1}">
                <asvg:svgBlip xmlns:asvg="http://schemas.microsoft.com/office/drawing/2016/SVG/main" r:embed="rId2"/>
              </a:ext>
            </a:extLst>
          </a:blip>
          <a:srcRect t="18301" r="41825" b="23071"/>
          <a:stretch/>
        </p:blipFill>
        <p:spPr>
          <a:xfrm flipH="1">
            <a:off x="0" y="0"/>
            <a:ext cx="5441888" cy="6858000"/>
          </a:xfr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buNone/>
              <a:defRPr sz="2800" cap="all" spc="150">
                <a:solidFill>
                  <a:schemeClr val="tx1"/>
                </a:solidFill>
                <a:latin typeface="+mj-lt"/>
                <a:ea typeface="+mj-lt"/>
                <a:cs typeface="+mj-lt"/>
              </a:defRPr>
            </a:lvl1pPr>
          </a:lstStyle>
          <a:p>
            <a:pPr>
              <a:buNone/>
            </a:pPr>
            <a:r>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idx="13" hasCustomPrompt="1"/>
          </p:nvPr>
        </p:nvSpPr>
        <p:spPr>
          <a:xfrm>
            <a:off x="5922254" y="2469515"/>
            <a:ext cx="5433204" cy="365125"/>
          </a:xfrm>
        </p:spPr>
        <p:txBody>
          <a:bodyPr>
            <a:normAutofit/>
          </a:bodyPr>
          <a:lstStyle>
            <a:lvl1pPr marL="0" indent="0">
              <a:buNone/>
              <a:defRPr sz="2000" cap="all" spc="150">
                <a:solidFill>
                  <a:schemeClr val="tx1"/>
                </a:solidFill>
                <a:latin typeface="+mj-lt"/>
                <a:ea typeface="+mj-lt"/>
                <a:cs typeface="+mj-lt"/>
              </a:defRPr>
            </a:lvl1pPr>
          </a:lstStyle>
          <a:p>
            <a:pPr>
              <a:buNone/>
            </a:pPr>
            <a:r>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idx="15" hasCustomPrompt="1"/>
          </p:nvPr>
        </p:nvSpPr>
        <p:spPr>
          <a:xfrm>
            <a:off x="5921828" y="2798940"/>
            <a:ext cx="5431971" cy="557950"/>
          </a:xfrm>
        </p:spPr>
        <p:txBody>
          <a:bodyPr>
            <a:normAutofit/>
          </a:bodyPr>
          <a:lstStyle>
            <a:lvl1pPr marL="0" indent="0">
              <a:lnSpc>
                <a:spcPct val="100000"/>
              </a:lnSpc>
              <a:buNone/>
              <a:defRPr sz="1400">
                <a:solidFill>
                  <a:schemeClr val="tx1"/>
                </a:solidFill>
              </a:defRPr>
            </a:lvl1pPr>
          </a:lstStyle>
          <a:p>
            <a:pPr>
              <a:buNone/>
            </a:pPr>
            <a:r>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idx="23" hasCustomPrompt="1"/>
          </p:nvPr>
        </p:nvSpPr>
        <p:spPr>
          <a:xfrm>
            <a:off x="5922254" y="3569311"/>
            <a:ext cx="5433204" cy="365125"/>
          </a:xfrm>
        </p:spPr>
        <p:txBody>
          <a:bodyPr>
            <a:normAutofit/>
          </a:bodyPr>
          <a:lstStyle>
            <a:lvl1pPr marL="0" indent="0">
              <a:buNone/>
              <a:defRPr sz="2000" cap="all" spc="150">
                <a:solidFill>
                  <a:schemeClr val="tx1"/>
                </a:solidFill>
                <a:latin typeface="+mj-lt"/>
                <a:ea typeface="+mj-lt"/>
                <a:cs typeface="+mj-lt"/>
              </a:defRPr>
            </a:lvl1pPr>
          </a:lstStyle>
          <a:p>
            <a:pPr>
              <a:buNone/>
            </a:pPr>
            <a:r>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idx="24" hasCustomPrompt="1"/>
          </p:nvPr>
        </p:nvSpPr>
        <p:spPr>
          <a:xfrm>
            <a:off x="5921828" y="3898736"/>
            <a:ext cx="5431971" cy="557950"/>
          </a:xfrm>
        </p:spPr>
        <p:txBody>
          <a:bodyPr>
            <a:normAutofit/>
          </a:bodyPr>
          <a:lstStyle>
            <a:lvl1pPr marL="0" indent="0">
              <a:lnSpc>
                <a:spcPct val="100000"/>
              </a:lnSpc>
              <a:buNone/>
              <a:defRPr sz="1400">
                <a:solidFill>
                  <a:schemeClr val="tx1"/>
                </a:solidFill>
              </a:defRPr>
            </a:lvl1pPr>
          </a:lstStyle>
          <a:p>
            <a:pPr>
              <a:buNone/>
            </a:pPr>
            <a:r>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idx="25" hasCustomPrompt="1"/>
          </p:nvPr>
        </p:nvSpPr>
        <p:spPr>
          <a:xfrm>
            <a:off x="5922254" y="4669107"/>
            <a:ext cx="5433204" cy="365125"/>
          </a:xfrm>
        </p:spPr>
        <p:txBody>
          <a:bodyPr>
            <a:normAutofit/>
          </a:bodyPr>
          <a:lstStyle>
            <a:lvl1pPr marL="0" indent="0">
              <a:buNone/>
              <a:defRPr sz="2000" cap="all" spc="150">
                <a:solidFill>
                  <a:schemeClr val="tx1"/>
                </a:solidFill>
                <a:latin typeface="+mj-lt"/>
                <a:ea typeface="+mj-lt"/>
                <a:cs typeface="+mj-lt"/>
              </a:defRPr>
            </a:lvl1pPr>
          </a:lstStyle>
          <a:p>
            <a:pPr>
              <a:buNone/>
            </a:pPr>
            <a:r>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idx="26" hasCustomPrompt="1"/>
          </p:nvPr>
        </p:nvSpPr>
        <p:spPr>
          <a:xfrm>
            <a:off x="5921828" y="4998532"/>
            <a:ext cx="5431971" cy="557950"/>
          </a:xfrm>
        </p:spPr>
        <p:txBody>
          <a:bodyPr>
            <a:normAutofit/>
          </a:bodyPr>
          <a:lstStyle>
            <a:lvl1pPr marL="0" indent="0">
              <a:lnSpc>
                <a:spcPct val="100000"/>
              </a:lnSpc>
              <a:buNone/>
              <a:defRPr sz="1400">
                <a:solidFill>
                  <a:schemeClr val="tx1"/>
                </a:solidFill>
              </a:defRPr>
            </a:lvl1pPr>
          </a:lstStyle>
          <a:p>
            <a:pPr>
              <a:buNone/>
            </a:pPr>
            <a:r>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idx="10"/>
          </p:nvPr>
        </p:nvSpPr>
        <p:spPr>
          <a:xfrm>
            <a:off x="838200" y="6356350"/>
            <a:ext cx="2743200" cy="365125"/>
          </a:xfrm>
        </p:spPr>
        <p:txBody>
          <a:bodyPr/>
          <a:lstStyle>
            <a:lvl1pPr>
              <a:buNone/>
              <a:defRPr sz="900"/>
            </a:lvl1pPr>
          </a:lstStyle>
          <a:p>
            <a:pPr>
              <a:buNone/>
            </a:pPr>
            <a:fld id="{9A9056D3-5D11-47B3-A5B9-21163F636012}" type="datetime1">
              <a:t>7/29/2026</a:t>
            </a:fld>
            <a:endParaRP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idx="11"/>
          </p:nvPr>
        </p:nvSpPr>
        <p:spPr>
          <a:xfrm>
            <a:off x="4038600" y="6356350"/>
            <a:ext cx="4114800" cy="365125"/>
          </a:xfrm>
        </p:spPr>
        <p:txBody>
          <a:bodyPr/>
          <a:lstStyle>
            <a:lvl1pPr>
              <a:buNone/>
              <a:defRPr sz="900"/>
            </a:lvl1pPr>
          </a:lstStyle>
          <a:p>
            <a:pPr>
              <a:buNone/>
            </a:pPr>
            <a:r>
              <a:t>Introduction to Deep Learning - PSDI &amp; Royce Materials Data Summit</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idx="12"/>
          </p:nvPr>
        </p:nvSpPr>
        <p:spPr>
          <a:xfrm>
            <a:off x="8610600" y="6356350"/>
            <a:ext cx="2743200" cy="365125"/>
          </a:xfrm>
        </p:spPr>
        <p:txBody>
          <a:bodyPr/>
          <a:lstStyle>
            <a:lvl1pPr>
              <a:buNone/>
              <a:defRPr sz="900"/>
            </a:lvl1pPr>
          </a:lstStyle>
          <a:p>
            <a:pPr>
              <a:buNone/>
            </a:pPr>
            <a:fld id="{B5CEABB6-07DC-46E8-9B57-56EC44A396E5}" type="slidenum">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l">
              <a:buNone/>
              <a:defRPr sz="2800" spc="150">
                <a:solidFill>
                  <a:schemeClr val="tx1"/>
                </a:solidFill>
                <a:latin typeface="+mj-lt"/>
                <a:ea typeface="+mj-lt"/>
                <a:cs typeface="+mj-lt"/>
              </a:defRPr>
            </a:lvl1pPr>
          </a:lstStyle>
          <a:p>
            <a:pPr>
              <a:buNone/>
            </a:pPr>
            <a:r>
              <a:t>CLICK TO EDIT MASTER TITLE STYLE</a:t>
            </a:r>
          </a:p>
        </p:txBody>
      </p:sp>
      <p:sp>
        <p:nvSpPr>
          <p:cNvPr id="15" name="Text Placeholder 14">
            <a:extLst>
              <a:ext uri="{FF2B5EF4-FFF2-40B4-BE49-F238E27FC236}">
                <a16:creationId xmlns:a16="http://schemas.microsoft.com/office/drawing/2014/main" id="{B250D272-9B39-4C2D-B0F5-21010D11E437}"/>
              </a:ext>
            </a:extLst>
          </p:cNvPr>
          <p:cNvSpPr>
            <a:spLocks noGrp="1"/>
          </p:cNvSpPr>
          <p:nvPr>
            <p:ph type="body" idx="16"/>
          </p:nvPr>
        </p:nvSpPr>
        <p:spPr>
          <a:xfrm>
            <a:off x="748749" y="1361938"/>
            <a:ext cx="6765925" cy="496888"/>
          </a:xfrm>
        </p:spPr>
        <p:txBody>
          <a:bodyPr>
            <a:noAutofit/>
          </a:bodyPr>
          <a:lstStyle>
            <a:lvl1pPr marL="0" indent="0">
              <a:buNone/>
              <a:defRPr sz="1800"/>
            </a:lvl1pPr>
            <a:lvl2pPr marL="457200" indent="0">
              <a:buNone/>
              <a:defRPr sz="1800"/>
            </a:lvl2pPr>
            <a:lvl3pPr marL="914400" indent="0">
              <a:buNone/>
              <a:defRPr sz="1600"/>
            </a:lvl3pPr>
            <a:lvl4pPr marL="1371600" indent="0">
              <a:buNone/>
              <a:defRPr sz="1400"/>
            </a:lvl4pPr>
            <a:lvl5pPr marL="1828800" indent="0">
              <a:buNone/>
              <a:defRPr sz="1400"/>
            </a:lvl5pPr>
          </a:lstStyle>
          <a:p>
            <a:pPr>
              <a:buNone/>
            </a:pPr>
            <a:r>
              <a:t>Click to edit Master text styles</a:t>
            </a:r>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idx="13"/>
          </p:nvPr>
        </p:nvSpPr>
        <p:spPr>
          <a:xfrm>
            <a:off x="838200" y="2286002"/>
            <a:ext cx="6094270" cy="3542143"/>
          </a:xfrm>
        </p:spPr>
        <p:txBody>
          <a:bodyPr/>
          <a:lstStyle/>
          <a:p>
            <a:pPr>
              <a:buNone/>
            </a:pPr>
            <a:r>
              <a:t>Click icon to add chart</a:t>
            </a:r>
          </a:p>
        </p:txBody>
      </p:sp>
      <p:sp>
        <p:nvSpPr>
          <p:cNvPr id="11" name="Text Placeholder 10">
            <a:extLst>
              <a:ext uri="{FF2B5EF4-FFF2-40B4-BE49-F238E27FC236}">
                <a16:creationId xmlns:a16="http://schemas.microsoft.com/office/drawing/2014/main" id="{339C283A-EC40-421C-8A0E-F9A3161C8890}"/>
              </a:ext>
            </a:extLst>
          </p:cNvPr>
          <p:cNvSpPr>
            <a:spLocks noGrp="1"/>
          </p:cNvSpPr>
          <p:nvPr>
            <p:ph type="body" idx="14"/>
          </p:nvPr>
        </p:nvSpPr>
        <p:spPr>
          <a:xfrm>
            <a:off x="7858125" y="2284624"/>
            <a:ext cx="3147332" cy="306388"/>
          </a:xfrm>
        </p:spPr>
        <p:txBody>
          <a:bodyPr>
            <a:noAutofit/>
          </a:bodyPr>
          <a:lstStyle>
            <a:lvl1pPr marL="0" indent="0">
              <a:buNone/>
              <a:defRPr sz="1400" cap="all" spc="150">
                <a:solidFill>
                  <a:schemeClr val="tx1"/>
                </a:solidFill>
                <a:latin typeface="+mj-lt"/>
                <a:ea typeface="+mj-lt"/>
                <a:cs typeface="+mj-lt"/>
              </a:defRPr>
            </a:lvl1pPr>
            <a:lvl2pPr marL="457200" indent="0">
              <a:buNone/>
              <a:defRPr sz="1400"/>
            </a:lvl2pPr>
            <a:lvl3pPr marL="914400" indent="0">
              <a:buNone/>
              <a:defRPr sz="1200"/>
            </a:lvl3pPr>
            <a:lvl4pPr marL="1371600" indent="0">
              <a:buNone/>
              <a:defRPr sz="1100"/>
            </a:lvl4pPr>
            <a:lvl5pPr marL="1828800" indent="0">
              <a:buNone/>
              <a:defRPr sz="1100"/>
            </a:lvl5pPr>
          </a:lstStyle>
          <a:p>
            <a:pPr>
              <a:buNone/>
            </a:pPr>
            <a:r>
              <a:t>Click to edit Master text styles</a:t>
            </a:r>
          </a:p>
        </p:txBody>
      </p:sp>
      <p:sp>
        <p:nvSpPr>
          <p:cNvPr id="13" name="Content Placeholder 12">
            <a:extLst>
              <a:ext uri="{FF2B5EF4-FFF2-40B4-BE49-F238E27FC236}">
                <a16:creationId xmlns:a16="http://schemas.microsoft.com/office/drawing/2014/main" id="{305CA2B1-D510-4949-A638-C1A064DA41A7}"/>
              </a:ext>
            </a:extLst>
          </p:cNvPr>
          <p:cNvSpPr>
            <a:spLocks noGrp="1"/>
          </p:cNvSpPr>
          <p:nvPr>
            <p:ph idx="15" hasCustomPrompt="1"/>
          </p:nvPr>
        </p:nvSpPr>
        <p:spPr>
          <a:xfrm>
            <a:off x="7858125" y="2779713"/>
            <a:ext cx="3148013" cy="3095625"/>
          </a:xfrm>
        </p:spPr>
        <p:txBody>
          <a:bodyPr>
            <a:normAutofit/>
          </a:bodyPr>
          <a:lstStyle>
            <a:lvl1pPr marL="0" indent="0">
              <a:buNone/>
              <a:defRPr sz="1200">
                <a:solidFill>
                  <a:schemeClr val="tx1">
                    <a:lumMod val="65000"/>
                    <a:lumOff val="35000"/>
                  </a:schemeClr>
                </a:solidFill>
              </a:defRPr>
            </a:lvl1pPr>
            <a:lvl2pPr marL="457200" indent="0">
              <a:buNone/>
              <a:defRPr sz="1100">
                <a:solidFill>
                  <a:schemeClr val="tx1">
                    <a:lumMod val="65000"/>
                    <a:lumOff val="35000"/>
                  </a:schemeClr>
                </a:solidFill>
              </a:defRPr>
            </a:lvl2pPr>
            <a:lvl3pPr marL="914400" indent="0">
              <a:buNone/>
              <a:defRPr sz="1050">
                <a:solidFill>
                  <a:schemeClr val="tx1">
                    <a:lumMod val="65000"/>
                    <a:lumOff val="35000"/>
                  </a:schemeClr>
                </a:solidFill>
              </a:defRPr>
            </a:lvl3pPr>
            <a:lvl4pPr marL="1371600" indent="0">
              <a:buNone/>
              <a:defRPr sz="1000">
                <a:solidFill>
                  <a:schemeClr val="tx1">
                    <a:lumMod val="65000"/>
                    <a:lumOff val="35000"/>
                  </a:schemeClr>
                </a:solidFill>
              </a:defRPr>
            </a:lvl4pPr>
            <a:lvl5pPr marL="1828800" indent="0">
              <a:buNone/>
              <a:defRPr sz="1000">
                <a:solidFill>
                  <a:schemeClr val="tx1">
                    <a:lumMod val="65000"/>
                    <a:lumOff val="35000"/>
                  </a:schemeClr>
                </a:solidFill>
              </a:defRPr>
            </a:lvl5pPr>
          </a:lstStyle>
          <a:p>
            <a:pPr>
              <a:buNone/>
            </a:pPr>
            <a:r>
              <a:t>Click to add content</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idx="10"/>
          </p:nvPr>
        </p:nvSpPr>
        <p:spPr/>
        <p:txBody>
          <a:bodyPr/>
          <a:lstStyle>
            <a:lvl1pPr>
              <a:buNone/>
              <a:defRPr sz="900"/>
            </a:lvl1pPr>
          </a:lstStyle>
          <a:p>
            <a:pPr>
              <a:buNone/>
            </a:pPr>
            <a:fld id="{687A9B91-BCB0-4311-9D97-1BA171EF48E3}" type="datetime1">
              <a:t>7/29/2026</a:t>
            </a:fld>
            <a:endParaRP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idx="11"/>
          </p:nvPr>
        </p:nvSpPr>
        <p:spPr/>
        <p:txBody>
          <a:bodyPr/>
          <a:lstStyle>
            <a:lvl1pPr>
              <a:buNone/>
              <a:defRPr sz="900"/>
            </a:lvl1pPr>
          </a:lstStyle>
          <a:p>
            <a:pPr>
              <a:buNone/>
            </a:pPr>
            <a:r>
              <a:t>Introduction to Deep Learning - PSDI &amp; Royce Materials Data Summit</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idx="12"/>
          </p:nvPr>
        </p:nvSpPr>
        <p:spPr/>
        <p:txBody>
          <a:bodyPr/>
          <a:lstStyle>
            <a:lvl1pPr>
              <a:buNone/>
              <a:defRPr sz="900"/>
            </a:lvl1pPr>
          </a:lstStyle>
          <a:p>
            <a:pPr>
              <a:buNone/>
            </a:pPr>
            <a:fld id="{B5CEABB6-07DC-46E8-9B57-56EC44A396E5}" type="slidenum">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a:spLocks noGrp="1"/>
          </p:cNvSpPr>
          <p:nvPr/>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buNone/>
              <a:defRPr sz="2800" spc="150">
                <a:solidFill>
                  <a:schemeClr val="tx1"/>
                </a:solidFill>
                <a:latin typeface="+mj-lt"/>
                <a:ea typeface="+mj-lt"/>
                <a:cs typeface="+mj-lt"/>
              </a:defRPr>
            </a:lvl1pPr>
          </a:lstStyle>
          <a:p>
            <a:pPr>
              <a:buNone/>
            </a:pPr>
            <a:r>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idx="33" hasCustomPrompt="1"/>
          </p:nvPr>
        </p:nvSpPr>
        <p:spPr>
          <a:xfrm>
            <a:off x="914399" y="3354712"/>
            <a:ext cx="731520" cy="457200"/>
          </a:xfrm>
        </p:spPr>
        <p:txBody>
          <a:bodyPr anchor="ctr"/>
          <a:lstStyle>
            <a:lvl1pPr marL="0" indent="0" algn="l">
              <a:buNone/>
              <a:defRPr sz="1400" b="1">
                <a:solidFill>
                  <a:schemeClr val="tx1"/>
                </a:solidFill>
                <a:latin typeface="+mj-lt"/>
                <a:ea typeface="+mj-lt"/>
                <a:cs typeface="+mj-lt"/>
              </a:defRPr>
            </a:lvl1pPr>
          </a:lstStyle>
          <a:p>
            <a:pPr>
              <a:buNone/>
            </a:pPr>
            <a:r>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idx="34" hasCustomPrompt="1"/>
          </p:nvPr>
        </p:nvSpPr>
        <p:spPr>
          <a:xfrm>
            <a:off x="1965960" y="3502152"/>
            <a:ext cx="640080" cy="201776"/>
          </a:xfrm>
        </p:spPr>
        <p:txBody>
          <a:bodyPr>
            <a:noAutofit/>
          </a:bodyPr>
          <a:lstStyle>
            <a:lvl1pPr marL="0" indent="0" algn="ctr">
              <a:buNone/>
              <a:defRPr sz="1000">
                <a:solidFill>
                  <a:schemeClr val="tx1"/>
                </a:solidFill>
              </a:defRPr>
            </a:lvl1pPr>
          </a:lstStyle>
          <a:p>
            <a:pPr>
              <a:buNone/>
            </a:pPr>
            <a:r>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idx="35" hasCustomPrompt="1"/>
          </p:nvPr>
        </p:nvSpPr>
        <p:spPr>
          <a:xfrm>
            <a:off x="2753880" y="3502152"/>
            <a:ext cx="640080" cy="201776"/>
          </a:xfrm>
        </p:spPr>
        <p:txBody>
          <a:bodyPr>
            <a:noAutofit/>
          </a:bodyPr>
          <a:lstStyle>
            <a:lvl1pPr marL="0" indent="0" algn="ctr">
              <a:buNone/>
              <a:defRPr sz="1000">
                <a:solidFill>
                  <a:schemeClr val="tx1"/>
                </a:solidFill>
              </a:defRPr>
            </a:lvl1pPr>
          </a:lstStyle>
          <a:p>
            <a:pPr>
              <a:buNone/>
            </a:pPr>
            <a:r>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idx="36" hasCustomPrompt="1"/>
          </p:nvPr>
        </p:nvSpPr>
        <p:spPr>
          <a:xfrm>
            <a:off x="3541800" y="3502152"/>
            <a:ext cx="640080" cy="201776"/>
          </a:xfrm>
        </p:spPr>
        <p:txBody>
          <a:bodyPr>
            <a:noAutofit/>
          </a:bodyPr>
          <a:lstStyle>
            <a:lvl1pPr marL="0" indent="0" algn="ctr">
              <a:buNone/>
              <a:defRPr sz="1000">
                <a:solidFill>
                  <a:schemeClr val="tx1"/>
                </a:solidFill>
              </a:defRPr>
            </a:lvl1pPr>
          </a:lstStyle>
          <a:p>
            <a:pPr>
              <a:buNone/>
            </a:pPr>
            <a:r>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idx="37" hasCustomPrompt="1"/>
          </p:nvPr>
        </p:nvSpPr>
        <p:spPr>
          <a:xfrm>
            <a:off x="4329720" y="3502152"/>
            <a:ext cx="640080" cy="201776"/>
          </a:xfrm>
        </p:spPr>
        <p:txBody>
          <a:bodyPr>
            <a:noAutofit/>
          </a:bodyPr>
          <a:lstStyle>
            <a:lvl1pPr marL="0" indent="0" algn="ctr">
              <a:buNone/>
              <a:defRPr sz="1000">
                <a:solidFill>
                  <a:schemeClr val="tx1"/>
                </a:solidFill>
              </a:defRPr>
            </a:lvl1pPr>
          </a:lstStyle>
          <a:p>
            <a:pPr>
              <a:buNone/>
            </a:pPr>
            <a:r>
              <a:t>MM</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idx="39" hasCustomPrompt="1"/>
          </p:nvPr>
        </p:nvSpPr>
        <p:spPr>
          <a:xfrm>
            <a:off x="5117640" y="3502152"/>
            <a:ext cx="640080" cy="201776"/>
          </a:xfrm>
        </p:spPr>
        <p:txBody>
          <a:bodyPr>
            <a:noAutofit/>
          </a:bodyPr>
          <a:lstStyle>
            <a:lvl1pPr marL="0" indent="0" algn="ctr">
              <a:buNone/>
              <a:defRPr sz="1000">
                <a:solidFill>
                  <a:schemeClr val="tx1"/>
                </a:solidFill>
              </a:defRPr>
            </a:lvl1pPr>
          </a:lstStyle>
          <a:p>
            <a:pPr>
              <a:buNone/>
            </a:pPr>
            <a:r>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idx="40" hasCustomPrompt="1"/>
          </p:nvPr>
        </p:nvSpPr>
        <p:spPr>
          <a:xfrm>
            <a:off x="5905560" y="3502152"/>
            <a:ext cx="640080" cy="201776"/>
          </a:xfrm>
        </p:spPr>
        <p:txBody>
          <a:bodyPr>
            <a:noAutofit/>
          </a:bodyPr>
          <a:lstStyle>
            <a:lvl1pPr marL="0" indent="0" algn="ctr">
              <a:buNone/>
              <a:defRPr sz="1000">
                <a:solidFill>
                  <a:schemeClr val="tx1"/>
                </a:solidFill>
              </a:defRPr>
            </a:lvl1pPr>
          </a:lstStyle>
          <a:p>
            <a:pPr>
              <a:buNone/>
            </a:pPr>
            <a:r>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idx="41" hasCustomPrompt="1"/>
          </p:nvPr>
        </p:nvSpPr>
        <p:spPr>
          <a:xfrm>
            <a:off x="6693480" y="3502152"/>
            <a:ext cx="640080" cy="201776"/>
          </a:xfrm>
        </p:spPr>
        <p:txBody>
          <a:bodyPr>
            <a:noAutofit/>
          </a:bodyPr>
          <a:lstStyle>
            <a:lvl1pPr marL="0" indent="0" algn="ctr">
              <a:buNone/>
              <a:defRPr sz="1000">
                <a:solidFill>
                  <a:schemeClr val="tx1"/>
                </a:solidFill>
              </a:defRPr>
            </a:lvl1pPr>
          </a:lstStyle>
          <a:p>
            <a:pPr>
              <a:buNone/>
            </a:pPr>
            <a:r>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idx="43" hasCustomPrompt="1"/>
          </p:nvPr>
        </p:nvSpPr>
        <p:spPr>
          <a:xfrm>
            <a:off x="7481400" y="3502152"/>
            <a:ext cx="640080" cy="201776"/>
          </a:xfrm>
        </p:spPr>
        <p:txBody>
          <a:bodyPr>
            <a:noAutofit/>
          </a:bodyPr>
          <a:lstStyle>
            <a:lvl1pPr marL="0" indent="0" algn="ctr">
              <a:buNone/>
              <a:defRPr sz="1000">
                <a:solidFill>
                  <a:schemeClr val="tx1"/>
                </a:solidFill>
              </a:defRPr>
            </a:lvl1pPr>
          </a:lstStyle>
          <a:p>
            <a:pPr>
              <a:buNone/>
            </a:pPr>
            <a:r>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idx="44" hasCustomPrompt="1"/>
          </p:nvPr>
        </p:nvSpPr>
        <p:spPr>
          <a:xfrm>
            <a:off x="8269320" y="3502152"/>
            <a:ext cx="640080" cy="201776"/>
          </a:xfrm>
        </p:spPr>
        <p:txBody>
          <a:bodyPr>
            <a:noAutofit/>
          </a:bodyPr>
          <a:lstStyle>
            <a:lvl1pPr marL="0" indent="0" algn="ctr">
              <a:buNone/>
              <a:defRPr sz="1000">
                <a:solidFill>
                  <a:schemeClr val="tx1"/>
                </a:solidFill>
              </a:defRPr>
            </a:lvl1pPr>
          </a:lstStyle>
          <a:p>
            <a:pPr>
              <a:buNone/>
            </a:pPr>
            <a:r>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idx="42" hasCustomPrompt="1"/>
          </p:nvPr>
        </p:nvSpPr>
        <p:spPr>
          <a:xfrm>
            <a:off x="9057240" y="3502152"/>
            <a:ext cx="640080" cy="201776"/>
          </a:xfrm>
        </p:spPr>
        <p:txBody>
          <a:bodyPr>
            <a:noAutofit/>
          </a:bodyPr>
          <a:lstStyle>
            <a:lvl1pPr marL="0" indent="0" algn="ctr">
              <a:buNone/>
              <a:defRPr sz="1000">
                <a:solidFill>
                  <a:schemeClr val="tx1"/>
                </a:solidFill>
              </a:defRPr>
            </a:lvl1pPr>
          </a:lstStyle>
          <a:p>
            <a:pPr>
              <a:buNone/>
            </a:pPr>
            <a:r>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idx="45" hasCustomPrompt="1"/>
          </p:nvPr>
        </p:nvSpPr>
        <p:spPr>
          <a:xfrm>
            <a:off x="9845160" y="3502152"/>
            <a:ext cx="640080" cy="201776"/>
          </a:xfrm>
        </p:spPr>
        <p:txBody>
          <a:bodyPr>
            <a:noAutofit/>
          </a:bodyPr>
          <a:lstStyle>
            <a:lvl1pPr marL="0" indent="0" algn="ctr">
              <a:buNone/>
              <a:defRPr sz="1000">
                <a:solidFill>
                  <a:schemeClr val="tx1"/>
                </a:solidFill>
              </a:defRPr>
            </a:lvl1pPr>
          </a:lstStyle>
          <a:p>
            <a:pPr>
              <a:buNone/>
            </a:pPr>
            <a:r>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idx="46" hasCustomPrompt="1"/>
          </p:nvPr>
        </p:nvSpPr>
        <p:spPr>
          <a:xfrm>
            <a:off x="10633085" y="3502152"/>
            <a:ext cx="640080" cy="201776"/>
          </a:xfrm>
        </p:spPr>
        <p:txBody>
          <a:bodyPr>
            <a:noAutofit/>
          </a:bodyPr>
          <a:lstStyle>
            <a:lvl1pPr marL="0" indent="0" algn="ctr">
              <a:buNone/>
              <a:defRPr sz="1000">
                <a:solidFill>
                  <a:schemeClr val="tx1"/>
                </a:solidFill>
              </a:defRPr>
            </a:lvl1pPr>
          </a:lstStyle>
          <a:p>
            <a:pPr>
              <a:buNone/>
            </a:pPr>
            <a:r>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idx="38" hasCustomPrompt="1"/>
          </p:nvPr>
        </p:nvSpPr>
        <p:spPr>
          <a:xfrm>
            <a:off x="914400" y="4292468"/>
            <a:ext cx="731520" cy="457200"/>
          </a:xfrm>
        </p:spPr>
        <p:txBody>
          <a:bodyPr anchor="ctr"/>
          <a:lstStyle>
            <a:lvl1pPr marL="0" indent="0" algn="l">
              <a:buNone/>
              <a:defRPr sz="1400" b="1">
                <a:solidFill>
                  <a:schemeClr val="tx1"/>
                </a:solidFill>
                <a:latin typeface="+mj-lt"/>
                <a:ea typeface="+mj-lt"/>
                <a:cs typeface="+mj-lt"/>
              </a:defRPr>
            </a:lvl1pPr>
          </a:lstStyle>
          <a:p>
            <a:pPr>
              <a:buNone/>
            </a:pPr>
            <a:r>
              <a:t>Year</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idx="47" hasCustomPrompt="1"/>
          </p:nvPr>
        </p:nvSpPr>
        <p:spPr>
          <a:xfrm>
            <a:off x="1969915" y="4425696"/>
            <a:ext cx="640080" cy="201776"/>
          </a:xfrm>
        </p:spPr>
        <p:txBody>
          <a:bodyPr>
            <a:noAutofit/>
          </a:bodyPr>
          <a:lstStyle>
            <a:lvl1pPr marL="0" indent="0" algn="ctr">
              <a:buNone/>
              <a:defRPr sz="1000">
                <a:solidFill>
                  <a:schemeClr val="tx1"/>
                </a:solidFill>
              </a:defRPr>
            </a:lvl1pPr>
          </a:lstStyle>
          <a:p>
            <a:pPr>
              <a:buNone/>
            </a:pPr>
            <a:r>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idx="48" hasCustomPrompt="1"/>
          </p:nvPr>
        </p:nvSpPr>
        <p:spPr>
          <a:xfrm>
            <a:off x="2757602" y="4425696"/>
            <a:ext cx="640080" cy="201776"/>
          </a:xfrm>
        </p:spPr>
        <p:txBody>
          <a:bodyPr>
            <a:noAutofit/>
          </a:bodyPr>
          <a:lstStyle>
            <a:lvl1pPr marL="0" indent="0" algn="ctr">
              <a:buNone/>
              <a:defRPr sz="1000">
                <a:solidFill>
                  <a:schemeClr val="tx1"/>
                </a:solidFill>
              </a:defRPr>
            </a:lvl1pPr>
          </a:lstStyle>
          <a:p>
            <a:pPr>
              <a:buNone/>
            </a:pPr>
            <a:r>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idx="49" hasCustomPrompt="1"/>
          </p:nvPr>
        </p:nvSpPr>
        <p:spPr>
          <a:xfrm>
            <a:off x="3545289" y="4425696"/>
            <a:ext cx="640080" cy="201776"/>
          </a:xfrm>
        </p:spPr>
        <p:txBody>
          <a:bodyPr>
            <a:noAutofit/>
          </a:bodyPr>
          <a:lstStyle>
            <a:lvl1pPr marL="0" indent="0" algn="ctr">
              <a:buNone/>
              <a:defRPr sz="1000">
                <a:solidFill>
                  <a:schemeClr val="tx1"/>
                </a:solidFill>
              </a:defRPr>
            </a:lvl1pPr>
          </a:lstStyle>
          <a:p>
            <a:pPr>
              <a:buNone/>
            </a:pPr>
            <a:r>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idx="50" hasCustomPrompt="1"/>
          </p:nvPr>
        </p:nvSpPr>
        <p:spPr>
          <a:xfrm>
            <a:off x="4332976" y="4425696"/>
            <a:ext cx="640080" cy="201776"/>
          </a:xfrm>
        </p:spPr>
        <p:txBody>
          <a:bodyPr>
            <a:noAutofit/>
          </a:bodyPr>
          <a:lstStyle>
            <a:lvl1pPr marL="0" indent="0" algn="ctr">
              <a:buNone/>
              <a:defRPr sz="1000">
                <a:solidFill>
                  <a:schemeClr val="tx1"/>
                </a:solidFill>
              </a:defRPr>
            </a:lvl1pPr>
          </a:lstStyle>
          <a:p>
            <a:pPr>
              <a:buNone/>
            </a:pPr>
            <a:r>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idx="51" hasCustomPrompt="1"/>
          </p:nvPr>
        </p:nvSpPr>
        <p:spPr>
          <a:xfrm>
            <a:off x="5120663" y="4425696"/>
            <a:ext cx="640080" cy="201776"/>
          </a:xfrm>
        </p:spPr>
        <p:txBody>
          <a:bodyPr>
            <a:noAutofit/>
          </a:bodyPr>
          <a:lstStyle>
            <a:lvl1pPr marL="0" indent="0" algn="ctr">
              <a:buNone/>
              <a:defRPr sz="1000">
                <a:solidFill>
                  <a:schemeClr val="tx1"/>
                </a:solidFill>
              </a:defRPr>
            </a:lvl1pPr>
          </a:lstStyle>
          <a:p>
            <a:pPr>
              <a:buNone/>
            </a:pPr>
            <a:r>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idx="52" hasCustomPrompt="1"/>
          </p:nvPr>
        </p:nvSpPr>
        <p:spPr>
          <a:xfrm>
            <a:off x="5908350" y="4425696"/>
            <a:ext cx="640080" cy="201776"/>
          </a:xfrm>
        </p:spPr>
        <p:txBody>
          <a:bodyPr>
            <a:noAutofit/>
          </a:bodyPr>
          <a:lstStyle>
            <a:lvl1pPr marL="0" indent="0" algn="ctr">
              <a:buNone/>
              <a:defRPr sz="1000">
                <a:solidFill>
                  <a:schemeClr val="tx1"/>
                </a:solidFill>
              </a:defRPr>
            </a:lvl1pPr>
          </a:lstStyle>
          <a:p>
            <a:pPr>
              <a:buNone/>
            </a:pPr>
            <a:r>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idx="53" hasCustomPrompt="1"/>
          </p:nvPr>
        </p:nvSpPr>
        <p:spPr>
          <a:xfrm>
            <a:off x="6696037" y="4425696"/>
            <a:ext cx="640080" cy="201776"/>
          </a:xfrm>
        </p:spPr>
        <p:txBody>
          <a:bodyPr>
            <a:noAutofit/>
          </a:bodyPr>
          <a:lstStyle>
            <a:lvl1pPr marL="0" indent="0" algn="ctr">
              <a:buNone/>
              <a:defRPr sz="1000">
                <a:solidFill>
                  <a:schemeClr val="tx1"/>
                </a:solidFill>
              </a:defRPr>
            </a:lvl1pPr>
          </a:lstStyle>
          <a:p>
            <a:pPr>
              <a:buNone/>
            </a:pPr>
            <a:r>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idx="55" hasCustomPrompt="1"/>
          </p:nvPr>
        </p:nvSpPr>
        <p:spPr>
          <a:xfrm>
            <a:off x="7483724" y="4425696"/>
            <a:ext cx="640080" cy="201776"/>
          </a:xfrm>
        </p:spPr>
        <p:txBody>
          <a:bodyPr>
            <a:noAutofit/>
          </a:bodyPr>
          <a:lstStyle>
            <a:lvl1pPr marL="0" indent="0" algn="ctr">
              <a:buNone/>
              <a:defRPr sz="1000">
                <a:solidFill>
                  <a:schemeClr val="tx1"/>
                </a:solidFill>
              </a:defRPr>
            </a:lvl1pPr>
          </a:lstStyle>
          <a:p>
            <a:pPr>
              <a:buNone/>
            </a:pPr>
            <a:r>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idx="56" hasCustomPrompt="1"/>
          </p:nvPr>
        </p:nvSpPr>
        <p:spPr>
          <a:xfrm>
            <a:off x="8271411" y="4425696"/>
            <a:ext cx="640080" cy="201776"/>
          </a:xfrm>
        </p:spPr>
        <p:txBody>
          <a:bodyPr>
            <a:noAutofit/>
          </a:bodyPr>
          <a:lstStyle>
            <a:lvl1pPr marL="0" indent="0" algn="ctr">
              <a:buNone/>
              <a:defRPr sz="1000">
                <a:solidFill>
                  <a:schemeClr val="tx1"/>
                </a:solidFill>
              </a:defRPr>
            </a:lvl1pPr>
          </a:lstStyle>
          <a:p>
            <a:pPr>
              <a:buNone/>
            </a:pPr>
            <a:r>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idx="54" hasCustomPrompt="1"/>
          </p:nvPr>
        </p:nvSpPr>
        <p:spPr>
          <a:xfrm>
            <a:off x="9059098" y="4425696"/>
            <a:ext cx="640080" cy="201776"/>
          </a:xfrm>
        </p:spPr>
        <p:txBody>
          <a:bodyPr>
            <a:noAutofit/>
          </a:bodyPr>
          <a:lstStyle>
            <a:lvl1pPr marL="0" indent="0" algn="ctr">
              <a:buNone/>
              <a:defRPr sz="1000">
                <a:solidFill>
                  <a:schemeClr val="tx1"/>
                </a:solidFill>
              </a:defRPr>
            </a:lvl1pPr>
          </a:lstStyle>
          <a:p>
            <a:pPr>
              <a:buNone/>
            </a:pPr>
            <a:r>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idx="57" hasCustomPrompt="1"/>
          </p:nvPr>
        </p:nvSpPr>
        <p:spPr>
          <a:xfrm>
            <a:off x="9846785" y="4425696"/>
            <a:ext cx="640080" cy="201776"/>
          </a:xfrm>
        </p:spPr>
        <p:txBody>
          <a:bodyPr>
            <a:noAutofit/>
          </a:bodyPr>
          <a:lstStyle>
            <a:lvl1pPr marL="0" indent="0" algn="ctr">
              <a:buNone/>
              <a:defRPr sz="1000">
                <a:solidFill>
                  <a:schemeClr val="tx1"/>
                </a:solidFill>
              </a:defRPr>
            </a:lvl1pPr>
          </a:lstStyle>
          <a:p>
            <a:pPr>
              <a:buNone/>
            </a:pPr>
            <a:r>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idx="58" hasCustomPrompt="1"/>
          </p:nvPr>
        </p:nvSpPr>
        <p:spPr>
          <a:xfrm>
            <a:off x="10634472" y="4425696"/>
            <a:ext cx="640080" cy="201776"/>
          </a:xfrm>
        </p:spPr>
        <p:txBody>
          <a:bodyPr>
            <a:noAutofit/>
          </a:bodyPr>
          <a:lstStyle>
            <a:lvl1pPr marL="0" indent="0" algn="ctr">
              <a:buNone/>
              <a:defRPr sz="1000">
                <a:solidFill>
                  <a:schemeClr val="tx1"/>
                </a:solidFill>
              </a:defRPr>
            </a:lvl1pPr>
          </a:lstStyle>
          <a:p>
            <a:pPr>
              <a:buNone/>
            </a:pPr>
            <a:r>
              <a:t>MM</a:t>
            </a:r>
          </a:p>
        </p:txBody>
      </p:sp>
      <p:sp>
        <p:nvSpPr>
          <p:cNvPr id="32" name="Rectangle 31">
            <a:extLst>
              <a:ext uri="{FF2B5EF4-FFF2-40B4-BE49-F238E27FC236}">
                <a16:creationId xmlns:a16="http://schemas.microsoft.com/office/drawing/2014/main" id="{FFA35437-CCDE-4D92-B879-F23B329C8EC3}"/>
              </a:ext>
            </a:extLst>
          </p:cNvPr>
          <p:cNvSpPr>
            <a:spLocks noGrp="1"/>
          </p:cNvSpPr>
          <p:nvPr/>
        </p:nvSpPr>
        <p:spPr>
          <a:xfrm>
            <a:off x="929640" y="4034785"/>
            <a:ext cx="10332720" cy="4571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idx="10"/>
          </p:nvPr>
        </p:nvSpPr>
        <p:spPr>
          <a:xfrm>
            <a:off x="838200" y="6356350"/>
            <a:ext cx="2743200" cy="365125"/>
          </a:xfrm>
        </p:spPr>
        <p:txBody>
          <a:bodyPr/>
          <a:lstStyle>
            <a:lvl1pPr>
              <a:buNone/>
              <a:defRPr sz="900"/>
            </a:lvl1pPr>
          </a:lstStyle>
          <a:p>
            <a:pPr>
              <a:buNone/>
            </a:pPr>
            <a:fld id="{CB859E06-8BAF-472C-BC33-8A47B681E534}" type="datetime1">
              <a:t>7/29/2026</a:t>
            </a:fld>
            <a:endParaRP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idx="11"/>
          </p:nvPr>
        </p:nvSpPr>
        <p:spPr>
          <a:xfrm>
            <a:off x="4038600" y="6356350"/>
            <a:ext cx="4114800" cy="365125"/>
          </a:xfrm>
        </p:spPr>
        <p:txBody>
          <a:bodyPr/>
          <a:lstStyle>
            <a:lvl1pPr>
              <a:buNone/>
              <a:defRPr sz="900"/>
            </a:lvl1pPr>
          </a:lstStyle>
          <a:p>
            <a:pPr>
              <a:buNone/>
            </a:pPr>
            <a:r>
              <a:t>Introduction to Deep Learning - PSDI &amp; Royce Materials Data Summit</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idx="12"/>
          </p:nvPr>
        </p:nvSpPr>
        <p:spPr>
          <a:xfrm>
            <a:off x="8610600" y="6356350"/>
            <a:ext cx="2743200" cy="365125"/>
          </a:xfrm>
        </p:spPr>
        <p:txBody>
          <a:bodyPr/>
          <a:lstStyle>
            <a:lvl1pPr>
              <a:buNone/>
              <a:defRPr sz="900"/>
            </a:lvl1pPr>
          </a:lstStyle>
          <a:p>
            <a:pPr>
              <a:buNone/>
            </a:pPr>
            <a:fld id="{B5CEABB6-07DC-46E8-9B57-56EC44A396E5}" type="slidenum">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E085D26-FA83-4414-959E-98936A772670}"/>
              </a:ext>
            </a:extLst>
          </p:cNvPr>
          <p:cNvSpPr>
            <a:spLocks noGrp="1"/>
          </p:cNvSpPr>
          <p:nvPr>
            <p:ph type="dt" idx="10"/>
          </p:nvPr>
        </p:nvSpPr>
        <p:spPr/>
        <p:txBody>
          <a:bodyPr/>
          <a:lstStyle>
            <a:lvl1pPr>
              <a:buNone/>
              <a:defRPr sz="900"/>
            </a:lvl1pPr>
          </a:lstStyle>
          <a:p>
            <a:pPr>
              <a:buNone/>
            </a:pPr>
            <a:fld id="{0890B1B8-C316-4AF1-BC86-6582A5A9C4AD}" type="datetime1">
              <a:t>7/29/2026</a:t>
            </a:fld>
            <a:endParaRP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idx="11"/>
          </p:nvPr>
        </p:nvSpPr>
        <p:spPr/>
        <p:txBody>
          <a:bodyPr/>
          <a:lstStyle>
            <a:lvl1pPr>
              <a:buNone/>
              <a:defRPr sz="900"/>
            </a:lvl1pPr>
          </a:lstStyle>
          <a:p>
            <a:pPr>
              <a:buNone/>
            </a:pPr>
            <a:r>
              <a:t>Introduction to Deep Learning - PSDI &amp; Royce Materials Data Summit</a:t>
            </a:r>
          </a:p>
        </p:txBody>
      </p:sp>
      <p:sp>
        <p:nvSpPr>
          <p:cNvPr id="10" name="Straight Connector 9">
            <a:extLst>
              <a:ext uri="{FF2B5EF4-FFF2-40B4-BE49-F238E27FC236}">
                <a16:creationId xmlns:a16="http://schemas.microsoft.com/office/drawing/2014/main" id="{941CBE04-3AB1-4016-B777-0ED42B445CB7}"/>
              </a:ext>
            </a:extLst>
          </p:cNvPr>
          <p:cNvSpPr>
            <a:spLocks noGrp="1"/>
          </p:cNvSpPr>
          <p:nvPr/>
        </p:nv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lstStyle/>
          <a:p>
            <a:endParaRPr lang="en-GB"/>
          </a:p>
        </p:txBody>
      </p:sp>
      <p:sp>
        <p:nvSpPr>
          <p:cNvPr id="12" name="Straight Connector 11">
            <a:extLst>
              <a:ext uri="{FF2B5EF4-FFF2-40B4-BE49-F238E27FC236}">
                <a16:creationId xmlns:a16="http://schemas.microsoft.com/office/drawing/2014/main" id="{47675AAF-E516-4031-928C-A5C74F077321}"/>
              </a:ext>
            </a:extLst>
          </p:cNvPr>
          <p:cNvSpPr>
            <a:spLocks noGrp="1"/>
          </p:cNvSpPr>
          <p:nvPr/>
        </p:nv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lstStyle/>
          <a:p>
            <a:endParaRPr lang="en-GB"/>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idx="12"/>
          </p:nvPr>
        </p:nvSpPr>
        <p:spPr/>
        <p:txBody>
          <a:bodyPr/>
          <a:lstStyle>
            <a:lvl1pPr>
              <a:buNone/>
              <a:defRPr sz="900"/>
            </a:lvl1pPr>
          </a:lstStyle>
          <a:p>
            <a:pPr>
              <a:buNone/>
            </a:pPr>
            <a:fld id="{B5CEABB6-07DC-46E8-9B57-56EC44A396E5}" type="slidenum">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buNone/>
              <a:defRPr sz="2800" spc="150">
                <a:solidFill>
                  <a:schemeClr val="tx1"/>
                </a:solidFill>
                <a:latin typeface="+mj-lt"/>
                <a:ea typeface="+mj-lt"/>
                <a:cs typeface="+mj-lt"/>
              </a:defRPr>
            </a:lvl1pPr>
          </a:lstStyle>
          <a:p>
            <a:pPr>
              <a:buNone/>
            </a:pPr>
            <a:r>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idx="14"/>
          </p:nvPr>
        </p:nvSpPr>
        <p:spPr>
          <a:xfrm>
            <a:off x="1487181" y="2886074"/>
            <a:ext cx="1845511" cy="1845511"/>
          </a:xfrm>
          <a:prstGeom prst="rect">
            <a:avLst/>
          </a:prstGeom>
          <a:solidFill>
            <a:schemeClr val="bg1">
              <a:lumMod val="95000"/>
            </a:schemeClr>
          </a:solidFill>
        </p:spPr>
        <p:txBody>
          <a:bodyPr/>
          <a:lstStyle/>
          <a:p>
            <a:pPr>
              <a:buNone/>
            </a:pPr>
            <a:r>
              <a:t>Click icon to add picture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11558" y="5084524"/>
            <a:ext cx="2196619" cy="343061"/>
          </a:xfrm>
        </p:spPr>
        <p:txBody>
          <a:bodyPr anchor="ctr">
            <a:noAutofit/>
          </a:bodyPr>
          <a:lstStyle>
            <a:lvl1pPr marL="0" indent="0" algn="ctr">
              <a:buNone/>
              <a:defRPr sz="1400" spc="15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sz="1000" spc="15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idx="15"/>
          </p:nvPr>
        </p:nvSpPr>
        <p:spPr>
          <a:xfrm>
            <a:off x="3836914" y="2886074"/>
            <a:ext cx="1845511" cy="1845511"/>
          </a:xfrm>
          <a:prstGeom prst="rect">
            <a:avLst/>
          </a:prstGeom>
          <a:solidFill>
            <a:schemeClr val="bg1">
              <a:lumMod val="95000"/>
            </a:schemeClr>
          </a:solidFill>
        </p:spPr>
        <p:txBody>
          <a:bodyPr/>
          <a:lstStyle/>
          <a:p>
            <a:pPr>
              <a:buNone/>
            </a:pPr>
            <a:r>
              <a:t>Click icon to add picture</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707607" y="5099206"/>
            <a:ext cx="2145049" cy="343061"/>
          </a:xfrm>
        </p:spPr>
        <p:txBody>
          <a:bodyPr anchor="ctr">
            <a:noAutofit/>
          </a:bodyPr>
          <a:lstStyle>
            <a:lvl1pPr marL="0" indent="0" algn="ctr">
              <a:buNone/>
              <a:defRPr sz="1400" spc="15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sz="1000" spc="15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idx="16"/>
          </p:nvPr>
        </p:nvSpPr>
        <p:spPr>
          <a:xfrm>
            <a:off x="6327578" y="2886074"/>
            <a:ext cx="1845511" cy="1845511"/>
          </a:xfrm>
          <a:prstGeom prst="rect">
            <a:avLst/>
          </a:prstGeom>
          <a:solidFill>
            <a:schemeClr val="bg1">
              <a:lumMod val="95000"/>
            </a:schemeClr>
          </a:solidFill>
        </p:spPr>
        <p:txBody>
          <a:bodyPr/>
          <a:lstStyle/>
          <a:p>
            <a:pPr>
              <a:buNone/>
            </a:pPr>
            <a:r>
              <a:t>Click icon to add picture</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98271" y="5099206"/>
            <a:ext cx="2132985" cy="343061"/>
          </a:xfrm>
        </p:spPr>
        <p:txBody>
          <a:bodyPr anchor="ctr">
            <a:noAutofit/>
          </a:bodyPr>
          <a:lstStyle>
            <a:lvl1pPr marL="0" indent="0" algn="ctr">
              <a:buNone/>
              <a:defRPr sz="1400" spc="15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sz="1000" spc="15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idx="17"/>
          </p:nvPr>
        </p:nvSpPr>
        <p:spPr>
          <a:xfrm>
            <a:off x="8747458" y="2886074"/>
            <a:ext cx="1845511" cy="1845511"/>
          </a:xfrm>
          <a:prstGeom prst="rect">
            <a:avLst/>
          </a:prstGeom>
          <a:solidFill>
            <a:schemeClr val="bg1">
              <a:lumMod val="95000"/>
            </a:schemeClr>
          </a:solidFill>
        </p:spPr>
        <p:txBody>
          <a:bodyPr/>
          <a:lstStyle/>
          <a:p>
            <a:pPr>
              <a:buNone/>
            </a:pPr>
            <a:r>
              <a:t>Click icon to add picture</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18152" y="5084524"/>
            <a:ext cx="2132984" cy="343061"/>
          </a:xfrm>
        </p:spPr>
        <p:txBody>
          <a:bodyPr anchor="ctr">
            <a:noAutofit/>
          </a:bodyPr>
          <a:lstStyle>
            <a:lvl1pPr marL="0" indent="0" algn="ctr">
              <a:buNone/>
              <a:defRPr sz="1400" spc="15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sz="1000" spc="15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a:t>
            </a:r>
          </a:p>
        </p:txBody>
      </p:sp>
      <p:sp>
        <p:nvSpPr>
          <p:cNvPr id="10" name="Straight Connector 9">
            <a:extLst>
              <a:ext uri="{FF2B5EF4-FFF2-40B4-BE49-F238E27FC236}">
                <a16:creationId xmlns:a16="http://schemas.microsoft.com/office/drawing/2014/main" id="{5A4951FC-0644-4ED6-B5F5-01AEB1764842}"/>
              </a:ext>
            </a:extLst>
          </p:cNvPr>
          <p:cNvSpPr>
            <a:spLocks noGrp="1"/>
          </p:cNvSpPr>
          <p:nvPr/>
        </p:nv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lstStyle/>
          <a:p>
            <a:endParaRPr lang="en-GB"/>
          </a:p>
        </p:txBody>
      </p:sp>
      <p:sp>
        <p:nvSpPr>
          <p:cNvPr id="15" name="Straight Connector 14">
            <a:extLst>
              <a:ext uri="{FF2B5EF4-FFF2-40B4-BE49-F238E27FC236}">
                <a16:creationId xmlns:a16="http://schemas.microsoft.com/office/drawing/2014/main" id="{B86EB9EC-88BB-45CB-A996-34D5A79C0A6E}"/>
              </a:ext>
            </a:extLst>
          </p:cNvPr>
          <p:cNvSpPr>
            <a:spLocks noGrp="1"/>
          </p:cNvSpPr>
          <p:nvPr/>
        </p:nv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lstStyle/>
          <a:p>
            <a:endParaRPr lang="en-GB"/>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idx="10"/>
          </p:nvPr>
        </p:nvSpPr>
        <p:spPr/>
        <p:txBody>
          <a:bodyPr/>
          <a:lstStyle>
            <a:lvl1pPr>
              <a:buNone/>
              <a:defRPr sz="900"/>
            </a:lvl1pPr>
          </a:lstStyle>
          <a:p>
            <a:pPr>
              <a:buNone/>
            </a:pPr>
            <a:fld id="{89ED1F49-2C9F-41C9-BEFF-D07C83F9F3BE}" type="datetime1">
              <a:t>7/29/2026</a:t>
            </a:fld>
            <a:endParaRP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idx="11"/>
          </p:nvPr>
        </p:nvSpPr>
        <p:spPr/>
        <p:txBody>
          <a:bodyPr/>
          <a:lstStyle>
            <a:lvl1pPr>
              <a:buNone/>
              <a:defRPr sz="900"/>
            </a:lvl1pPr>
          </a:lstStyle>
          <a:p>
            <a:pPr>
              <a:buNone/>
            </a:pPr>
            <a:r>
              <a:t>Introduction to Deep Learning - PSDI &amp; Royce Materials Data Summit</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idx="12"/>
          </p:nvPr>
        </p:nvSpPr>
        <p:spPr/>
        <p:txBody>
          <a:bodyPr/>
          <a:lstStyle>
            <a:lvl1pPr>
              <a:buNone/>
              <a:defRPr sz="900"/>
            </a:lvl1pPr>
          </a:lstStyle>
          <a:p>
            <a:pPr>
              <a:buNone/>
            </a:pPr>
            <a:fld id="{B5CEABB6-07DC-46E8-9B57-56EC44A396E5}" type="slidenum">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buNone/>
              <a:defRPr sz="2800" spc="150">
                <a:solidFill>
                  <a:schemeClr val="tx1"/>
                </a:solidFill>
                <a:latin typeface="+mj-lt"/>
                <a:ea typeface="+mj-lt"/>
                <a:cs typeface="+mj-lt"/>
              </a:defRPr>
            </a:lvl1pPr>
          </a:lstStyle>
          <a:p>
            <a:pPr>
              <a:buNone/>
            </a:pPr>
            <a:r>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idx="14"/>
          </p:nvPr>
        </p:nvSpPr>
        <p:spPr>
          <a:xfrm>
            <a:off x="1877176" y="2428875"/>
            <a:ext cx="1066800" cy="1066800"/>
          </a:xfrm>
          <a:prstGeom prst="rect">
            <a:avLst/>
          </a:prstGeom>
          <a:solidFill>
            <a:schemeClr val="tx1"/>
          </a:solidFill>
        </p:spPr>
        <p:txBody>
          <a:bodyPr>
            <a:normAutofit/>
          </a:bodyPr>
          <a:lstStyle>
            <a:lvl1pPr marL="0" indent="0">
              <a:lnSpc>
                <a:spcPct val="100000"/>
              </a:lnSpc>
              <a:buNone/>
              <a:defRPr sz="900">
                <a:solidFill>
                  <a:schemeClr val="bg1"/>
                </a:solidFill>
              </a:defRPr>
            </a:lvl1pPr>
          </a:lstStyle>
          <a:p>
            <a:pPr>
              <a:buNone/>
            </a:pPr>
            <a:r>
              <a:t>Click icon to add picture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sz="1050" spc="15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sz="900" spc="150">
                <a:solidFill>
                  <a:schemeClr val="accent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idx="15"/>
          </p:nvPr>
        </p:nvSpPr>
        <p:spPr>
          <a:xfrm>
            <a:off x="4226270" y="2428875"/>
            <a:ext cx="1066800" cy="1066800"/>
          </a:xfrm>
          <a:prstGeom prst="rect">
            <a:avLst/>
          </a:prstGeom>
          <a:solidFill>
            <a:schemeClr val="tx1"/>
          </a:solidFill>
        </p:spPr>
        <p:txBody>
          <a:bodyPr>
            <a:normAutofit/>
          </a:bodyPr>
          <a:lstStyle>
            <a:lvl1pPr marL="0" indent="0">
              <a:lnSpc>
                <a:spcPct val="100000"/>
              </a:lnSpc>
              <a:buNone/>
              <a:defRPr sz="900">
                <a:solidFill>
                  <a:schemeClr val="bg1"/>
                </a:solidFill>
              </a:defRPr>
            </a:lvl1pPr>
          </a:lstStyle>
          <a:p>
            <a:pPr>
              <a:buNone/>
            </a:pPr>
            <a:r>
              <a:t>Click icon to add picture</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sz="1050" spc="15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sz="900" spc="150">
                <a:solidFill>
                  <a:schemeClr val="accent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idx="16"/>
          </p:nvPr>
        </p:nvSpPr>
        <p:spPr>
          <a:xfrm>
            <a:off x="6716934" y="2428875"/>
            <a:ext cx="1066800" cy="1066800"/>
          </a:xfrm>
          <a:prstGeom prst="rect">
            <a:avLst/>
          </a:prstGeom>
          <a:solidFill>
            <a:schemeClr val="tx1"/>
          </a:solidFill>
        </p:spPr>
        <p:txBody>
          <a:bodyPr>
            <a:normAutofit/>
          </a:bodyPr>
          <a:lstStyle>
            <a:lvl1pPr marL="0" indent="0">
              <a:buNone/>
              <a:defRPr sz="900">
                <a:solidFill>
                  <a:schemeClr val="bg1"/>
                </a:solidFill>
              </a:defRPr>
            </a:lvl1pPr>
            <a:lvl2pPr marL="457200" indent="0">
              <a:lnSpc>
                <a:spcPct val="100000"/>
              </a:lnSpc>
              <a:buNone/>
              <a:defRPr sz="900">
                <a:solidFill>
                  <a:schemeClr val="bg1"/>
                </a:solidFill>
              </a:defRPr>
            </a:lvl2pPr>
          </a:lstStyle>
          <a:p>
            <a:pPr>
              <a:buNone/>
            </a:pPr>
            <a:r>
              <a:t>Click icon to add picture</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sz="1050" spc="15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sz="900" spc="150">
                <a:solidFill>
                  <a:schemeClr val="accent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idx="17"/>
          </p:nvPr>
        </p:nvSpPr>
        <p:spPr>
          <a:xfrm>
            <a:off x="9136814" y="2428875"/>
            <a:ext cx="1066800" cy="1066800"/>
          </a:xfrm>
          <a:prstGeom prst="rect">
            <a:avLst/>
          </a:prstGeom>
          <a:solidFill>
            <a:schemeClr val="tx1"/>
          </a:solidFill>
        </p:spPr>
        <p:txBody>
          <a:bodyPr>
            <a:normAutofit/>
          </a:bodyPr>
          <a:lstStyle>
            <a:lvl1pPr marL="0" indent="0">
              <a:lnSpc>
                <a:spcPct val="100000"/>
              </a:lnSpc>
              <a:buNone/>
              <a:defRPr sz="900">
                <a:solidFill>
                  <a:schemeClr val="bg1"/>
                </a:solidFill>
              </a:defRPr>
            </a:lvl1pPr>
          </a:lstStyle>
          <a:p>
            <a:pPr>
              <a:buNone/>
            </a:pPr>
            <a:r>
              <a:t>Click icon to add picture</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sz="1050" spc="15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sz="900" spc="150">
                <a:solidFill>
                  <a:schemeClr val="accent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idx="26"/>
          </p:nvPr>
        </p:nvSpPr>
        <p:spPr>
          <a:xfrm>
            <a:off x="1877176" y="4287711"/>
            <a:ext cx="1066800" cy="1066800"/>
          </a:xfrm>
          <a:prstGeom prst="rect">
            <a:avLst/>
          </a:prstGeom>
          <a:solidFill>
            <a:schemeClr val="tx1"/>
          </a:solidFill>
        </p:spPr>
        <p:txBody>
          <a:bodyPr>
            <a:normAutofit/>
          </a:bodyPr>
          <a:lstStyle>
            <a:lvl1pPr marL="0" indent="0">
              <a:lnSpc>
                <a:spcPct val="100000"/>
              </a:lnSpc>
              <a:buNone/>
              <a:defRPr sz="900">
                <a:solidFill>
                  <a:schemeClr val="bg1"/>
                </a:solidFill>
              </a:defRPr>
            </a:lvl1pPr>
          </a:lstStyle>
          <a:p>
            <a:pPr>
              <a:buNone/>
            </a:pPr>
            <a:r>
              <a:t>Click icon to add picture</a:t>
            </a:r>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sz="1050" spc="15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sz="900" spc="150">
                <a:solidFill>
                  <a:schemeClr val="accent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a:t>
            </a:r>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idx="27"/>
          </p:nvPr>
        </p:nvSpPr>
        <p:spPr>
          <a:xfrm>
            <a:off x="4226270" y="4287711"/>
            <a:ext cx="1066800" cy="1066800"/>
          </a:xfrm>
          <a:prstGeom prst="rect">
            <a:avLst/>
          </a:prstGeom>
          <a:solidFill>
            <a:schemeClr val="tx1"/>
          </a:solidFill>
        </p:spPr>
        <p:txBody>
          <a:bodyPr>
            <a:normAutofit/>
          </a:bodyPr>
          <a:lstStyle>
            <a:lvl1pPr marL="0" indent="0">
              <a:lnSpc>
                <a:spcPct val="100000"/>
              </a:lnSpc>
              <a:buNone/>
              <a:defRPr sz="900">
                <a:solidFill>
                  <a:schemeClr val="bg1"/>
                </a:solidFill>
              </a:defRPr>
            </a:lvl1pPr>
          </a:lstStyle>
          <a:p>
            <a:pPr>
              <a:buNone/>
            </a:pPr>
            <a:r>
              <a:t>Click icon to add picture</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sz="1050" spc="15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sz="900" spc="150">
                <a:solidFill>
                  <a:schemeClr val="accent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a:t>
            </a:r>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idx="28"/>
          </p:nvPr>
        </p:nvSpPr>
        <p:spPr>
          <a:xfrm>
            <a:off x="6716934" y="4287711"/>
            <a:ext cx="1066800" cy="1066800"/>
          </a:xfrm>
          <a:prstGeom prst="rect">
            <a:avLst/>
          </a:prstGeom>
          <a:solidFill>
            <a:schemeClr val="tx1"/>
          </a:solidFill>
        </p:spPr>
        <p:txBody>
          <a:bodyPr>
            <a:normAutofit/>
          </a:bodyPr>
          <a:lstStyle>
            <a:lvl1pPr marL="0" indent="0">
              <a:buNone/>
              <a:defRPr sz="900">
                <a:solidFill>
                  <a:schemeClr val="bg1"/>
                </a:solidFill>
              </a:defRPr>
            </a:lvl1pPr>
            <a:lvl2pPr marL="457200" indent="0">
              <a:lnSpc>
                <a:spcPct val="100000"/>
              </a:lnSpc>
              <a:buNone/>
              <a:defRPr sz="900">
                <a:solidFill>
                  <a:schemeClr val="bg1"/>
                </a:solidFill>
              </a:defRPr>
            </a:lvl2pPr>
          </a:lstStyle>
          <a:p>
            <a:pPr>
              <a:buNone/>
            </a:pPr>
            <a:r>
              <a:t>Click icon to add picture</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sz="1050" spc="15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sz="900" spc="150">
                <a:solidFill>
                  <a:schemeClr val="accent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a:t>
            </a:r>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idx="29"/>
          </p:nvPr>
        </p:nvSpPr>
        <p:spPr>
          <a:xfrm>
            <a:off x="9136814" y="4287711"/>
            <a:ext cx="1066800" cy="1066800"/>
          </a:xfrm>
          <a:prstGeom prst="rect">
            <a:avLst/>
          </a:prstGeom>
          <a:solidFill>
            <a:schemeClr val="tx1"/>
          </a:solidFill>
        </p:spPr>
        <p:txBody>
          <a:bodyPr>
            <a:normAutofit/>
          </a:bodyPr>
          <a:lstStyle>
            <a:lvl1pPr marL="0" indent="0">
              <a:lnSpc>
                <a:spcPct val="100000"/>
              </a:lnSpc>
              <a:buNone/>
              <a:defRPr sz="900">
                <a:solidFill>
                  <a:schemeClr val="bg1"/>
                </a:solidFill>
              </a:defRPr>
            </a:lvl1pPr>
          </a:lstStyle>
          <a:p>
            <a:pPr>
              <a:buNone/>
            </a:pPr>
            <a:r>
              <a:t>Click icon to add picture</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sz="1050" spc="15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sz="900" spc="150">
                <a:solidFill>
                  <a:schemeClr val="accent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idx="10"/>
          </p:nvPr>
        </p:nvSpPr>
        <p:spPr/>
        <p:txBody>
          <a:bodyPr/>
          <a:lstStyle>
            <a:lvl1pPr>
              <a:buNone/>
              <a:defRPr sz="900">
                <a:solidFill>
                  <a:srgbClr val="898989"/>
                </a:solidFill>
              </a:defRPr>
            </a:lvl1pPr>
          </a:lstStyle>
          <a:p>
            <a:pPr>
              <a:buNone/>
            </a:pPr>
            <a:fld id="{AA9FB664-5450-43A7-96F7-F0350C05EDCD}" type="datetime1">
              <a:t>7/29/2026</a:t>
            </a:fld>
            <a:endParaRP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idx="11"/>
          </p:nvPr>
        </p:nvSpPr>
        <p:spPr/>
        <p:txBody>
          <a:bodyPr/>
          <a:lstStyle>
            <a:lvl1pPr>
              <a:buNone/>
              <a:defRPr sz="900">
                <a:solidFill>
                  <a:srgbClr val="898989"/>
                </a:solidFill>
              </a:defRPr>
            </a:lvl1pPr>
          </a:lstStyle>
          <a:p>
            <a:pPr>
              <a:buNone/>
            </a:pPr>
            <a:r>
              <a:t>Introduction to Deep Learning - PSDI &amp; Royce Materials Data Summit</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idx="12"/>
          </p:nvPr>
        </p:nvSpPr>
        <p:spPr/>
        <p:txBody>
          <a:bodyPr/>
          <a:lstStyle>
            <a:lvl1pPr>
              <a:buNone/>
              <a:defRPr sz="900">
                <a:solidFill>
                  <a:srgbClr val="898989"/>
                </a:solidFill>
              </a:defRPr>
            </a:lvl1pPr>
          </a:lstStyle>
          <a:p>
            <a:pPr>
              <a:buNone/>
            </a:pPr>
            <a:fld id="{B5CEABB6-07DC-46E8-9B57-56EC44A396E5}" type="slidenum">
              <a:t>‹#›</a:t>
            </a:fld>
            <a:endParaRPr/>
          </a:p>
        </p:txBody>
      </p:sp>
      <p:pic>
        <p:nvPicPr>
          <p:cNvPr id="75" name="Graphic 12"/>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76" name="Graphic 13"/>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unding">
    <p:bg>
      <p:bgPr>
        <a:solidFill>
          <a:schemeClr val="bg1"/>
        </a:solidFill>
        <a:effectLst/>
      </p:bgPr>
    </p:bg>
    <p:spTree>
      <p:nvGrpSpPr>
        <p:cNvPr id="1" name=""/>
        <p:cNvGrpSpPr/>
        <p:nvPr/>
      </p:nvGrpSpPr>
      <p:grpSpPr>
        <a:xfrm>
          <a:off x="0" y="0"/>
          <a:ext cx="0" cy="0"/>
          <a:chOff x="0" y="0"/>
          <a:chExt cx="0" cy="0"/>
        </a:xfrm>
      </p:grpSpPr>
      <p:sp>
        <p:nvSpPr>
          <p:cNvPr id="16" name="Straight Connector 15">
            <a:extLst>
              <a:ext uri="{FF2B5EF4-FFF2-40B4-BE49-F238E27FC236}">
                <a16:creationId xmlns:a16="http://schemas.microsoft.com/office/drawing/2014/main" id="{931AE4D1-8084-4B99-A879-FD11553116D5}"/>
              </a:ext>
            </a:extLst>
          </p:cNvPr>
          <p:cNvSpPr>
            <a:spLocks noGrp="1"/>
          </p:cNvSpPr>
          <p:nvPr/>
        </p:nvSpPr>
        <p:spPr>
          <a:xfrm flipH="1">
            <a:off x="0" y="0"/>
            <a:ext cx="1238250" cy="1328057"/>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sp>
      <p:sp>
        <p:nvSpPr>
          <p:cNvPr id="20" name="Straight Connector 19">
            <a:extLst>
              <a:ext uri="{FF2B5EF4-FFF2-40B4-BE49-F238E27FC236}">
                <a16:creationId xmlns:a16="http://schemas.microsoft.com/office/drawing/2014/main" id="{970115B9-674B-43A5-BBC9-9BA5984540B1}"/>
              </a:ext>
            </a:extLst>
          </p:cNvPr>
          <p:cNvSpPr>
            <a:spLocks noGrp="1"/>
          </p:cNvSpPr>
          <p:nvPr/>
        </p:nvSpPr>
        <p:spPr>
          <a:xfrm flipH="1">
            <a:off x="0" y="0"/>
            <a:ext cx="3790950" cy="892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sp>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buNone/>
              <a:defRPr sz="2800" spc="150">
                <a:solidFill>
                  <a:schemeClr val="tx1"/>
                </a:solidFill>
                <a:latin typeface="+mj-lt"/>
                <a:ea typeface="+mj-lt"/>
                <a:cs typeface="+mj-lt"/>
              </a:defRPr>
            </a:lvl1pPr>
          </a:lstStyle>
          <a:p>
            <a:pPr>
              <a:buNone/>
            </a:pPr>
            <a:r>
              <a:t>CLICK TO EDIT MASTER TITLE STYLE</a:t>
            </a:r>
          </a:p>
        </p:txBody>
      </p:sp>
      <p:sp>
        <p:nvSpPr>
          <p:cNvPr id="11" name="Content Placeholder 10">
            <a:extLst>
              <a:ext uri="{FF2B5EF4-FFF2-40B4-BE49-F238E27FC236}">
                <a16:creationId xmlns:a16="http://schemas.microsoft.com/office/drawing/2014/main" id="{319EE98D-9541-4F21-8952-3026DEF75EC4}"/>
              </a:ext>
            </a:extLst>
          </p:cNvPr>
          <p:cNvSpPr>
            <a:spLocks noGrp="1"/>
          </p:cNvSpPr>
          <p:nvPr>
            <p:ph idx="21" hasCustomPrompt="1"/>
          </p:nvPr>
        </p:nvSpPr>
        <p:spPr>
          <a:xfrm>
            <a:off x="1075447" y="2118642"/>
            <a:ext cx="1856232" cy="1664208"/>
          </a:xfrm>
        </p:spPr>
        <p:txBody>
          <a:bodyPr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a:buNone/>
            </a:pPr>
            <a:r>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sz="3200" spc="15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sz="1400" spc="15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idx="2"/>
          </p:nvPr>
        </p:nvSpPr>
        <p:spPr>
          <a:xfrm>
            <a:off x="838200" y="5120722"/>
            <a:ext cx="2330726" cy="853167"/>
          </a:xfrm>
        </p:spPr>
        <p:txBody>
          <a:bodyPr lIns="0" rIns="0">
            <a:normAutofit/>
          </a:bodyPr>
          <a:lstStyle>
            <a:lvl1pPr marL="0" indent="0" algn="ctr">
              <a:lnSpc>
                <a:spcPct val="100000"/>
              </a:lnSpc>
              <a:buNone/>
              <a:defRPr sz="1400" spc="50"/>
            </a:lvl1pPr>
            <a:lvl2pPr marL="457200" indent="0">
              <a:lnSpc>
                <a:spcPct val="100000"/>
              </a:lnSpc>
              <a:buNone/>
              <a:defRPr sz="1400" spc="50"/>
            </a:lvl2pPr>
            <a:lvl3pPr marL="914400" indent="0">
              <a:lnSpc>
                <a:spcPct val="100000"/>
              </a:lnSpc>
              <a:buNone/>
              <a:defRPr sz="1400" spc="50"/>
            </a:lvl3pPr>
            <a:lvl4pPr marL="1371600" indent="0">
              <a:lnSpc>
                <a:spcPct val="100000"/>
              </a:lnSpc>
              <a:buNone/>
              <a:defRPr sz="1400" spc="50"/>
            </a:lvl4pPr>
            <a:lvl5pPr marL="1828800" indent="0">
              <a:lnSpc>
                <a:spcPct val="100000"/>
              </a:lnSpc>
              <a:buNone/>
              <a:defRPr sz="1400" spc="50"/>
            </a:lvl5pPr>
          </a:lstStyle>
          <a:p>
            <a:pPr>
              <a:buNone/>
            </a:pPr>
            <a:r>
              <a:t>Click to edit Master text styles</a:t>
            </a:r>
          </a:p>
        </p:txBody>
      </p:sp>
      <p:sp>
        <p:nvSpPr>
          <p:cNvPr id="24" name="Content Placeholder 10">
            <a:extLst>
              <a:ext uri="{FF2B5EF4-FFF2-40B4-BE49-F238E27FC236}">
                <a16:creationId xmlns:a16="http://schemas.microsoft.com/office/drawing/2014/main" id="{AB843230-A4E3-4E21-AA93-998E28EB9018}"/>
              </a:ext>
            </a:extLst>
          </p:cNvPr>
          <p:cNvSpPr>
            <a:spLocks noGrp="1"/>
          </p:cNvSpPr>
          <p:nvPr>
            <p:ph idx="22" hasCustomPrompt="1"/>
          </p:nvPr>
        </p:nvSpPr>
        <p:spPr>
          <a:xfrm>
            <a:off x="3811391" y="2118642"/>
            <a:ext cx="1856232" cy="1664208"/>
          </a:xfrm>
        </p:spPr>
        <p:txBody>
          <a:bodyPr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a:buNone/>
            </a:pPr>
            <a:r>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idx="3" hasCustomPrompt="1"/>
          </p:nvPr>
        </p:nvSpPr>
        <p:spPr>
          <a:xfrm>
            <a:off x="3562665" y="3788813"/>
            <a:ext cx="2342205" cy="804859"/>
          </a:xfrm>
        </p:spPr>
        <p:txBody>
          <a:bodyPr lIns="0" rIns="0" anchor="b">
            <a:noAutofit/>
          </a:bodyPr>
          <a:lstStyle>
            <a:lvl1pPr marL="0" indent="0" algn="ctr">
              <a:buNone/>
              <a:defRPr sz="3200" spc="15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idx="18" hasCustomPrompt="1"/>
          </p:nvPr>
        </p:nvSpPr>
        <p:spPr>
          <a:xfrm>
            <a:off x="3562665" y="4464810"/>
            <a:ext cx="2342205" cy="438505"/>
          </a:xfrm>
        </p:spPr>
        <p:txBody>
          <a:bodyPr lIns="0" rIns="0" anchor="b">
            <a:noAutofit/>
          </a:bodyPr>
          <a:lstStyle>
            <a:lvl1pPr marL="0" indent="0" algn="ctr">
              <a:buNone/>
              <a:defRPr sz="1400" spc="15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indent="0" algn="l">
              <a:lnSpc>
                <a:spcPct val="90000"/>
              </a:lnSpc>
              <a:spcBef>
                <a:spcPts val="1000"/>
              </a:spcBef>
              <a:buNone/>
            </a:pPr>
            <a:r>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idx="4"/>
          </p:nvPr>
        </p:nvSpPr>
        <p:spPr>
          <a:xfrm>
            <a:off x="3562665" y="5120722"/>
            <a:ext cx="2342205" cy="853167"/>
          </a:xfrm>
        </p:spPr>
        <p:txBody>
          <a:bodyPr lIns="0" rIns="0">
            <a:normAutofit/>
          </a:bodyPr>
          <a:lstStyle>
            <a:lvl1pPr marL="0" indent="0" algn="ctr">
              <a:lnSpc>
                <a:spcPct val="100000"/>
              </a:lnSpc>
              <a:buNone/>
              <a:defRPr sz="1400" spc="50"/>
            </a:lvl1pPr>
            <a:lvl2pPr marL="457200" indent="0">
              <a:lnSpc>
                <a:spcPct val="100000"/>
              </a:lnSpc>
              <a:buNone/>
              <a:defRPr sz="1400" spc="50"/>
            </a:lvl2pPr>
            <a:lvl3pPr marL="914400" indent="0">
              <a:lnSpc>
                <a:spcPct val="100000"/>
              </a:lnSpc>
              <a:buNone/>
              <a:defRPr sz="1400" spc="50"/>
            </a:lvl3pPr>
            <a:lvl4pPr marL="1371600" indent="0">
              <a:lnSpc>
                <a:spcPct val="100000"/>
              </a:lnSpc>
              <a:buNone/>
              <a:defRPr sz="1400" spc="50"/>
            </a:lvl4pPr>
            <a:lvl5pPr marL="1828800" indent="0">
              <a:lnSpc>
                <a:spcPct val="100000"/>
              </a:lnSpc>
              <a:buNone/>
              <a:defRPr sz="1400" spc="50"/>
            </a:lvl5pPr>
          </a:lstStyle>
          <a:p>
            <a:pPr>
              <a:buNone/>
            </a:pPr>
            <a:r>
              <a:t>Click to edit Master text styles</a:t>
            </a:r>
          </a:p>
        </p:txBody>
      </p:sp>
      <p:sp>
        <p:nvSpPr>
          <p:cNvPr id="25" name="Content Placeholder 10">
            <a:extLst>
              <a:ext uri="{FF2B5EF4-FFF2-40B4-BE49-F238E27FC236}">
                <a16:creationId xmlns:a16="http://schemas.microsoft.com/office/drawing/2014/main" id="{3AE0369E-A275-4E5A-AE0F-B1F9A54DEDFC}"/>
              </a:ext>
            </a:extLst>
          </p:cNvPr>
          <p:cNvSpPr>
            <a:spLocks noGrp="1"/>
          </p:cNvSpPr>
          <p:nvPr>
            <p:ph idx="23" hasCustomPrompt="1"/>
          </p:nvPr>
        </p:nvSpPr>
        <p:spPr>
          <a:xfrm>
            <a:off x="6524377" y="2118642"/>
            <a:ext cx="1856232" cy="1664208"/>
          </a:xfrm>
        </p:spPr>
        <p:txBody>
          <a:bodyPr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a:buNone/>
            </a:pPr>
            <a:r>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sz="3200" spc="15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sz="1400" spc="15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idx="14"/>
          </p:nvPr>
        </p:nvSpPr>
        <p:spPr>
          <a:xfrm>
            <a:off x="6298609" y="5120722"/>
            <a:ext cx="2330726" cy="853167"/>
          </a:xfrm>
        </p:spPr>
        <p:txBody>
          <a:bodyPr lIns="0" rIns="0">
            <a:normAutofit/>
          </a:bodyPr>
          <a:lstStyle>
            <a:lvl1pPr marL="0" indent="0" algn="ctr">
              <a:lnSpc>
                <a:spcPct val="100000"/>
              </a:lnSpc>
              <a:buNone/>
              <a:defRPr sz="1400" spc="50"/>
            </a:lvl1pPr>
            <a:lvl2pPr marL="457200" indent="0">
              <a:lnSpc>
                <a:spcPct val="100000"/>
              </a:lnSpc>
              <a:buNone/>
              <a:defRPr sz="1400" spc="50"/>
            </a:lvl2pPr>
            <a:lvl3pPr marL="914400" indent="0">
              <a:lnSpc>
                <a:spcPct val="100000"/>
              </a:lnSpc>
              <a:buNone/>
              <a:defRPr sz="1400" spc="50"/>
            </a:lvl3pPr>
            <a:lvl4pPr marL="1371600" indent="0">
              <a:lnSpc>
                <a:spcPct val="100000"/>
              </a:lnSpc>
              <a:buNone/>
              <a:defRPr sz="1400" spc="50"/>
            </a:lvl4pPr>
            <a:lvl5pPr marL="1828800" indent="0">
              <a:lnSpc>
                <a:spcPct val="100000"/>
              </a:lnSpc>
              <a:buNone/>
              <a:defRPr sz="1400" spc="50"/>
            </a:lvl5pPr>
          </a:lstStyle>
          <a:p>
            <a:pPr>
              <a:buNone/>
            </a:pPr>
            <a:r>
              <a:t>Click to edit Master text styles</a:t>
            </a:r>
          </a:p>
        </p:txBody>
      </p:sp>
      <p:sp>
        <p:nvSpPr>
          <p:cNvPr id="26" name="Content Placeholder 10">
            <a:extLst>
              <a:ext uri="{FF2B5EF4-FFF2-40B4-BE49-F238E27FC236}">
                <a16:creationId xmlns:a16="http://schemas.microsoft.com/office/drawing/2014/main" id="{CCA3A81E-171B-4946-B8BA-B2F406CF0939}"/>
              </a:ext>
            </a:extLst>
          </p:cNvPr>
          <p:cNvSpPr>
            <a:spLocks noGrp="1"/>
          </p:cNvSpPr>
          <p:nvPr>
            <p:ph idx="24" hasCustomPrompt="1"/>
          </p:nvPr>
        </p:nvSpPr>
        <p:spPr>
          <a:xfrm>
            <a:off x="9260321" y="2118642"/>
            <a:ext cx="1856232" cy="1664208"/>
          </a:xfrm>
        </p:spPr>
        <p:txBody>
          <a:bodyPr anchor="t">
            <a:no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stStyle>
          <a:p>
            <a:pPr>
              <a:buNone/>
            </a:pPr>
            <a:r>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sz="3200" spc="15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sz="1400" spc="150">
                <a:solidFill>
                  <a:schemeClr val="tx1"/>
                </a:solidFill>
                <a:latin typeface="+mj-lt"/>
                <a:ea typeface="+mj-lt"/>
                <a:cs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a:t>
            </a:r>
          </a:p>
        </p:txBody>
      </p:sp>
      <p:sp>
        <p:nvSpPr>
          <p:cNvPr id="15" name="Content Placeholder 3">
            <a:extLst>
              <a:ext uri="{FF2B5EF4-FFF2-40B4-BE49-F238E27FC236}">
                <a16:creationId xmlns:a16="http://schemas.microsoft.com/office/drawing/2014/main" id="{492F9083-A886-4EEB-94D6-1FAE6DC33000}"/>
              </a:ext>
            </a:extLst>
          </p:cNvPr>
          <p:cNvSpPr>
            <a:spLocks noGrp="1"/>
          </p:cNvSpPr>
          <p:nvPr>
            <p:ph idx="16"/>
          </p:nvPr>
        </p:nvSpPr>
        <p:spPr>
          <a:xfrm>
            <a:off x="9023074" y="5120366"/>
            <a:ext cx="2330726" cy="853167"/>
          </a:xfrm>
        </p:spPr>
        <p:txBody>
          <a:bodyPr lIns="0" rIns="0">
            <a:normAutofit/>
          </a:bodyPr>
          <a:lstStyle>
            <a:lvl1pPr marL="0" indent="0" algn="ctr">
              <a:lnSpc>
                <a:spcPct val="100000"/>
              </a:lnSpc>
              <a:buNone/>
              <a:defRPr sz="1400" spc="50"/>
            </a:lvl1pPr>
            <a:lvl2pPr marL="457200" indent="0">
              <a:lnSpc>
                <a:spcPct val="100000"/>
              </a:lnSpc>
              <a:buNone/>
              <a:defRPr sz="1400" spc="50"/>
            </a:lvl2pPr>
            <a:lvl3pPr marL="914400" indent="0">
              <a:lnSpc>
                <a:spcPct val="100000"/>
              </a:lnSpc>
              <a:buNone/>
              <a:defRPr sz="1400" spc="50"/>
            </a:lvl3pPr>
            <a:lvl4pPr marL="1371600" indent="0">
              <a:lnSpc>
                <a:spcPct val="100000"/>
              </a:lnSpc>
              <a:buNone/>
              <a:defRPr sz="1400" spc="50"/>
            </a:lvl4pPr>
            <a:lvl5pPr marL="1828800" indent="0">
              <a:lnSpc>
                <a:spcPct val="100000"/>
              </a:lnSpc>
              <a:buNone/>
              <a:defRPr sz="1400" spc="50"/>
            </a:lvl5pPr>
          </a:lstStyle>
          <a:p>
            <a:pPr>
              <a:buNone/>
            </a:pPr>
            <a:r>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idx="10"/>
          </p:nvPr>
        </p:nvSpPr>
        <p:spPr/>
        <p:txBody>
          <a:bodyPr/>
          <a:lstStyle>
            <a:lvl1pPr>
              <a:buNone/>
              <a:defRPr sz="900"/>
            </a:lvl1pPr>
          </a:lstStyle>
          <a:p>
            <a:pPr>
              <a:buNone/>
            </a:pPr>
            <a:fld id="{99E57A48-6B55-44AD-971C-DE2D9E73A294}" type="datetime1">
              <a:t>7/29/2026</a:t>
            </a:fld>
            <a:endParaRP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idx="11"/>
          </p:nvPr>
        </p:nvSpPr>
        <p:spPr/>
        <p:txBody>
          <a:bodyPr/>
          <a:lstStyle>
            <a:lvl1pPr>
              <a:buNone/>
              <a:defRPr sz="900"/>
            </a:lvl1pPr>
          </a:lstStyle>
          <a:p>
            <a:pPr>
              <a:buNone/>
            </a:pPr>
            <a:r>
              <a:t>Introduction to Deep Learning - PSDI &amp; Royce Materials Data Summit</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idx="12"/>
          </p:nvPr>
        </p:nvSpPr>
        <p:spPr/>
        <p:txBody>
          <a:bodyPr/>
          <a:lstStyle>
            <a:lvl1pPr>
              <a:buNone/>
              <a:defRPr sz="900"/>
            </a:lvl1pPr>
          </a:lstStyle>
          <a:p>
            <a:pPr>
              <a:buNone/>
            </a:pPr>
            <a:fld id="{B5CEABB6-07DC-46E8-9B57-56EC44A396E5}" type="slidenum">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buNone/>
              <a:defRPr sz="2800" cap="all" spc="150">
                <a:solidFill>
                  <a:schemeClr val="tx1"/>
                </a:solidFill>
                <a:latin typeface="+mj-lt"/>
                <a:ea typeface="+mj-lt"/>
                <a:cs typeface="+mj-lt"/>
              </a:defRPr>
            </a:lvl1pPr>
          </a:lstStyle>
          <a:p>
            <a:pPr>
              <a:buNone/>
            </a:pPr>
            <a:r>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buNone/>
            </a:pPr>
            <a:r>
              <a:t>Click to edit Master text styles</a:t>
            </a:r>
          </a:p>
        </p:txBody>
      </p:sp>
      <p:sp>
        <p:nvSpPr>
          <p:cNvPr id="23" name="Straight Connector 22">
            <a:extLst>
              <a:ext uri="{FF2B5EF4-FFF2-40B4-BE49-F238E27FC236}">
                <a16:creationId xmlns:a16="http://schemas.microsoft.com/office/drawing/2014/main" id="{DEA0540E-D9CD-46D0-8FB8-DF5D1752B55A}"/>
              </a:ext>
            </a:extLst>
          </p:cNvPr>
          <p:cNvSpPr>
            <a:spLocks noGrp="1"/>
          </p:cNvSpPr>
          <p:nvPr/>
        </p:nv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sp>
      <p:sp>
        <p:nvSpPr>
          <p:cNvPr id="12" name="Straight Connector 11">
            <a:extLst>
              <a:ext uri="{FF2B5EF4-FFF2-40B4-BE49-F238E27FC236}">
                <a16:creationId xmlns:a16="http://schemas.microsoft.com/office/drawing/2014/main" id="{AEA61751-0BDC-4028-94EB-8D4939C6D1C0}"/>
              </a:ext>
            </a:extLst>
          </p:cNvPr>
          <p:cNvSpPr>
            <a:spLocks noGrp="1"/>
          </p:cNvSpPr>
          <p:nvPr/>
        </p:nv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sp>
      <p:sp>
        <p:nvSpPr>
          <p:cNvPr id="21" name="Date Placeholder 6">
            <a:extLst>
              <a:ext uri="{FF2B5EF4-FFF2-40B4-BE49-F238E27FC236}">
                <a16:creationId xmlns:a16="http://schemas.microsoft.com/office/drawing/2014/main" id="{71F34533-9677-48AF-9374-976825F4BB7E}"/>
              </a:ext>
            </a:extLst>
          </p:cNvPr>
          <p:cNvSpPr>
            <a:spLocks noGrp="1"/>
          </p:cNvSpPr>
          <p:nvPr>
            <p:ph type="dt" idx="10"/>
          </p:nvPr>
        </p:nvSpPr>
        <p:spPr>
          <a:xfrm>
            <a:off x="838200" y="6356350"/>
            <a:ext cx="2743200" cy="365125"/>
          </a:xfrm>
        </p:spPr>
        <p:txBody>
          <a:bodyPr/>
          <a:lstStyle>
            <a:lvl1pPr>
              <a:buNone/>
              <a:defRPr sz="900"/>
            </a:lvl1pPr>
          </a:lstStyle>
          <a:p>
            <a:pPr>
              <a:buNone/>
            </a:pPr>
            <a:fld id="{49C21201-3C43-47EC-82E9-CD077C959CE9}" type="datetime1">
              <a:t>7/29/2026</a:t>
            </a:fld>
            <a:endParaRP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idx="11"/>
          </p:nvPr>
        </p:nvSpPr>
        <p:spPr>
          <a:xfrm>
            <a:off x="4038600" y="6356350"/>
            <a:ext cx="4114800" cy="365125"/>
          </a:xfrm>
        </p:spPr>
        <p:txBody>
          <a:bodyPr/>
          <a:lstStyle>
            <a:lvl1pPr>
              <a:buNone/>
              <a:defRPr sz="900"/>
            </a:lvl1pPr>
          </a:lstStyle>
          <a:p>
            <a:pPr>
              <a:buNone/>
            </a:pPr>
            <a:r>
              <a:t>Introduction to Deep Learning - PSDI &amp; Royce Materials Data Summit</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idx="12"/>
          </p:nvPr>
        </p:nvSpPr>
        <p:spPr>
          <a:xfrm>
            <a:off x="8610600" y="6356350"/>
            <a:ext cx="2743200" cy="365125"/>
          </a:xfrm>
        </p:spPr>
        <p:txBody>
          <a:bodyPr/>
          <a:lstStyle>
            <a:lvl1pPr>
              <a:buNone/>
              <a:defRPr sz="900"/>
            </a:lvl1pPr>
          </a:lstStyle>
          <a:p>
            <a:pPr>
              <a:buNone/>
            </a:pPr>
            <a:fld id="{B5CEABB6-07DC-46E8-9B57-56EC44A396E5}" type="slidenum">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buNone/>
              <a:defRPr sz="3200" spc="150">
                <a:solidFill>
                  <a:schemeClr val="bg1"/>
                </a:solidFill>
              </a:defRPr>
            </a:lvl1pPr>
          </a:lstStyle>
          <a:p>
            <a:pPr>
              <a:buNone/>
            </a:pPr>
            <a:r>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buNone/>
            </a:pPr>
            <a:r>
              <a:t>Click to edit Master subtitle style</a:t>
            </a:r>
          </a:p>
        </p:txBody>
      </p:sp>
      <p:pic>
        <p:nvPicPr>
          <p:cNvPr id="4" name="Graphic 5"/>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idx="10"/>
          </p:nvPr>
        </p:nvSpPr>
        <p:spPr>
          <a:xfrm>
            <a:off x="4267200" y="6356350"/>
            <a:ext cx="1774371" cy="365125"/>
          </a:xfrm>
        </p:spPr>
        <p:txBody>
          <a:bodyPr/>
          <a:lstStyle>
            <a:lvl1pPr>
              <a:buNone/>
              <a:defRPr sz="900"/>
            </a:lvl1pPr>
          </a:lstStyle>
          <a:p>
            <a:pPr>
              <a:buNone/>
            </a:pPr>
            <a:fld id="{30DA48D5-FBA5-480F-B359-055D158D0DB7}" type="datetime1">
              <a:t>7/29/2026</a:t>
            </a:fld>
            <a:endParaRP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idx="11"/>
          </p:nvPr>
        </p:nvSpPr>
        <p:spPr>
          <a:xfrm>
            <a:off x="6479721" y="6356350"/>
            <a:ext cx="2661557" cy="365125"/>
          </a:xfrm>
        </p:spPr>
        <p:txBody>
          <a:bodyPr/>
          <a:lstStyle>
            <a:lvl1pPr>
              <a:buNone/>
              <a:defRPr sz="900"/>
            </a:lvl1pPr>
          </a:lstStyle>
          <a:p>
            <a:pPr>
              <a:buNone/>
            </a:pPr>
            <a:r>
              <a:t>Introduction to Deep Learning - PSDI &amp; Royce Materials Data Summit</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idx="12"/>
          </p:nvPr>
        </p:nvSpPr>
        <p:spPr>
          <a:xfrm>
            <a:off x="9579428" y="6356350"/>
            <a:ext cx="1774371" cy="365125"/>
          </a:xfrm>
        </p:spPr>
        <p:txBody>
          <a:bodyPr/>
          <a:lstStyle>
            <a:lvl1pPr>
              <a:buNone/>
              <a:defRPr sz="900"/>
            </a:lvl1pPr>
          </a:lstStyle>
          <a:p>
            <a:pPr>
              <a:buNone/>
            </a:pPr>
            <a:fld id="{B5CEABB6-07DC-46E8-9B57-56EC44A396E5}" type="slidenum">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buNone/>
              <a:defRPr sz="2800" spc="150">
                <a:solidFill>
                  <a:schemeClr val="tx1"/>
                </a:solidFill>
                <a:latin typeface="+mj-lt"/>
                <a:ea typeface="+mj-lt"/>
                <a:cs typeface="+mj-lt"/>
              </a:defRPr>
            </a:lvl1pPr>
          </a:lstStyle>
          <a:p>
            <a:pPr>
              <a:buNone/>
            </a:pPr>
            <a:r>
              <a:t>CLICK TO EDIT MASTER TITLE STYLE</a:t>
            </a:r>
          </a:p>
        </p:txBody>
      </p:sp>
      <p:sp>
        <p:nvSpPr>
          <p:cNvPr id="7" name="SmartArt Placeholder 6">
            <a:extLst>
              <a:ext uri="{FF2B5EF4-FFF2-40B4-BE49-F238E27FC236}">
                <a16:creationId xmlns:a16="http://schemas.microsoft.com/office/drawing/2014/main" id="{156CA116-0F6E-4EE9-B34F-03BA07161A7A}"/>
              </a:ext>
            </a:extLst>
          </p:cNvPr>
          <p:cNvSpPr>
            <a:spLocks noGrp="1"/>
          </p:cNvSpPr>
          <p:nvPr>
            <p:ph type="dgm" idx="15"/>
          </p:nvPr>
        </p:nvSpPr>
        <p:spPr>
          <a:xfrm>
            <a:off x="838200" y="2139084"/>
            <a:ext cx="10515600" cy="3695338"/>
          </a:xfrm>
        </p:spPr>
        <p:txBody>
          <a:bodyPr/>
          <a:lstStyle/>
          <a:p>
            <a:pPr>
              <a:buNone/>
            </a:pPr>
            <a:r>
              <a:t>Click icon to add SmartArt graphic</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idx="10"/>
          </p:nvPr>
        </p:nvSpPr>
        <p:spPr/>
        <p:txBody>
          <a:bodyPr/>
          <a:lstStyle>
            <a:lvl1pPr>
              <a:buNone/>
              <a:defRPr sz="900"/>
            </a:lvl1pPr>
          </a:lstStyle>
          <a:p>
            <a:pPr>
              <a:buNone/>
            </a:pPr>
            <a:fld id="{363BFF66-872A-45C0-B91A-4420AF882649}" type="datetime1">
              <a:t>7/29/2026</a:t>
            </a:fld>
            <a:endParaRP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idx="11"/>
          </p:nvPr>
        </p:nvSpPr>
        <p:spPr/>
        <p:txBody>
          <a:bodyPr/>
          <a:lstStyle>
            <a:lvl1pPr>
              <a:buNone/>
              <a:defRPr sz="900"/>
            </a:lvl1pPr>
          </a:lstStyle>
          <a:p>
            <a:pPr>
              <a:buNone/>
            </a:pPr>
            <a:r>
              <a:t>Introduction to Deep Learning - PSDI &amp; Royce Materials Data Summit</a:t>
            </a:r>
          </a:p>
        </p:txBody>
      </p:sp>
      <p:sp>
        <p:nvSpPr>
          <p:cNvPr id="10" name="Straight Connector 9">
            <a:extLst>
              <a:ext uri="{FF2B5EF4-FFF2-40B4-BE49-F238E27FC236}">
                <a16:creationId xmlns:a16="http://schemas.microsoft.com/office/drawing/2014/main" id="{B7FF3CCE-964A-4830-94CC-109D0971B1F5}"/>
              </a:ext>
            </a:extLst>
          </p:cNvPr>
          <p:cNvSpPr>
            <a:spLocks noGrp="1"/>
          </p:cNvSpPr>
          <p:nvPr/>
        </p:nv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lstStyle/>
          <a:p>
            <a:endParaRPr lang="en-GB"/>
          </a:p>
        </p:txBody>
      </p:sp>
      <p:sp>
        <p:nvSpPr>
          <p:cNvPr id="12" name="Straight Connector 11">
            <a:extLst>
              <a:ext uri="{FF2B5EF4-FFF2-40B4-BE49-F238E27FC236}">
                <a16:creationId xmlns:a16="http://schemas.microsoft.com/office/drawing/2014/main" id="{22793EEB-102F-47FD-A13E-9AEDB4E35E85}"/>
              </a:ext>
            </a:extLst>
          </p:cNvPr>
          <p:cNvSpPr>
            <a:spLocks noGrp="1"/>
          </p:cNvSpPr>
          <p:nvPr/>
        </p:nv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lstStyle/>
          <a:p>
            <a:endParaRPr lang="en-GB"/>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idx="12"/>
          </p:nvPr>
        </p:nvSpPr>
        <p:spPr/>
        <p:txBody>
          <a:bodyPr/>
          <a:lstStyle>
            <a:lvl1pPr>
              <a:buNone/>
              <a:defRPr sz="900"/>
            </a:lvl1pPr>
          </a:lstStyle>
          <a:p>
            <a:pPr>
              <a:buNone/>
            </a:pPr>
            <a:fld id="{B5CEABB6-07DC-46E8-9B57-56EC44A396E5}" type="slidenum">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buNone/>
              <a:defRPr sz="2800" spc="150">
                <a:solidFill>
                  <a:schemeClr val="tx1"/>
                </a:solidFill>
                <a:latin typeface="+mj-lt"/>
                <a:ea typeface="+mj-lt"/>
                <a:cs typeface="+mj-lt"/>
              </a:defRPr>
            </a:lvl1pPr>
          </a:lstStyle>
          <a:p>
            <a:pPr>
              <a:buNone/>
            </a:pPr>
            <a:r>
              <a:t>CLICK TO EDIT MASTER TITLE STYLE</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idx="10"/>
          </p:nvPr>
        </p:nvSpPr>
        <p:spPr/>
        <p:txBody>
          <a:bodyPr/>
          <a:lstStyle>
            <a:lvl1pPr>
              <a:buNone/>
              <a:defRPr sz="1000"/>
            </a:lvl1pPr>
          </a:lstStyle>
          <a:p>
            <a:fld id="{5F25E803-9395-4DA8-A10C-F9389468F903}" type="datetime1">
              <a:t>7/29/2026</a:t>
            </a:fld>
            <a:endParaRP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idx="11"/>
          </p:nvPr>
        </p:nvSpPr>
        <p:spPr/>
        <p:txBody>
          <a:bodyPr/>
          <a:lstStyle>
            <a:lvl1pPr>
              <a:buNone/>
              <a:defRPr sz="1000"/>
            </a:lvl1pPr>
          </a:lstStyle>
          <a:p>
            <a:r>
              <a:t>Introduction to Deep Learning - PSDI &amp; Royce Materials Data Summit</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idx="12"/>
          </p:nvPr>
        </p:nvSpPr>
        <p:spPr/>
        <p:txBody>
          <a:bodyPr/>
          <a:lstStyle>
            <a:lvl1pPr>
              <a:buNone/>
              <a:defRPr sz="1000"/>
            </a:lvl1pPr>
          </a:lstStyle>
          <a:p>
            <a:fld id="{B5CEABB6-07DC-46E8-9B57-56EC44A396E5}" type="slidenum">
              <a:t>‹#›</a:t>
            </a:fld>
            <a:endParaRPr/>
          </a:p>
        </p:txBody>
      </p:sp>
      <p:pic>
        <p:nvPicPr>
          <p:cNvPr id="10" name="Picture 2"/>
          <p:cNvPicPr>
            <a:picLocks noChangeAspect="1"/>
          </p:cNvPicPr>
          <p:nvPr/>
        </p:nvPicPr>
        <p:blipFill rotWithShape="1">
          <a:blip r:embed="rId2">
            <a:biLevel thresh="75000"/>
          </a:blip>
          <a:srcRect l="6874" t="32094" r="5814" b="35450"/>
          <a:stretch>
            <a:fillRect/>
          </a:stretch>
        </p:blipFill>
        <p:spPr>
          <a:xfrm>
            <a:off x="9488312" y="0"/>
            <a:ext cx="2655192" cy="555483"/>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theme" Target="../theme/theme2.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AA4103-2054-75E8-FC35-2DFD7C0AC9B8}"/>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7DB46B13-426F-2F9D-453F-B853F12FBA82}"/>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B100CAD1-C2FA-187B-5E07-CBE7833D1205}"/>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32EAC8CF-365A-41BE-944A-09CD166739EC}" type="datetime1">
              <a:t>7/29/2026</a:t>
            </a:fld>
            <a:endParaRPr/>
          </a:p>
        </p:txBody>
      </p:sp>
      <p:sp>
        <p:nvSpPr>
          <p:cNvPr id="5" name="Footer Placeholder 4">
            <a:extLst>
              <a:ext uri="{FF2B5EF4-FFF2-40B4-BE49-F238E27FC236}">
                <a16:creationId xmlns:a16="http://schemas.microsoft.com/office/drawing/2014/main" id="{402CECB2-4405-4B68-152F-7F3CA1D6E839}"/>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r>
              <a:t>Introduction to Deep Learning - PSDI &amp; Royce Materials Data Summit</a:t>
            </a:r>
          </a:p>
        </p:txBody>
      </p:sp>
      <p:sp>
        <p:nvSpPr>
          <p:cNvPr id="6" name="Slide Number Placeholder 5">
            <a:extLst>
              <a:ext uri="{FF2B5EF4-FFF2-40B4-BE49-F238E27FC236}">
                <a16:creationId xmlns:a16="http://schemas.microsoft.com/office/drawing/2014/main" id="{7E05867D-7AAA-5CA9-B768-0891971A7FD6}"/>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9BAE28AA-A9BE-496E-A55F-EE330C3CEB4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a:lnSpc>
          <a:spcPct val="90000"/>
        </a:lnSpc>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pPr>
              <a:buNone/>
            </a:pPr>
            <a:r>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900">
                <a:solidFill>
                  <a:schemeClr val="tx1">
                    <a:tint val="75000"/>
                  </a:schemeClr>
                </a:solidFill>
              </a:defRPr>
            </a:lvl1pPr>
          </a:lstStyle>
          <a:p>
            <a:pPr>
              <a:buNone/>
            </a:pPr>
            <a:fld id="{39D9E0E4-1A84-4FCD-91FC-29802B376D16}" type="datetime1">
              <a:t>7/29/2026</a:t>
            </a:fld>
            <a:endParaRP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900">
                <a:solidFill>
                  <a:schemeClr val="tx1">
                    <a:tint val="75000"/>
                  </a:schemeClr>
                </a:solidFill>
              </a:defRPr>
            </a:lvl1pPr>
          </a:lstStyle>
          <a:p>
            <a:pPr>
              <a:buNone/>
            </a:pPr>
            <a:r>
              <a:t>Introduction to Deep Learning - PSDI &amp; Royce Materials Data Summit</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900">
                <a:solidFill>
                  <a:schemeClr val="tx1">
                    <a:tint val="75000"/>
                  </a:schemeClr>
                </a:solidFill>
              </a:defRPr>
            </a:lvl1pPr>
          </a:lstStyle>
          <a:p>
            <a:pPr>
              <a:buNone/>
            </a:pPr>
            <a:fld id="{B5CEABB6-07DC-46E8-9B57-56EC44A396E5}"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Lst>
  <p:hf hdr="0"/>
  <p:txStyles>
    <p:titleStyle>
      <a:lvl1pPr algn="l">
        <a:lnSpc>
          <a:spcPct val="90000"/>
        </a:lnSpc>
        <a:buNone/>
        <a:defRPr sz="4400" cap="all">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6.xml"/><Relationship Id="rId1" Type="http://schemas.openxmlformats.org/officeDocument/2006/relationships/slideLayout" Target="../slideLayouts/slideLayout26.xml"/><Relationship Id="rId6" Type="http://schemas.openxmlformats.org/officeDocument/2006/relationships/image" Target="../media/image19.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0.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33.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0.png"/><Relationship Id="rId7"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6.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0.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26.xml"/><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notesSlide" Target="../notesSlides/notesSlide16.xml"/><Relationship Id="rId16" Type="http://schemas.openxmlformats.org/officeDocument/2006/relationships/image" Target="../media/image48.png"/><Relationship Id="rId1" Type="http://schemas.openxmlformats.org/officeDocument/2006/relationships/slideLayout" Target="../slideLayouts/slideLayout26.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5" Type="http://schemas.openxmlformats.org/officeDocument/2006/relationships/image" Target="../media/image4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s>
</file>

<file path=ppt/slides/_rels/slide1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27.xml"/><Relationship Id="rId4" Type="http://schemas.openxmlformats.org/officeDocument/2006/relationships/image" Target="../media/image5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2.xml"/></Relationships>
</file>

<file path=ppt/slides/_rels/slide2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2.xml"/><Relationship Id="rId1" Type="http://schemas.openxmlformats.org/officeDocument/2006/relationships/slideLayout" Target="../slideLayouts/slideLayout32.xml"/></Relationships>
</file>

<file path=ppt/slides/_rels/slide2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3.xml"/><Relationship Id="rId1" Type="http://schemas.openxmlformats.org/officeDocument/2006/relationships/slideLayout" Target="../slideLayouts/slideLayout32.xml"/></Relationships>
</file>

<file path=ppt/slides/_rels/slide2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4.xml"/><Relationship Id="rId1" Type="http://schemas.openxmlformats.org/officeDocument/2006/relationships/slideLayout" Target="../slideLayouts/slideLayout3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2.xml"/></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8.xml"/><Relationship Id="rId1" Type="http://schemas.openxmlformats.org/officeDocument/2006/relationships/slideLayout" Target="../slideLayouts/slideLayout3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C4C0F-6B90-B177-647D-557359DF01CF}"/>
              </a:ext>
            </a:extLst>
          </p:cNvPr>
          <p:cNvSpPr>
            <a:spLocks noGrp="1"/>
          </p:cNvSpPr>
          <p:nvPr>
            <p:ph type="ctrTitle"/>
          </p:nvPr>
        </p:nvSpPr>
        <p:spPr/>
        <p:txBody>
          <a:bodyPr>
            <a:normAutofit/>
          </a:bodyPr>
          <a:lstStyle/>
          <a:p>
            <a:pPr>
              <a:buNone/>
              <a:defRPr sz="3150" b="0">
                <a:solidFill>
                  <a:srgbClr val="111111"/>
                </a:solidFill>
              </a:defRPr>
            </a:pPr>
            <a:r>
              <a:rPr sz="4400" b="0">
                <a:solidFill>
                  <a:srgbClr val="111111"/>
                </a:solidFill>
              </a:rPr>
              <a:t>Introduction to deep learning</a:t>
            </a:r>
          </a:p>
          <a:p>
            <a:pPr>
              <a:buNone/>
              <a:defRPr sz="3150" b="0">
                <a:solidFill>
                  <a:srgbClr val="111111"/>
                </a:solidFill>
              </a:defRPr>
            </a:pPr>
            <a:r>
              <a:rPr sz="4400" b="0">
                <a:solidFill>
                  <a:srgbClr val="111111"/>
                </a:solidFill>
              </a:rPr>
              <a:t>for crystal language models</a:t>
            </a:r>
          </a:p>
        </p:txBody>
      </p:sp>
      <p:sp>
        <p:nvSpPr>
          <p:cNvPr id="4" name="Rectangle 3">
            <a:extLst>
              <a:ext uri="{FF2B5EF4-FFF2-40B4-BE49-F238E27FC236}">
                <a16:creationId xmlns:a16="http://schemas.microsoft.com/office/drawing/2014/main" id="{5C6C7349-29E6-48BF-B07C-D6F71E3F850C}"/>
              </a:ext>
            </a:extLst>
          </p:cNvPr>
          <p:cNvSpPr>
            <a:spLocks noGrp="1"/>
          </p:cNvSpPr>
          <p:nvPr/>
        </p:nvSpPr>
        <p:spPr>
          <a:xfrm>
            <a:off x="3905250" y="4095750"/>
            <a:ext cx="4381500" cy="400050"/>
          </a:xfrm>
          <a:prstGeom prst="rect">
            <a:avLst/>
          </a:prstGeom>
          <a:noFill/>
          <a:ln w="0">
            <a:noFill/>
            <a:prstDash val="solid"/>
          </a:ln>
        </p:spPr>
        <p:txBody>
          <a:bodyPr/>
          <a:lstStyle/>
          <a:p>
            <a:pPr algn="ctr">
              <a:buNone/>
              <a:defRPr sz="1575">
                <a:solidFill>
                  <a:srgbClr val="444444"/>
                </a:solidFill>
              </a:defRPr>
            </a:pPr>
            <a:r>
              <a:rPr sz="1575">
                <a:solidFill>
                  <a:srgbClr val="444444"/>
                </a:solidFill>
              </a:rPr>
              <a:t>PSDI &amp; Royce Materials Data Summit </a:t>
            </a:r>
          </a:p>
        </p:txBody>
      </p:sp>
      <p:sp>
        <p:nvSpPr>
          <p:cNvPr id="3" name="Date Placeholder 2">
            <a:extLst>
              <a:ext uri="{FF2B5EF4-FFF2-40B4-BE49-F238E27FC236}">
                <a16:creationId xmlns:a16="http://schemas.microsoft.com/office/drawing/2014/main" id="{8709C5D1-FCB5-18EB-FC57-F660973D7B64}"/>
              </a:ext>
            </a:extLst>
          </p:cNvPr>
          <p:cNvSpPr>
            <a:spLocks noGrp="1"/>
          </p:cNvSpPr>
          <p:nvPr>
            <p:ph type="dt" idx="10"/>
          </p:nvPr>
        </p:nvSpPr>
        <p:spPr/>
        <p:txBody>
          <a:bodyPr/>
          <a:lstStyle/>
          <a:p>
            <a:fld id="{07632CA1-C1D8-439B-AD39-B773A9E874B7}" type="datetime1">
              <a:rPr lang="en-US"/>
              <a:t>7/29/2026</a:t>
            </a:fld>
            <a:endParaRPr/>
          </a:p>
        </p:txBody>
      </p:sp>
      <p:sp>
        <p:nvSpPr>
          <p:cNvPr id="6" name="Slide Number Placeholder 5">
            <a:extLst>
              <a:ext uri="{FF2B5EF4-FFF2-40B4-BE49-F238E27FC236}">
                <a16:creationId xmlns:a16="http://schemas.microsoft.com/office/drawing/2014/main" id="{1F279C71-6010-BDFA-5BD7-5BFFAF4281E7}"/>
              </a:ext>
            </a:extLst>
          </p:cNvPr>
          <p:cNvSpPr>
            <a:spLocks noGrp="1"/>
          </p:cNvSpPr>
          <p:nvPr>
            <p:ph type="sldNum" idx="12"/>
          </p:nvPr>
        </p:nvSpPr>
        <p:spPr/>
        <p:txBody>
          <a:bodyPr/>
          <a:lstStyle/>
          <a:p>
            <a:fld id="{9BAE28AA-A9BE-496E-A55F-EE330C3CEB4B}" type="slidenum">
              <a:rPr/>
              <a:t>1</a:t>
            </a:fld>
            <a:endParaRPr/>
          </a:p>
        </p:txBody>
      </p:sp>
    </p:spTree>
    <p:extLst>
      <p:ext uri="{BB962C8B-B14F-4D97-AF65-F5344CB8AC3E}">
        <p14:creationId xmlns:p14="http://schemas.microsoft.com/office/powerpoint/2010/main" val="396292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282CF36D-B261-85D2-9F78-0E89DC4B8A8E}"/>
              </a:ext>
            </a:extLst>
          </p:cNvPr>
          <p:cNvSpPr>
            <a:spLocks noGrp="1"/>
          </p:cNvSpPr>
          <p:nvPr>
            <p:ph type="ftr" idx="11"/>
          </p:nvPr>
        </p:nvSpPr>
        <p:spPr/>
        <p:txBody>
          <a:bodyPr/>
          <a:lstStyle/>
          <a:p>
            <a:pPr marL="0" indent="0" algn="ctr">
              <a:lnSpc>
                <a:spcPct val="100000"/>
              </a:lnSpc>
              <a:spcBef>
                <a:spcPts val="0"/>
              </a:spcBef>
              <a:spcAft>
                <a:spcPts val="0"/>
              </a:spcAft>
              <a:buNone/>
              <a:defRPr sz="675">
                <a:solidFill>
                  <a:srgbClr val="777777"/>
                </a:solidFill>
              </a:defRPr>
            </a:pPr>
            <a:r>
              <a:rPr sz="675" b="0" i="0" u="none" cap="none" dirty="0">
                <a:ln>
                  <a:noFill/>
                </a:ln>
                <a:solidFill>
                  <a:srgbClr val="777777"/>
                </a:solidFill>
                <a:latin typeface="Tenorite"/>
                <a:ea typeface="Tenorite"/>
                <a:cs typeface="Tenorite"/>
              </a:rPr>
              <a:t>Introduction to Deep Learning - PSDI &amp; Royce Materials Data Summit</a:t>
            </a:r>
          </a:p>
        </p:txBody>
      </p:sp>
      <p:sp>
        <p:nvSpPr>
          <p:cNvPr id="7" name="Rectangle 6">
            <a:extLst>
              <a:ext uri="{FF2B5EF4-FFF2-40B4-BE49-F238E27FC236}">
                <a16:creationId xmlns:a16="http://schemas.microsoft.com/office/drawing/2014/main" id="{0A88985B-C20E-412C-BE7F-FB54F23921CF}"/>
              </a:ext>
            </a:extLst>
          </p:cNvPr>
          <p:cNvSpPr>
            <a:spLocks noGrp="1"/>
          </p:cNvSpPr>
          <p:nvPr/>
        </p:nvSpPr>
        <p:spPr>
          <a:xfrm>
            <a:off x="838200" y="361950"/>
            <a:ext cx="10515600" cy="762000"/>
          </a:xfrm>
          <a:prstGeom prst="rect">
            <a:avLst/>
          </a:prstGeom>
          <a:noFill/>
          <a:ln w="0">
            <a:noFill/>
            <a:prstDash val="solid"/>
          </a:ln>
        </p:spPr>
        <p:txBody>
          <a:bodyPr anchor="ctr"/>
          <a:lstStyle/>
          <a:p>
            <a:pPr algn="ctr">
              <a:buNone/>
              <a:defRPr sz="2175">
                <a:solidFill>
                  <a:srgbClr val="111111"/>
                </a:solidFill>
              </a:defRPr>
            </a:pPr>
            <a:r>
              <a:rPr sz="2175" dirty="0">
                <a:solidFill>
                  <a:srgbClr val="111111"/>
                </a:solidFill>
              </a:rPr>
              <a:t>WHAT THIS WORKSHOP COVERS</a:t>
            </a:r>
          </a:p>
        </p:txBody>
      </p:sp>
      <p:sp>
        <p:nvSpPr>
          <p:cNvPr id="8" name="Rectangle: Rounded Corners 7">
            <a:extLst>
              <a:ext uri="{FF2B5EF4-FFF2-40B4-BE49-F238E27FC236}">
                <a16:creationId xmlns:a16="http://schemas.microsoft.com/office/drawing/2014/main" id="{6B385FE7-3AC2-4F2C-9543-6473403CD594}"/>
              </a:ext>
            </a:extLst>
          </p:cNvPr>
          <p:cNvSpPr>
            <a:spLocks noGrp="1"/>
          </p:cNvSpPr>
          <p:nvPr/>
        </p:nvSpPr>
        <p:spPr>
          <a:xfrm>
            <a:off x="800100" y="1398566"/>
            <a:ext cx="3190875" cy="2249632"/>
          </a:xfrm>
          <a:prstGeom prst="roundRect">
            <a:avLst>
              <a:gd name="adj" fmla="val 2581"/>
            </a:avLst>
          </a:prstGeom>
          <a:solidFill>
            <a:srgbClr val="F8F8F8"/>
          </a:solidFill>
          <a:ln w="9525">
            <a:solidFill>
              <a:srgbClr val="DEDEDE"/>
            </a:solidFill>
            <a:prstDash val="solid"/>
          </a:ln>
        </p:spPr>
        <p:txBody>
          <a:bodyPr/>
          <a:lstStyle/>
          <a:p>
            <a:endParaRPr/>
          </a:p>
        </p:txBody>
      </p:sp>
      <p:sp>
        <p:nvSpPr>
          <p:cNvPr id="9" name="Rectangle 8">
            <a:extLst>
              <a:ext uri="{FF2B5EF4-FFF2-40B4-BE49-F238E27FC236}">
                <a16:creationId xmlns:a16="http://schemas.microsoft.com/office/drawing/2014/main" id="{517E0C0B-D155-4206-BB47-636332BF48BD}"/>
              </a:ext>
            </a:extLst>
          </p:cNvPr>
          <p:cNvSpPr>
            <a:spLocks noGrp="1"/>
          </p:cNvSpPr>
          <p:nvPr/>
        </p:nvSpPr>
        <p:spPr>
          <a:xfrm>
            <a:off x="971550" y="1570016"/>
            <a:ext cx="800100" cy="38100"/>
          </a:xfrm>
          <a:prstGeom prst="rect">
            <a:avLst/>
          </a:prstGeom>
          <a:solidFill>
            <a:srgbClr val="D97706"/>
          </a:solidFill>
          <a:ln w="0">
            <a:solidFill>
              <a:srgbClr val="D97706"/>
            </a:solidFill>
            <a:prstDash val="solid"/>
          </a:ln>
        </p:spPr>
        <p:txBody>
          <a:bodyPr/>
          <a:lstStyle/>
          <a:p>
            <a:endParaRPr/>
          </a:p>
        </p:txBody>
      </p:sp>
      <p:sp>
        <p:nvSpPr>
          <p:cNvPr id="10" name="Rectangle 9">
            <a:extLst>
              <a:ext uri="{FF2B5EF4-FFF2-40B4-BE49-F238E27FC236}">
                <a16:creationId xmlns:a16="http://schemas.microsoft.com/office/drawing/2014/main" id="{8824CA20-429F-4C0C-9F3A-B2C3D501C800}"/>
              </a:ext>
            </a:extLst>
          </p:cNvPr>
          <p:cNvSpPr>
            <a:spLocks noGrp="1"/>
          </p:cNvSpPr>
          <p:nvPr/>
        </p:nvSpPr>
        <p:spPr>
          <a:xfrm>
            <a:off x="971550" y="1798616"/>
            <a:ext cx="2847975" cy="400050"/>
          </a:xfrm>
          <a:prstGeom prst="rect">
            <a:avLst/>
          </a:prstGeom>
          <a:noFill/>
          <a:ln w="0">
            <a:noFill/>
            <a:prstDash val="solid"/>
          </a:ln>
        </p:spPr>
        <p:txBody>
          <a:bodyPr/>
          <a:lstStyle/>
          <a:p>
            <a:pPr>
              <a:buNone/>
              <a:defRPr sz="1650" b="1">
                <a:solidFill>
                  <a:srgbClr val="222222"/>
                </a:solidFill>
              </a:defRPr>
            </a:pPr>
            <a:r>
              <a:rPr b="1">
                <a:solidFill>
                  <a:srgbClr val="222222"/>
                </a:solidFill>
              </a:rPr>
              <a:t>1. Learn representations</a:t>
            </a:r>
          </a:p>
        </p:txBody>
      </p:sp>
      <p:sp>
        <p:nvSpPr>
          <p:cNvPr id="11" name="Rectangle 10">
            <a:extLst>
              <a:ext uri="{FF2B5EF4-FFF2-40B4-BE49-F238E27FC236}">
                <a16:creationId xmlns:a16="http://schemas.microsoft.com/office/drawing/2014/main" id="{223172C2-F1C2-4DEF-9214-AAB58DF4F1C9}"/>
              </a:ext>
            </a:extLst>
          </p:cNvPr>
          <p:cNvSpPr>
            <a:spLocks noGrp="1"/>
          </p:cNvSpPr>
          <p:nvPr/>
        </p:nvSpPr>
        <p:spPr>
          <a:xfrm>
            <a:off x="971550" y="2274866"/>
            <a:ext cx="2847975" cy="1924050"/>
          </a:xfrm>
          <a:prstGeom prst="rect">
            <a:avLst/>
          </a:prstGeom>
          <a:noFill/>
          <a:ln w="0">
            <a:noFill/>
            <a:prstDash val="solid"/>
          </a:ln>
        </p:spPr>
        <p:txBody>
          <a:bodyPr/>
          <a:lstStyle/>
          <a:p>
            <a:pPr>
              <a:buNone/>
              <a:defRPr sz="1275">
                <a:solidFill>
                  <a:srgbClr val="3A3A3A"/>
                </a:solidFill>
              </a:defRPr>
            </a:pPr>
            <a:r>
              <a:rPr sz="1600">
                <a:solidFill>
                  <a:srgbClr val="3A3A3A"/>
                </a:solidFill>
              </a:rPr>
              <a:t>MLP basics</a:t>
            </a:r>
          </a:p>
          <a:p>
            <a:pPr>
              <a:buNone/>
              <a:defRPr sz="1275">
                <a:solidFill>
                  <a:srgbClr val="3A3A3A"/>
                </a:solidFill>
              </a:defRPr>
            </a:pPr>
            <a:r>
              <a:rPr sz="1600">
                <a:solidFill>
                  <a:srgbClr val="3A3A3A"/>
                </a:solidFill>
              </a:rPr>
              <a:t>Embeddings</a:t>
            </a:r>
          </a:p>
          <a:p>
            <a:pPr>
              <a:buNone/>
              <a:defRPr sz="1275">
                <a:solidFill>
                  <a:srgbClr val="3A3A3A"/>
                </a:solidFill>
              </a:defRPr>
            </a:pPr>
            <a:r>
              <a:rPr sz="1600">
                <a:solidFill>
                  <a:srgbClr val="3A3A3A"/>
                </a:solidFill>
              </a:rPr>
              <a:t>Training by gradients</a:t>
            </a:r>
          </a:p>
          <a:p>
            <a:pPr>
              <a:buNone/>
              <a:defRPr sz="1275">
                <a:solidFill>
                  <a:srgbClr val="3A3A3A"/>
                </a:solidFill>
              </a:defRPr>
            </a:pPr>
            <a:r>
              <a:rPr sz="1600">
                <a:solidFill>
                  <a:srgbClr val="3A3A3A"/>
                </a:solidFill>
              </a:rPr>
              <a:t>Why fixed vectors are limiting</a:t>
            </a:r>
          </a:p>
        </p:txBody>
      </p:sp>
      <p:sp>
        <p:nvSpPr>
          <p:cNvPr id="12" name="Rectangle: Rounded Corners 11">
            <a:extLst>
              <a:ext uri="{FF2B5EF4-FFF2-40B4-BE49-F238E27FC236}">
                <a16:creationId xmlns:a16="http://schemas.microsoft.com/office/drawing/2014/main" id="{68B83A91-4957-4464-B69B-DBEC2F3289E9}"/>
              </a:ext>
            </a:extLst>
          </p:cNvPr>
          <p:cNvSpPr>
            <a:spLocks noGrp="1"/>
          </p:cNvSpPr>
          <p:nvPr/>
        </p:nvSpPr>
        <p:spPr>
          <a:xfrm>
            <a:off x="4495800" y="1398566"/>
            <a:ext cx="3190875" cy="2249632"/>
          </a:xfrm>
          <a:prstGeom prst="roundRect">
            <a:avLst>
              <a:gd name="adj" fmla="val 2581"/>
            </a:avLst>
          </a:prstGeom>
          <a:solidFill>
            <a:srgbClr val="F8F8F8"/>
          </a:solidFill>
          <a:ln w="9525">
            <a:solidFill>
              <a:srgbClr val="DEDEDE"/>
            </a:solidFill>
            <a:prstDash val="solid"/>
          </a:ln>
        </p:spPr>
        <p:txBody>
          <a:bodyPr/>
          <a:lstStyle/>
          <a:p>
            <a:endParaRPr/>
          </a:p>
        </p:txBody>
      </p:sp>
      <p:sp>
        <p:nvSpPr>
          <p:cNvPr id="13" name="Rectangle 12">
            <a:extLst>
              <a:ext uri="{FF2B5EF4-FFF2-40B4-BE49-F238E27FC236}">
                <a16:creationId xmlns:a16="http://schemas.microsoft.com/office/drawing/2014/main" id="{C2598F96-8C36-46E3-B95A-2EB7A686A328}"/>
              </a:ext>
            </a:extLst>
          </p:cNvPr>
          <p:cNvSpPr>
            <a:spLocks noGrp="1"/>
          </p:cNvSpPr>
          <p:nvPr/>
        </p:nvSpPr>
        <p:spPr>
          <a:xfrm>
            <a:off x="4667250" y="1570016"/>
            <a:ext cx="800100" cy="38100"/>
          </a:xfrm>
          <a:prstGeom prst="rect">
            <a:avLst/>
          </a:prstGeom>
          <a:solidFill>
            <a:srgbClr val="4F8CC9"/>
          </a:solidFill>
          <a:ln w="0">
            <a:solidFill>
              <a:srgbClr val="4F8CC9"/>
            </a:solidFill>
            <a:prstDash val="solid"/>
          </a:ln>
        </p:spPr>
        <p:txBody>
          <a:bodyPr/>
          <a:lstStyle/>
          <a:p>
            <a:endParaRPr/>
          </a:p>
        </p:txBody>
      </p:sp>
      <p:sp>
        <p:nvSpPr>
          <p:cNvPr id="14" name="Rectangle 13">
            <a:extLst>
              <a:ext uri="{FF2B5EF4-FFF2-40B4-BE49-F238E27FC236}">
                <a16:creationId xmlns:a16="http://schemas.microsoft.com/office/drawing/2014/main" id="{D92E1ECD-AC66-43E1-9882-7066D769F73D}"/>
              </a:ext>
            </a:extLst>
          </p:cNvPr>
          <p:cNvSpPr>
            <a:spLocks noGrp="1"/>
          </p:cNvSpPr>
          <p:nvPr/>
        </p:nvSpPr>
        <p:spPr>
          <a:xfrm>
            <a:off x="4667250" y="1798616"/>
            <a:ext cx="2847975" cy="400050"/>
          </a:xfrm>
          <a:prstGeom prst="rect">
            <a:avLst/>
          </a:prstGeom>
          <a:noFill/>
          <a:ln w="0">
            <a:noFill/>
            <a:prstDash val="solid"/>
          </a:ln>
        </p:spPr>
        <p:txBody>
          <a:bodyPr/>
          <a:lstStyle/>
          <a:p>
            <a:pPr>
              <a:buNone/>
              <a:defRPr sz="1650" b="1">
                <a:solidFill>
                  <a:srgbClr val="222222"/>
                </a:solidFill>
              </a:defRPr>
            </a:pPr>
            <a:r>
              <a:rPr b="1">
                <a:solidFill>
                  <a:srgbClr val="222222"/>
                </a:solidFill>
              </a:rPr>
              <a:t>2. Generate CIF text</a:t>
            </a:r>
          </a:p>
        </p:txBody>
      </p:sp>
      <p:sp>
        <p:nvSpPr>
          <p:cNvPr id="15" name="Rectangle 14">
            <a:extLst>
              <a:ext uri="{FF2B5EF4-FFF2-40B4-BE49-F238E27FC236}">
                <a16:creationId xmlns:a16="http://schemas.microsoft.com/office/drawing/2014/main" id="{D7375735-E31F-447C-A9C5-DEEBC476CA44}"/>
              </a:ext>
            </a:extLst>
          </p:cNvPr>
          <p:cNvSpPr>
            <a:spLocks noGrp="1"/>
          </p:cNvSpPr>
          <p:nvPr/>
        </p:nvSpPr>
        <p:spPr>
          <a:xfrm>
            <a:off x="4667250" y="2274866"/>
            <a:ext cx="2847975" cy="1924050"/>
          </a:xfrm>
          <a:prstGeom prst="rect">
            <a:avLst/>
          </a:prstGeom>
          <a:noFill/>
          <a:ln w="0">
            <a:noFill/>
            <a:prstDash val="solid"/>
          </a:ln>
        </p:spPr>
        <p:txBody>
          <a:bodyPr/>
          <a:lstStyle/>
          <a:p>
            <a:pPr>
              <a:buNone/>
              <a:defRPr sz="1275">
                <a:solidFill>
                  <a:srgbClr val="3A3A3A"/>
                </a:solidFill>
              </a:defRPr>
            </a:pPr>
            <a:r>
              <a:rPr sz="1600">
                <a:solidFill>
                  <a:srgbClr val="3A3A3A"/>
                </a:solidFill>
              </a:rPr>
              <a:t>Attention</a:t>
            </a:r>
          </a:p>
          <a:p>
            <a:pPr>
              <a:buNone/>
              <a:defRPr sz="1275">
                <a:solidFill>
                  <a:srgbClr val="3A3A3A"/>
                </a:solidFill>
              </a:defRPr>
            </a:pPr>
            <a:r>
              <a:rPr sz="1600">
                <a:solidFill>
                  <a:srgbClr val="3A3A3A"/>
                </a:solidFill>
              </a:rPr>
              <a:t>Transformers</a:t>
            </a:r>
          </a:p>
          <a:p>
            <a:pPr>
              <a:buNone/>
              <a:defRPr sz="1275">
                <a:solidFill>
                  <a:srgbClr val="3A3A3A"/>
                </a:solidFill>
              </a:defRPr>
            </a:pPr>
            <a:r>
              <a:rPr sz="1600">
                <a:solidFill>
                  <a:srgbClr val="3A3A3A"/>
                </a:solidFill>
              </a:rPr>
              <a:t>Autoregressive decoding</a:t>
            </a:r>
          </a:p>
          <a:p>
            <a:pPr>
              <a:buNone/>
              <a:defRPr sz="1275">
                <a:solidFill>
                  <a:srgbClr val="3A3A3A"/>
                </a:solidFill>
              </a:defRPr>
            </a:pPr>
            <a:r>
              <a:rPr sz="1600">
                <a:solidFill>
                  <a:srgbClr val="3A3A3A"/>
                </a:solidFill>
              </a:rPr>
              <a:t>CrystaLLM generation</a:t>
            </a:r>
          </a:p>
        </p:txBody>
      </p:sp>
      <p:sp>
        <p:nvSpPr>
          <p:cNvPr id="16" name="Rectangle: Rounded Corners 15">
            <a:extLst>
              <a:ext uri="{FF2B5EF4-FFF2-40B4-BE49-F238E27FC236}">
                <a16:creationId xmlns:a16="http://schemas.microsoft.com/office/drawing/2014/main" id="{501CDDD7-9C7E-467B-ACFD-BED640FB4705}"/>
              </a:ext>
            </a:extLst>
          </p:cNvPr>
          <p:cNvSpPr>
            <a:spLocks noGrp="1"/>
          </p:cNvSpPr>
          <p:nvPr/>
        </p:nvSpPr>
        <p:spPr>
          <a:xfrm>
            <a:off x="8191500" y="1398566"/>
            <a:ext cx="3190875" cy="2249632"/>
          </a:xfrm>
          <a:prstGeom prst="roundRect">
            <a:avLst>
              <a:gd name="adj" fmla="val 2581"/>
            </a:avLst>
          </a:prstGeom>
          <a:solidFill>
            <a:srgbClr val="F8F8F8"/>
          </a:solidFill>
          <a:ln w="9525">
            <a:solidFill>
              <a:srgbClr val="DEDEDE"/>
            </a:solidFill>
            <a:prstDash val="solid"/>
          </a:ln>
        </p:spPr>
        <p:txBody>
          <a:bodyPr/>
          <a:lstStyle/>
          <a:p>
            <a:endParaRPr/>
          </a:p>
        </p:txBody>
      </p:sp>
      <p:sp>
        <p:nvSpPr>
          <p:cNvPr id="17" name="Rectangle 16">
            <a:extLst>
              <a:ext uri="{FF2B5EF4-FFF2-40B4-BE49-F238E27FC236}">
                <a16:creationId xmlns:a16="http://schemas.microsoft.com/office/drawing/2014/main" id="{35629656-1FCA-45A5-8707-2EB5ECA136A1}"/>
              </a:ext>
            </a:extLst>
          </p:cNvPr>
          <p:cNvSpPr>
            <a:spLocks noGrp="1"/>
          </p:cNvSpPr>
          <p:nvPr/>
        </p:nvSpPr>
        <p:spPr>
          <a:xfrm>
            <a:off x="8362950" y="1570016"/>
            <a:ext cx="800100" cy="38100"/>
          </a:xfrm>
          <a:prstGeom prst="rect">
            <a:avLst/>
          </a:prstGeom>
          <a:solidFill>
            <a:srgbClr val="57A773"/>
          </a:solidFill>
          <a:ln w="0">
            <a:solidFill>
              <a:srgbClr val="57A773"/>
            </a:solidFill>
            <a:prstDash val="solid"/>
          </a:ln>
        </p:spPr>
        <p:txBody>
          <a:bodyPr/>
          <a:lstStyle/>
          <a:p>
            <a:endParaRPr/>
          </a:p>
        </p:txBody>
      </p:sp>
      <p:sp>
        <p:nvSpPr>
          <p:cNvPr id="18" name="Rectangle 17">
            <a:extLst>
              <a:ext uri="{FF2B5EF4-FFF2-40B4-BE49-F238E27FC236}">
                <a16:creationId xmlns:a16="http://schemas.microsoft.com/office/drawing/2014/main" id="{58DE68E0-6A98-4992-919A-4793DDEDA8A9}"/>
              </a:ext>
            </a:extLst>
          </p:cNvPr>
          <p:cNvSpPr>
            <a:spLocks noGrp="1"/>
          </p:cNvSpPr>
          <p:nvPr/>
        </p:nvSpPr>
        <p:spPr>
          <a:xfrm>
            <a:off x="8362950" y="1798616"/>
            <a:ext cx="2847975" cy="400050"/>
          </a:xfrm>
          <a:prstGeom prst="rect">
            <a:avLst/>
          </a:prstGeom>
          <a:noFill/>
          <a:ln w="0">
            <a:noFill/>
            <a:prstDash val="solid"/>
          </a:ln>
        </p:spPr>
        <p:txBody>
          <a:bodyPr/>
          <a:lstStyle/>
          <a:p>
            <a:pPr>
              <a:buNone/>
              <a:defRPr sz="1650" b="1">
                <a:solidFill>
                  <a:srgbClr val="222222"/>
                </a:solidFill>
              </a:defRPr>
            </a:pPr>
            <a:r>
              <a:rPr b="1">
                <a:solidFill>
                  <a:srgbClr val="222222"/>
                </a:solidFill>
              </a:rPr>
              <a:t>3. Steer generation</a:t>
            </a:r>
          </a:p>
        </p:txBody>
      </p:sp>
      <p:sp>
        <p:nvSpPr>
          <p:cNvPr id="19" name="Rectangle 18">
            <a:extLst>
              <a:ext uri="{FF2B5EF4-FFF2-40B4-BE49-F238E27FC236}">
                <a16:creationId xmlns:a16="http://schemas.microsoft.com/office/drawing/2014/main" id="{EB9B620E-1036-451D-90DC-84CAB1D58F3B}"/>
              </a:ext>
            </a:extLst>
          </p:cNvPr>
          <p:cNvSpPr>
            <a:spLocks noGrp="1"/>
          </p:cNvSpPr>
          <p:nvPr/>
        </p:nvSpPr>
        <p:spPr>
          <a:xfrm>
            <a:off x="8362950" y="2274866"/>
            <a:ext cx="2847975" cy="1924050"/>
          </a:xfrm>
          <a:prstGeom prst="rect">
            <a:avLst/>
          </a:prstGeom>
          <a:noFill/>
          <a:ln w="0">
            <a:noFill/>
            <a:prstDash val="solid"/>
          </a:ln>
        </p:spPr>
        <p:txBody>
          <a:bodyPr/>
          <a:lstStyle/>
          <a:p>
            <a:pPr>
              <a:buNone/>
              <a:defRPr sz="1275">
                <a:solidFill>
                  <a:srgbClr val="3A3A3A"/>
                </a:solidFill>
              </a:defRPr>
            </a:pPr>
            <a:r>
              <a:rPr sz="1600">
                <a:solidFill>
                  <a:srgbClr val="3A3A3A"/>
                </a:solidFill>
              </a:rPr>
              <a:t>Conditioning</a:t>
            </a:r>
          </a:p>
          <a:p>
            <a:pPr>
              <a:buNone/>
              <a:defRPr sz="1275">
                <a:solidFill>
                  <a:srgbClr val="3A3A3A"/>
                </a:solidFill>
              </a:defRPr>
            </a:pPr>
            <a:r>
              <a:rPr sz="1600">
                <a:solidFill>
                  <a:srgbClr val="3A3A3A"/>
                </a:solidFill>
              </a:rPr>
              <a:t>Finetuning</a:t>
            </a:r>
          </a:p>
          <a:p>
            <a:pPr>
              <a:buNone/>
              <a:defRPr sz="1275">
                <a:solidFill>
                  <a:srgbClr val="3A3A3A"/>
                </a:solidFill>
              </a:defRPr>
            </a:pPr>
            <a:r>
              <a:rPr sz="1600">
                <a:solidFill>
                  <a:srgbClr val="3A3A3A"/>
                </a:solidFill>
              </a:rPr>
              <a:t>Property injection</a:t>
            </a:r>
          </a:p>
          <a:p>
            <a:pPr>
              <a:buNone/>
              <a:defRPr sz="1275">
                <a:solidFill>
                  <a:srgbClr val="3A3A3A"/>
                </a:solidFill>
              </a:defRPr>
            </a:pPr>
            <a:r>
              <a:rPr sz="1600">
                <a:solidFill>
                  <a:srgbClr val="3A3A3A"/>
                </a:solidFill>
              </a:rPr>
              <a:t>CrystaLLM-pi</a:t>
            </a:r>
          </a:p>
        </p:txBody>
      </p:sp>
      <p:sp>
        <p:nvSpPr>
          <p:cNvPr id="2" name="Date Placeholder 1">
            <a:extLst>
              <a:ext uri="{FF2B5EF4-FFF2-40B4-BE49-F238E27FC236}">
                <a16:creationId xmlns:a16="http://schemas.microsoft.com/office/drawing/2014/main" id="{D86D1A12-BFD7-286B-67E3-4C28E288B56D}"/>
              </a:ext>
            </a:extLst>
          </p:cNvPr>
          <p:cNvSpPr>
            <a:spLocks noGrp="1"/>
          </p:cNvSpPr>
          <p:nvPr>
            <p:ph type="dt" idx="10"/>
          </p:nvPr>
        </p:nvSpPr>
        <p:spPr/>
        <p:txBody>
          <a:bodyPr/>
          <a:lstStyle/>
          <a:p>
            <a:pPr>
              <a:buNone/>
            </a:pPr>
            <a:fld id="{176AADD8-090D-41B4-82C6-8DFFCB413092}" type="datetime1">
              <a:rPr lang="en-US"/>
              <a:t>7/29/2026</a:t>
            </a:fld>
            <a:endParaRPr/>
          </a:p>
        </p:txBody>
      </p:sp>
      <p:sp>
        <p:nvSpPr>
          <p:cNvPr id="3" name="Slide Number Placeholder 2">
            <a:extLst>
              <a:ext uri="{FF2B5EF4-FFF2-40B4-BE49-F238E27FC236}">
                <a16:creationId xmlns:a16="http://schemas.microsoft.com/office/drawing/2014/main" id="{DAC7D39A-8238-854F-671E-FFF61F99BEAC}"/>
              </a:ext>
            </a:extLst>
          </p:cNvPr>
          <p:cNvSpPr>
            <a:spLocks noGrp="1"/>
          </p:cNvSpPr>
          <p:nvPr>
            <p:ph type="sldNum" idx="12"/>
          </p:nvPr>
        </p:nvSpPr>
        <p:spPr/>
        <p:txBody>
          <a:bodyPr/>
          <a:lstStyle/>
          <a:p>
            <a:pPr>
              <a:buNone/>
            </a:pPr>
            <a:fld id="{B5CEABB6-07DC-46E8-9B57-56EC44A396E5}" type="slidenum">
              <a:rPr/>
              <a:t>2</a:t>
            </a:fld>
            <a:endParaRPr dirty="0"/>
          </a:p>
        </p:txBody>
      </p:sp>
      <p:sp>
        <p:nvSpPr>
          <p:cNvPr id="4" name="TextBox 3">
            <a:extLst>
              <a:ext uri="{FF2B5EF4-FFF2-40B4-BE49-F238E27FC236}">
                <a16:creationId xmlns:a16="http://schemas.microsoft.com/office/drawing/2014/main" id="{1890CA06-8C10-ECF1-0C44-6BF672088238}"/>
              </a:ext>
            </a:extLst>
          </p:cNvPr>
          <p:cNvSpPr txBox="1"/>
          <p:nvPr/>
        </p:nvSpPr>
        <p:spPr>
          <a:xfrm>
            <a:off x="1097270" y="4033969"/>
            <a:ext cx="1871987" cy="1754326"/>
          </a:xfrm>
          <a:prstGeom prst="rect">
            <a:avLst/>
          </a:prstGeom>
          <a:noFill/>
        </p:spPr>
        <p:txBody>
          <a:bodyPr wrap="none" rtlCol="0">
            <a:spAutoFit/>
          </a:bodyPr>
          <a:lstStyle/>
          <a:p>
            <a:r>
              <a:rPr lang="en-GB" dirty="0"/>
              <a:t>~40 mins</a:t>
            </a:r>
          </a:p>
          <a:p>
            <a:endParaRPr lang="en-GB" dirty="0"/>
          </a:p>
          <a:p>
            <a:r>
              <a:rPr lang="en-GB" dirty="0"/>
              <a:t>Speaker: Bradley</a:t>
            </a:r>
          </a:p>
          <a:p>
            <a:endParaRPr lang="en-GB" dirty="0"/>
          </a:p>
          <a:p>
            <a:r>
              <a:rPr lang="en-GB" dirty="0"/>
              <a:t>Break</a:t>
            </a:r>
          </a:p>
          <a:p>
            <a:endParaRPr lang="en-GB" dirty="0"/>
          </a:p>
        </p:txBody>
      </p:sp>
      <p:sp>
        <p:nvSpPr>
          <p:cNvPr id="20" name="TextBox 19">
            <a:extLst>
              <a:ext uri="{FF2B5EF4-FFF2-40B4-BE49-F238E27FC236}">
                <a16:creationId xmlns:a16="http://schemas.microsoft.com/office/drawing/2014/main" id="{0D1FD82E-0860-1828-AC35-1AC5543A720C}"/>
              </a:ext>
            </a:extLst>
          </p:cNvPr>
          <p:cNvSpPr txBox="1"/>
          <p:nvPr/>
        </p:nvSpPr>
        <p:spPr>
          <a:xfrm>
            <a:off x="4457701" y="3941636"/>
            <a:ext cx="3228974" cy="1754326"/>
          </a:xfrm>
          <a:prstGeom prst="rect">
            <a:avLst/>
          </a:prstGeom>
          <a:noFill/>
        </p:spPr>
        <p:txBody>
          <a:bodyPr wrap="square" rtlCol="0">
            <a:spAutoFit/>
          </a:bodyPr>
          <a:lstStyle/>
          <a:p>
            <a:r>
              <a:rPr lang="en-GB" dirty="0"/>
              <a:t>~35 mins</a:t>
            </a:r>
          </a:p>
          <a:p>
            <a:endParaRPr lang="en-GB" dirty="0"/>
          </a:p>
          <a:p>
            <a:r>
              <a:rPr lang="en-GB" dirty="0"/>
              <a:t>Speaker: Joley</a:t>
            </a:r>
          </a:p>
          <a:p>
            <a:endParaRPr lang="en-GB" dirty="0"/>
          </a:p>
          <a:p>
            <a:r>
              <a:rPr lang="en-GB" dirty="0"/>
              <a:t>Break</a:t>
            </a:r>
          </a:p>
          <a:p>
            <a:endParaRPr lang="en-GB" dirty="0"/>
          </a:p>
        </p:txBody>
      </p:sp>
      <p:sp>
        <p:nvSpPr>
          <p:cNvPr id="22" name="TextBox 21">
            <a:extLst>
              <a:ext uri="{FF2B5EF4-FFF2-40B4-BE49-F238E27FC236}">
                <a16:creationId xmlns:a16="http://schemas.microsoft.com/office/drawing/2014/main" id="{0EF0388E-4764-F25D-B777-7A9B25DB1110}"/>
              </a:ext>
            </a:extLst>
          </p:cNvPr>
          <p:cNvSpPr txBox="1"/>
          <p:nvPr/>
        </p:nvSpPr>
        <p:spPr>
          <a:xfrm>
            <a:off x="8153401" y="3941636"/>
            <a:ext cx="3200400" cy="1477328"/>
          </a:xfrm>
          <a:prstGeom prst="rect">
            <a:avLst/>
          </a:prstGeom>
          <a:noFill/>
        </p:spPr>
        <p:txBody>
          <a:bodyPr wrap="square" rtlCol="0">
            <a:spAutoFit/>
          </a:bodyPr>
          <a:lstStyle/>
          <a:p>
            <a:r>
              <a:rPr lang="en-GB" dirty="0"/>
              <a:t>~20 mins</a:t>
            </a:r>
          </a:p>
          <a:p>
            <a:endParaRPr lang="en-GB" dirty="0"/>
          </a:p>
          <a:p>
            <a:r>
              <a:rPr lang="en-GB" dirty="0"/>
              <a:t>Speaker: Cyprien</a:t>
            </a:r>
          </a:p>
          <a:p>
            <a:endParaRPr lang="en-GB" dirty="0"/>
          </a:p>
          <a:p>
            <a:r>
              <a:rPr lang="en-GB" dirty="0"/>
              <a:t>Break</a:t>
            </a:r>
          </a:p>
        </p:txBody>
      </p:sp>
      <p:sp>
        <p:nvSpPr>
          <p:cNvPr id="21" name="TextBox 20">
            <a:extLst>
              <a:ext uri="{FF2B5EF4-FFF2-40B4-BE49-F238E27FC236}">
                <a16:creationId xmlns:a16="http://schemas.microsoft.com/office/drawing/2014/main" id="{9C8666DD-AC7F-9B03-33EE-26F7B383C8FF}"/>
              </a:ext>
            </a:extLst>
          </p:cNvPr>
          <p:cNvSpPr txBox="1"/>
          <p:nvPr/>
        </p:nvSpPr>
        <p:spPr>
          <a:xfrm>
            <a:off x="1097270" y="5712402"/>
            <a:ext cx="9240982" cy="369332"/>
          </a:xfrm>
          <a:prstGeom prst="rect">
            <a:avLst/>
          </a:prstGeom>
          <a:noFill/>
        </p:spPr>
        <p:txBody>
          <a:bodyPr wrap="square">
            <a:spAutoFit/>
          </a:bodyPr>
          <a:lstStyle/>
          <a:p>
            <a:r>
              <a:rPr lang="en-GB" sz="1800" dirty="0"/>
              <a:t>Practical notebooks: </a:t>
            </a:r>
            <a:r>
              <a:rPr lang="en-GB" sz="1800" dirty="0" err="1"/>
              <a:t>load_and</a:t>
            </a:r>
            <a:r>
              <a:rPr lang="en-GB" sz="1800" dirty="0"/>
              <a:t> </a:t>
            </a:r>
            <a:r>
              <a:rPr lang="en-GB" sz="1800" dirty="0" err="1"/>
              <a:t>generate.ipynb</a:t>
            </a:r>
            <a:r>
              <a:rPr lang="en-GB" sz="1800" dirty="0"/>
              <a:t> and </a:t>
            </a:r>
            <a:r>
              <a:rPr lang="en-GB" sz="1800" dirty="0" err="1"/>
              <a:t>Z_finetune_and</a:t>
            </a:r>
            <a:r>
              <a:rPr lang="en-GB" sz="1800" dirty="0"/>
              <a:t> </a:t>
            </a:r>
            <a:r>
              <a:rPr lang="en-GB" sz="1800" dirty="0" err="1"/>
              <a:t>conditioning.ipynb</a:t>
            </a:r>
            <a:endParaRPr lang="en-GB" sz="1800" dirty="0"/>
          </a:p>
        </p:txBody>
      </p:sp>
    </p:spTree>
    <p:extLst>
      <p:ext uri="{BB962C8B-B14F-4D97-AF65-F5344CB8AC3E}">
        <p14:creationId xmlns:p14="http://schemas.microsoft.com/office/powerpoint/2010/main" val="3052936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E28CDE-C381-5038-CBB7-2A2BE1965B03}"/>
              </a:ext>
            </a:extLst>
          </p:cNvPr>
          <p:cNvSpPr>
            <a:spLocks noGrp="1"/>
          </p:cNvSpPr>
          <p:nvPr>
            <p:ph type="dt" idx="10"/>
          </p:nvPr>
        </p:nvSpPr>
        <p:spPr/>
        <p:txBody>
          <a:bodyPr/>
          <a:lstStyle/>
          <a:p>
            <a:pPr>
              <a:buNone/>
            </a:pPr>
            <a:fld id="{0890B1B8-C316-4AF1-BC86-6582A5A9C4AD}" type="datetime1">
              <a:rPr lang="en-GB" smtClean="0"/>
              <a:t>29/07/2026</a:t>
            </a:fld>
            <a:endParaRPr lang="en-GB"/>
          </a:p>
        </p:txBody>
      </p:sp>
      <p:sp>
        <p:nvSpPr>
          <p:cNvPr id="3" name="Footer Placeholder 2">
            <a:extLst>
              <a:ext uri="{FF2B5EF4-FFF2-40B4-BE49-F238E27FC236}">
                <a16:creationId xmlns:a16="http://schemas.microsoft.com/office/drawing/2014/main" id="{C4E06A98-ACDC-898F-1340-2F9D5842BD5E}"/>
              </a:ext>
            </a:extLst>
          </p:cNvPr>
          <p:cNvSpPr>
            <a:spLocks noGrp="1"/>
          </p:cNvSpPr>
          <p:nvPr>
            <p:ph type="ftr" idx="11"/>
          </p:nvPr>
        </p:nvSpPr>
        <p:spPr/>
        <p:txBody>
          <a:bodyPr/>
          <a:lstStyle/>
          <a:p>
            <a:pPr>
              <a:buNone/>
            </a:pPr>
            <a:r>
              <a:rPr lang="en-GB"/>
              <a:t>Introduction to Deep Learning - PSDI &amp; Royce Materials Data Summit</a:t>
            </a:r>
          </a:p>
        </p:txBody>
      </p:sp>
      <p:sp>
        <p:nvSpPr>
          <p:cNvPr id="4" name="Slide Number Placeholder 3">
            <a:extLst>
              <a:ext uri="{FF2B5EF4-FFF2-40B4-BE49-F238E27FC236}">
                <a16:creationId xmlns:a16="http://schemas.microsoft.com/office/drawing/2014/main" id="{01DE774F-D8D9-4B87-7D06-11714D9B9489}"/>
              </a:ext>
            </a:extLst>
          </p:cNvPr>
          <p:cNvSpPr>
            <a:spLocks noGrp="1"/>
          </p:cNvSpPr>
          <p:nvPr>
            <p:ph type="sldNum" idx="12"/>
          </p:nvPr>
        </p:nvSpPr>
        <p:spPr/>
        <p:txBody>
          <a:bodyPr/>
          <a:lstStyle/>
          <a:p>
            <a:pPr>
              <a:buNone/>
            </a:pPr>
            <a:fld id="{B5CEABB6-07DC-46E8-9B57-56EC44A396E5}" type="slidenum">
              <a:rPr lang="en-GB" smtClean="0"/>
              <a:t>3</a:t>
            </a:fld>
            <a:endParaRPr lang="en-GB"/>
          </a:p>
        </p:txBody>
      </p:sp>
      <p:sp>
        <p:nvSpPr>
          <p:cNvPr id="6" name="Rectangle 5">
            <a:extLst>
              <a:ext uri="{FF2B5EF4-FFF2-40B4-BE49-F238E27FC236}">
                <a16:creationId xmlns:a16="http://schemas.microsoft.com/office/drawing/2014/main" id="{94AEFE26-9E01-862E-47C0-85363AC062D3}"/>
              </a:ext>
            </a:extLst>
          </p:cNvPr>
          <p:cNvSpPr>
            <a:spLocks noGrp="1"/>
          </p:cNvSpPr>
          <p:nvPr/>
        </p:nvSpPr>
        <p:spPr>
          <a:xfrm>
            <a:off x="838200" y="361950"/>
            <a:ext cx="10515600" cy="762000"/>
          </a:xfrm>
          <a:prstGeom prst="rect">
            <a:avLst/>
          </a:prstGeom>
          <a:noFill/>
          <a:ln w="0">
            <a:noFill/>
            <a:prstDash val="solid"/>
          </a:ln>
        </p:spPr>
        <p:txBody>
          <a:bodyPr anchor="ctr"/>
          <a:lstStyle/>
          <a:p>
            <a:pPr algn="ctr">
              <a:buNone/>
              <a:defRPr sz="2175">
                <a:solidFill>
                  <a:srgbClr val="111111"/>
                </a:solidFill>
              </a:defRPr>
            </a:pPr>
            <a:r>
              <a:rPr lang="en-GB" sz="2175" dirty="0">
                <a:solidFill>
                  <a:srgbClr val="111111"/>
                </a:solidFill>
              </a:rPr>
              <a:t>HANDS-ON SESSIONS PREPARATION</a:t>
            </a:r>
            <a:endParaRPr sz="2175" dirty="0">
              <a:solidFill>
                <a:srgbClr val="111111"/>
              </a:solidFill>
            </a:endParaRPr>
          </a:p>
        </p:txBody>
      </p:sp>
      <p:pic>
        <p:nvPicPr>
          <p:cNvPr id="8" name="Picture 7">
            <a:extLst>
              <a:ext uri="{FF2B5EF4-FFF2-40B4-BE49-F238E27FC236}">
                <a16:creationId xmlns:a16="http://schemas.microsoft.com/office/drawing/2014/main" id="{9EE0E0E9-32E1-4393-E8DF-A88D8E6F993E}"/>
              </a:ext>
            </a:extLst>
          </p:cNvPr>
          <p:cNvPicPr>
            <a:picLocks noChangeAspect="1"/>
          </p:cNvPicPr>
          <p:nvPr/>
        </p:nvPicPr>
        <p:blipFill>
          <a:blip r:embed="rId3"/>
          <a:srcRect r="62192" b="88792"/>
          <a:stretch>
            <a:fillRect/>
          </a:stretch>
        </p:blipFill>
        <p:spPr>
          <a:xfrm>
            <a:off x="547360" y="1580520"/>
            <a:ext cx="3179513" cy="400680"/>
          </a:xfrm>
          <a:prstGeom prst="rect">
            <a:avLst/>
          </a:prstGeom>
        </p:spPr>
      </p:pic>
      <p:sp>
        <p:nvSpPr>
          <p:cNvPr id="10" name="TextBox 9">
            <a:extLst>
              <a:ext uri="{FF2B5EF4-FFF2-40B4-BE49-F238E27FC236}">
                <a16:creationId xmlns:a16="http://schemas.microsoft.com/office/drawing/2014/main" id="{1EF96CF4-316F-9679-A6F9-D677DFBF3190}"/>
              </a:ext>
            </a:extLst>
          </p:cNvPr>
          <p:cNvSpPr txBox="1"/>
          <p:nvPr/>
        </p:nvSpPr>
        <p:spPr>
          <a:xfrm>
            <a:off x="547360" y="2408970"/>
            <a:ext cx="4398713" cy="707886"/>
          </a:xfrm>
          <a:prstGeom prst="rect">
            <a:avLst/>
          </a:prstGeom>
          <a:noFill/>
          <a:ln>
            <a:solidFill>
              <a:schemeClr val="tx1"/>
            </a:solidFill>
          </a:ln>
        </p:spPr>
        <p:txBody>
          <a:bodyPr wrap="square">
            <a:spAutoFit/>
          </a:bodyPr>
          <a:lstStyle/>
          <a:p>
            <a:r>
              <a:rPr lang="en-GB" sz="2000" dirty="0"/>
              <a:t>https://github.com/mdi-group/royce-psdi-crystallm-training</a:t>
            </a:r>
          </a:p>
        </p:txBody>
      </p:sp>
      <p:pic>
        <p:nvPicPr>
          <p:cNvPr id="12" name="Picture 11">
            <a:extLst>
              <a:ext uri="{FF2B5EF4-FFF2-40B4-BE49-F238E27FC236}">
                <a16:creationId xmlns:a16="http://schemas.microsoft.com/office/drawing/2014/main" id="{3C58CBA5-F53B-1CCA-5CD3-12F00CC1EB2E}"/>
              </a:ext>
            </a:extLst>
          </p:cNvPr>
          <p:cNvPicPr>
            <a:picLocks noChangeAspect="1"/>
          </p:cNvPicPr>
          <p:nvPr/>
        </p:nvPicPr>
        <p:blipFill>
          <a:blip r:embed="rId4"/>
          <a:stretch>
            <a:fillRect/>
          </a:stretch>
        </p:blipFill>
        <p:spPr>
          <a:xfrm>
            <a:off x="5500360" y="2134702"/>
            <a:ext cx="6220480" cy="3696959"/>
          </a:xfrm>
          <a:prstGeom prst="rect">
            <a:avLst/>
          </a:prstGeom>
        </p:spPr>
      </p:pic>
      <p:pic>
        <p:nvPicPr>
          <p:cNvPr id="7" name="Picture 6">
            <a:extLst>
              <a:ext uri="{FF2B5EF4-FFF2-40B4-BE49-F238E27FC236}">
                <a16:creationId xmlns:a16="http://schemas.microsoft.com/office/drawing/2014/main" id="{2B1EB2A5-1116-4523-63B8-F95748262D8F}"/>
              </a:ext>
            </a:extLst>
          </p:cNvPr>
          <p:cNvPicPr>
            <a:picLocks noChangeAspect="1"/>
          </p:cNvPicPr>
          <p:nvPr/>
        </p:nvPicPr>
        <p:blipFill>
          <a:blip r:embed="rId5"/>
          <a:stretch>
            <a:fillRect/>
          </a:stretch>
        </p:blipFill>
        <p:spPr>
          <a:xfrm>
            <a:off x="547360" y="3741145"/>
            <a:ext cx="4398713" cy="1908078"/>
          </a:xfrm>
          <a:prstGeom prst="rect">
            <a:avLst/>
          </a:prstGeom>
        </p:spPr>
      </p:pic>
      <p:pic>
        <p:nvPicPr>
          <p:cNvPr id="11" name="Picture 10">
            <a:extLst>
              <a:ext uri="{FF2B5EF4-FFF2-40B4-BE49-F238E27FC236}">
                <a16:creationId xmlns:a16="http://schemas.microsoft.com/office/drawing/2014/main" id="{C073EB5F-D298-B2F7-69A6-AB0F0342C0FE}"/>
              </a:ext>
            </a:extLst>
          </p:cNvPr>
          <p:cNvPicPr>
            <a:picLocks noChangeAspect="1"/>
          </p:cNvPicPr>
          <p:nvPr/>
        </p:nvPicPr>
        <p:blipFill>
          <a:blip r:embed="rId6"/>
          <a:srcRect t="4974" r="4485"/>
          <a:stretch>
            <a:fillRect/>
          </a:stretch>
        </p:blipFill>
        <p:spPr>
          <a:xfrm>
            <a:off x="8354185" y="1286946"/>
            <a:ext cx="3366655" cy="5069404"/>
          </a:xfrm>
          <a:prstGeom prst="rect">
            <a:avLst/>
          </a:prstGeom>
        </p:spPr>
      </p:pic>
    </p:spTree>
    <p:extLst>
      <p:ext uri="{BB962C8B-B14F-4D97-AF65-F5344CB8AC3E}">
        <p14:creationId xmlns:p14="http://schemas.microsoft.com/office/powerpoint/2010/main" val="3640946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282CF36D-B261-85D2-9F78-0E89DC4B8A8E}"/>
              </a:ext>
            </a:extLst>
          </p:cNvPr>
          <p:cNvSpPr>
            <a:spLocks noGrp="1"/>
          </p:cNvSpPr>
          <p:nvPr>
            <p:ph type="ftr" idx="11"/>
          </p:nvPr>
        </p:nvSpPr>
        <p:spPr/>
        <p:txBody>
          <a:bodyPr/>
          <a:lstStyle/>
          <a:p>
            <a:pPr marL="0" indent="0" algn="ctr">
              <a:lnSpc>
                <a:spcPct val="100000"/>
              </a:lnSpc>
              <a:spcBef>
                <a:spcPts val="0"/>
              </a:spcBef>
              <a:spcAft>
                <a:spcPts val="0"/>
              </a:spcAft>
              <a:buNone/>
              <a:defRPr sz="675">
                <a:solidFill>
                  <a:srgbClr val="777777"/>
                </a:solidFill>
              </a:defRPr>
            </a:pPr>
            <a:r>
              <a:rPr sz="675" b="0" i="0" u="none" cap="none">
                <a:ln>
                  <a:noFill/>
                </a:ln>
                <a:solidFill>
                  <a:srgbClr val="777777"/>
                </a:solidFill>
                <a:latin typeface="Tenorite"/>
                <a:ea typeface="Tenorite"/>
                <a:cs typeface="Tenorite"/>
              </a:rPr>
              <a:t>Introduction to Deep Learning - PSDI &amp; Royce Materials Data Summit</a:t>
            </a:r>
          </a:p>
        </p:txBody>
      </p:sp>
      <p:sp>
        <p:nvSpPr>
          <p:cNvPr id="7" name="Rectangle 6">
            <a:extLst>
              <a:ext uri="{FF2B5EF4-FFF2-40B4-BE49-F238E27FC236}">
                <a16:creationId xmlns:a16="http://schemas.microsoft.com/office/drawing/2014/main" id="{0A59669C-CD92-40D6-A05C-4D80F27F2EE2}"/>
              </a:ext>
            </a:extLst>
          </p:cNvPr>
          <p:cNvSpPr>
            <a:spLocks noGrp="1"/>
          </p:cNvSpPr>
          <p:nvPr/>
        </p:nvSpPr>
        <p:spPr>
          <a:xfrm>
            <a:off x="838200" y="361950"/>
            <a:ext cx="10515600" cy="762000"/>
          </a:xfrm>
          <a:prstGeom prst="rect">
            <a:avLst/>
          </a:prstGeom>
          <a:noFill/>
          <a:ln w="0">
            <a:noFill/>
            <a:prstDash val="solid"/>
          </a:ln>
        </p:spPr>
        <p:txBody>
          <a:bodyPr anchor="ctr"/>
          <a:lstStyle/>
          <a:p>
            <a:pPr algn="ctr">
              <a:buNone/>
              <a:defRPr sz="2175">
                <a:solidFill>
                  <a:srgbClr val="111111"/>
                </a:solidFill>
              </a:defRPr>
            </a:pPr>
            <a:r>
              <a:rPr lang="en-GB" sz="2175" dirty="0">
                <a:solidFill>
                  <a:srgbClr val="111111"/>
                </a:solidFill>
              </a:rPr>
              <a:t>AIMS FOR THIS SESSIONS </a:t>
            </a:r>
            <a:endParaRPr sz="2175" dirty="0">
              <a:solidFill>
                <a:srgbClr val="111111"/>
              </a:solidFill>
            </a:endParaRPr>
          </a:p>
        </p:txBody>
      </p:sp>
      <p:sp>
        <p:nvSpPr>
          <p:cNvPr id="8" name="Rectangle 7">
            <a:extLst>
              <a:ext uri="{FF2B5EF4-FFF2-40B4-BE49-F238E27FC236}">
                <a16:creationId xmlns:a16="http://schemas.microsoft.com/office/drawing/2014/main" id="{A1E3ECBB-8FF1-4FF0-BCA7-3D7F1B2BAEE4}"/>
              </a:ext>
            </a:extLst>
          </p:cNvPr>
          <p:cNvSpPr>
            <a:spLocks noGrp="1"/>
          </p:cNvSpPr>
          <p:nvPr/>
        </p:nvSpPr>
        <p:spPr>
          <a:xfrm>
            <a:off x="1143000" y="1562100"/>
            <a:ext cx="533400" cy="533400"/>
          </a:xfrm>
          <a:prstGeom prst="rect">
            <a:avLst/>
          </a:prstGeom>
          <a:noFill/>
          <a:ln w="0">
            <a:noFill/>
            <a:prstDash val="solid"/>
          </a:ln>
        </p:spPr>
        <p:txBody>
          <a:bodyPr/>
          <a:lstStyle/>
          <a:p>
            <a:pPr algn="ctr">
              <a:buNone/>
              <a:defRPr sz="2250" b="1">
                <a:solidFill>
                  <a:srgbClr val="D97706"/>
                </a:solidFill>
              </a:defRPr>
            </a:pPr>
            <a:r>
              <a:rPr sz="2250" b="1">
                <a:solidFill>
                  <a:srgbClr val="D97706"/>
                </a:solidFill>
              </a:rPr>
              <a:t>1</a:t>
            </a:r>
          </a:p>
        </p:txBody>
      </p:sp>
      <p:sp>
        <p:nvSpPr>
          <p:cNvPr id="9" name="Rectangle 8">
            <a:extLst>
              <a:ext uri="{FF2B5EF4-FFF2-40B4-BE49-F238E27FC236}">
                <a16:creationId xmlns:a16="http://schemas.microsoft.com/office/drawing/2014/main" id="{140C0D4F-48F7-4958-BB8F-552ACE0C6FE7}"/>
              </a:ext>
            </a:extLst>
          </p:cNvPr>
          <p:cNvSpPr>
            <a:spLocks noGrp="1"/>
          </p:cNvSpPr>
          <p:nvPr/>
        </p:nvSpPr>
        <p:spPr>
          <a:xfrm>
            <a:off x="1857375" y="1600200"/>
            <a:ext cx="1714500" cy="323850"/>
          </a:xfrm>
          <a:prstGeom prst="rect">
            <a:avLst/>
          </a:prstGeom>
          <a:noFill/>
          <a:ln w="0">
            <a:noFill/>
            <a:prstDash val="solid"/>
          </a:ln>
        </p:spPr>
        <p:txBody>
          <a:bodyPr/>
          <a:lstStyle/>
          <a:p>
            <a:pPr>
              <a:buNone/>
              <a:defRPr sz="1725" b="1">
                <a:solidFill>
                  <a:srgbClr val="222222"/>
                </a:solidFill>
              </a:defRPr>
            </a:pPr>
            <a:r>
              <a:rPr sz="1725" b="1">
                <a:solidFill>
                  <a:srgbClr val="222222"/>
                </a:solidFill>
              </a:rPr>
              <a:t>Define</a:t>
            </a:r>
          </a:p>
        </p:txBody>
      </p:sp>
      <p:sp>
        <p:nvSpPr>
          <p:cNvPr id="10" name="Rectangle 9">
            <a:extLst>
              <a:ext uri="{FF2B5EF4-FFF2-40B4-BE49-F238E27FC236}">
                <a16:creationId xmlns:a16="http://schemas.microsoft.com/office/drawing/2014/main" id="{7471696D-6303-4B43-BD60-DD387DBE3047}"/>
              </a:ext>
            </a:extLst>
          </p:cNvPr>
          <p:cNvSpPr>
            <a:spLocks noGrp="1"/>
          </p:cNvSpPr>
          <p:nvPr/>
        </p:nvSpPr>
        <p:spPr>
          <a:xfrm>
            <a:off x="3714750" y="1619250"/>
            <a:ext cx="6858000" cy="323850"/>
          </a:xfrm>
          <a:prstGeom prst="rect">
            <a:avLst/>
          </a:prstGeom>
          <a:noFill/>
          <a:ln w="0">
            <a:noFill/>
            <a:prstDash val="solid"/>
          </a:ln>
        </p:spPr>
        <p:txBody>
          <a:bodyPr/>
          <a:lstStyle/>
          <a:p>
            <a:pPr>
              <a:buNone/>
              <a:defRPr sz="1575">
                <a:solidFill>
                  <a:srgbClr val="444444"/>
                </a:solidFill>
              </a:defRPr>
            </a:pPr>
            <a:r>
              <a:rPr sz="1575">
                <a:solidFill>
                  <a:srgbClr val="444444"/>
                </a:solidFill>
              </a:rPr>
              <a:t>representation, embedding, token, loss, gradient</a:t>
            </a:r>
          </a:p>
        </p:txBody>
      </p:sp>
      <p:sp>
        <p:nvSpPr>
          <p:cNvPr id="11" name="Rectangle 10">
            <a:extLst>
              <a:ext uri="{FF2B5EF4-FFF2-40B4-BE49-F238E27FC236}">
                <a16:creationId xmlns:a16="http://schemas.microsoft.com/office/drawing/2014/main" id="{88DC73B8-A04D-429E-A088-7290ADC188A3}"/>
              </a:ext>
            </a:extLst>
          </p:cNvPr>
          <p:cNvSpPr>
            <a:spLocks noGrp="1"/>
          </p:cNvSpPr>
          <p:nvPr/>
        </p:nvSpPr>
        <p:spPr>
          <a:xfrm>
            <a:off x="1143000" y="2305050"/>
            <a:ext cx="533400" cy="533400"/>
          </a:xfrm>
          <a:prstGeom prst="rect">
            <a:avLst/>
          </a:prstGeom>
          <a:noFill/>
          <a:ln w="0">
            <a:noFill/>
            <a:prstDash val="solid"/>
          </a:ln>
        </p:spPr>
        <p:txBody>
          <a:bodyPr/>
          <a:lstStyle/>
          <a:p>
            <a:pPr algn="ctr">
              <a:buNone/>
              <a:defRPr sz="2250" b="1">
                <a:solidFill>
                  <a:srgbClr val="D97706"/>
                </a:solidFill>
              </a:defRPr>
            </a:pPr>
            <a:r>
              <a:rPr sz="2250" b="1">
                <a:solidFill>
                  <a:srgbClr val="D97706"/>
                </a:solidFill>
              </a:rPr>
              <a:t>2</a:t>
            </a:r>
          </a:p>
        </p:txBody>
      </p:sp>
      <p:sp>
        <p:nvSpPr>
          <p:cNvPr id="12" name="Rectangle 11">
            <a:extLst>
              <a:ext uri="{FF2B5EF4-FFF2-40B4-BE49-F238E27FC236}">
                <a16:creationId xmlns:a16="http://schemas.microsoft.com/office/drawing/2014/main" id="{534AFE31-5777-440B-8FBF-125026F58C12}"/>
              </a:ext>
            </a:extLst>
          </p:cNvPr>
          <p:cNvSpPr>
            <a:spLocks noGrp="1"/>
          </p:cNvSpPr>
          <p:nvPr/>
        </p:nvSpPr>
        <p:spPr>
          <a:xfrm>
            <a:off x="1857375" y="2343150"/>
            <a:ext cx="1714500" cy="323850"/>
          </a:xfrm>
          <a:prstGeom prst="rect">
            <a:avLst/>
          </a:prstGeom>
          <a:noFill/>
          <a:ln w="0">
            <a:noFill/>
            <a:prstDash val="solid"/>
          </a:ln>
        </p:spPr>
        <p:txBody>
          <a:bodyPr/>
          <a:lstStyle/>
          <a:p>
            <a:pPr>
              <a:buNone/>
              <a:defRPr sz="1725" b="1">
                <a:solidFill>
                  <a:srgbClr val="222222"/>
                </a:solidFill>
              </a:defRPr>
            </a:pPr>
            <a:r>
              <a:rPr sz="1725" b="1">
                <a:solidFill>
                  <a:srgbClr val="222222"/>
                </a:solidFill>
              </a:rPr>
              <a:t>Explain</a:t>
            </a:r>
          </a:p>
        </p:txBody>
      </p:sp>
      <p:sp>
        <p:nvSpPr>
          <p:cNvPr id="13" name="Rectangle 12">
            <a:extLst>
              <a:ext uri="{FF2B5EF4-FFF2-40B4-BE49-F238E27FC236}">
                <a16:creationId xmlns:a16="http://schemas.microsoft.com/office/drawing/2014/main" id="{4081C9C6-0C0E-4900-BF02-6C0C1A27D101}"/>
              </a:ext>
            </a:extLst>
          </p:cNvPr>
          <p:cNvSpPr>
            <a:spLocks noGrp="1"/>
          </p:cNvSpPr>
          <p:nvPr/>
        </p:nvSpPr>
        <p:spPr>
          <a:xfrm>
            <a:off x="3714750" y="2362200"/>
            <a:ext cx="6858000" cy="323850"/>
          </a:xfrm>
          <a:prstGeom prst="rect">
            <a:avLst/>
          </a:prstGeom>
          <a:noFill/>
          <a:ln w="0">
            <a:noFill/>
            <a:prstDash val="solid"/>
          </a:ln>
        </p:spPr>
        <p:txBody>
          <a:bodyPr/>
          <a:lstStyle/>
          <a:p>
            <a:pPr>
              <a:buNone/>
              <a:defRPr sz="1575">
                <a:solidFill>
                  <a:srgbClr val="444444"/>
                </a:solidFill>
              </a:defRPr>
            </a:pPr>
            <a:r>
              <a:rPr sz="1575">
                <a:solidFill>
                  <a:srgbClr val="444444"/>
                </a:solidFill>
              </a:rPr>
              <a:t>why MLPs are fixed vector-to-vector maps</a:t>
            </a:r>
          </a:p>
        </p:txBody>
      </p:sp>
      <p:sp>
        <p:nvSpPr>
          <p:cNvPr id="14" name="Rectangle 13">
            <a:extLst>
              <a:ext uri="{FF2B5EF4-FFF2-40B4-BE49-F238E27FC236}">
                <a16:creationId xmlns:a16="http://schemas.microsoft.com/office/drawing/2014/main" id="{622B76C4-4867-4C6D-B2C9-EDE0F26AE016}"/>
              </a:ext>
            </a:extLst>
          </p:cNvPr>
          <p:cNvSpPr>
            <a:spLocks noGrp="1"/>
          </p:cNvSpPr>
          <p:nvPr/>
        </p:nvSpPr>
        <p:spPr>
          <a:xfrm>
            <a:off x="1143000" y="3048000"/>
            <a:ext cx="533400" cy="533400"/>
          </a:xfrm>
          <a:prstGeom prst="rect">
            <a:avLst/>
          </a:prstGeom>
          <a:noFill/>
          <a:ln w="0">
            <a:noFill/>
            <a:prstDash val="solid"/>
          </a:ln>
        </p:spPr>
        <p:txBody>
          <a:bodyPr/>
          <a:lstStyle/>
          <a:p>
            <a:pPr algn="ctr">
              <a:buNone/>
              <a:defRPr sz="2250" b="1">
                <a:solidFill>
                  <a:srgbClr val="D97706"/>
                </a:solidFill>
              </a:defRPr>
            </a:pPr>
            <a:r>
              <a:rPr sz="2250" b="1">
                <a:solidFill>
                  <a:srgbClr val="D97706"/>
                </a:solidFill>
              </a:rPr>
              <a:t>3</a:t>
            </a:r>
          </a:p>
        </p:txBody>
      </p:sp>
      <p:sp>
        <p:nvSpPr>
          <p:cNvPr id="15" name="Rectangle 14">
            <a:extLst>
              <a:ext uri="{FF2B5EF4-FFF2-40B4-BE49-F238E27FC236}">
                <a16:creationId xmlns:a16="http://schemas.microsoft.com/office/drawing/2014/main" id="{E474B5EB-521F-4D0E-98DB-97233600A45A}"/>
              </a:ext>
            </a:extLst>
          </p:cNvPr>
          <p:cNvSpPr>
            <a:spLocks noGrp="1"/>
          </p:cNvSpPr>
          <p:nvPr/>
        </p:nvSpPr>
        <p:spPr>
          <a:xfrm>
            <a:off x="1857375" y="3086100"/>
            <a:ext cx="1714500" cy="323850"/>
          </a:xfrm>
          <a:prstGeom prst="rect">
            <a:avLst/>
          </a:prstGeom>
          <a:noFill/>
          <a:ln w="0">
            <a:noFill/>
            <a:prstDash val="solid"/>
          </a:ln>
        </p:spPr>
        <p:txBody>
          <a:bodyPr/>
          <a:lstStyle/>
          <a:p>
            <a:pPr>
              <a:buNone/>
              <a:defRPr sz="1725" b="1">
                <a:solidFill>
                  <a:srgbClr val="222222"/>
                </a:solidFill>
              </a:defRPr>
            </a:pPr>
            <a:r>
              <a:rPr sz="1725" b="1">
                <a:solidFill>
                  <a:srgbClr val="222222"/>
                </a:solidFill>
              </a:rPr>
              <a:t>Recognise</a:t>
            </a:r>
          </a:p>
        </p:txBody>
      </p:sp>
      <p:sp>
        <p:nvSpPr>
          <p:cNvPr id="16" name="Rectangle 15">
            <a:extLst>
              <a:ext uri="{FF2B5EF4-FFF2-40B4-BE49-F238E27FC236}">
                <a16:creationId xmlns:a16="http://schemas.microsoft.com/office/drawing/2014/main" id="{B2A6DFF3-B4F5-4992-BB8E-232A2B574E82}"/>
              </a:ext>
            </a:extLst>
          </p:cNvPr>
          <p:cNvSpPr>
            <a:spLocks noGrp="1"/>
          </p:cNvSpPr>
          <p:nvPr/>
        </p:nvSpPr>
        <p:spPr>
          <a:xfrm>
            <a:off x="3714750" y="3105150"/>
            <a:ext cx="6858000" cy="323850"/>
          </a:xfrm>
          <a:prstGeom prst="rect">
            <a:avLst/>
          </a:prstGeom>
          <a:noFill/>
          <a:ln w="0">
            <a:noFill/>
            <a:prstDash val="solid"/>
          </a:ln>
        </p:spPr>
        <p:txBody>
          <a:bodyPr/>
          <a:lstStyle/>
          <a:p>
            <a:pPr>
              <a:buNone/>
              <a:defRPr sz="1575">
                <a:solidFill>
                  <a:srgbClr val="444444"/>
                </a:solidFill>
              </a:defRPr>
            </a:pPr>
            <a:r>
              <a:rPr sz="1575">
                <a:solidFill>
                  <a:srgbClr val="444444"/>
                </a:solidFill>
              </a:rPr>
              <a:t>the shape of sequence and autoregressive tasks</a:t>
            </a:r>
          </a:p>
        </p:txBody>
      </p:sp>
      <p:sp>
        <p:nvSpPr>
          <p:cNvPr id="17" name="Rectangle 16">
            <a:extLst>
              <a:ext uri="{FF2B5EF4-FFF2-40B4-BE49-F238E27FC236}">
                <a16:creationId xmlns:a16="http://schemas.microsoft.com/office/drawing/2014/main" id="{A079F301-E4C6-4623-9915-18DC617F927B}"/>
              </a:ext>
            </a:extLst>
          </p:cNvPr>
          <p:cNvSpPr>
            <a:spLocks noGrp="1"/>
          </p:cNvSpPr>
          <p:nvPr/>
        </p:nvSpPr>
        <p:spPr>
          <a:xfrm>
            <a:off x="1143000" y="3790950"/>
            <a:ext cx="533400" cy="533400"/>
          </a:xfrm>
          <a:prstGeom prst="rect">
            <a:avLst/>
          </a:prstGeom>
          <a:noFill/>
          <a:ln w="0">
            <a:noFill/>
            <a:prstDash val="solid"/>
          </a:ln>
        </p:spPr>
        <p:txBody>
          <a:bodyPr/>
          <a:lstStyle/>
          <a:p>
            <a:pPr algn="ctr">
              <a:buNone/>
              <a:defRPr sz="2250" b="1">
                <a:solidFill>
                  <a:srgbClr val="D97706"/>
                </a:solidFill>
              </a:defRPr>
            </a:pPr>
            <a:r>
              <a:rPr sz="2250" b="1">
                <a:solidFill>
                  <a:srgbClr val="D97706"/>
                </a:solidFill>
              </a:rPr>
              <a:t>4</a:t>
            </a:r>
          </a:p>
        </p:txBody>
      </p:sp>
      <p:sp>
        <p:nvSpPr>
          <p:cNvPr id="18" name="Rectangle 17">
            <a:extLst>
              <a:ext uri="{FF2B5EF4-FFF2-40B4-BE49-F238E27FC236}">
                <a16:creationId xmlns:a16="http://schemas.microsoft.com/office/drawing/2014/main" id="{434DC614-B974-41AD-99F5-3DF789197B59}"/>
              </a:ext>
            </a:extLst>
          </p:cNvPr>
          <p:cNvSpPr>
            <a:spLocks noGrp="1"/>
          </p:cNvSpPr>
          <p:nvPr/>
        </p:nvSpPr>
        <p:spPr>
          <a:xfrm>
            <a:off x="1857375" y="3829050"/>
            <a:ext cx="1714500" cy="323850"/>
          </a:xfrm>
          <a:prstGeom prst="rect">
            <a:avLst/>
          </a:prstGeom>
          <a:noFill/>
          <a:ln w="0">
            <a:noFill/>
            <a:prstDash val="solid"/>
          </a:ln>
        </p:spPr>
        <p:txBody>
          <a:bodyPr/>
          <a:lstStyle/>
          <a:p>
            <a:pPr>
              <a:buNone/>
              <a:defRPr sz="1725" b="1">
                <a:solidFill>
                  <a:srgbClr val="222222"/>
                </a:solidFill>
              </a:defRPr>
            </a:pPr>
            <a:r>
              <a:rPr sz="1725" b="1">
                <a:solidFill>
                  <a:srgbClr val="222222"/>
                </a:solidFill>
              </a:rPr>
              <a:t>Connect</a:t>
            </a:r>
          </a:p>
        </p:txBody>
      </p:sp>
      <p:sp>
        <p:nvSpPr>
          <p:cNvPr id="19" name="Rectangle 18">
            <a:extLst>
              <a:ext uri="{FF2B5EF4-FFF2-40B4-BE49-F238E27FC236}">
                <a16:creationId xmlns:a16="http://schemas.microsoft.com/office/drawing/2014/main" id="{256071E5-79B7-48CC-8E63-20661291ED37}"/>
              </a:ext>
            </a:extLst>
          </p:cNvPr>
          <p:cNvSpPr>
            <a:spLocks noGrp="1"/>
          </p:cNvSpPr>
          <p:nvPr/>
        </p:nvSpPr>
        <p:spPr>
          <a:xfrm>
            <a:off x="3714750" y="3848100"/>
            <a:ext cx="6858000" cy="323850"/>
          </a:xfrm>
          <a:prstGeom prst="rect">
            <a:avLst/>
          </a:prstGeom>
          <a:noFill/>
          <a:ln w="0">
            <a:noFill/>
            <a:prstDash val="solid"/>
          </a:ln>
        </p:spPr>
        <p:txBody>
          <a:bodyPr/>
          <a:lstStyle/>
          <a:p>
            <a:pPr>
              <a:buNone/>
              <a:defRPr sz="1575">
                <a:solidFill>
                  <a:srgbClr val="444444"/>
                </a:solidFill>
              </a:defRPr>
            </a:pPr>
            <a:r>
              <a:rPr sz="1575">
                <a:solidFill>
                  <a:srgbClr val="444444"/>
                </a:solidFill>
              </a:rPr>
              <a:t>CIF generation to next-token prediction</a:t>
            </a:r>
          </a:p>
        </p:txBody>
      </p:sp>
      <p:sp>
        <p:nvSpPr>
          <p:cNvPr id="20" name="Rectangle 19">
            <a:extLst>
              <a:ext uri="{FF2B5EF4-FFF2-40B4-BE49-F238E27FC236}">
                <a16:creationId xmlns:a16="http://schemas.microsoft.com/office/drawing/2014/main" id="{12E11F40-6725-481B-AE7D-5685899733CC}"/>
              </a:ext>
            </a:extLst>
          </p:cNvPr>
          <p:cNvSpPr>
            <a:spLocks noGrp="1"/>
          </p:cNvSpPr>
          <p:nvPr/>
        </p:nvSpPr>
        <p:spPr>
          <a:xfrm>
            <a:off x="1143000" y="4533900"/>
            <a:ext cx="533400" cy="533400"/>
          </a:xfrm>
          <a:prstGeom prst="rect">
            <a:avLst/>
          </a:prstGeom>
          <a:noFill/>
          <a:ln w="0">
            <a:noFill/>
            <a:prstDash val="solid"/>
          </a:ln>
        </p:spPr>
        <p:txBody>
          <a:bodyPr/>
          <a:lstStyle/>
          <a:p>
            <a:pPr algn="ctr">
              <a:buNone/>
              <a:defRPr sz="2250" b="1">
                <a:solidFill>
                  <a:srgbClr val="D97706"/>
                </a:solidFill>
              </a:defRPr>
            </a:pPr>
            <a:r>
              <a:rPr sz="2250" b="1">
                <a:solidFill>
                  <a:srgbClr val="D97706"/>
                </a:solidFill>
              </a:rPr>
              <a:t>5</a:t>
            </a:r>
          </a:p>
        </p:txBody>
      </p:sp>
      <p:sp>
        <p:nvSpPr>
          <p:cNvPr id="21" name="Rectangle 20">
            <a:extLst>
              <a:ext uri="{FF2B5EF4-FFF2-40B4-BE49-F238E27FC236}">
                <a16:creationId xmlns:a16="http://schemas.microsoft.com/office/drawing/2014/main" id="{B80D77FD-B1B7-401D-B984-CFD6DB3F1BD3}"/>
              </a:ext>
            </a:extLst>
          </p:cNvPr>
          <p:cNvSpPr>
            <a:spLocks noGrp="1"/>
          </p:cNvSpPr>
          <p:nvPr/>
        </p:nvSpPr>
        <p:spPr>
          <a:xfrm>
            <a:off x="1857375" y="4572000"/>
            <a:ext cx="1714500" cy="323850"/>
          </a:xfrm>
          <a:prstGeom prst="rect">
            <a:avLst/>
          </a:prstGeom>
          <a:noFill/>
          <a:ln w="0">
            <a:noFill/>
            <a:prstDash val="solid"/>
          </a:ln>
        </p:spPr>
        <p:txBody>
          <a:bodyPr/>
          <a:lstStyle/>
          <a:p>
            <a:pPr>
              <a:buNone/>
              <a:defRPr sz="1725" b="1">
                <a:solidFill>
                  <a:srgbClr val="222222"/>
                </a:solidFill>
              </a:defRPr>
            </a:pPr>
            <a:r>
              <a:rPr sz="1725" b="1">
                <a:solidFill>
                  <a:srgbClr val="222222"/>
                </a:solidFill>
              </a:rPr>
              <a:t>Prepare</a:t>
            </a:r>
          </a:p>
        </p:txBody>
      </p:sp>
      <p:sp>
        <p:nvSpPr>
          <p:cNvPr id="22" name="Rectangle 21">
            <a:extLst>
              <a:ext uri="{FF2B5EF4-FFF2-40B4-BE49-F238E27FC236}">
                <a16:creationId xmlns:a16="http://schemas.microsoft.com/office/drawing/2014/main" id="{8BEA5824-A533-4BD1-8814-CA8F1F6EE589}"/>
              </a:ext>
            </a:extLst>
          </p:cNvPr>
          <p:cNvSpPr>
            <a:spLocks noGrp="1"/>
          </p:cNvSpPr>
          <p:nvPr/>
        </p:nvSpPr>
        <p:spPr>
          <a:xfrm>
            <a:off x="3714750" y="4591050"/>
            <a:ext cx="6858000" cy="323850"/>
          </a:xfrm>
          <a:prstGeom prst="rect">
            <a:avLst/>
          </a:prstGeom>
          <a:noFill/>
          <a:ln w="0">
            <a:noFill/>
            <a:prstDash val="solid"/>
          </a:ln>
        </p:spPr>
        <p:txBody>
          <a:bodyPr/>
          <a:lstStyle/>
          <a:p>
            <a:pPr>
              <a:buNone/>
              <a:defRPr sz="1575">
                <a:solidFill>
                  <a:srgbClr val="444444"/>
                </a:solidFill>
              </a:defRPr>
            </a:pPr>
            <a:r>
              <a:rPr sz="1575">
                <a:solidFill>
                  <a:srgbClr val="444444"/>
                </a:solidFill>
              </a:rPr>
              <a:t>for attention, transformers, and CrystaLLM</a:t>
            </a:r>
          </a:p>
        </p:txBody>
      </p:sp>
      <p:sp>
        <p:nvSpPr>
          <p:cNvPr id="2" name="Date Placeholder 1">
            <a:extLst>
              <a:ext uri="{FF2B5EF4-FFF2-40B4-BE49-F238E27FC236}">
                <a16:creationId xmlns:a16="http://schemas.microsoft.com/office/drawing/2014/main" id="{D3ABB256-2D4F-FFE1-5E35-BA7BAFDA6D7B}"/>
              </a:ext>
            </a:extLst>
          </p:cNvPr>
          <p:cNvSpPr>
            <a:spLocks noGrp="1"/>
          </p:cNvSpPr>
          <p:nvPr>
            <p:ph type="dt" idx="10"/>
          </p:nvPr>
        </p:nvSpPr>
        <p:spPr/>
        <p:txBody>
          <a:bodyPr/>
          <a:lstStyle/>
          <a:p>
            <a:pPr>
              <a:buNone/>
            </a:pPr>
            <a:fld id="{ACCF4CD7-22F3-448F-A2F8-21045198B6EC}" type="datetime1">
              <a:rPr lang="en-US"/>
              <a:t>7/29/2026</a:t>
            </a:fld>
            <a:endParaRPr/>
          </a:p>
        </p:txBody>
      </p:sp>
      <p:sp>
        <p:nvSpPr>
          <p:cNvPr id="3" name="Slide Number Placeholder 2">
            <a:extLst>
              <a:ext uri="{FF2B5EF4-FFF2-40B4-BE49-F238E27FC236}">
                <a16:creationId xmlns:a16="http://schemas.microsoft.com/office/drawing/2014/main" id="{4CCCD071-D788-09A1-D3A2-DD76514134D9}"/>
              </a:ext>
            </a:extLst>
          </p:cNvPr>
          <p:cNvSpPr>
            <a:spLocks noGrp="1"/>
          </p:cNvSpPr>
          <p:nvPr>
            <p:ph type="sldNum" idx="12"/>
          </p:nvPr>
        </p:nvSpPr>
        <p:spPr/>
        <p:txBody>
          <a:bodyPr/>
          <a:lstStyle/>
          <a:p>
            <a:pPr>
              <a:buNone/>
            </a:pPr>
            <a:fld id="{B5CEABB6-07DC-46E8-9B57-56EC44A396E5}" type="slidenum">
              <a:rPr/>
              <a:t>4</a:t>
            </a:fld>
            <a:endParaRPr/>
          </a:p>
        </p:txBody>
      </p:sp>
    </p:spTree>
    <p:extLst>
      <p:ext uri="{BB962C8B-B14F-4D97-AF65-F5344CB8AC3E}">
        <p14:creationId xmlns:p14="http://schemas.microsoft.com/office/powerpoint/2010/main" val="3052936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CB361EC-6327-75EA-3FA9-2F165A337616}"/>
              </a:ext>
            </a:extLst>
          </p:cNvPr>
          <p:cNvSpPr>
            <a:spLocks noGrp="1"/>
          </p:cNvSpPr>
          <p:nvPr>
            <p:ph type="ftr" idx="11"/>
          </p:nvPr>
        </p:nvSpPr>
        <p:spPr/>
        <p:txBody>
          <a:bodyPr/>
          <a:lstStyle/>
          <a:p>
            <a:pPr marL="0" indent="0" algn="ctr">
              <a:lnSpc>
                <a:spcPct val="100000"/>
              </a:lnSpc>
              <a:spcBef>
                <a:spcPts val="0"/>
              </a:spcBef>
              <a:spcAft>
                <a:spcPts val="0"/>
              </a:spcAft>
              <a:buNone/>
              <a:defRPr sz="675">
                <a:solidFill>
                  <a:srgbClr val="777777"/>
                </a:solidFill>
              </a:defRPr>
            </a:pPr>
            <a:r>
              <a:rPr sz="675" b="0" i="0" u="none" cap="none">
                <a:ln>
                  <a:noFill/>
                </a:ln>
                <a:solidFill>
                  <a:srgbClr val="777777"/>
                </a:solidFill>
                <a:latin typeface="Tenorite"/>
                <a:ea typeface="Tenorite"/>
                <a:cs typeface="Tenorite"/>
              </a:rPr>
              <a:t>Introduction to Deep Learning - PSDI &amp; Royce Materials Data Summit</a:t>
            </a:r>
          </a:p>
        </p:txBody>
      </p:sp>
      <p:sp>
        <p:nvSpPr>
          <p:cNvPr id="5" name="Title 1">
            <a:extLst>
              <a:ext uri="{FF2B5EF4-FFF2-40B4-BE49-F238E27FC236}">
                <a16:creationId xmlns:a16="http://schemas.microsoft.com/office/drawing/2014/main" id="{F498E855-B8FE-D419-0C98-836221E1E5AE}"/>
              </a:ext>
            </a:extLst>
          </p:cNvPr>
          <p:cNvSpPr>
            <a:spLocks noGrp="1"/>
          </p:cNvSpPr>
          <p:nvPr/>
        </p:nvSpPr>
        <p:spPr>
          <a:xfrm>
            <a:off x="1044363" y="959651"/>
            <a:ext cx="10981047" cy="834558"/>
          </a:xfrm>
          <a:prstGeom prst="rect">
            <a:avLst/>
          </a:prstGeom>
        </p:spPr>
        <p:txBody>
          <a:bodyPr>
            <a:normAutofit/>
          </a:bodyPr>
          <a:lstStyle>
            <a:lvl1pPr algn="l">
              <a:lnSpc>
                <a:spcPct val="90000"/>
              </a:lnSpc>
              <a:buNone/>
              <a:defRPr sz="4400" cap="all">
                <a:solidFill>
                  <a:schemeClr val="tx1"/>
                </a:solidFill>
                <a:latin typeface="+mj-lt"/>
                <a:ea typeface="+mj-lt"/>
                <a:cs typeface="+mj-lt"/>
              </a:defRPr>
            </a:lvl1pPr>
          </a:lstStyle>
          <a:p>
            <a:pPr marL="0" indent="0" algn="l">
              <a:lnSpc>
                <a:spcPct val="90000"/>
              </a:lnSpc>
              <a:spcBef>
                <a:spcPts val="0"/>
              </a:spcBef>
              <a:spcAft>
                <a:spcPts val="0"/>
              </a:spcAft>
              <a:buNone/>
              <a:defRPr sz="2250" b="0">
                <a:solidFill>
                  <a:srgbClr val="111111"/>
                </a:solidFill>
              </a:defRPr>
            </a:pPr>
            <a:r>
              <a:rPr sz="2250" b="0" i="0" u="none" cap="all">
                <a:ln>
                  <a:noFill/>
                </a:ln>
                <a:solidFill>
                  <a:srgbClr val="111111"/>
                </a:solidFill>
                <a:latin typeface="Tenorite"/>
                <a:ea typeface="Tenorite"/>
                <a:cs typeface="Tenorite"/>
              </a:rPr>
              <a:t>Deep learning is mostly representation learning</a:t>
            </a:r>
          </a:p>
        </p:txBody>
      </p:sp>
      <p:pic>
        <p:nvPicPr>
          <p:cNvPr id="34" name="Picture 5"/>
          <p:cNvPicPr>
            <a:picLocks noChangeAspect="1"/>
          </p:cNvPicPr>
          <p:nvPr/>
        </p:nvPicPr>
        <p:blipFill>
          <a:blip r:embed="rId3"/>
          <a:stretch>
            <a:fillRect/>
          </a:stretch>
        </p:blipFill>
        <p:spPr>
          <a:xfrm>
            <a:off x="5280048" y="3101854"/>
            <a:ext cx="3037408" cy="1331079"/>
          </a:xfrm>
          <a:prstGeom prst="rect">
            <a:avLst/>
          </a:prstGeom>
        </p:spPr>
      </p:pic>
      <p:sp>
        <p:nvSpPr>
          <p:cNvPr id="7" name="TextBox 6">
            <a:extLst>
              <a:ext uri="{FF2B5EF4-FFF2-40B4-BE49-F238E27FC236}">
                <a16:creationId xmlns:a16="http://schemas.microsoft.com/office/drawing/2014/main" id="{B898CC8E-6517-4A1D-FE88-DE4374F27CBC}"/>
              </a:ext>
            </a:extLst>
          </p:cNvPr>
          <p:cNvSpPr>
            <a:spLocks noGrp="1"/>
          </p:cNvSpPr>
          <p:nvPr/>
        </p:nvSpPr>
        <p:spPr>
          <a:xfrm>
            <a:off x="7959744" y="2470995"/>
            <a:ext cx="2608217" cy="369332"/>
          </a:xfrm>
          <a:prstGeom prst="rect">
            <a:avLst/>
          </a:prstGeom>
          <a:noFill/>
        </p:spPr>
        <p:txBody>
          <a:bodyPr wrap="square">
            <a:spAutoFit/>
          </a:bodyPr>
          <a:lstStyle/>
          <a:p>
            <a:pPr marL="0" indent="0" algn="l">
              <a:lnSpc>
                <a:spcPct val="100000"/>
              </a:lnSpc>
              <a:spcBef>
                <a:spcPts val="0"/>
              </a:spcBef>
              <a:spcAft>
                <a:spcPts val="0"/>
              </a:spcAft>
              <a:buNone/>
            </a:pPr>
            <a:r>
              <a:rPr sz="1800" b="0" i="0" u="none" cap="none">
                <a:ln>
                  <a:noFill/>
                </a:ln>
                <a:solidFill>
                  <a:prstClr val="black"/>
                </a:solidFill>
                <a:latin typeface="Tenorite"/>
                <a:ea typeface="Tenorite"/>
                <a:cs typeface="Tenorite"/>
              </a:rPr>
              <a:t>“Hand-crafted” features</a:t>
            </a:r>
          </a:p>
        </p:txBody>
      </p:sp>
      <p:sp>
        <p:nvSpPr>
          <p:cNvPr id="8" name="TextBox 7">
            <a:extLst>
              <a:ext uri="{FF2B5EF4-FFF2-40B4-BE49-F238E27FC236}">
                <a16:creationId xmlns:a16="http://schemas.microsoft.com/office/drawing/2014/main" id="{335832C0-56DC-8123-52C8-E5D6FE3A2BE3}"/>
              </a:ext>
            </a:extLst>
          </p:cNvPr>
          <p:cNvSpPr>
            <a:spLocks noGrp="1"/>
          </p:cNvSpPr>
          <p:nvPr/>
        </p:nvSpPr>
        <p:spPr>
          <a:xfrm>
            <a:off x="7862996" y="4694460"/>
            <a:ext cx="2608217" cy="369332"/>
          </a:xfrm>
          <a:prstGeom prst="rect">
            <a:avLst/>
          </a:prstGeom>
          <a:noFill/>
        </p:spPr>
        <p:txBody>
          <a:bodyPr wrap="square">
            <a:spAutoFit/>
          </a:bodyPr>
          <a:lstStyle/>
          <a:p>
            <a:pPr marL="0" indent="0" algn="l">
              <a:lnSpc>
                <a:spcPct val="100000"/>
              </a:lnSpc>
              <a:spcBef>
                <a:spcPts val="0"/>
              </a:spcBef>
              <a:spcAft>
                <a:spcPts val="0"/>
              </a:spcAft>
              <a:buNone/>
            </a:pPr>
            <a:r>
              <a:rPr sz="1800" b="0" i="0" u="none" cap="none">
                <a:ln>
                  <a:noFill/>
                </a:ln>
                <a:solidFill>
                  <a:prstClr val="black"/>
                </a:solidFill>
                <a:latin typeface="Tenorite"/>
                <a:ea typeface="Tenorite"/>
                <a:cs typeface="Tenorite"/>
              </a:rPr>
              <a:t>Unstructured data</a:t>
            </a:r>
          </a:p>
        </p:txBody>
      </p:sp>
      <p:cxnSp>
        <p:nvCxnSpPr>
          <p:cNvPr id="37" name="Connector: Elbow 8"/>
          <p:cNvCxnSpPr>
            <a:stCxn id="7" idx="1"/>
          </p:cNvCxnSpPr>
          <p:nvPr/>
        </p:nvCxnSpPr>
        <p:spPr>
          <a:xfrm rot="10800000" flipV="1">
            <a:off x="6551762" y="2655661"/>
            <a:ext cx="1407983" cy="491744"/>
          </a:xfrm>
          <a:prstGeom prst="bentConnector3">
            <a:avLst>
              <a:gd name="adj1" fmla="val 100350"/>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9"/>
          <p:cNvCxnSpPr>
            <a:stCxn id="8" idx="1"/>
          </p:cNvCxnSpPr>
          <p:nvPr/>
        </p:nvCxnSpPr>
        <p:spPr>
          <a:xfrm rot="10800000">
            <a:off x="6714438" y="4387382"/>
            <a:ext cx="1148558" cy="491744"/>
          </a:xfrm>
          <a:prstGeom prst="bentConnector3">
            <a:avLst>
              <a:gd name="adj1" fmla="val 100093"/>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7863AC4-8D10-B3D2-9DC8-CE79C8056EF7}"/>
              </a:ext>
            </a:extLst>
          </p:cNvPr>
          <p:cNvSpPr>
            <a:spLocks noGrp="1"/>
          </p:cNvSpPr>
          <p:nvPr/>
        </p:nvSpPr>
        <p:spPr>
          <a:xfrm>
            <a:off x="3099980" y="3132482"/>
            <a:ext cx="2345635" cy="400110"/>
          </a:xfrm>
          <a:prstGeom prst="rect">
            <a:avLst/>
          </a:prstGeom>
          <a:noFill/>
        </p:spPr>
        <p:txBody>
          <a:bodyPr wrap="square">
            <a:spAutoFit/>
          </a:bodyPr>
          <a:lstStyle/>
          <a:p>
            <a:pPr marL="0" indent="0" algn="l">
              <a:lnSpc>
                <a:spcPct val="100000"/>
              </a:lnSpc>
              <a:spcBef>
                <a:spcPts val="0"/>
              </a:spcBef>
              <a:spcAft>
                <a:spcPts val="0"/>
              </a:spcAft>
              <a:buNone/>
            </a:pPr>
            <a:r>
              <a:rPr sz="2000" b="0" i="0" u="none" cap="none">
                <a:ln>
                  <a:noFill/>
                </a:ln>
                <a:solidFill>
                  <a:prstClr val="black"/>
                </a:solidFill>
                <a:latin typeface="Tenorite"/>
                <a:ea typeface="Tenorite"/>
                <a:cs typeface="Tenorite"/>
              </a:rPr>
              <a:t>Classical ML</a:t>
            </a:r>
          </a:p>
        </p:txBody>
      </p:sp>
      <p:sp>
        <p:nvSpPr>
          <p:cNvPr id="12" name="TextBox 11">
            <a:extLst>
              <a:ext uri="{FF2B5EF4-FFF2-40B4-BE49-F238E27FC236}">
                <a16:creationId xmlns:a16="http://schemas.microsoft.com/office/drawing/2014/main" id="{20561EB7-FD30-A25A-A0E5-671F4C5F083B}"/>
              </a:ext>
            </a:extLst>
          </p:cNvPr>
          <p:cNvSpPr>
            <a:spLocks noGrp="1"/>
          </p:cNvSpPr>
          <p:nvPr/>
        </p:nvSpPr>
        <p:spPr>
          <a:xfrm>
            <a:off x="3067754" y="3837995"/>
            <a:ext cx="2345635" cy="400110"/>
          </a:xfrm>
          <a:prstGeom prst="rect">
            <a:avLst/>
          </a:prstGeom>
          <a:noFill/>
        </p:spPr>
        <p:txBody>
          <a:bodyPr wrap="square">
            <a:spAutoFit/>
          </a:bodyPr>
          <a:lstStyle/>
          <a:p>
            <a:pPr marL="0" indent="0" algn="l">
              <a:lnSpc>
                <a:spcPct val="100000"/>
              </a:lnSpc>
              <a:spcBef>
                <a:spcPts val="0"/>
              </a:spcBef>
              <a:spcAft>
                <a:spcPts val="0"/>
              </a:spcAft>
              <a:buNone/>
            </a:pPr>
            <a:r>
              <a:rPr sz="2000" b="0" i="0" u="none" cap="none">
                <a:ln>
                  <a:noFill/>
                </a:ln>
                <a:solidFill>
                  <a:prstClr val="black"/>
                </a:solidFill>
                <a:latin typeface="Tenorite"/>
                <a:ea typeface="Tenorite"/>
                <a:cs typeface="Tenorite"/>
              </a:rPr>
              <a:t>Deep learning</a:t>
            </a:r>
          </a:p>
        </p:txBody>
      </p:sp>
      <p:sp>
        <p:nvSpPr>
          <p:cNvPr id="2" name="Date Placeholder 1">
            <a:extLst>
              <a:ext uri="{FF2B5EF4-FFF2-40B4-BE49-F238E27FC236}">
                <a16:creationId xmlns:a16="http://schemas.microsoft.com/office/drawing/2014/main" id="{E33D2EBC-D84D-1D11-6172-39548BEC576E}"/>
              </a:ext>
            </a:extLst>
          </p:cNvPr>
          <p:cNvSpPr>
            <a:spLocks noGrp="1"/>
          </p:cNvSpPr>
          <p:nvPr>
            <p:ph type="dt" idx="10"/>
          </p:nvPr>
        </p:nvSpPr>
        <p:spPr/>
        <p:txBody>
          <a:bodyPr/>
          <a:lstStyle/>
          <a:p>
            <a:pPr>
              <a:buNone/>
            </a:pPr>
            <a:fld id="{10E68C69-0D3D-4170-8BF5-E192BB9155EB}" type="datetime1">
              <a:rPr lang="en-US"/>
              <a:t>7/29/2026</a:t>
            </a:fld>
            <a:endParaRPr/>
          </a:p>
        </p:txBody>
      </p:sp>
      <p:sp>
        <p:nvSpPr>
          <p:cNvPr id="4" name="Slide Number Placeholder 3">
            <a:extLst>
              <a:ext uri="{FF2B5EF4-FFF2-40B4-BE49-F238E27FC236}">
                <a16:creationId xmlns:a16="http://schemas.microsoft.com/office/drawing/2014/main" id="{98C8AA1B-CD0E-A537-10CF-AD4725EF7278}"/>
              </a:ext>
            </a:extLst>
          </p:cNvPr>
          <p:cNvSpPr>
            <a:spLocks noGrp="1"/>
          </p:cNvSpPr>
          <p:nvPr>
            <p:ph type="sldNum" idx="12"/>
          </p:nvPr>
        </p:nvSpPr>
        <p:spPr/>
        <p:txBody>
          <a:bodyPr/>
          <a:lstStyle/>
          <a:p>
            <a:pPr>
              <a:buNone/>
            </a:pPr>
            <a:fld id="{B5CEABB6-07DC-46E8-9B57-56EC44A396E5}" type="slidenum">
              <a:rPr/>
              <a:t>5</a:t>
            </a:fld>
            <a:endParaRPr/>
          </a:p>
        </p:txBody>
      </p:sp>
    </p:spTree>
    <p:extLst>
      <p:ext uri="{BB962C8B-B14F-4D97-AF65-F5344CB8AC3E}">
        <p14:creationId xmlns:p14="http://schemas.microsoft.com/office/powerpoint/2010/main" val="3676929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2608371-3DF1-C3B3-201D-AE56DD4279E7}"/>
              </a:ext>
            </a:extLst>
          </p:cNvPr>
          <p:cNvSpPr>
            <a:spLocks noGrp="1"/>
          </p:cNvSpPr>
          <p:nvPr>
            <p:ph type="ftr" idx="11"/>
          </p:nvPr>
        </p:nvSpPr>
        <p:spPr/>
        <p:txBody>
          <a:bodyPr/>
          <a:lstStyle/>
          <a:p>
            <a:pPr marL="0" indent="0" algn="ctr">
              <a:lnSpc>
                <a:spcPct val="100000"/>
              </a:lnSpc>
              <a:spcBef>
                <a:spcPts val="0"/>
              </a:spcBef>
              <a:spcAft>
                <a:spcPts val="0"/>
              </a:spcAft>
              <a:buNone/>
              <a:defRPr sz="675">
                <a:solidFill>
                  <a:srgbClr val="777777"/>
                </a:solidFill>
              </a:defRPr>
            </a:pPr>
            <a:r>
              <a:rPr sz="675" b="0" i="0" u="none" cap="none">
                <a:ln>
                  <a:noFill/>
                </a:ln>
                <a:solidFill>
                  <a:srgbClr val="777777"/>
                </a:solidFill>
                <a:latin typeface="Tenorite"/>
                <a:ea typeface="Tenorite"/>
                <a:cs typeface="Tenorite"/>
              </a:rPr>
              <a:t>Introduction to Deep Learning - PSDI &amp; Royce Materials Data Summit</a:t>
            </a:r>
          </a:p>
        </p:txBody>
      </p:sp>
      <p:sp>
        <p:nvSpPr>
          <p:cNvPr id="5" name="Title 1">
            <a:extLst>
              <a:ext uri="{FF2B5EF4-FFF2-40B4-BE49-F238E27FC236}">
                <a16:creationId xmlns:a16="http://schemas.microsoft.com/office/drawing/2014/main" id="{344EF72D-109F-97F6-0FA5-2DA19F6F955E}"/>
              </a:ext>
            </a:extLst>
          </p:cNvPr>
          <p:cNvSpPr>
            <a:spLocks noGrp="1"/>
          </p:cNvSpPr>
          <p:nvPr/>
        </p:nvSpPr>
        <p:spPr>
          <a:xfrm>
            <a:off x="907960" y="136263"/>
            <a:ext cx="10376079" cy="1325563"/>
          </a:xfrm>
          <a:prstGeom prst="rect">
            <a:avLst/>
          </a:prstGeom>
        </p:spPr>
        <p:txBody>
          <a:bodyPr anchor="ctr"/>
          <a:lstStyle>
            <a:lvl1pPr algn="l">
              <a:lnSpc>
                <a:spcPct val="90000"/>
              </a:lnSpc>
              <a:buNone/>
              <a:defRPr sz="4400" cap="all">
                <a:solidFill>
                  <a:schemeClr val="tx1"/>
                </a:solidFill>
                <a:latin typeface="+mj-lt"/>
                <a:ea typeface="+mj-lt"/>
                <a:cs typeface="+mj-lt"/>
              </a:defRPr>
            </a:lvl1pPr>
          </a:lstStyle>
          <a:p>
            <a:pPr marL="0" indent="0" algn="ctr">
              <a:lnSpc>
                <a:spcPct val="90000"/>
              </a:lnSpc>
              <a:spcBef>
                <a:spcPts val="0"/>
              </a:spcBef>
              <a:spcAft>
                <a:spcPts val="0"/>
              </a:spcAft>
              <a:buNone/>
              <a:defRPr sz="2250" b="0">
                <a:solidFill>
                  <a:srgbClr val="111111"/>
                </a:solidFill>
              </a:defRPr>
            </a:pPr>
            <a:r>
              <a:rPr sz="2250" b="0" i="0" u="none" cap="all">
                <a:ln>
                  <a:noFill/>
                </a:ln>
                <a:solidFill>
                  <a:srgbClr val="111111"/>
                </a:solidFill>
                <a:latin typeface="Tenorite"/>
                <a:ea typeface="Tenorite"/>
                <a:cs typeface="Tenorite"/>
              </a:rPr>
              <a:t>Hand-crafted features put the burden on us</a:t>
            </a:r>
          </a:p>
        </p:txBody>
      </p:sp>
      <p:pic>
        <p:nvPicPr>
          <p:cNvPr id="22" name="Picture 5"/>
          <p:cNvPicPr>
            <a:picLocks noChangeAspect="1"/>
          </p:cNvPicPr>
          <p:nvPr/>
        </p:nvPicPr>
        <p:blipFill>
          <a:blip r:embed="rId3"/>
          <a:stretch>
            <a:fillRect/>
          </a:stretch>
        </p:blipFill>
        <p:spPr>
          <a:xfrm>
            <a:off x="1315023" y="1968698"/>
            <a:ext cx="945765" cy="1230274"/>
          </a:xfrm>
          <a:prstGeom prst="rect">
            <a:avLst/>
          </a:prstGeom>
        </p:spPr>
      </p:pic>
      <p:pic>
        <p:nvPicPr>
          <p:cNvPr id="23" name="Picture 6"/>
          <p:cNvPicPr>
            <a:picLocks noChangeAspect="1"/>
          </p:cNvPicPr>
          <p:nvPr/>
        </p:nvPicPr>
        <p:blipFill rotWithShape="1">
          <a:blip r:embed="rId4"/>
          <a:srcRect l="15922" r="32130"/>
          <a:stretch/>
        </p:blipFill>
        <p:spPr>
          <a:xfrm>
            <a:off x="1326429" y="3651244"/>
            <a:ext cx="934359" cy="1284744"/>
          </a:xfrm>
          <a:prstGeom prst="rect">
            <a:avLst/>
          </a:prstGeom>
        </p:spPr>
      </p:pic>
      <p:sp>
        <p:nvSpPr>
          <p:cNvPr id="8" name="TextBox 7">
            <a:extLst>
              <a:ext uri="{FF2B5EF4-FFF2-40B4-BE49-F238E27FC236}">
                <a16:creationId xmlns:a16="http://schemas.microsoft.com/office/drawing/2014/main" id="{B27F9FF9-F006-C173-997D-54C86E0937FB}"/>
              </a:ext>
            </a:extLst>
          </p:cNvPr>
          <p:cNvSpPr>
            <a:spLocks noGrp="1"/>
          </p:cNvSpPr>
          <p:nvPr/>
        </p:nvSpPr>
        <p:spPr>
          <a:xfrm>
            <a:off x="3682919" y="3842965"/>
            <a:ext cx="1492716" cy="369332"/>
          </a:xfrm>
          <a:prstGeom prst="rect">
            <a:avLst/>
          </a:prstGeom>
          <a:noFill/>
        </p:spPr>
        <p:txBody>
          <a:bodyPr wrap="none">
            <a:spAutoFit/>
          </a:bodyPr>
          <a:lstStyle/>
          <a:p>
            <a:pPr marL="0" indent="0" algn="l">
              <a:lnSpc>
                <a:spcPct val="100000"/>
              </a:lnSpc>
              <a:spcBef>
                <a:spcPts val="0"/>
              </a:spcBef>
              <a:spcAft>
                <a:spcPts val="0"/>
              </a:spcAft>
              <a:buNone/>
            </a:pPr>
            <a:r>
              <a:rPr sz="1800" b="0" i="0" u="none" cap="none">
                <a:ln>
                  <a:noFill/>
                </a:ln>
                <a:solidFill>
                  <a:prstClr val="black"/>
                </a:solidFill>
                <a:latin typeface="Comic Sans MS"/>
                <a:ea typeface="Comic Sans MS"/>
                <a:cs typeface="Comic Sans MS"/>
              </a:rPr>
              <a:t>Classical ML</a:t>
            </a:r>
          </a:p>
        </p:txBody>
      </p:sp>
      <p:sp>
        <p:nvSpPr>
          <p:cNvPr id="9" name="TextBox 8">
            <a:extLst>
              <a:ext uri="{FF2B5EF4-FFF2-40B4-BE49-F238E27FC236}">
                <a16:creationId xmlns:a16="http://schemas.microsoft.com/office/drawing/2014/main" id="{A800387C-6497-EA02-8D16-33BA37BA490B}"/>
              </a:ext>
            </a:extLst>
          </p:cNvPr>
          <p:cNvSpPr>
            <a:spLocks noGrp="1"/>
          </p:cNvSpPr>
          <p:nvPr/>
        </p:nvSpPr>
        <p:spPr>
          <a:xfrm>
            <a:off x="6680743" y="2851923"/>
            <a:ext cx="2323072" cy="369332"/>
          </a:xfrm>
          <a:prstGeom prst="rect">
            <a:avLst/>
          </a:prstGeom>
          <a:noFill/>
        </p:spPr>
        <p:txBody>
          <a:bodyPr wrap="none">
            <a:spAutoFit/>
          </a:bodyPr>
          <a:lstStyle/>
          <a:p>
            <a:pPr marL="0" indent="0" algn="l">
              <a:lnSpc>
                <a:spcPct val="100000"/>
              </a:lnSpc>
              <a:spcBef>
                <a:spcPts val="0"/>
              </a:spcBef>
              <a:spcAft>
                <a:spcPts val="0"/>
              </a:spcAft>
              <a:buNone/>
            </a:pPr>
            <a:r>
              <a:rPr sz="1800" b="0" i="0" u="none" cap="none">
                <a:ln>
                  <a:noFill/>
                </a:ln>
                <a:solidFill>
                  <a:prstClr val="black"/>
                </a:solidFill>
                <a:latin typeface="Comic Sans MS"/>
                <a:ea typeface="Comic Sans MS"/>
                <a:cs typeface="Comic Sans MS"/>
              </a:rPr>
              <a:t>Classification model</a:t>
            </a:r>
          </a:p>
        </p:txBody>
      </p:sp>
      <p:sp>
        <p:nvSpPr>
          <p:cNvPr id="10" name="TextBox 9">
            <a:extLst>
              <a:ext uri="{FF2B5EF4-FFF2-40B4-BE49-F238E27FC236}">
                <a16:creationId xmlns:a16="http://schemas.microsoft.com/office/drawing/2014/main" id="{2864534D-F3F1-EF62-6030-1E350E49BBE4}"/>
              </a:ext>
            </a:extLst>
          </p:cNvPr>
          <p:cNvSpPr>
            <a:spLocks noGrp="1"/>
          </p:cNvSpPr>
          <p:nvPr/>
        </p:nvSpPr>
        <p:spPr>
          <a:xfrm>
            <a:off x="3533839" y="1387816"/>
            <a:ext cx="1641796" cy="369332"/>
          </a:xfrm>
          <a:prstGeom prst="rect">
            <a:avLst/>
          </a:prstGeom>
          <a:noFill/>
        </p:spPr>
        <p:txBody>
          <a:bodyPr wrap="none">
            <a:spAutoFit/>
          </a:bodyPr>
          <a:lstStyle/>
          <a:p>
            <a:pPr marL="0" indent="0" algn="l">
              <a:lnSpc>
                <a:spcPct val="100000"/>
              </a:lnSpc>
              <a:spcBef>
                <a:spcPts val="0"/>
              </a:spcBef>
              <a:spcAft>
                <a:spcPts val="0"/>
              </a:spcAft>
              <a:buNone/>
            </a:pPr>
            <a:r>
              <a:rPr sz="1800" b="0" i="0" u="none" cap="none">
                <a:ln>
                  <a:noFill/>
                </a:ln>
                <a:solidFill>
                  <a:prstClr val="black"/>
                </a:solidFill>
                <a:latin typeface="Comic Sans MS"/>
                <a:ea typeface="Comic Sans MS"/>
                <a:cs typeface="Comic Sans MS"/>
              </a:rPr>
              <a:t>Deep learning</a:t>
            </a:r>
          </a:p>
        </p:txBody>
      </p:sp>
      <p:pic>
        <p:nvPicPr>
          <p:cNvPr id="27" name="Picture 10"/>
          <p:cNvPicPr>
            <a:picLocks noChangeAspect="1"/>
          </p:cNvPicPr>
          <p:nvPr/>
        </p:nvPicPr>
        <p:blipFill>
          <a:blip r:embed="rId5"/>
          <a:stretch>
            <a:fillRect/>
          </a:stretch>
        </p:blipFill>
        <p:spPr>
          <a:xfrm rot="5400000">
            <a:off x="3404975" y="2117462"/>
            <a:ext cx="1899524" cy="1286279"/>
          </a:xfrm>
          <a:prstGeom prst="rect">
            <a:avLst/>
          </a:prstGeom>
        </p:spPr>
      </p:pic>
      <p:graphicFrame>
        <p:nvGraphicFramePr>
          <p:cNvPr id="28" name="Table 11"/>
          <p:cNvGraphicFramePr/>
          <p:nvPr/>
        </p:nvGraphicFramePr>
        <p:xfrm>
          <a:off x="3234488" y="4162073"/>
          <a:ext cx="2314712" cy="1849120"/>
        </p:xfrm>
        <a:graphic>
          <a:graphicData uri="http://schemas.openxmlformats.org/drawingml/2006/table">
            <a:tbl>
              <a:tblPr firstRow="1" bandRow="1">
                <a:tableStyleId>{C4B1156A-380E-4F78-BDF5-A606A8083BF9}</a:tableStyleId>
              </a:tblPr>
              <a:tblGrid>
                <a:gridCol w="1822607">
                  <a:extLst>
                    <a:ext uri="{9D8B030D-6E8A-4147-A177-3AD203B41FA5}">
                      <a16:colId xmlns:a16="http://schemas.microsoft.com/office/drawing/2014/main" val="20000"/>
                    </a:ext>
                  </a:extLst>
                </a:gridCol>
                <a:gridCol w="492105">
                  <a:extLst>
                    <a:ext uri="{9D8B030D-6E8A-4147-A177-3AD203B41FA5}">
                      <a16:colId xmlns:a16="http://schemas.microsoft.com/office/drawing/2014/main" val="20001"/>
                    </a:ext>
                  </a:extLst>
                </a:gridCol>
              </a:tblGrid>
              <a:tr h="370840">
                <a:tc>
                  <a:txBody>
                    <a:bodyPr/>
                    <a:lstStyle/>
                    <a:p>
                      <a:r>
                        <a:rPr b="0">
                          <a:latin typeface="Tenorite"/>
                          <a:ea typeface="Tenorite"/>
                          <a:cs typeface="Tenorite"/>
                        </a:rPr>
                        <a:t>Number of eyes</a:t>
                      </a:r>
                    </a:p>
                  </a:txBody>
                  <a:tcPr/>
                </a:tc>
                <a:tc>
                  <a:txBody>
                    <a:bodyPr/>
                    <a:lstStyle/>
                    <a:p>
                      <a:r>
                        <a:rPr b="0">
                          <a:latin typeface="Tenorite"/>
                          <a:ea typeface="Tenorite"/>
                          <a:cs typeface="Tenorite"/>
                        </a:rPr>
                        <a:t>2</a:t>
                      </a:r>
                    </a:p>
                  </a:txBody>
                  <a:tcPr/>
                </a:tc>
                <a:extLst>
                  <a:ext uri="{0D108BD9-81ED-4DB2-BD59-A6C34878D82A}">
                    <a16:rowId xmlns:a16="http://schemas.microsoft.com/office/drawing/2014/main" val="10000"/>
                  </a:ext>
                </a:extLst>
              </a:tr>
              <a:tr h="326929">
                <a:tc>
                  <a:txBody>
                    <a:bodyPr/>
                    <a:lstStyle/>
                    <a:p>
                      <a:r>
                        <a:rPr>
                          <a:latin typeface="Tenorite"/>
                          <a:ea typeface="Tenorite"/>
                          <a:cs typeface="Tenorite"/>
                        </a:rPr>
                        <a:t>Whiskers</a:t>
                      </a:r>
                    </a:p>
                  </a:txBody>
                  <a:tcPr/>
                </a:tc>
                <a:tc>
                  <a:txBody>
                    <a:bodyPr/>
                    <a:lstStyle/>
                    <a:p>
                      <a:r>
                        <a:rPr>
                          <a:latin typeface="Tenorite"/>
                          <a:ea typeface="Tenorite"/>
                          <a:cs typeface="Tenorite"/>
                        </a:rPr>
                        <a:t>N</a:t>
                      </a:r>
                    </a:p>
                  </a:txBody>
                  <a:tcPr/>
                </a:tc>
                <a:extLst>
                  <a:ext uri="{0D108BD9-81ED-4DB2-BD59-A6C34878D82A}">
                    <a16:rowId xmlns:a16="http://schemas.microsoft.com/office/drawing/2014/main" val="10001"/>
                  </a:ext>
                </a:extLst>
              </a:tr>
              <a:tr h="370840">
                <a:tc>
                  <a:txBody>
                    <a:bodyPr/>
                    <a:lstStyle/>
                    <a:p>
                      <a:r>
                        <a:rPr>
                          <a:latin typeface="Tenorite"/>
                          <a:ea typeface="Tenorite"/>
                          <a:cs typeface="Tenorite"/>
                        </a:rPr>
                        <a:t>Legs</a:t>
                      </a:r>
                    </a:p>
                  </a:txBody>
                  <a:tcPr/>
                </a:tc>
                <a:tc>
                  <a:txBody>
                    <a:bodyPr/>
                    <a:lstStyle/>
                    <a:p>
                      <a:r>
                        <a:rPr>
                          <a:latin typeface="Tenorite"/>
                          <a:ea typeface="Tenorite"/>
                          <a:cs typeface="Tenorite"/>
                        </a:rPr>
                        <a:t>N</a:t>
                      </a:r>
                    </a:p>
                  </a:txBody>
                  <a:tcPr/>
                </a:tc>
                <a:extLst>
                  <a:ext uri="{0D108BD9-81ED-4DB2-BD59-A6C34878D82A}">
                    <a16:rowId xmlns:a16="http://schemas.microsoft.com/office/drawing/2014/main" val="10002"/>
                  </a:ext>
                </a:extLst>
              </a:tr>
              <a:tr h="370840">
                <a:tc>
                  <a:txBody>
                    <a:bodyPr/>
                    <a:lstStyle/>
                    <a:p>
                      <a:r>
                        <a:rPr>
                          <a:latin typeface="Tenorite"/>
                          <a:ea typeface="Tenorite"/>
                          <a:cs typeface="Tenorite"/>
                        </a:rPr>
                        <a:t>…</a:t>
                      </a:r>
                    </a:p>
                  </a:txBody>
                  <a:tcPr/>
                </a:tc>
                <a:tc>
                  <a:txBody>
                    <a:bodyPr/>
                    <a:lstStyle/>
                    <a:p>
                      <a:endParaRPr/>
                    </a:p>
                  </a:txBody>
                  <a:tcPr/>
                </a:tc>
                <a:extLst>
                  <a:ext uri="{0D108BD9-81ED-4DB2-BD59-A6C34878D82A}">
                    <a16:rowId xmlns:a16="http://schemas.microsoft.com/office/drawing/2014/main" val="10003"/>
                  </a:ext>
                </a:extLst>
              </a:tr>
              <a:tr h="370840">
                <a:tc>
                  <a:txBody>
                    <a:bodyPr/>
                    <a:lstStyle/>
                    <a:p>
                      <a:r>
                        <a:rPr>
                          <a:latin typeface="Tenorite"/>
                          <a:ea typeface="Tenorite"/>
                          <a:cs typeface="Tenorite"/>
                        </a:rPr>
                        <a:t>Scales</a:t>
                      </a:r>
                    </a:p>
                  </a:txBody>
                  <a:tcPr/>
                </a:tc>
                <a:tc>
                  <a:txBody>
                    <a:bodyPr/>
                    <a:lstStyle/>
                    <a:p>
                      <a:r>
                        <a:rPr>
                          <a:latin typeface="Tenorite"/>
                          <a:ea typeface="Tenorite"/>
                          <a:cs typeface="Tenorite"/>
                        </a:rPr>
                        <a:t>Y</a:t>
                      </a:r>
                    </a:p>
                  </a:txBody>
                  <a:tcPr/>
                </a:tc>
                <a:extLst>
                  <a:ext uri="{0D108BD9-81ED-4DB2-BD59-A6C34878D82A}">
                    <a16:rowId xmlns:a16="http://schemas.microsoft.com/office/drawing/2014/main" val="10004"/>
                  </a:ext>
                </a:extLst>
              </a:tr>
            </a:tbl>
          </a:graphicData>
        </a:graphic>
      </p:graphicFrame>
      <p:pic>
        <p:nvPicPr>
          <p:cNvPr id="29" name="Picture 12"/>
          <p:cNvPicPr>
            <a:picLocks noChangeAspect="1"/>
          </p:cNvPicPr>
          <p:nvPr/>
        </p:nvPicPr>
        <p:blipFill>
          <a:blip r:embed="rId6"/>
          <a:srcRect b="51619"/>
          <a:stretch/>
        </p:blipFill>
        <p:spPr>
          <a:xfrm>
            <a:off x="6137564" y="3329247"/>
            <a:ext cx="3037408" cy="643993"/>
          </a:xfrm>
          <a:prstGeom prst="rect">
            <a:avLst/>
          </a:prstGeom>
        </p:spPr>
      </p:pic>
      <p:sp>
        <p:nvSpPr>
          <p:cNvPr id="14" name="TextBox 13">
            <a:extLst>
              <a:ext uri="{FF2B5EF4-FFF2-40B4-BE49-F238E27FC236}">
                <a16:creationId xmlns:a16="http://schemas.microsoft.com/office/drawing/2014/main" id="{1E156E2D-C8E0-874F-8CF4-7D7F7D565FA4}"/>
              </a:ext>
            </a:extLst>
          </p:cNvPr>
          <p:cNvSpPr>
            <a:spLocks noGrp="1"/>
          </p:cNvSpPr>
          <p:nvPr/>
        </p:nvSpPr>
        <p:spPr>
          <a:xfrm>
            <a:off x="10007199" y="3381300"/>
            <a:ext cx="1559851" cy="461665"/>
          </a:xfrm>
          <a:prstGeom prst="rect">
            <a:avLst/>
          </a:prstGeom>
          <a:noFill/>
        </p:spPr>
        <p:txBody>
          <a:bodyPr wrap="none">
            <a:spAutoFit/>
          </a:bodyPr>
          <a:lstStyle/>
          <a:p>
            <a:pPr marL="0" indent="0" algn="l">
              <a:lnSpc>
                <a:spcPct val="100000"/>
              </a:lnSpc>
              <a:spcBef>
                <a:spcPts val="0"/>
              </a:spcBef>
              <a:spcAft>
                <a:spcPts val="0"/>
              </a:spcAft>
              <a:buNone/>
            </a:pPr>
            <a:r>
              <a:rPr sz="2400" b="0" i="0" u="none" cap="none">
                <a:ln>
                  <a:noFill/>
                </a:ln>
                <a:solidFill>
                  <a:prstClr val="black"/>
                </a:solidFill>
                <a:latin typeface="Tenorite"/>
                <a:ea typeface="Tenorite"/>
                <a:cs typeface="Tenorite"/>
              </a:rPr>
              <a:t>Cat/Snake</a:t>
            </a:r>
          </a:p>
        </p:txBody>
      </p:sp>
      <p:sp>
        <p:nvSpPr>
          <p:cNvPr id="2" name="Date Placeholder 1">
            <a:extLst>
              <a:ext uri="{FF2B5EF4-FFF2-40B4-BE49-F238E27FC236}">
                <a16:creationId xmlns:a16="http://schemas.microsoft.com/office/drawing/2014/main" id="{281E1302-A02B-2906-D393-EDDFA865919D}"/>
              </a:ext>
            </a:extLst>
          </p:cNvPr>
          <p:cNvSpPr>
            <a:spLocks noGrp="1"/>
          </p:cNvSpPr>
          <p:nvPr>
            <p:ph type="dt" idx="10"/>
          </p:nvPr>
        </p:nvSpPr>
        <p:spPr/>
        <p:txBody>
          <a:bodyPr/>
          <a:lstStyle/>
          <a:p>
            <a:pPr>
              <a:buNone/>
            </a:pPr>
            <a:fld id="{7A779501-FF33-46A6-921C-91B2A6192E21}" type="datetime1">
              <a:rPr lang="en-US"/>
              <a:t>7/29/2026</a:t>
            </a:fld>
            <a:endParaRPr/>
          </a:p>
        </p:txBody>
      </p:sp>
      <p:sp>
        <p:nvSpPr>
          <p:cNvPr id="4" name="Slide Number Placeholder 3">
            <a:extLst>
              <a:ext uri="{FF2B5EF4-FFF2-40B4-BE49-F238E27FC236}">
                <a16:creationId xmlns:a16="http://schemas.microsoft.com/office/drawing/2014/main" id="{8F8C828E-B406-925D-7885-69305FE8FB3B}"/>
              </a:ext>
            </a:extLst>
          </p:cNvPr>
          <p:cNvSpPr>
            <a:spLocks noGrp="1"/>
          </p:cNvSpPr>
          <p:nvPr>
            <p:ph type="sldNum" idx="12"/>
          </p:nvPr>
        </p:nvSpPr>
        <p:spPr/>
        <p:txBody>
          <a:bodyPr/>
          <a:lstStyle/>
          <a:p>
            <a:pPr>
              <a:buNone/>
            </a:pPr>
            <a:fld id="{B5CEABB6-07DC-46E8-9B57-56EC44A396E5}" type="slidenum">
              <a:rPr/>
              <a:t>6</a:t>
            </a:fld>
            <a:endParaRPr/>
          </a:p>
        </p:txBody>
      </p:sp>
    </p:spTree>
    <p:extLst>
      <p:ext uri="{BB962C8B-B14F-4D97-AF65-F5344CB8AC3E}">
        <p14:creationId xmlns:p14="http://schemas.microsoft.com/office/powerpoint/2010/main" val="3935109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2608371-3DF1-C3B3-201D-AE56DD4279E7}"/>
              </a:ext>
            </a:extLst>
          </p:cNvPr>
          <p:cNvSpPr>
            <a:spLocks noGrp="1"/>
          </p:cNvSpPr>
          <p:nvPr>
            <p:ph type="ftr" idx="11"/>
          </p:nvPr>
        </p:nvSpPr>
        <p:spPr/>
        <p:txBody>
          <a:bodyPr/>
          <a:lstStyle/>
          <a:p>
            <a:pPr marL="0" indent="0" algn="ctr">
              <a:lnSpc>
                <a:spcPct val="100000"/>
              </a:lnSpc>
              <a:spcBef>
                <a:spcPts val="0"/>
              </a:spcBef>
              <a:spcAft>
                <a:spcPts val="0"/>
              </a:spcAft>
              <a:buNone/>
              <a:defRPr sz="675">
                <a:solidFill>
                  <a:srgbClr val="777777"/>
                </a:solidFill>
              </a:defRPr>
            </a:pPr>
            <a:r>
              <a:rPr sz="675" b="0" i="0" u="none" cap="none">
                <a:ln>
                  <a:noFill/>
                </a:ln>
                <a:solidFill>
                  <a:srgbClr val="777777"/>
                </a:solidFill>
                <a:latin typeface="Tenorite"/>
                <a:ea typeface="Tenorite"/>
                <a:cs typeface="Tenorite"/>
              </a:rPr>
              <a:t>Introduction to Deep Learning - PSDI &amp; Royce Materials Data Summit</a:t>
            </a:r>
          </a:p>
        </p:txBody>
      </p:sp>
      <p:sp>
        <p:nvSpPr>
          <p:cNvPr id="20" name="Rectangle 19">
            <a:extLst>
              <a:ext uri="{FF2B5EF4-FFF2-40B4-BE49-F238E27FC236}">
                <a16:creationId xmlns:a16="http://schemas.microsoft.com/office/drawing/2014/main" id="{E27A49A1-7437-4972-B6BB-18F354305F4F}"/>
              </a:ext>
            </a:extLst>
          </p:cNvPr>
          <p:cNvSpPr>
            <a:spLocks noGrp="1"/>
          </p:cNvSpPr>
          <p:nvPr/>
        </p:nvSpPr>
        <p:spPr>
          <a:xfrm>
            <a:off x="838200" y="552450"/>
            <a:ext cx="10515600" cy="762000"/>
          </a:xfrm>
          <a:prstGeom prst="rect">
            <a:avLst/>
          </a:prstGeom>
          <a:noFill/>
          <a:ln w="0">
            <a:noFill/>
            <a:prstDash val="solid"/>
          </a:ln>
        </p:spPr>
        <p:txBody>
          <a:bodyPr anchor="ctr"/>
          <a:lstStyle/>
          <a:p>
            <a:pPr algn="ctr">
              <a:buNone/>
              <a:defRPr sz="2175">
                <a:solidFill>
                  <a:srgbClr val="111111"/>
                </a:solidFill>
              </a:defRPr>
            </a:pPr>
            <a:r>
              <a:rPr sz="2175">
                <a:solidFill>
                  <a:srgbClr val="111111"/>
                </a:solidFill>
              </a:rPr>
              <a:t>IN MATERIALS, FEATURISATION IS ALREADY A MODELLING CHOICE</a:t>
            </a:r>
          </a:p>
        </p:txBody>
      </p:sp>
      <p:sp>
        <p:nvSpPr>
          <p:cNvPr id="21" name="Rectangle: Rounded Corners 20">
            <a:extLst>
              <a:ext uri="{FF2B5EF4-FFF2-40B4-BE49-F238E27FC236}">
                <a16:creationId xmlns:a16="http://schemas.microsoft.com/office/drawing/2014/main" id="{BE148ADA-DC1C-4926-A07F-94EB9CC93C49}"/>
              </a:ext>
            </a:extLst>
          </p:cNvPr>
          <p:cNvSpPr>
            <a:spLocks noGrp="1"/>
          </p:cNvSpPr>
          <p:nvPr/>
        </p:nvSpPr>
        <p:spPr>
          <a:xfrm>
            <a:off x="952500" y="1809750"/>
            <a:ext cx="3048000" cy="2952750"/>
          </a:xfrm>
          <a:prstGeom prst="roundRect">
            <a:avLst>
              <a:gd name="adj" fmla="val 2581"/>
            </a:avLst>
          </a:prstGeom>
          <a:solidFill>
            <a:srgbClr val="F8F8F8"/>
          </a:solidFill>
          <a:ln w="9525">
            <a:solidFill>
              <a:srgbClr val="DEDEDE"/>
            </a:solidFill>
            <a:prstDash val="solid"/>
          </a:ln>
        </p:spPr>
        <p:txBody>
          <a:bodyPr/>
          <a:lstStyle/>
          <a:p>
            <a:endParaRPr/>
          </a:p>
        </p:txBody>
      </p:sp>
      <p:sp>
        <p:nvSpPr>
          <p:cNvPr id="22" name="Rectangle 21">
            <a:extLst>
              <a:ext uri="{FF2B5EF4-FFF2-40B4-BE49-F238E27FC236}">
                <a16:creationId xmlns:a16="http://schemas.microsoft.com/office/drawing/2014/main" id="{E73E3EC8-67AB-4B9A-9BD4-3FE129377A27}"/>
              </a:ext>
            </a:extLst>
          </p:cNvPr>
          <p:cNvSpPr>
            <a:spLocks noGrp="1"/>
          </p:cNvSpPr>
          <p:nvPr/>
        </p:nvSpPr>
        <p:spPr>
          <a:xfrm>
            <a:off x="1123950" y="1981200"/>
            <a:ext cx="800100" cy="38100"/>
          </a:xfrm>
          <a:prstGeom prst="rect">
            <a:avLst/>
          </a:prstGeom>
          <a:solidFill>
            <a:srgbClr val="D97706"/>
          </a:solidFill>
          <a:ln w="0">
            <a:solidFill>
              <a:srgbClr val="D97706"/>
            </a:solidFill>
            <a:prstDash val="solid"/>
          </a:ln>
        </p:spPr>
        <p:txBody>
          <a:bodyPr/>
          <a:lstStyle/>
          <a:p>
            <a:endParaRPr/>
          </a:p>
        </p:txBody>
      </p:sp>
      <p:sp>
        <p:nvSpPr>
          <p:cNvPr id="23" name="Rectangle 22">
            <a:extLst>
              <a:ext uri="{FF2B5EF4-FFF2-40B4-BE49-F238E27FC236}">
                <a16:creationId xmlns:a16="http://schemas.microsoft.com/office/drawing/2014/main" id="{E7BA0A66-54DC-4D52-A08B-247CAC6E5472}"/>
              </a:ext>
            </a:extLst>
          </p:cNvPr>
          <p:cNvSpPr>
            <a:spLocks noGrp="1"/>
          </p:cNvSpPr>
          <p:nvPr/>
        </p:nvSpPr>
        <p:spPr>
          <a:xfrm>
            <a:off x="1123950" y="2209800"/>
            <a:ext cx="2705100" cy="400050"/>
          </a:xfrm>
          <a:prstGeom prst="rect">
            <a:avLst/>
          </a:prstGeom>
          <a:noFill/>
          <a:ln w="0">
            <a:noFill/>
            <a:prstDash val="solid"/>
          </a:ln>
        </p:spPr>
        <p:txBody>
          <a:bodyPr/>
          <a:lstStyle/>
          <a:p>
            <a:pPr>
              <a:buNone/>
              <a:defRPr sz="1650" b="1">
                <a:solidFill>
                  <a:srgbClr val="222222"/>
                </a:solidFill>
              </a:defRPr>
            </a:pPr>
            <a:r>
              <a:rPr b="1">
                <a:solidFill>
                  <a:srgbClr val="222222"/>
                </a:solidFill>
              </a:rPr>
              <a:t>Composition</a:t>
            </a:r>
          </a:p>
        </p:txBody>
      </p:sp>
      <p:sp>
        <p:nvSpPr>
          <p:cNvPr id="24" name="Rectangle 23">
            <a:extLst>
              <a:ext uri="{FF2B5EF4-FFF2-40B4-BE49-F238E27FC236}">
                <a16:creationId xmlns:a16="http://schemas.microsoft.com/office/drawing/2014/main" id="{A492B987-D40C-40DD-86CF-26E72F8AFC68}"/>
              </a:ext>
            </a:extLst>
          </p:cNvPr>
          <p:cNvSpPr>
            <a:spLocks noGrp="1"/>
          </p:cNvSpPr>
          <p:nvPr/>
        </p:nvSpPr>
        <p:spPr>
          <a:xfrm>
            <a:off x="1123950" y="2686050"/>
            <a:ext cx="2705100" cy="1924050"/>
          </a:xfrm>
          <a:prstGeom prst="rect">
            <a:avLst/>
          </a:prstGeom>
          <a:noFill/>
          <a:ln w="0">
            <a:noFill/>
            <a:prstDash val="solid"/>
          </a:ln>
        </p:spPr>
        <p:txBody>
          <a:bodyPr/>
          <a:lstStyle/>
          <a:p>
            <a:pPr>
              <a:buNone/>
              <a:defRPr sz="1275">
                <a:solidFill>
                  <a:srgbClr val="3A3A3A"/>
                </a:solidFill>
              </a:defRPr>
            </a:pPr>
            <a:r>
              <a:rPr sz="1600">
                <a:solidFill>
                  <a:srgbClr val="3A3A3A"/>
                </a:solidFill>
              </a:rPr>
              <a:t>Which elements?</a:t>
            </a:r>
          </a:p>
          <a:p>
            <a:pPr>
              <a:buNone/>
              <a:defRPr sz="1275">
                <a:solidFill>
                  <a:srgbClr val="3A3A3A"/>
                </a:solidFill>
              </a:defRPr>
            </a:pPr>
            <a:r>
              <a:rPr sz="1600">
                <a:solidFill>
                  <a:srgbClr val="3A3A3A"/>
                </a:solidFill>
              </a:rPr>
              <a:t>Stoichiometry?</a:t>
            </a:r>
          </a:p>
          <a:p>
            <a:pPr>
              <a:buNone/>
              <a:defRPr sz="1275">
                <a:solidFill>
                  <a:srgbClr val="3A3A3A"/>
                </a:solidFill>
              </a:defRPr>
            </a:pPr>
            <a:r>
              <a:rPr sz="1600">
                <a:solidFill>
                  <a:srgbClr val="3A3A3A"/>
                </a:solidFill>
              </a:rPr>
              <a:t>Oxidation states?</a:t>
            </a:r>
          </a:p>
          <a:p>
            <a:pPr>
              <a:buNone/>
              <a:defRPr sz="1275">
                <a:solidFill>
                  <a:srgbClr val="3A3A3A"/>
                </a:solidFill>
              </a:defRPr>
            </a:pPr>
            <a:r>
              <a:rPr sz="1600">
                <a:solidFill>
                  <a:srgbClr val="3A3A3A"/>
                </a:solidFill>
              </a:rPr>
              <a:t>Chemical priors?</a:t>
            </a:r>
          </a:p>
        </p:txBody>
      </p:sp>
      <p:sp>
        <p:nvSpPr>
          <p:cNvPr id="25" name="Rectangle: Rounded Corners 24">
            <a:extLst>
              <a:ext uri="{FF2B5EF4-FFF2-40B4-BE49-F238E27FC236}">
                <a16:creationId xmlns:a16="http://schemas.microsoft.com/office/drawing/2014/main" id="{F11676FA-3C46-45BD-AEED-70CB5468B741}"/>
              </a:ext>
            </a:extLst>
          </p:cNvPr>
          <p:cNvSpPr>
            <a:spLocks noGrp="1"/>
          </p:cNvSpPr>
          <p:nvPr/>
        </p:nvSpPr>
        <p:spPr>
          <a:xfrm>
            <a:off x="4572000" y="1809750"/>
            <a:ext cx="3048000" cy="2952750"/>
          </a:xfrm>
          <a:prstGeom prst="roundRect">
            <a:avLst>
              <a:gd name="adj" fmla="val 2581"/>
            </a:avLst>
          </a:prstGeom>
          <a:solidFill>
            <a:srgbClr val="F8F8F8"/>
          </a:solidFill>
          <a:ln w="9525">
            <a:solidFill>
              <a:srgbClr val="DEDEDE"/>
            </a:solidFill>
            <a:prstDash val="solid"/>
          </a:ln>
        </p:spPr>
        <p:txBody>
          <a:bodyPr/>
          <a:lstStyle/>
          <a:p>
            <a:endParaRPr/>
          </a:p>
        </p:txBody>
      </p:sp>
      <p:sp>
        <p:nvSpPr>
          <p:cNvPr id="26" name="Rectangle 25">
            <a:extLst>
              <a:ext uri="{FF2B5EF4-FFF2-40B4-BE49-F238E27FC236}">
                <a16:creationId xmlns:a16="http://schemas.microsoft.com/office/drawing/2014/main" id="{2ECBB580-D1AD-47EF-B12E-6387B91E6F64}"/>
              </a:ext>
            </a:extLst>
          </p:cNvPr>
          <p:cNvSpPr>
            <a:spLocks noGrp="1"/>
          </p:cNvSpPr>
          <p:nvPr/>
        </p:nvSpPr>
        <p:spPr>
          <a:xfrm>
            <a:off x="4743450" y="1981200"/>
            <a:ext cx="800100" cy="38100"/>
          </a:xfrm>
          <a:prstGeom prst="rect">
            <a:avLst/>
          </a:prstGeom>
          <a:solidFill>
            <a:srgbClr val="4F8CC9"/>
          </a:solidFill>
          <a:ln w="0">
            <a:solidFill>
              <a:srgbClr val="4F8CC9"/>
            </a:solidFill>
            <a:prstDash val="solid"/>
          </a:ln>
        </p:spPr>
        <p:txBody>
          <a:bodyPr/>
          <a:lstStyle/>
          <a:p>
            <a:endParaRPr/>
          </a:p>
        </p:txBody>
      </p:sp>
      <p:sp>
        <p:nvSpPr>
          <p:cNvPr id="27" name="Rectangle 26">
            <a:extLst>
              <a:ext uri="{FF2B5EF4-FFF2-40B4-BE49-F238E27FC236}">
                <a16:creationId xmlns:a16="http://schemas.microsoft.com/office/drawing/2014/main" id="{4D16CE60-FB5A-414E-864D-6A6685A5F91E}"/>
              </a:ext>
            </a:extLst>
          </p:cNvPr>
          <p:cNvSpPr>
            <a:spLocks noGrp="1"/>
          </p:cNvSpPr>
          <p:nvPr/>
        </p:nvSpPr>
        <p:spPr>
          <a:xfrm>
            <a:off x="4743450" y="2209800"/>
            <a:ext cx="2705100" cy="400050"/>
          </a:xfrm>
          <a:prstGeom prst="rect">
            <a:avLst/>
          </a:prstGeom>
          <a:noFill/>
          <a:ln w="0">
            <a:noFill/>
            <a:prstDash val="solid"/>
          </a:ln>
        </p:spPr>
        <p:txBody>
          <a:bodyPr/>
          <a:lstStyle/>
          <a:p>
            <a:pPr>
              <a:buNone/>
              <a:defRPr sz="1650" b="1">
                <a:solidFill>
                  <a:srgbClr val="222222"/>
                </a:solidFill>
              </a:defRPr>
            </a:pPr>
            <a:r>
              <a:rPr b="1">
                <a:solidFill>
                  <a:srgbClr val="222222"/>
                </a:solidFill>
              </a:rPr>
              <a:t>Structure</a:t>
            </a:r>
          </a:p>
        </p:txBody>
      </p:sp>
      <p:sp>
        <p:nvSpPr>
          <p:cNvPr id="28" name="Rectangle 27">
            <a:extLst>
              <a:ext uri="{FF2B5EF4-FFF2-40B4-BE49-F238E27FC236}">
                <a16:creationId xmlns:a16="http://schemas.microsoft.com/office/drawing/2014/main" id="{17D65018-2BFE-4E22-8EB1-518DB4E0A16C}"/>
              </a:ext>
            </a:extLst>
          </p:cNvPr>
          <p:cNvSpPr>
            <a:spLocks noGrp="1"/>
          </p:cNvSpPr>
          <p:nvPr/>
        </p:nvSpPr>
        <p:spPr>
          <a:xfrm>
            <a:off x="4743450" y="2686050"/>
            <a:ext cx="2705100" cy="1924050"/>
          </a:xfrm>
          <a:prstGeom prst="rect">
            <a:avLst/>
          </a:prstGeom>
          <a:noFill/>
          <a:ln w="0">
            <a:noFill/>
            <a:prstDash val="solid"/>
          </a:ln>
        </p:spPr>
        <p:txBody>
          <a:bodyPr/>
          <a:lstStyle/>
          <a:p>
            <a:pPr>
              <a:buNone/>
              <a:defRPr sz="1275">
                <a:solidFill>
                  <a:srgbClr val="3A3A3A"/>
                </a:solidFill>
              </a:defRPr>
            </a:pPr>
            <a:r>
              <a:rPr sz="1600">
                <a:solidFill>
                  <a:srgbClr val="3A3A3A"/>
                </a:solidFill>
              </a:rPr>
              <a:t>Distances</a:t>
            </a:r>
          </a:p>
          <a:p>
            <a:pPr>
              <a:buNone/>
              <a:defRPr sz="1275">
                <a:solidFill>
                  <a:srgbClr val="3A3A3A"/>
                </a:solidFill>
              </a:defRPr>
            </a:pPr>
            <a:r>
              <a:rPr sz="1600">
                <a:solidFill>
                  <a:srgbClr val="3A3A3A"/>
                </a:solidFill>
              </a:rPr>
              <a:t>Angles</a:t>
            </a:r>
          </a:p>
          <a:p>
            <a:pPr>
              <a:buNone/>
              <a:defRPr sz="1275">
                <a:solidFill>
                  <a:srgbClr val="3A3A3A"/>
                </a:solidFill>
              </a:defRPr>
            </a:pPr>
            <a:r>
              <a:rPr sz="1600">
                <a:solidFill>
                  <a:srgbClr val="3A3A3A"/>
                </a:solidFill>
              </a:rPr>
              <a:t>Symmetry</a:t>
            </a:r>
          </a:p>
          <a:p>
            <a:pPr>
              <a:buNone/>
              <a:defRPr sz="1275">
                <a:solidFill>
                  <a:srgbClr val="3A3A3A"/>
                </a:solidFill>
              </a:defRPr>
            </a:pPr>
            <a:r>
              <a:rPr sz="1600">
                <a:solidFill>
                  <a:srgbClr val="3A3A3A"/>
                </a:solidFill>
              </a:rPr>
              <a:t>Local environments</a:t>
            </a:r>
          </a:p>
        </p:txBody>
      </p:sp>
      <p:sp>
        <p:nvSpPr>
          <p:cNvPr id="29" name="Rectangle: Rounded Corners 28">
            <a:extLst>
              <a:ext uri="{FF2B5EF4-FFF2-40B4-BE49-F238E27FC236}">
                <a16:creationId xmlns:a16="http://schemas.microsoft.com/office/drawing/2014/main" id="{1C7EF9D2-B3F1-4D3F-96BD-B191362DED5F}"/>
              </a:ext>
            </a:extLst>
          </p:cNvPr>
          <p:cNvSpPr>
            <a:spLocks noGrp="1"/>
          </p:cNvSpPr>
          <p:nvPr/>
        </p:nvSpPr>
        <p:spPr>
          <a:xfrm>
            <a:off x="8191500" y="1809750"/>
            <a:ext cx="3048000" cy="2952750"/>
          </a:xfrm>
          <a:prstGeom prst="roundRect">
            <a:avLst>
              <a:gd name="adj" fmla="val 2581"/>
            </a:avLst>
          </a:prstGeom>
          <a:solidFill>
            <a:srgbClr val="F8F8F8"/>
          </a:solidFill>
          <a:ln w="9525">
            <a:solidFill>
              <a:srgbClr val="DEDEDE"/>
            </a:solidFill>
            <a:prstDash val="solid"/>
          </a:ln>
        </p:spPr>
        <p:txBody>
          <a:bodyPr/>
          <a:lstStyle/>
          <a:p>
            <a:endParaRPr/>
          </a:p>
        </p:txBody>
      </p:sp>
      <p:sp>
        <p:nvSpPr>
          <p:cNvPr id="30" name="Rectangle 29">
            <a:extLst>
              <a:ext uri="{FF2B5EF4-FFF2-40B4-BE49-F238E27FC236}">
                <a16:creationId xmlns:a16="http://schemas.microsoft.com/office/drawing/2014/main" id="{7A0D4FD2-18A2-4960-B995-5C15B928C6BC}"/>
              </a:ext>
            </a:extLst>
          </p:cNvPr>
          <p:cNvSpPr>
            <a:spLocks noGrp="1"/>
          </p:cNvSpPr>
          <p:nvPr/>
        </p:nvSpPr>
        <p:spPr>
          <a:xfrm>
            <a:off x="8362950" y="1981200"/>
            <a:ext cx="800100" cy="38100"/>
          </a:xfrm>
          <a:prstGeom prst="rect">
            <a:avLst/>
          </a:prstGeom>
          <a:solidFill>
            <a:srgbClr val="57A773"/>
          </a:solidFill>
          <a:ln w="0">
            <a:solidFill>
              <a:srgbClr val="57A773"/>
            </a:solidFill>
            <a:prstDash val="solid"/>
          </a:ln>
        </p:spPr>
        <p:txBody>
          <a:bodyPr/>
          <a:lstStyle/>
          <a:p>
            <a:endParaRPr/>
          </a:p>
        </p:txBody>
      </p:sp>
      <p:sp>
        <p:nvSpPr>
          <p:cNvPr id="31" name="Rectangle 30">
            <a:extLst>
              <a:ext uri="{FF2B5EF4-FFF2-40B4-BE49-F238E27FC236}">
                <a16:creationId xmlns:a16="http://schemas.microsoft.com/office/drawing/2014/main" id="{13F023E1-6F6D-4745-A81A-05714CD85A46}"/>
              </a:ext>
            </a:extLst>
          </p:cNvPr>
          <p:cNvSpPr>
            <a:spLocks noGrp="1"/>
          </p:cNvSpPr>
          <p:nvPr/>
        </p:nvSpPr>
        <p:spPr>
          <a:xfrm>
            <a:off x="8362950" y="2209800"/>
            <a:ext cx="2705100" cy="400050"/>
          </a:xfrm>
          <a:prstGeom prst="rect">
            <a:avLst/>
          </a:prstGeom>
          <a:noFill/>
          <a:ln w="0">
            <a:noFill/>
            <a:prstDash val="solid"/>
          </a:ln>
        </p:spPr>
        <p:txBody>
          <a:bodyPr/>
          <a:lstStyle/>
          <a:p>
            <a:pPr>
              <a:buNone/>
              <a:defRPr sz="1650" b="1">
                <a:solidFill>
                  <a:srgbClr val="222222"/>
                </a:solidFill>
              </a:defRPr>
            </a:pPr>
            <a:r>
              <a:rPr b="1">
                <a:solidFill>
                  <a:srgbClr val="222222"/>
                </a:solidFill>
              </a:rPr>
              <a:t>Representation</a:t>
            </a:r>
          </a:p>
        </p:txBody>
      </p:sp>
      <p:sp>
        <p:nvSpPr>
          <p:cNvPr id="32" name="Rectangle 31">
            <a:extLst>
              <a:ext uri="{FF2B5EF4-FFF2-40B4-BE49-F238E27FC236}">
                <a16:creationId xmlns:a16="http://schemas.microsoft.com/office/drawing/2014/main" id="{A36D3C67-8A7F-4187-8063-6F7E493ECC87}"/>
              </a:ext>
            </a:extLst>
          </p:cNvPr>
          <p:cNvSpPr>
            <a:spLocks noGrp="1"/>
          </p:cNvSpPr>
          <p:nvPr/>
        </p:nvSpPr>
        <p:spPr>
          <a:xfrm>
            <a:off x="8362950" y="2686050"/>
            <a:ext cx="2705100" cy="1924050"/>
          </a:xfrm>
          <a:prstGeom prst="rect">
            <a:avLst/>
          </a:prstGeom>
          <a:noFill/>
          <a:ln w="0">
            <a:noFill/>
            <a:prstDash val="solid"/>
          </a:ln>
        </p:spPr>
        <p:txBody>
          <a:bodyPr/>
          <a:lstStyle/>
          <a:p>
            <a:pPr>
              <a:buNone/>
              <a:defRPr sz="1275">
                <a:solidFill>
                  <a:srgbClr val="3A3A3A"/>
                </a:solidFill>
              </a:defRPr>
            </a:pPr>
            <a:r>
              <a:rPr sz="1600">
                <a:solidFill>
                  <a:srgbClr val="3A3A3A"/>
                </a:solidFill>
              </a:rPr>
              <a:t>What is invariant?</a:t>
            </a:r>
          </a:p>
          <a:p>
            <a:pPr>
              <a:buNone/>
              <a:defRPr sz="1275">
                <a:solidFill>
                  <a:srgbClr val="3A3A3A"/>
                </a:solidFill>
              </a:defRPr>
            </a:pPr>
            <a:r>
              <a:rPr sz="1600">
                <a:solidFill>
                  <a:srgbClr val="3A3A3A"/>
                </a:solidFill>
              </a:rPr>
              <a:t>What is local?</a:t>
            </a:r>
          </a:p>
          <a:p>
            <a:pPr>
              <a:buNone/>
              <a:defRPr sz="1275">
                <a:solidFill>
                  <a:srgbClr val="3A3A3A"/>
                </a:solidFill>
              </a:defRPr>
            </a:pPr>
            <a:r>
              <a:rPr sz="1600">
                <a:solidFill>
                  <a:srgbClr val="3A3A3A"/>
                </a:solidFill>
              </a:rPr>
              <a:t>What must generalise?</a:t>
            </a:r>
          </a:p>
        </p:txBody>
      </p:sp>
      <p:sp>
        <p:nvSpPr>
          <p:cNvPr id="33" name="Rectangle 32">
            <a:extLst>
              <a:ext uri="{FF2B5EF4-FFF2-40B4-BE49-F238E27FC236}">
                <a16:creationId xmlns:a16="http://schemas.microsoft.com/office/drawing/2014/main" id="{009AD749-4677-4808-A5A8-66F9D06975A2}"/>
              </a:ext>
            </a:extLst>
          </p:cNvPr>
          <p:cNvSpPr>
            <a:spLocks noGrp="1"/>
          </p:cNvSpPr>
          <p:nvPr/>
        </p:nvSpPr>
        <p:spPr>
          <a:xfrm>
            <a:off x="884098" y="5257800"/>
            <a:ext cx="10423804" cy="476250"/>
          </a:xfrm>
          <a:prstGeom prst="rect">
            <a:avLst/>
          </a:prstGeom>
          <a:noFill/>
          <a:ln w="0">
            <a:noFill/>
            <a:prstDash val="solid"/>
          </a:ln>
        </p:spPr>
        <p:txBody>
          <a:bodyPr/>
          <a:lstStyle/>
          <a:p>
            <a:pPr algn="ctr">
              <a:buNone/>
              <a:defRPr sz="1725">
                <a:solidFill>
                  <a:srgbClr val="333333"/>
                </a:solidFill>
              </a:defRPr>
            </a:pPr>
            <a:r>
              <a:rPr sz="1725">
                <a:solidFill>
                  <a:srgbClr val="333333"/>
                </a:solidFill>
              </a:rPr>
              <a:t>Deep learning does not remove representation choices; it moves many of them inside the training problem.</a:t>
            </a:r>
          </a:p>
        </p:txBody>
      </p:sp>
      <p:sp>
        <p:nvSpPr>
          <p:cNvPr id="2" name="Date Placeholder 1">
            <a:extLst>
              <a:ext uri="{FF2B5EF4-FFF2-40B4-BE49-F238E27FC236}">
                <a16:creationId xmlns:a16="http://schemas.microsoft.com/office/drawing/2014/main" id="{6DDB4271-8482-1918-D2A2-8E5D23CC6F56}"/>
              </a:ext>
            </a:extLst>
          </p:cNvPr>
          <p:cNvSpPr>
            <a:spLocks noGrp="1"/>
          </p:cNvSpPr>
          <p:nvPr>
            <p:ph type="dt" idx="10"/>
          </p:nvPr>
        </p:nvSpPr>
        <p:spPr/>
        <p:txBody>
          <a:bodyPr/>
          <a:lstStyle/>
          <a:p>
            <a:pPr>
              <a:buNone/>
            </a:pPr>
            <a:fld id="{E63B002D-9A69-4D08-87B1-767D79A98552}" type="datetime1">
              <a:rPr lang="en-US"/>
              <a:t>7/29/2026</a:t>
            </a:fld>
            <a:endParaRPr/>
          </a:p>
        </p:txBody>
      </p:sp>
      <p:sp>
        <p:nvSpPr>
          <p:cNvPr id="4" name="Slide Number Placeholder 3">
            <a:extLst>
              <a:ext uri="{FF2B5EF4-FFF2-40B4-BE49-F238E27FC236}">
                <a16:creationId xmlns:a16="http://schemas.microsoft.com/office/drawing/2014/main" id="{EAA04C64-A4A8-C408-79E6-DC9A67AEF4F8}"/>
              </a:ext>
            </a:extLst>
          </p:cNvPr>
          <p:cNvSpPr>
            <a:spLocks noGrp="1"/>
          </p:cNvSpPr>
          <p:nvPr>
            <p:ph type="sldNum" idx="12"/>
          </p:nvPr>
        </p:nvSpPr>
        <p:spPr/>
        <p:txBody>
          <a:bodyPr/>
          <a:lstStyle/>
          <a:p>
            <a:pPr>
              <a:buNone/>
            </a:pPr>
            <a:fld id="{B5CEABB6-07DC-46E8-9B57-56EC44A396E5}" type="slidenum">
              <a:rPr/>
              <a:t>7</a:t>
            </a:fld>
            <a:endParaRPr/>
          </a:p>
        </p:txBody>
      </p:sp>
    </p:spTree>
    <p:extLst>
      <p:ext uri="{BB962C8B-B14F-4D97-AF65-F5344CB8AC3E}">
        <p14:creationId xmlns:p14="http://schemas.microsoft.com/office/powerpoint/2010/main" val="3935109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07B60-3E40-466C-B58C-8DDD050A5345}"/>
              </a:ext>
            </a:extLst>
          </p:cNvPr>
          <p:cNvSpPr>
            <a:spLocks noGrp="1"/>
          </p:cNvSpPr>
          <p:nvPr>
            <p:ph type="title"/>
          </p:nvPr>
        </p:nvSpPr>
        <p:spPr>
          <a:xfrm>
            <a:off x="1885156" y="272118"/>
            <a:ext cx="8421688" cy="1325563"/>
          </a:xfrm>
        </p:spPr>
        <p:txBody>
          <a:bodyPr>
            <a:normAutofit/>
          </a:bodyPr>
          <a:lstStyle/>
          <a:p>
            <a:pPr>
              <a:buNone/>
              <a:defRPr sz="2250" b="0">
                <a:solidFill>
                  <a:srgbClr val="111111"/>
                </a:solidFill>
              </a:defRPr>
            </a:pPr>
            <a:r>
              <a:rPr sz="2250" b="0">
                <a:solidFill>
                  <a:srgbClr val="111111"/>
                </a:solidFill>
              </a:rPr>
              <a:t>Localised or distributed representations?</a:t>
            </a:r>
          </a:p>
        </p:txBody>
      </p:sp>
      <p:sp>
        <p:nvSpPr>
          <p:cNvPr id="29" name="Text Placeholder 28">
            <a:extLst>
              <a:ext uri="{FF2B5EF4-FFF2-40B4-BE49-F238E27FC236}">
                <a16:creationId xmlns:a16="http://schemas.microsoft.com/office/drawing/2014/main" id="{01C862FB-3C8C-1900-A7EA-32B295A8FDA5}"/>
              </a:ext>
            </a:extLst>
          </p:cNvPr>
          <p:cNvSpPr>
            <a:spLocks noGrp="1"/>
          </p:cNvSpPr>
          <p:nvPr>
            <p:ph type="body" idx="1"/>
          </p:nvPr>
        </p:nvSpPr>
        <p:spPr>
          <a:xfrm>
            <a:off x="1376669" y="2339990"/>
            <a:ext cx="2882475" cy="823912"/>
          </a:xfrm>
        </p:spPr>
        <p:txBody>
          <a:bodyPr/>
          <a:lstStyle/>
          <a:p>
            <a:endParaRPr/>
          </a:p>
        </p:txBody>
      </p:sp>
      <p:sp>
        <p:nvSpPr>
          <p:cNvPr id="30" name="Content Placeholder 29">
            <a:extLst>
              <a:ext uri="{FF2B5EF4-FFF2-40B4-BE49-F238E27FC236}">
                <a16:creationId xmlns:a16="http://schemas.microsoft.com/office/drawing/2014/main" id="{8ADF06FD-67A6-847C-C66E-597E3C6A5A2E}"/>
              </a:ext>
            </a:extLst>
          </p:cNvPr>
          <p:cNvSpPr>
            <a:spLocks noGrp="1"/>
          </p:cNvSpPr>
          <p:nvPr>
            <p:ph idx="2"/>
          </p:nvPr>
        </p:nvSpPr>
        <p:spPr>
          <a:xfrm>
            <a:off x="1376669" y="3397660"/>
            <a:ext cx="2882475" cy="1997867"/>
          </a:xfrm>
        </p:spPr>
        <p:txBody>
          <a:bodyPr/>
          <a:lstStyle/>
          <a:p>
            <a:endParaRPr/>
          </a:p>
        </p:txBody>
      </p:sp>
      <p:pic>
        <p:nvPicPr>
          <p:cNvPr id="42" name="Picture 25"/>
          <p:cNvPicPr>
            <a:picLocks noChangeAspect="1"/>
          </p:cNvPicPr>
          <p:nvPr/>
        </p:nvPicPr>
        <p:blipFill>
          <a:blip r:embed="rId3"/>
          <a:stretch>
            <a:fillRect/>
          </a:stretch>
        </p:blipFill>
        <p:spPr>
          <a:xfrm>
            <a:off x="1091805" y="1780794"/>
            <a:ext cx="4201891" cy="3816306"/>
          </a:xfrm>
          <a:prstGeom prst="rect">
            <a:avLst/>
          </a:prstGeom>
        </p:spPr>
      </p:pic>
      <p:sp>
        <p:nvSpPr>
          <p:cNvPr id="28" name="TextBox 27">
            <a:extLst>
              <a:ext uri="{FF2B5EF4-FFF2-40B4-BE49-F238E27FC236}">
                <a16:creationId xmlns:a16="http://schemas.microsoft.com/office/drawing/2014/main" id="{CE1F6ECE-08B1-D0C6-86D1-91D2FAE353E3}"/>
              </a:ext>
            </a:extLst>
          </p:cNvPr>
          <p:cNvSpPr>
            <a:spLocks noGrp="1"/>
          </p:cNvSpPr>
          <p:nvPr/>
        </p:nvSpPr>
        <p:spPr>
          <a:xfrm>
            <a:off x="316108" y="6017796"/>
            <a:ext cx="6104372" cy="338554"/>
          </a:xfrm>
          <a:prstGeom prst="rect">
            <a:avLst/>
          </a:prstGeom>
          <a:noFill/>
        </p:spPr>
        <p:txBody>
          <a:bodyPr wrap="square">
            <a:spAutoFit/>
          </a:bodyPr>
          <a:lstStyle/>
          <a:p>
            <a:r>
              <a:rPr sz="1600" i="1" dirty="0"/>
              <a:t>Neural </a:t>
            </a:r>
            <a:r>
              <a:rPr sz="1600" i="1" dirty="0" err="1"/>
              <a:t>Comput</a:t>
            </a:r>
            <a:r>
              <a:rPr sz="1600" i="1" dirty="0"/>
              <a:t> &amp; </a:t>
            </a:r>
            <a:r>
              <a:rPr sz="1600" i="1" dirty="0" err="1"/>
              <a:t>Applic</a:t>
            </a:r>
            <a:r>
              <a:rPr sz="1600" dirty="0"/>
              <a:t> </a:t>
            </a:r>
            <a:r>
              <a:rPr sz="1600" b="1" dirty="0"/>
              <a:t>36</a:t>
            </a:r>
            <a:r>
              <a:rPr sz="1600" dirty="0"/>
              <a:t>, 12809, </a:t>
            </a:r>
            <a:r>
              <a:rPr sz="1600" b="1" dirty="0"/>
              <a:t>2024</a:t>
            </a:r>
          </a:p>
        </p:txBody>
      </p:sp>
      <p:pic>
        <p:nvPicPr>
          <p:cNvPr id="44" name="Picture 34"/>
          <p:cNvPicPr>
            <a:picLocks noChangeAspect="1"/>
          </p:cNvPicPr>
          <p:nvPr/>
        </p:nvPicPr>
        <p:blipFill>
          <a:blip r:embed="rId4"/>
          <a:stretch>
            <a:fillRect/>
          </a:stretch>
        </p:blipFill>
        <p:spPr>
          <a:xfrm>
            <a:off x="5801685" y="1714560"/>
            <a:ext cx="5772941" cy="2898683"/>
          </a:xfrm>
          <a:prstGeom prst="rect">
            <a:avLst/>
          </a:prstGeom>
        </p:spPr>
      </p:pic>
      <p:sp>
        <p:nvSpPr>
          <p:cNvPr id="36" name="TextBox 35">
            <a:extLst>
              <a:ext uri="{FF2B5EF4-FFF2-40B4-BE49-F238E27FC236}">
                <a16:creationId xmlns:a16="http://schemas.microsoft.com/office/drawing/2014/main" id="{3F017763-5EF9-C241-94CA-22EE9093A837}"/>
              </a:ext>
            </a:extLst>
          </p:cNvPr>
          <p:cNvSpPr>
            <a:spLocks noGrp="1"/>
          </p:cNvSpPr>
          <p:nvPr/>
        </p:nvSpPr>
        <p:spPr>
          <a:xfrm>
            <a:off x="5621772" y="4829172"/>
            <a:ext cx="6132769" cy="369332"/>
          </a:xfrm>
          <a:prstGeom prst="rect">
            <a:avLst/>
          </a:prstGeom>
          <a:noFill/>
        </p:spPr>
        <p:txBody>
          <a:bodyPr wrap="none">
            <a:spAutoFit/>
          </a:bodyPr>
          <a:lstStyle/>
          <a:p>
            <a:r>
              <a:t>Distributed representations give a richer context of the data</a:t>
            </a:r>
          </a:p>
        </p:txBody>
      </p:sp>
      <p:sp>
        <p:nvSpPr>
          <p:cNvPr id="3" name="Footer Placeholder 2">
            <a:extLst>
              <a:ext uri="{FF2B5EF4-FFF2-40B4-BE49-F238E27FC236}">
                <a16:creationId xmlns:a16="http://schemas.microsoft.com/office/drawing/2014/main" id="{4849589A-A868-7454-BC4F-70FB245A1989}"/>
              </a:ext>
            </a:extLst>
          </p:cNvPr>
          <p:cNvSpPr>
            <a:spLocks noGrp="1"/>
          </p:cNvSpPr>
          <p:nvPr>
            <p:ph type="ftr" idx="11"/>
          </p:nvPr>
        </p:nvSpPr>
        <p:spPr/>
        <p:txBody>
          <a:bodyPr/>
          <a:lstStyle/>
          <a:p>
            <a:pPr>
              <a:buNone/>
              <a:defRPr sz="675">
                <a:solidFill>
                  <a:srgbClr val="777777"/>
                </a:solidFill>
              </a:defRPr>
            </a:pPr>
            <a:r>
              <a:rPr sz="675">
                <a:solidFill>
                  <a:srgbClr val="777777"/>
                </a:solidFill>
              </a:rPr>
              <a:t>Introduction to Deep Learning - PSDI &amp; Royce Materials Data Summit</a:t>
            </a:r>
          </a:p>
        </p:txBody>
      </p:sp>
      <p:sp>
        <p:nvSpPr>
          <p:cNvPr id="5" name="Date Placeholder 4">
            <a:extLst>
              <a:ext uri="{FF2B5EF4-FFF2-40B4-BE49-F238E27FC236}">
                <a16:creationId xmlns:a16="http://schemas.microsoft.com/office/drawing/2014/main" id="{0AB62021-9A8B-2A38-A6B0-7BD104419825}"/>
              </a:ext>
            </a:extLst>
          </p:cNvPr>
          <p:cNvSpPr>
            <a:spLocks noGrp="1"/>
          </p:cNvSpPr>
          <p:nvPr>
            <p:ph type="dt" idx="10"/>
          </p:nvPr>
        </p:nvSpPr>
        <p:spPr/>
        <p:txBody>
          <a:bodyPr/>
          <a:lstStyle/>
          <a:p>
            <a:pPr>
              <a:buNone/>
            </a:pPr>
            <a:fld id="{0E45333D-1186-4EC7-854F-8479B3903294}" type="datetime1">
              <a:rPr lang="en-US"/>
              <a:t>7/29/2026</a:t>
            </a:fld>
            <a:endParaRPr/>
          </a:p>
        </p:txBody>
      </p:sp>
      <p:sp>
        <p:nvSpPr>
          <p:cNvPr id="4" name="Slide Number Placeholder 3">
            <a:extLst>
              <a:ext uri="{FF2B5EF4-FFF2-40B4-BE49-F238E27FC236}">
                <a16:creationId xmlns:a16="http://schemas.microsoft.com/office/drawing/2014/main" id="{D7E68EE1-F584-E8CE-3C2A-9D369FA3D1B8}"/>
              </a:ext>
            </a:extLst>
          </p:cNvPr>
          <p:cNvSpPr>
            <a:spLocks noGrp="1"/>
          </p:cNvSpPr>
          <p:nvPr>
            <p:ph type="sldNum" idx="12"/>
          </p:nvPr>
        </p:nvSpPr>
        <p:spPr/>
        <p:txBody>
          <a:bodyPr/>
          <a:lstStyle/>
          <a:p>
            <a:pPr>
              <a:buNone/>
            </a:pPr>
            <a:fld id="{B5CEABB6-07DC-46E8-9B57-56EC44A396E5}" type="slidenum">
              <a:rPr/>
              <a:t>8</a:t>
            </a:fld>
            <a:endParaRPr/>
          </a:p>
        </p:txBody>
      </p:sp>
    </p:spTree>
    <p:extLst>
      <p:ext uri="{BB962C8B-B14F-4D97-AF65-F5344CB8AC3E}">
        <p14:creationId xmlns:p14="http://schemas.microsoft.com/office/powerpoint/2010/main" val="596398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849589A-A868-7454-BC4F-70FB245A1989}"/>
              </a:ext>
            </a:extLst>
          </p:cNvPr>
          <p:cNvSpPr>
            <a:spLocks noGrp="1"/>
          </p:cNvSpPr>
          <p:nvPr>
            <p:ph type="ftr" idx="11"/>
          </p:nvPr>
        </p:nvSpPr>
        <p:spPr/>
        <p:txBody>
          <a:bodyPr/>
          <a:lstStyle/>
          <a:p>
            <a:pPr>
              <a:buNone/>
              <a:defRPr sz="675">
                <a:solidFill>
                  <a:srgbClr val="777777"/>
                </a:solidFill>
              </a:defRPr>
            </a:pPr>
            <a:r>
              <a:rPr sz="675">
                <a:solidFill>
                  <a:srgbClr val="777777"/>
                </a:solidFill>
              </a:rPr>
              <a:t>Introduction to Deep Learning - PSDI &amp; Royce Materials Data Summit</a:t>
            </a:r>
          </a:p>
        </p:txBody>
      </p:sp>
      <p:sp>
        <p:nvSpPr>
          <p:cNvPr id="5" name="Rectangle 4">
            <a:extLst>
              <a:ext uri="{FF2B5EF4-FFF2-40B4-BE49-F238E27FC236}">
                <a16:creationId xmlns:a16="http://schemas.microsoft.com/office/drawing/2014/main" id="{26DA7218-044A-499C-96C8-13715FA3D934}"/>
              </a:ext>
            </a:extLst>
          </p:cNvPr>
          <p:cNvSpPr>
            <a:spLocks noGrp="1"/>
          </p:cNvSpPr>
          <p:nvPr/>
        </p:nvSpPr>
        <p:spPr>
          <a:xfrm>
            <a:off x="746750" y="790575"/>
            <a:ext cx="10515600" cy="762000"/>
          </a:xfrm>
          <a:prstGeom prst="rect">
            <a:avLst/>
          </a:prstGeom>
          <a:noFill/>
          <a:ln w="0">
            <a:noFill/>
            <a:prstDash val="solid"/>
          </a:ln>
        </p:spPr>
        <p:txBody>
          <a:bodyPr anchor="ctr"/>
          <a:lstStyle/>
          <a:p>
            <a:pPr algn="ctr">
              <a:buNone/>
              <a:defRPr sz="2175">
                <a:solidFill>
                  <a:srgbClr val="111111"/>
                </a:solidFill>
              </a:defRPr>
            </a:pPr>
            <a:r>
              <a:rPr sz="2175">
                <a:solidFill>
                  <a:srgbClr val="111111"/>
                </a:solidFill>
              </a:rPr>
              <a:t>WHAT EXACTLY IS AN EMBEDDING?</a:t>
            </a:r>
          </a:p>
        </p:txBody>
      </p:sp>
      <p:sp>
        <p:nvSpPr>
          <p:cNvPr id="6" name="Rectangle: Rounded Corners 5">
            <a:extLst>
              <a:ext uri="{FF2B5EF4-FFF2-40B4-BE49-F238E27FC236}">
                <a16:creationId xmlns:a16="http://schemas.microsoft.com/office/drawing/2014/main" id="{2F72E21D-0734-47C4-9232-B9164983BCF4}"/>
              </a:ext>
            </a:extLst>
          </p:cNvPr>
          <p:cNvSpPr>
            <a:spLocks noGrp="1"/>
          </p:cNvSpPr>
          <p:nvPr/>
        </p:nvSpPr>
        <p:spPr>
          <a:xfrm>
            <a:off x="1238250" y="2095500"/>
            <a:ext cx="1952625" cy="2190750"/>
          </a:xfrm>
          <a:prstGeom prst="roundRect">
            <a:avLst>
              <a:gd name="adj" fmla="val 3902"/>
            </a:avLst>
          </a:prstGeom>
          <a:solidFill>
            <a:srgbClr val="F8F8F8"/>
          </a:solidFill>
          <a:ln w="9525">
            <a:solidFill>
              <a:srgbClr val="DEDEDE"/>
            </a:solidFill>
            <a:prstDash val="solid"/>
          </a:ln>
        </p:spPr>
        <p:txBody>
          <a:bodyPr/>
          <a:lstStyle/>
          <a:p>
            <a:endParaRPr/>
          </a:p>
        </p:txBody>
      </p:sp>
      <p:sp>
        <p:nvSpPr>
          <p:cNvPr id="7" name="Rectangle 6">
            <a:extLst>
              <a:ext uri="{FF2B5EF4-FFF2-40B4-BE49-F238E27FC236}">
                <a16:creationId xmlns:a16="http://schemas.microsoft.com/office/drawing/2014/main" id="{C68F56A9-A826-4BAC-82B9-13E60D7BEFDC}"/>
              </a:ext>
            </a:extLst>
          </p:cNvPr>
          <p:cNvSpPr>
            <a:spLocks noGrp="1"/>
          </p:cNvSpPr>
          <p:nvPr/>
        </p:nvSpPr>
        <p:spPr>
          <a:xfrm>
            <a:off x="1409700" y="2266950"/>
            <a:ext cx="800100" cy="38100"/>
          </a:xfrm>
          <a:prstGeom prst="rect">
            <a:avLst/>
          </a:prstGeom>
          <a:solidFill>
            <a:srgbClr val="D97706"/>
          </a:solidFill>
          <a:ln w="0">
            <a:solidFill>
              <a:srgbClr val="D97706"/>
            </a:solidFill>
            <a:prstDash val="solid"/>
          </a:ln>
        </p:spPr>
        <p:txBody>
          <a:bodyPr/>
          <a:lstStyle/>
          <a:p>
            <a:endParaRPr/>
          </a:p>
        </p:txBody>
      </p:sp>
      <p:sp>
        <p:nvSpPr>
          <p:cNvPr id="8" name="Rectangle 7">
            <a:extLst>
              <a:ext uri="{FF2B5EF4-FFF2-40B4-BE49-F238E27FC236}">
                <a16:creationId xmlns:a16="http://schemas.microsoft.com/office/drawing/2014/main" id="{3431B598-D0E5-48EC-9989-7A09F5A4A5EB}"/>
              </a:ext>
            </a:extLst>
          </p:cNvPr>
          <p:cNvSpPr>
            <a:spLocks noGrp="1"/>
          </p:cNvSpPr>
          <p:nvPr/>
        </p:nvSpPr>
        <p:spPr>
          <a:xfrm>
            <a:off x="1409700" y="2495550"/>
            <a:ext cx="1609725" cy="400050"/>
          </a:xfrm>
          <a:prstGeom prst="rect">
            <a:avLst/>
          </a:prstGeom>
          <a:noFill/>
          <a:ln w="0">
            <a:noFill/>
            <a:prstDash val="solid"/>
          </a:ln>
        </p:spPr>
        <p:txBody>
          <a:bodyPr/>
          <a:lstStyle/>
          <a:p>
            <a:pPr>
              <a:buNone/>
              <a:defRPr sz="1650" b="1">
                <a:solidFill>
                  <a:srgbClr val="222222"/>
                </a:solidFill>
              </a:defRPr>
            </a:pPr>
            <a:r>
              <a:rPr b="1">
                <a:solidFill>
                  <a:srgbClr val="222222"/>
                </a:solidFill>
              </a:rPr>
              <a:t>Object</a:t>
            </a:r>
          </a:p>
        </p:txBody>
      </p:sp>
      <p:sp>
        <p:nvSpPr>
          <p:cNvPr id="9" name="Rectangle 8">
            <a:extLst>
              <a:ext uri="{FF2B5EF4-FFF2-40B4-BE49-F238E27FC236}">
                <a16:creationId xmlns:a16="http://schemas.microsoft.com/office/drawing/2014/main" id="{283AB726-E811-46FF-A7FD-8728A8099EE0}"/>
              </a:ext>
            </a:extLst>
          </p:cNvPr>
          <p:cNvSpPr>
            <a:spLocks noGrp="1"/>
          </p:cNvSpPr>
          <p:nvPr/>
        </p:nvSpPr>
        <p:spPr>
          <a:xfrm>
            <a:off x="1409700" y="2971800"/>
            <a:ext cx="1609725" cy="1162050"/>
          </a:xfrm>
          <a:prstGeom prst="rect">
            <a:avLst/>
          </a:prstGeom>
          <a:noFill/>
          <a:ln w="0">
            <a:noFill/>
            <a:prstDash val="solid"/>
          </a:ln>
        </p:spPr>
        <p:txBody>
          <a:bodyPr/>
          <a:lstStyle/>
          <a:p>
            <a:pPr>
              <a:buNone/>
              <a:defRPr sz="1275">
                <a:solidFill>
                  <a:srgbClr val="3A3A3A"/>
                </a:solidFill>
              </a:defRPr>
            </a:pPr>
            <a:r>
              <a:rPr sz="1600">
                <a:solidFill>
                  <a:srgbClr val="3A3A3A"/>
                </a:solidFill>
              </a:rPr>
              <a:t>word, atom, token,</a:t>
            </a:r>
          </a:p>
          <a:p>
            <a:pPr>
              <a:buNone/>
              <a:defRPr sz="1275">
                <a:solidFill>
                  <a:srgbClr val="3A3A3A"/>
                </a:solidFill>
              </a:defRPr>
            </a:pPr>
            <a:r>
              <a:rPr sz="1600">
                <a:solidFill>
                  <a:srgbClr val="3A3A3A"/>
                </a:solidFill>
              </a:rPr>
              <a:t>CIF tag, structure</a:t>
            </a:r>
          </a:p>
        </p:txBody>
      </p:sp>
      <p:sp>
        <p:nvSpPr>
          <p:cNvPr id="10" name="Rectangle 9">
            <a:extLst>
              <a:ext uri="{FF2B5EF4-FFF2-40B4-BE49-F238E27FC236}">
                <a16:creationId xmlns:a16="http://schemas.microsoft.com/office/drawing/2014/main" id="{4CFB8037-592B-45BB-9357-11F59E4E3149}"/>
              </a:ext>
            </a:extLst>
          </p:cNvPr>
          <p:cNvSpPr>
            <a:spLocks noGrp="1"/>
          </p:cNvSpPr>
          <p:nvPr/>
        </p:nvSpPr>
        <p:spPr>
          <a:xfrm>
            <a:off x="3170863" y="3067050"/>
            <a:ext cx="619125" cy="323850"/>
          </a:xfrm>
          <a:prstGeom prst="rect">
            <a:avLst/>
          </a:prstGeom>
          <a:noFill/>
          <a:ln w="0">
            <a:noFill/>
            <a:prstDash val="solid"/>
          </a:ln>
        </p:spPr>
        <p:txBody>
          <a:bodyPr/>
          <a:lstStyle/>
          <a:p>
            <a:pPr algn="ctr">
              <a:buNone/>
              <a:defRPr sz="1950">
                <a:solidFill>
                  <a:srgbClr val="777777"/>
                </a:solidFill>
              </a:defRPr>
            </a:pPr>
            <a:r>
              <a:rPr sz="2400">
                <a:solidFill>
                  <a:srgbClr val="777777"/>
                </a:solidFill>
              </a:rPr>
              <a:t>-&gt;</a:t>
            </a:r>
          </a:p>
        </p:txBody>
      </p:sp>
      <p:sp>
        <p:nvSpPr>
          <p:cNvPr id="11" name="Rectangle: Rounded Corners 10">
            <a:extLst>
              <a:ext uri="{FF2B5EF4-FFF2-40B4-BE49-F238E27FC236}">
                <a16:creationId xmlns:a16="http://schemas.microsoft.com/office/drawing/2014/main" id="{7CE2A351-4686-4C13-A4AB-B1AA569EAB3A}"/>
              </a:ext>
            </a:extLst>
          </p:cNvPr>
          <p:cNvSpPr>
            <a:spLocks noGrp="1"/>
          </p:cNvSpPr>
          <p:nvPr/>
        </p:nvSpPr>
        <p:spPr>
          <a:xfrm>
            <a:off x="3762375" y="2095500"/>
            <a:ext cx="1952625" cy="2190750"/>
          </a:xfrm>
          <a:prstGeom prst="roundRect">
            <a:avLst>
              <a:gd name="adj" fmla="val 3902"/>
            </a:avLst>
          </a:prstGeom>
          <a:solidFill>
            <a:srgbClr val="F8F8F8"/>
          </a:solidFill>
          <a:ln w="9525">
            <a:solidFill>
              <a:srgbClr val="DEDEDE"/>
            </a:solidFill>
            <a:prstDash val="solid"/>
          </a:ln>
        </p:spPr>
        <p:txBody>
          <a:bodyPr/>
          <a:lstStyle/>
          <a:p>
            <a:endParaRPr/>
          </a:p>
        </p:txBody>
      </p:sp>
      <p:sp>
        <p:nvSpPr>
          <p:cNvPr id="12" name="Rectangle 11">
            <a:extLst>
              <a:ext uri="{FF2B5EF4-FFF2-40B4-BE49-F238E27FC236}">
                <a16:creationId xmlns:a16="http://schemas.microsoft.com/office/drawing/2014/main" id="{215025E9-58D1-4734-9FA6-C0BAAE46DECC}"/>
              </a:ext>
            </a:extLst>
          </p:cNvPr>
          <p:cNvSpPr>
            <a:spLocks noGrp="1"/>
          </p:cNvSpPr>
          <p:nvPr/>
        </p:nvSpPr>
        <p:spPr>
          <a:xfrm>
            <a:off x="3933825" y="2266950"/>
            <a:ext cx="800100" cy="38100"/>
          </a:xfrm>
          <a:prstGeom prst="rect">
            <a:avLst/>
          </a:prstGeom>
          <a:solidFill>
            <a:srgbClr val="4F8CC9"/>
          </a:solidFill>
          <a:ln w="0">
            <a:solidFill>
              <a:srgbClr val="4F8CC9"/>
            </a:solidFill>
            <a:prstDash val="solid"/>
          </a:ln>
        </p:spPr>
        <p:txBody>
          <a:bodyPr/>
          <a:lstStyle/>
          <a:p>
            <a:endParaRPr/>
          </a:p>
        </p:txBody>
      </p:sp>
      <p:sp>
        <p:nvSpPr>
          <p:cNvPr id="13" name="Rectangle 12">
            <a:extLst>
              <a:ext uri="{FF2B5EF4-FFF2-40B4-BE49-F238E27FC236}">
                <a16:creationId xmlns:a16="http://schemas.microsoft.com/office/drawing/2014/main" id="{85D47079-A565-4F4D-97A0-F8CF18A25850}"/>
              </a:ext>
            </a:extLst>
          </p:cNvPr>
          <p:cNvSpPr>
            <a:spLocks noGrp="1"/>
          </p:cNvSpPr>
          <p:nvPr/>
        </p:nvSpPr>
        <p:spPr>
          <a:xfrm>
            <a:off x="3933825" y="2495550"/>
            <a:ext cx="1609725" cy="400050"/>
          </a:xfrm>
          <a:prstGeom prst="rect">
            <a:avLst/>
          </a:prstGeom>
          <a:noFill/>
          <a:ln w="0">
            <a:noFill/>
            <a:prstDash val="solid"/>
          </a:ln>
        </p:spPr>
        <p:txBody>
          <a:bodyPr/>
          <a:lstStyle/>
          <a:p>
            <a:pPr>
              <a:buNone/>
              <a:defRPr sz="1650" b="1">
                <a:solidFill>
                  <a:srgbClr val="222222"/>
                </a:solidFill>
              </a:defRPr>
            </a:pPr>
            <a:r>
              <a:rPr b="1">
                <a:solidFill>
                  <a:srgbClr val="222222"/>
                </a:solidFill>
              </a:rPr>
              <a:t>Index</a:t>
            </a:r>
          </a:p>
        </p:txBody>
      </p:sp>
      <p:sp>
        <p:nvSpPr>
          <p:cNvPr id="14" name="Rectangle 13">
            <a:extLst>
              <a:ext uri="{FF2B5EF4-FFF2-40B4-BE49-F238E27FC236}">
                <a16:creationId xmlns:a16="http://schemas.microsoft.com/office/drawing/2014/main" id="{913647C3-C901-4955-91ED-3D78CCBB9A27}"/>
              </a:ext>
            </a:extLst>
          </p:cNvPr>
          <p:cNvSpPr>
            <a:spLocks noGrp="1"/>
          </p:cNvSpPr>
          <p:nvPr/>
        </p:nvSpPr>
        <p:spPr>
          <a:xfrm>
            <a:off x="3933825" y="2971800"/>
            <a:ext cx="1609725" cy="1162050"/>
          </a:xfrm>
          <a:prstGeom prst="rect">
            <a:avLst/>
          </a:prstGeom>
          <a:noFill/>
          <a:ln w="0">
            <a:noFill/>
            <a:prstDash val="solid"/>
          </a:ln>
        </p:spPr>
        <p:txBody>
          <a:bodyPr/>
          <a:lstStyle/>
          <a:p>
            <a:pPr>
              <a:buNone/>
              <a:defRPr sz="1275">
                <a:solidFill>
                  <a:srgbClr val="3A3A3A"/>
                </a:solidFill>
              </a:defRPr>
            </a:pPr>
            <a:r>
              <a:rPr sz="1600">
                <a:solidFill>
                  <a:srgbClr val="3A3A3A"/>
                </a:solidFill>
              </a:rPr>
              <a:t>a discrete symbol</a:t>
            </a:r>
          </a:p>
          <a:p>
            <a:pPr>
              <a:buNone/>
              <a:defRPr sz="1275">
                <a:solidFill>
                  <a:srgbClr val="3A3A3A"/>
                </a:solidFill>
              </a:defRPr>
            </a:pPr>
            <a:r>
              <a:rPr sz="1600">
                <a:solidFill>
                  <a:srgbClr val="3A3A3A"/>
                </a:solidFill>
              </a:rPr>
              <a:t>from a vocabulary</a:t>
            </a:r>
          </a:p>
        </p:txBody>
      </p:sp>
      <p:sp>
        <p:nvSpPr>
          <p:cNvPr id="15" name="Rectangle 14">
            <a:extLst>
              <a:ext uri="{FF2B5EF4-FFF2-40B4-BE49-F238E27FC236}">
                <a16:creationId xmlns:a16="http://schemas.microsoft.com/office/drawing/2014/main" id="{1489C881-F15D-4AC9-8BBA-423387B13A32}"/>
              </a:ext>
            </a:extLst>
          </p:cNvPr>
          <p:cNvSpPr>
            <a:spLocks noGrp="1"/>
          </p:cNvSpPr>
          <p:nvPr/>
        </p:nvSpPr>
        <p:spPr>
          <a:xfrm>
            <a:off x="5694988" y="3067050"/>
            <a:ext cx="619125" cy="323850"/>
          </a:xfrm>
          <a:prstGeom prst="rect">
            <a:avLst/>
          </a:prstGeom>
          <a:noFill/>
          <a:ln w="0">
            <a:noFill/>
            <a:prstDash val="solid"/>
          </a:ln>
        </p:spPr>
        <p:txBody>
          <a:bodyPr/>
          <a:lstStyle/>
          <a:p>
            <a:pPr algn="ctr">
              <a:buNone/>
              <a:defRPr sz="1950">
                <a:solidFill>
                  <a:srgbClr val="777777"/>
                </a:solidFill>
              </a:defRPr>
            </a:pPr>
            <a:r>
              <a:rPr sz="2400">
                <a:solidFill>
                  <a:srgbClr val="777777"/>
                </a:solidFill>
              </a:rPr>
              <a:t>-&gt;</a:t>
            </a:r>
          </a:p>
        </p:txBody>
      </p:sp>
      <p:sp>
        <p:nvSpPr>
          <p:cNvPr id="16" name="Rectangle: Rounded Corners 15">
            <a:extLst>
              <a:ext uri="{FF2B5EF4-FFF2-40B4-BE49-F238E27FC236}">
                <a16:creationId xmlns:a16="http://schemas.microsoft.com/office/drawing/2014/main" id="{9A4EAD91-0448-4CE7-A775-FCDC362A5AF8}"/>
              </a:ext>
            </a:extLst>
          </p:cNvPr>
          <p:cNvSpPr>
            <a:spLocks noGrp="1"/>
          </p:cNvSpPr>
          <p:nvPr/>
        </p:nvSpPr>
        <p:spPr>
          <a:xfrm>
            <a:off x="6286500" y="2095500"/>
            <a:ext cx="1952625" cy="2190750"/>
          </a:xfrm>
          <a:prstGeom prst="roundRect">
            <a:avLst>
              <a:gd name="adj" fmla="val 3902"/>
            </a:avLst>
          </a:prstGeom>
          <a:solidFill>
            <a:srgbClr val="F8F8F8"/>
          </a:solidFill>
          <a:ln w="9525">
            <a:solidFill>
              <a:srgbClr val="DEDEDE"/>
            </a:solidFill>
            <a:prstDash val="solid"/>
          </a:ln>
        </p:spPr>
        <p:txBody>
          <a:bodyPr/>
          <a:lstStyle/>
          <a:p>
            <a:endParaRPr/>
          </a:p>
        </p:txBody>
      </p:sp>
      <p:sp>
        <p:nvSpPr>
          <p:cNvPr id="17" name="Rectangle 16">
            <a:extLst>
              <a:ext uri="{FF2B5EF4-FFF2-40B4-BE49-F238E27FC236}">
                <a16:creationId xmlns:a16="http://schemas.microsoft.com/office/drawing/2014/main" id="{F5D04275-A734-4DD6-B325-D2E67D804DBC}"/>
              </a:ext>
            </a:extLst>
          </p:cNvPr>
          <p:cNvSpPr>
            <a:spLocks noGrp="1"/>
          </p:cNvSpPr>
          <p:nvPr/>
        </p:nvSpPr>
        <p:spPr>
          <a:xfrm>
            <a:off x="6457950" y="2266950"/>
            <a:ext cx="800100" cy="38100"/>
          </a:xfrm>
          <a:prstGeom prst="rect">
            <a:avLst/>
          </a:prstGeom>
          <a:solidFill>
            <a:srgbClr val="57A773"/>
          </a:solidFill>
          <a:ln w="0">
            <a:solidFill>
              <a:srgbClr val="57A773"/>
            </a:solidFill>
            <a:prstDash val="solid"/>
          </a:ln>
        </p:spPr>
        <p:txBody>
          <a:bodyPr/>
          <a:lstStyle/>
          <a:p>
            <a:endParaRPr/>
          </a:p>
        </p:txBody>
      </p:sp>
      <p:sp>
        <p:nvSpPr>
          <p:cNvPr id="18" name="Rectangle 17">
            <a:extLst>
              <a:ext uri="{FF2B5EF4-FFF2-40B4-BE49-F238E27FC236}">
                <a16:creationId xmlns:a16="http://schemas.microsoft.com/office/drawing/2014/main" id="{0424DD05-02C0-4B7B-99C9-9A9136D7B5C7}"/>
              </a:ext>
            </a:extLst>
          </p:cNvPr>
          <p:cNvSpPr>
            <a:spLocks noGrp="1"/>
          </p:cNvSpPr>
          <p:nvPr/>
        </p:nvSpPr>
        <p:spPr>
          <a:xfrm>
            <a:off x="6457950" y="2495550"/>
            <a:ext cx="1609725" cy="400050"/>
          </a:xfrm>
          <a:prstGeom prst="rect">
            <a:avLst/>
          </a:prstGeom>
          <a:noFill/>
          <a:ln w="0">
            <a:noFill/>
            <a:prstDash val="solid"/>
          </a:ln>
        </p:spPr>
        <p:txBody>
          <a:bodyPr/>
          <a:lstStyle/>
          <a:p>
            <a:pPr>
              <a:buNone/>
              <a:defRPr sz="1650" b="1">
                <a:solidFill>
                  <a:srgbClr val="222222"/>
                </a:solidFill>
              </a:defRPr>
            </a:pPr>
            <a:r>
              <a:rPr b="1">
                <a:solidFill>
                  <a:srgbClr val="222222"/>
                </a:solidFill>
              </a:rPr>
              <a:t>Vector</a:t>
            </a:r>
          </a:p>
        </p:txBody>
      </p:sp>
      <p:sp>
        <p:nvSpPr>
          <p:cNvPr id="19" name="Rectangle 18">
            <a:extLst>
              <a:ext uri="{FF2B5EF4-FFF2-40B4-BE49-F238E27FC236}">
                <a16:creationId xmlns:a16="http://schemas.microsoft.com/office/drawing/2014/main" id="{5FEA4AEC-A7DE-44E1-908E-61F5EE10A478}"/>
              </a:ext>
            </a:extLst>
          </p:cNvPr>
          <p:cNvSpPr>
            <a:spLocks noGrp="1"/>
          </p:cNvSpPr>
          <p:nvPr/>
        </p:nvSpPr>
        <p:spPr>
          <a:xfrm>
            <a:off x="6457950" y="2971800"/>
            <a:ext cx="1609725" cy="1162050"/>
          </a:xfrm>
          <a:prstGeom prst="rect">
            <a:avLst/>
          </a:prstGeom>
          <a:noFill/>
          <a:ln w="0">
            <a:noFill/>
            <a:prstDash val="solid"/>
          </a:ln>
        </p:spPr>
        <p:txBody>
          <a:bodyPr/>
          <a:lstStyle/>
          <a:p>
            <a:pPr>
              <a:buNone/>
              <a:defRPr sz="1275">
                <a:solidFill>
                  <a:srgbClr val="3A3A3A"/>
                </a:solidFill>
              </a:defRPr>
            </a:pPr>
            <a:r>
              <a:rPr sz="1600">
                <a:solidFill>
                  <a:srgbClr val="3A3A3A"/>
                </a:solidFill>
              </a:rPr>
              <a:t>a point in a learned</a:t>
            </a:r>
          </a:p>
          <a:p>
            <a:pPr>
              <a:buNone/>
              <a:defRPr sz="1275">
                <a:solidFill>
                  <a:srgbClr val="3A3A3A"/>
                </a:solidFill>
              </a:defRPr>
            </a:pPr>
            <a:r>
              <a:rPr sz="1600">
                <a:solidFill>
                  <a:srgbClr val="3A3A3A"/>
                </a:solidFill>
              </a:rPr>
              <a:t>continuous space</a:t>
            </a:r>
          </a:p>
        </p:txBody>
      </p:sp>
      <p:sp>
        <p:nvSpPr>
          <p:cNvPr id="20" name="Rectangle 19">
            <a:extLst>
              <a:ext uri="{FF2B5EF4-FFF2-40B4-BE49-F238E27FC236}">
                <a16:creationId xmlns:a16="http://schemas.microsoft.com/office/drawing/2014/main" id="{DB48830E-9381-4BBE-9AFF-CFA8B3FBC43F}"/>
              </a:ext>
            </a:extLst>
          </p:cNvPr>
          <p:cNvSpPr>
            <a:spLocks noGrp="1"/>
          </p:cNvSpPr>
          <p:nvPr/>
        </p:nvSpPr>
        <p:spPr>
          <a:xfrm>
            <a:off x="8219113" y="3067050"/>
            <a:ext cx="619125" cy="323850"/>
          </a:xfrm>
          <a:prstGeom prst="rect">
            <a:avLst/>
          </a:prstGeom>
          <a:noFill/>
          <a:ln w="0">
            <a:noFill/>
            <a:prstDash val="solid"/>
          </a:ln>
        </p:spPr>
        <p:txBody>
          <a:bodyPr/>
          <a:lstStyle/>
          <a:p>
            <a:pPr algn="ctr">
              <a:buNone/>
              <a:defRPr sz="1950">
                <a:solidFill>
                  <a:srgbClr val="777777"/>
                </a:solidFill>
              </a:defRPr>
            </a:pPr>
            <a:r>
              <a:rPr sz="2400">
                <a:solidFill>
                  <a:srgbClr val="777777"/>
                </a:solidFill>
              </a:rPr>
              <a:t>-&gt;</a:t>
            </a:r>
          </a:p>
        </p:txBody>
      </p:sp>
      <p:sp>
        <p:nvSpPr>
          <p:cNvPr id="21" name="Rectangle: Rounded Corners 20">
            <a:extLst>
              <a:ext uri="{FF2B5EF4-FFF2-40B4-BE49-F238E27FC236}">
                <a16:creationId xmlns:a16="http://schemas.microsoft.com/office/drawing/2014/main" id="{A989D151-B103-461C-8E89-E46E157160C4}"/>
              </a:ext>
            </a:extLst>
          </p:cNvPr>
          <p:cNvSpPr>
            <a:spLocks noGrp="1"/>
          </p:cNvSpPr>
          <p:nvPr/>
        </p:nvSpPr>
        <p:spPr>
          <a:xfrm>
            <a:off x="8810625" y="2095500"/>
            <a:ext cx="1952625" cy="2190750"/>
          </a:xfrm>
          <a:prstGeom prst="roundRect">
            <a:avLst>
              <a:gd name="adj" fmla="val 3902"/>
            </a:avLst>
          </a:prstGeom>
          <a:solidFill>
            <a:srgbClr val="F8F8F8"/>
          </a:solidFill>
          <a:ln w="9525">
            <a:solidFill>
              <a:srgbClr val="DEDEDE"/>
            </a:solidFill>
            <a:prstDash val="solid"/>
          </a:ln>
        </p:spPr>
        <p:txBody>
          <a:bodyPr/>
          <a:lstStyle/>
          <a:p>
            <a:endParaRPr/>
          </a:p>
        </p:txBody>
      </p:sp>
      <p:sp>
        <p:nvSpPr>
          <p:cNvPr id="22" name="Rectangle 21">
            <a:extLst>
              <a:ext uri="{FF2B5EF4-FFF2-40B4-BE49-F238E27FC236}">
                <a16:creationId xmlns:a16="http://schemas.microsoft.com/office/drawing/2014/main" id="{1250CD62-2C5B-4712-9A88-E1FB86150349}"/>
              </a:ext>
            </a:extLst>
          </p:cNvPr>
          <p:cNvSpPr>
            <a:spLocks noGrp="1"/>
          </p:cNvSpPr>
          <p:nvPr/>
        </p:nvSpPr>
        <p:spPr>
          <a:xfrm>
            <a:off x="8982075" y="2266950"/>
            <a:ext cx="800100" cy="38100"/>
          </a:xfrm>
          <a:prstGeom prst="rect">
            <a:avLst/>
          </a:prstGeom>
          <a:solidFill>
            <a:srgbClr val="B35C9E"/>
          </a:solidFill>
          <a:ln w="0">
            <a:solidFill>
              <a:srgbClr val="B35C9E"/>
            </a:solidFill>
            <a:prstDash val="solid"/>
          </a:ln>
        </p:spPr>
        <p:txBody>
          <a:bodyPr/>
          <a:lstStyle/>
          <a:p>
            <a:endParaRPr/>
          </a:p>
        </p:txBody>
      </p:sp>
      <p:sp>
        <p:nvSpPr>
          <p:cNvPr id="23" name="Rectangle 22">
            <a:extLst>
              <a:ext uri="{FF2B5EF4-FFF2-40B4-BE49-F238E27FC236}">
                <a16:creationId xmlns:a16="http://schemas.microsoft.com/office/drawing/2014/main" id="{74D9EA11-0439-4FAD-AE54-FFCC9334AA6C}"/>
              </a:ext>
            </a:extLst>
          </p:cNvPr>
          <p:cNvSpPr>
            <a:spLocks noGrp="1"/>
          </p:cNvSpPr>
          <p:nvPr/>
        </p:nvSpPr>
        <p:spPr>
          <a:xfrm>
            <a:off x="8982075" y="2495550"/>
            <a:ext cx="1609725" cy="400050"/>
          </a:xfrm>
          <a:prstGeom prst="rect">
            <a:avLst/>
          </a:prstGeom>
          <a:noFill/>
          <a:ln w="0">
            <a:noFill/>
            <a:prstDash val="solid"/>
          </a:ln>
        </p:spPr>
        <p:txBody>
          <a:bodyPr/>
          <a:lstStyle/>
          <a:p>
            <a:pPr>
              <a:buNone/>
              <a:defRPr sz="1650" b="1">
                <a:solidFill>
                  <a:srgbClr val="222222"/>
                </a:solidFill>
              </a:defRPr>
            </a:pPr>
            <a:r>
              <a:rPr b="1">
                <a:solidFill>
                  <a:srgbClr val="222222"/>
                </a:solidFill>
              </a:rPr>
              <a:t>Geometry</a:t>
            </a:r>
          </a:p>
        </p:txBody>
      </p:sp>
      <p:sp>
        <p:nvSpPr>
          <p:cNvPr id="24" name="Rectangle 23">
            <a:extLst>
              <a:ext uri="{FF2B5EF4-FFF2-40B4-BE49-F238E27FC236}">
                <a16:creationId xmlns:a16="http://schemas.microsoft.com/office/drawing/2014/main" id="{DD58CA04-941F-4EFC-B77C-73BC5EFE9BA6}"/>
              </a:ext>
            </a:extLst>
          </p:cNvPr>
          <p:cNvSpPr>
            <a:spLocks noGrp="1"/>
          </p:cNvSpPr>
          <p:nvPr/>
        </p:nvSpPr>
        <p:spPr>
          <a:xfrm>
            <a:off x="8982075" y="2971800"/>
            <a:ext cx="1609725" cy="1162050"/>
          </a:xfrm>
          <a:prstGeom prst="rect">
            <a:avLst/>
          </a:prstGeom>
          <a:noFill/>
          <a:ln w="0">
            <a:noFill/>
            <a:prstDash val="solid"/>
          </a:ln>
        </p:spPr>
        <p:txBody>
          <a:bodyPr/>
          <a:lstStyle/>
          <a:p>
            <a:pPr>
              <a:buNone/>
              <a:defRPr sz="1275">
                <a:solidFill>
                  <a:srgbClr val="3A3A3A"/>
                </a:solidFill>
              </a:defRPr>
            </a:pPr>
            <a:r>
              <a:rPr sz="1600">
                <a:solidFill>
                  <a:srgbClr val="3A3A3A"/>
                </a:solidFill>
              </a:rPr>
              <a:t>distances and directions</a:t>
            </a:r>
          </a:p>
          <a:p>
            <a:pPr>
              <a:buNone/>
              <a:defRPr sz="1275">
                <a:solidFill>
                  <a:srgbClr val="3A3A3A"/>
                </a:solidFill>
              </a:defRPr>
            </a:pPr>
            <a:r>
              <a:rPr sz="1600">
                <a:solidFill>
                  <a:srgbClr val="3A3A3A"/>
                </a:solidFill>
              </a:rPr>
              <a:t>carry task information</a:t>
            </a:r>
          </a:p>
        </p:txBody>
      </p:sp>
      <p:sp>
        <p:nvSpPr>
          <p:cNvPr id="25" name="Rectangle 24">
            <a:extLst>
              <a:ext uri="{FF2B5EF4-FFF2-40B4-BE49-F238E27FC236}">
                <a16:creationId xmlns:a16="http://schemas.microsoft.com/office/drawing/2014/main" id="{CE568F28-C290-4738-944D-02366B6B7062}"/>
              </a:ext>
            </a:extLst>
          </p:cNvPr>
          <p:cNvSpPr>
            <a:spLocks noGrp="1"/>
          </p:cNvSpPr>
          <p:nvPr/>
        </p:nvSpPr>
        <p:spPr>
          <a:xfrm>
            <a:off x="1085850" y="5095875"/>
            <a:ext cx="10020300" cy="457200"/>
          </a:xfrm>
          <a:prstGeom prst="rect">
            <a:avLst/>
          </a:prstGeom>
          <a:noFill/>
          <a:ln w="0">
            <a:noFill/>
            <a:prstDash val="solid"/>
          </a:ln>
        </p:spPr>
        <p:txBody>
          <a:bodyPr/>
          <a:lstStyle/>
          <a:p>
            <a:pPr algn="ctr">
              <a:buNone/>
              <a:defRPr sz="1650">
                <a:solidFill>
                  <a:srgbClr val="333333"/>
                </a:solidFill>
              </a:defRPr>
            </a:pPr>
            <a:r>
              <a:rPr>
                <a:solidFill>
                  <a:srgbClr val="333333"/>
                </a:solidFill>
              </a:rPr>
              <a:t>The entries of the vector need not be individually meaningful; the learned geometry is the useful object.</a:t>
            </a:r>
          </a:p>
        </p:txBody>
      </p:sp>
      <p:sp>
        <p:nvSpPr>
          <p:cNvPr id="2" name="Date Placeholder 1">
            <a:extLst>
              <a:ext uri="{FF2B5EF4-FFF2-40B4-BE49-F238E27FC236}">
                <a16:creationId xmlns:a16="http://schemas.microsoft.com/office/drawing/2014/main" id="{562E79C7-D3F2-83B3-E096-5E8FE4DEC726}"/>
              </a:ext>
            </a:extLst>
          </p:cNvPr>
          <p:cNvSpPr>
            <a:spLocks noGrp="1"/>
          </p:cNvSpPr>
          <p:nvPr>
            <p:ph type="dt" idx="10"/>
          </p:nvPr>
        </p:nvSpPr>
        <p:spPr/>
        <p:txBody>
          <a:bodyPr/>
          <a:lstStyle/>
          <a:p>
            <a:pPr>
              <a:buNone/>
            </a:pPr>
            <a:fld id="{606C2783-BDB9-4851-9709-59B587488346}" type="datetime1">
              <a:rPr lang="en-US"/>
              <a:t>7/29/2026</a:t>
            </a:fld>
            <a:endParaRPr/>
          </a:p>
        </p:txBody>
      </p:sp>
      <p:sp>
        <p:nvSpPr>
          <p:cNvPr id="4" name="Slide Number Placeholder 3">
            <a:extLst>
              <a:ext uri="{FF2B5EF4-FFF2-40B4-BE49-F238E27FC236}">
                <a16:creationId xmlns:a16="http://schemas.microsoft.com/office/drawing/2014/main" id="{E0B3158E-1267-EB22-638B-C381327C2DCA}"/>
              </a:ext>
            </a:extLst>
          </p:cNvPr>
          <p:cNvSpPr>
            <a:spLocks noGrp="1"/>
          </p:cNvSpPr>
          <p:nvPr>
            <p:ph type="sldNum" idx="12"/>
          </p:nvPr>
        </p:nvSpPr>
        <p:spPr/>
        <p:txBody>
          <a:bodyPr/>
          <a:lstStyle/>
          <a:p>
            <a:pPr>
              <a:buNone/>
            </a:pPr>
            <a:fld id="{B5CEABB6-07DC-46E8-9B57-56EC44A396E5}" type="slidenum">
              <a:rPr/>
              <a:t>9</a:t>
            </a:fld>
            <a:endParaRPr/>
          </a:p>
        </p:txBody>
      </p:sp>
    </p:spTree>
    <p:extLst>
      <p:ext uri="{BB962C8B-B14F-4D97-AF65-F5344CB8AC3E}">
        <p14:creationId xmlns:p14="http://schemas.microsoft.com/office/powerpoint/2010/main" val="596398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BDD14-0999-4B04-8229-2C94AEC93A2F}"/>
              </a:ext>
            </a:extLst>
          </p:cNvPr>
          <p:cNvSpPr>
            <a:spLocks noGrp="1"/>
          </p:cNvSpPr>
          <p:nvPr>
            <p:ph type="title"/>
          </p:nvPr>
        </p:nvSpPr>
        <p:spPr/>
        <p:txBody>
          <a:bodyPr>
            <a:normAutofit/>
          </a:bodyPr>
          <a:lstStyle/>
          <a:p>
            <a:pPr>
              <a:buNone/>
              <a:defRPr sz="2250" b="0">
                <a:solidFill>
                  <a:srgbClr val="111111"/>
                </a:solidFill>
              </a:defRPr>
            </a:pPr>
            <a:r>
              <a:rPr sz="2250" b="0">
                <a:solidFill>
                  <a:srgbClr val="111111"/>
                </a:solidFill>
              </a:rPr>
              <a:t>Context can teach a representation</a:t>
            </a:r>
          </a:p>
        </p:txBody>
      </p:sp>
      <p:sp>
        <p:nvSpPr>
          <p:cNvPr id="7" name="Footer Placeholder 6">
            <a:extLst>
              <a:ext uri="{FF2B5EF4-FFF2-40B4-BE49-F238E27FC236}">
                <a16:creationId xmlns:a16="http://schemas.microsoft.com/office/drawing/2014/main" id="{54BF5757-9393-0651-C9D1-C2F7A4A12E30}"/>
              </a:ext>
            </a:extLst>
          </p:cNvPr>
          <p:cNvSpPr>
            <a:spLocks noGrp="1"/>
          </p:cNvSpPr>
          <p:nvPr>
            <p:ph type="ftr" idx="11"/>
          </p:nvPr>
        </p:nvSpPr>
        <p:spPr/>
        <p:txBody>
          <a:bodyPr/>
          <a:lstStyle/>
          <a:p>
            <a:pPr>
              <a:buNone/>
              <a:defRPr sz="675">
                <a:solidFill>
                  <a:srgbClr val="777777"/>
                </a:solidFill>
              </a:defRPr>
            </a:pPr>
            <a:r>
              <a:rPr sz="675">
                <a:solidFill>
                  <a:srgbClr val="777777"/>
                </a:solidFill>
              </a:rPr>
              <a:t>Introduction to Deep Learning - PSDI &amp; Royce Materials Data Summit</a:t>
            </a:r>
          </a:p>
        </p:txBody>
      </p:sp>
      <p:sp>
        <p:nvSpPr>
          <p:cNvPr id="3" name="Content Placeholder 2">
            <a:extLst>
              <a:ext uri="{FF2B5EF4-FFF2-40B4-BE49-F238E27FC236}">
                <a16:creationId xmlns:a16="http://schemas.microsoft.com/office/drawing/2014/main" id="{A8C63384-3855-4443-B588-89E27D9383DC}"/>
              </a:ext>
            </a:extLst>
          </p:cNvPr>
          <p:cNvSpPr>
            <a:spLocks noGrp="1"/>
          </p:cNvSpPr>
          <p:nvPr>
            <p:ph idx="4294967295"/>
          </p:nvPr>
        </p:nvSpPr>
        <p:spPr>
          <a:xfrm>
            <a:off x="1676400" y="2665413"/>
            <a:ext cx="10515600" cy="1389062"/>
          </a:xfrm>
        </p:spPr>
        <p:txBody>
          <a:bodyPr/>
          <a:lstStyle/>
          <a:p>
            <a:r>
              <a:t>The distributional hypothesis – Firth 1957</a:t>
            </a:r>
          </a:p>
          <a:p>
            <a:r>
              <a:t>“You know a word by the company it keeps.”</a:t>
            </a:r>
          </a:p>
        </p:txBody>
      </p:sp>
      <p:pic>
        <p:nvPicPr>
          <p:cNvPr id="12" name="Picture 3"/>
          <p:cNvPicPr>
            <a:picLocks noChangeAspect="1"/>
          </p:cNvPicPr>
          <p:nvPr/>
        </p:nvPicPr>
        <p:blipFill>
          <a:blip r:embed="rId3"/>
          <a:stretch>
            <a:fillRect/>
          </a:stretch>
        </p:blipFill>
        <p:spPr>
          <a:xfrm>
            <a:off x="9174119" y="1759745"/>
            <a:ext cx="2265450" cy="3200398"/>
          </a:xfrm>
          <a:prstGeom prst="rect">
            <a:avLst/>
          </a:prstGeom>
        </p:spPr>
      </p:pic>
      <p:sp>
        <p:nvSpPr>
          <p:cNvPr id="5" name="TextBox 4">
            <a:extLst>
              <a:ext uri="{FF2B5EF4-FFF2-40B4-BE49-F238E27FC236}">
                <a16:creationId xmlns:a16="http://schemas.microsoft.com/office/drawing/2014/main" id="{0F462114-F7AE-4CF5-AA13-0B440BB1880B}"/>
              </a:ext>
            </a:extLst>
          </p:cNvPr>
          <p:cNvSpPr>
            <a:spLocks noGrp="1"/>
          </p:cNvSpPr>
          <p:nvPr/>
        </p:nvSpPr>
        <p:spPr>
          <a:xfrm>
            <a:off x="515983" y="5120589"/>
            <a:ext cx="11160035" cy="584775"/>
          </a:xfrm>
          <a:prstGeom prst="rect">
            <a:avLst/>
          </a:prstGeom>
          <a:noFill/>
        </p:spPr>
        <p:txBody>
          <a:bodyPr wrap="square">
            <a:spAutoFit/>
          </a:bodyPr>
          <a:lstStyle/>
          <a:p>
            <a:r>
              <a:rPr sz="3200"/>
              <a:t>Marianne saw a </a:t>
            </a:r>
            <a:r>
              <a:rPr sz="3200">
                <a:solidFill>
                  <a:schemeClr val="accent6">
                    <a:lumMod val="75000"/>
                  </a:schemeClr>
                </a:solidFill>
              </a:rPr>
              <a:t>furry little </a:t>
            </a:r>
            <a:r>
              <a:rPr sz="3200" b="1">
                <a:solidFill>
                  <a:schemeClr val="accent2"/>
                </a:solidFill>
              </a:rPr>
              <a:t>wampamink</a:t>
            </a:r>
            <a:r>
              <a:rPr sz="3200"/>
              <a:t> hiding </a:t>
            </a:r>
            <a:r>
              <a:rPr sz="3200">
                <a:solidFill>
                  <a:schemeClr val="accent6">
                    <a:lumMod val="75000"/>
                  </a:schemeClr>
                </a:solidFill>
              </a:rPr>
              <a:t>in the tree</a:t>
            </a:r>
            <a:r>
              <a:rPr sz="3200"/>
              <a:t>.</a:t>
            </a:r>
          </a:p>
        </p:txBody>
      </p:sp>
      <p:sp>
        <p:nvSpPr>
          <p:cNvPr id="4" name="Date Placeholder 3">
            <a:extLst>
              <a:ext uri="{FF2B5EF4-FFF2-40B4-BE49-F238E27FC236}">
                <a16:creationId xmlns:a16="http://schemas.microsoft.com/office/drawing/2014/main" id="{9F5131A1-DC89-B009-7FD4-6FF995F494D9}"/>
              </a:ext>
            </a:extLst>
          </p:cNvPr>
          <p:cNvSpPr>
            <a:spLocks noGrp="1"/>
          </p:cNvSpPr>
          <p:nvPr>
            <p:ph type="dt" idx="10"/>
          </p:nvPr>
        </p:nvSpPr>
        <p:spPr/>
        <p:txBody>
          <a:bodyPr/>
          <a:lstStyle/>
          <a:p>
            <a:pPr>
              <a:buNone/>
            </a:pPr>
            <a:fld id="{927CB23C-152D-4FC1-A05B-C7A39928CFCF}" type="datetime1">
              <a:rPr lang="en-US"/>
              <a:t>7/29/2026</a:t>
            </a:fld>
            <a:endParaRPr/>
          </a:p>
        </p:txBody>
      </p:sp>
      <p:sp>
        <p:nvSpPr>
          <p:cNvPr id="6" name="Slide Number Placeholder 5">
            <a:extLst>
              <a:ext uri="{FF2B5EF4-FFF2-40B4-BE49-F238E27FC236}">
                <a16:creationId xmlns:a16="http://schemas.microsoft.com/office/drawing/2014/main" id="{FEC75A25-1E5A-EBCA-4C55-F63363592DE1}"/>
              </a:ext>
            </a:extLst>
          </p:cNvPr>
          <p:cNvSpPr>
            <a:spLocks noGrp="1"/>
          </p:cNvSpPr>
          <p:nvPr>
            <p:ph type="sldNum" idx="12"/>
          </p:nvPr>
        </p:nvSpPr>
        <p:spPr/>
        <p:txBody>
          <a:bodyPr/>
          <a:lstStyle/>
          <a:p>
            <a:pPr>
              <a:buNone/>
            </a:pPr>
            <a:fld id="{B5CEABB6-07DC-46E8-9B57-56EC44A396E5}" type="slidenum">
              <a:rPr/>
              <a:t>10</a:t>
            </a:fld>
            <a:endParaRPr/>
          </a:p>
        </p:txBody>
      </p:sp>
    </p:spTree>
    <p:extLst>
      <p:ext uri="{BB962C8B-B14F-4D97-AF65-F5344CB8AC3E}">
        <p14:creationId xmlns:p14="http://schemas.microsoft.com/office/powerpoint/2010/main" val="259465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86052-0395-41A5-9FE0-BD7F5427DE76}"/>
              </a:ext>
            </a:extLst>
          </p:cNvPr>
          <p:cNvSpPr>
            <a:spLocks noGrp="1"/>
          </p:cNvSpPr>
          <p:nvPr>
            <p:ph type="title"/>
          </p:nvPr>
        </p:nvSpPr>
        <p:spPr/>
        <p:txBody>
          <a:bodyPr>
            <a:normAutofit/>
          </a:bodyPr>
          <a:lstStyle/>
          <a:p>
            <a:pPr>
              <a:buNone/>
              <a:defRPr sz="2250" b="0">
                <a:solidFill>
                  <a:srgbClr val="111111"/>
                </a:solidFill>
              </a:defRPr>
            </a:pPr>
            <a:r>
              <a:rPr sz="2250" b="0">
                <a:solidFill>
                  <a:srgbClr val="111111"/>
                </a:solidFill>
              </a:rPr>
              <a:t>Prediction objectives can create embeddings</a:t>
            </a:r>
          </a:p>
        </p:txBody>
      </p:sp>
      <p:sp>
        <p:nvSpPr>
          <p:cNvPr id="7" name="Footer Placeholder 6">
            <a:extLst>
              <a:ext uri="{FF2B5EF4-FFF2-40B4-BE49-F238E27FC236}">
                <a16:creationId xmlns:a16="http://schemas.microsoft.com/office/drawing/2014/main" id="{44471DBF-2096-8556-817F-B1BDA55AB701}"/>
              </a:ext>
            </a:extLst>
          </p:cNvPr>
          <p:cNvSpPr>
            <a:spLocks noGrp="1"/>
          </p:cNvSpPr>
          <p:nvPr>
            <p:ph type="ftr" idx="11"/>
          </p:nvPr>
        </p:nvSpPr>
        <p:spPr/>
        <p:txBody>
          <a:bodyPr/>
          <a:lstStyle/>
          <a:p>
            <a:pPr>
              <a:buNone/>
              <a:defRPr sz="675">
                <a:solidFill>
                  <a:srgbClr val="777777"/>
                </a:solidFill>
              </a:defRPr>
            </a:pPr>
            <a:r>
              <a:rPr sz="675">
                <a:solidFill>
                  <a:srgbClr val="777777"/>
                </a:solidFill>
              </a:rPr>
              <a:t>Introduction to Deep Learning - PSDI &amp; Royce Materials Data Summit</a:t>
            </a:r>
          </a:p>
        </p:txBody>
      </p:sp>
      <p:sp>
        <p:nvSpPr>
          <p:cNvPr id="3" name="Content Placeholder 2">
            <a:extLst>
              <a:ext uri="{FF2B5EF4-FFF2-40B4-BE49-F238E27FC236}">
                <a16:creationId xmlns:a16="http://schemas.microsoft.com/office/drawing/2014/main" id="{39248B86-FE48-4A56-82A3-CEE855F20147}"/>
              </a:ext>
            </a:extLst>
          </p:cNvPr>
          <p:cNvSpPr>
            <a:spLocks noGrp="1"/>
          </p:cNvSpPr>
          <p:nvPr>
            <p:ph idx="4294967295"/>
          </p:nvPr>
        </p:nvSpPr>
        <p:spPr>
          <a:xfrm>
            <a:off x="893780" y="2090692"/>
            <a:ext cx="6280150" cy="3487825"/>
          </a:xfrm>
        </p:spPr>
        <p:txBody>
          <a:bodyPr>
            <a:normAutofit/>
          </a:bodyPr>
          <a:lstStyle/>
          <a:p>
            <a:pPr marL="0" indent="0">
              <a:buNone/>
            </a:pPr>
            <a:r>
              <a:rPr sz="1800"/>
              <a:t>Using the word; predict the context</a:t>
            </a:r>
          </a:p>
          <a:p>
            <a:pPr marL="0" indent="0">
              <a:buNone/>
            </a:pPr>
            <a:endParaRPr sz="1800"/>
          </a:p>
          <a:p>
            <a:pPr marL="0" indent="0">
              <a:buNone/>
            </a:pPr>
            <a:r>
              <a:rPr sz="1800"/>
              <a:t>Train over a large corpus of text</a:t>
            </a:r>
          </a:p>
          <a:p>
            <a:pPr marL="0" indent="0">
              <a:buNone/>
            </a:pPr>
            <a:endParaRPr sz="1800"/>
          </a:p>
          <a:p>
            <a:pPr marL="0" indent="0">
              <a:buNone/>
            </a:pPr>
            <a:r>
              <a:rPr sz="1800"/>
              <a:t>Optimise the weights of the networks to minimise the loss on the context predictions</a:t>
            </a:r>
          </a:p>
          <a:p>
            <a:pPr marL="0" indent="0">
              <a:buNone/>
            </a:pPr>
            <a:endParaRPr sz="1800"/>
          </a:p>
          <a:p>
            <a:pPr marL="0" indent="0">
              <a:buNone/>
            </a:pPr>
            <a:r>
              <a:rPr sz="1800"/>
              <a:t>Use the resulting embedding network to create the representations</a:t>
            </a:r>
          </a:p>
        </p:txBody>
      </p:sp>
      <p:sp>
        <p:nvSpPr>
          <p:cNvPr id="22" name="TextBox 21">
            <a:extLst>
              <a:ext uri="{FF2B5EF4-FFF2-40B4-BE49-F238E27FC236}">
                <a16:creationId xmlns:a16="http://schemas.microsoft.com/office/drawing/2014/main" id="{3C7FB1B9-DF2F-490F-BA47-6AB2DF71C8D7}"/>
              </a:ext>
            </a:extLst>
          </p:cNvPr>
          <p:cNvSpPr>
            <a:spLocks noGrp="1"/>
          </p:cNvSpPr>
          <p:nvPr/>
        </p:nvSpPr>
        <p:spPr>
          <a:xfrm>
            <a:off x="7201253" y="1683580"/>
            <a:ext cx="3071675" cy="584775"/>
          </a:xfrm>
          <a:prstGeom prst="rect">
            <a:avLst/>
          </a:prstGeom>
          <a:noFill/>
        </p:spPr>
        <p:txBody>
          <a:bodyPr wrap="none">
            <a:spAutoFit/>
          </a:bodyPr>
          <a:lstStyle/>
          <a:p>
            <a:r>
              <a:rPr sz="3200">
                <a:latin typeface="Comic Sans MS"/>
                <a:ea typeface="Comic Sans MS"/>
                <a:cs typeface="Comic Sans MS"/>
              </a:rPr>
              <a:t>learn this word</a:t>
            </a:r>
          </a:p>
        </p:txBody>
      </p:sp>
      <p:sp>
        <p:nvSpPr>
          <p:cNvPr id="23" name="Rectangle 22">
            <a:extLst>
              <a:ext uri="{FF2B5EF4-FFF2-40B4-BE49-F238E27FC236}">
                <a16:creationId xmlns:a16="http://schemas.microsoft.com/office/drawing/2014/main" id="{653EEE64-BDAD-4A41-94F3-FAAE7CC45C2A}"/>
              </a:ext>
            </a:extLst>
          </p:cNvPr>
          <p:cNvSpPr>
            <a:spLocks noGrp="1"/>
          </p:cNvSpPr>
          <p:nvPr/>
        </p:nvSpPr>
        <p:spPr>
          <a:xfrm>
            <a:off x="8357615" y="1710508"/>
            <a:ext cx="777241" cy="5507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386D68E-1097-4516-AF34-06E9E5851A8B}"/>
              </a:ext>
            </a:extLst>
          </p:cNvPr>
          <p:cNvSpPr>
            <a:spLocks noGrp="1"/>
          </p:cNvSpPr>
          <p:nvPr/>
        </p:nvSpPr>
        <p:spPr>
          <a:xfrm>
            <a:off x="7255899" y="1700598"/>
            <a:ext cx="1013003" cy="55074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5" name="Rectangle 24">
            <a:extLst>
              <a:ext uri="{FF2B5EF4-FFF2-40B4-BE49-F238E27FC236}">
                <a16:creationId xmlns:a16="http://schemas.microsoft.com/office/drawing/2014/main" id="{75E64A14-9489-4B66-B652-9D77754D2ED4}"/>
              </a:ext>
            </a:extLst>
          </p:cNvPr>
          <p:cNvSpPr>
            <a:spLocks noGrp="1"/>
          </p:cNvSpPr>
          <p:nvPr/>
        </p:nvSpPr>
        <p:spPr>
          <a:xfrm>
            <a:off x="9206815" y="1703467"/>
            <a:ext cx="971161" cy="55074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34" name="Picture 27"/>
          <p:cNvPicPr>
            <a:picLocks noChangeAspect="1"/>
          </p:cNvPicPr>
          <p:nvPr/>
        </p:nvPicPr>
        <p:blipFill>
          <a:blip r:embed="rId3"/>
          <a:stretch>
            <a:fillRect/>
          </a:stretch>
        </p:blipFill>
        <p:spPr>
          <a:xfrm>
            <a:off x="7722101" y="2685959"/>
            <a:ext cx="3631699" cy="2892558"/>
          </a:xfrm>
          <a:prstGeom prst="rect">
            <a:avLst/>
          </a:prstGeom>
        </p:spPr>
      </p:pic>
      <p:sp>
        <p:nvSpPr>
          <p:cNvPr id="5" name="Date Placeholder 4">
            <a:extLst>
              <a:ext uri="{FF2B5EF4-FFF2-40B4-BE49-F238E27FC236}">
                <a16:creationId xmlns:a16="http://schemas.microsoft.com/office/drawing/2014/main" id="{DA4C83AE-2F24-4FB6-0218-3AA14E78518F}"/>
              </a:ext>
            </a:extLst>
          </p:cNvPr>
          <p:cNvSpPr>
            <a:spLocks noGrp="1"/>
          </p:cNvSpPr>
          <p:nvPr>
            <p:ph type="dt" idx="10"/>
          </p:nvPr>
        </p:nvSpPr>
        <p:spPr/>
        <p:txBody>
          <a:bodyPr/>
          <a:lstStyle/>
          <a:p>
            <a:pPr>
              <a:buNone/>
            </a:pPr>
            <a:fld id="{CC32B223-3CB0-41D0-BAA2-CF31AD8EE83B}" type="datetime1">
              <a:rPr lang="en-US"/>
              <a:t>7/29/2026</a:t>
            </a:fld>
            <a:endParaRPr/>
          </a:p>
        </p:txBody>
      </p:sp>
      <p:sp>
        <p:nvSpPr>
          <p:cNvPr id="4" name="Slide Number Placeholder 3">
            <a:extLst>
              <a:ext uri="{FF2B5EF4-FFF2-40B4-BE49-F238E27FC236}">
                <a16:creationId xmlns:a16="http://schemas.microsoft.com/office/drawing/2014/main" id="{4CB47C79-C901-4E48-3F36-C1DB6CD7CF9C}"/>
              </a:ext>
            </a:extLst>
          </p:cNvPr>
          <p:cNvSpPr>
            <a:spLocks noGrp="1"/>
          </p:cNvSpPr>
          <p:nvPr>
            <p:ph type="sldNum" idx="12"/>
          </p:nvPr>
        </p:nvSpPr>
        <p:spPr/>
        <p:txBody>
          <a:bodyPr/>
          <a:lstStyle/>
          <a:p>
            <a:pPr>
              <a:buNone/>
            </a:pPr>
            <a:fld id="{B5CEABB6-07DC-46E8-9B57-56EC44A396E5}" type="slidenum">
              <a:rPr/>
              <a:t>11</a:t>
            </a:fld>
            <a:endParaRPr/>
          </a:p>
        </p:txBody>
      </p:sp>
    </p:spTree>
    <p:extLst>
      <p:ext uri="{BB962C8B-B14F-4D97-AF65-F5344CB8AC3E}">
        <p14:creationId xmlns:p14="http://schemas.microsoft.com/office/powerpoint/2010/main" val="177617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C7E2E80-FE56-EF84-0045-F168D98D2B76}"/>
              </a:ext>
            </a:extLst>
          </p:cNvPr>
          <p:cNvSpPr>
            <a:spLocks noGrp="1"/>
          </p:cNvSpPr>
          <p:nvPr>
            <p:ph type="ftr" idx="11"/>
          </p:nvPr>
        </p:nvSpPr>
        <p:spPr/>
        <p:txBody>
          <a:bodyPr/>
          <a:lstStyle/>
          <a:p>
            <a:pPr marL="0" indent="0" algn="ctr">
              <a:lnSpc>
                <a:spcPct val="100000"/>
              </a:lnSpc>
              <a:spcBef>
                <a:spcPts val="0"/>
              </a:spcBef>
              <a:spcAft>
                <a:spcPts val="0"/>
              </a:spcAft>
              <a:buNone/>
              <a:defRPr sz="675">
                <a:solidFill>
                  <a:srgbClr val="777777"/>
                </a:solidFill>
              </a:defRPr>
            </a:pPr>
            <a:r>
              <a:rPr sz="675" b="0" i="0" u="none" cap="none">
                <a:ln>
                  <a:noFill/>
                </a:ln>
                <a:solidFill>
                  <a:srgbClr val="777777"/>
                </a:solidFill>
                <a:latin typeface="Tenorite"/>
                <a:ea typeface="Tenorite"/>
                <a:cs typeface="Tenorite"/>
              </a:rPr>
              <a:t>Introduction to Deep Learning - PSDI &amp; Royce Materials Data Summit</a:t>
            </a:r>
          </a:p>
        </p:txBody>
      </p:sp>
      <p:sp>
        <p:nvSpPr>
          <p:cNvPr id="5" name="Title 1">
            <a:extLst>
              <a:ext uri="{FF2B5EF4-FFF2-40B4-BE49-F238E27FC236}">
                <a16:creationId xmlns:a16="http://schemas.microsoft.com/office/drawing/2014/main" id="{64AF5EDB-F63A-70A8-ACDB-17B29AE3B2F0}"/>
              </a:ext>
            </a:extLst>
          </p:cNvPr>
          <p:cNvSpPr>
            <a:spLocks noGrp="1"/>
          </p:cNvSpPr>
          <p:nvPr/>
        </p:nvSpPr>
        <p:spPr>
          <a:xfrm>
            <a:off x="1938800" y="898383"/>
            <a:ext cx="8643582" cy="1325563"/>
          </a:xfrm>
          <a:prstGeom prst="rect">
            <a:avLst/>
          </a:prstGeom>
        </p:spPr>
        <p:txBody>
          <a:bodyPr/>
          <a:lstStyle>
            <a:lvl1pPr algn="l">
              <a:lnSpc>
                <a:spcPct val="90000"/>
              </a:lnSpc>
              <a:buNone/>
              <a:defRPr sz="4400" cap="all">
                <a:solidFill>
                  <a:schemeClr val="tx1"/>
                </a:solidFill>
                <a:latin typeface="+mj-lt"/>
                <a:ea typeface="+mj-lt"/>
                <a:cs typeface="+mj-lt"/>
              </a:defRPr>
            </a:lvl1pPr>
          </a:lstStyle>
          <a:p>
            <a:pPr marL="0" indent="0" algn="l">
              <a:lnSpc>
                <a:spcPct val="90000"/>
              </a:lnSpc>
              <a:spcBef>
                <a:spcPts val="0"/>
              </a:spcBef>
              <a:spcAft>
                <a:spcPts val="0"/>
              </a:spcAft>
              <a:buNone/>
              <a:defRPr sz="2250" b="0">
                <a:solidFill>
                  <a:srgbClr val="111111"/>
                </a:solidFill>
              </a:defRPr>
            </a:pPr>
            <a:r>
              <a:rPr sz="2250" b="0" i="0" u="none" cap="all">
                <a:ln>
                  <a:noFill/>
                </a:ln>
                <a:solidFill>
                  <a:srgbClr val="111111"/>
                </a:solidFill>
                <a:latin typeface="Tenorite"/>
                <a:ea typeface="Tenorite"/>
                <a:cs typeface="Tenorite"/>
              </a:rPr>
              <a:t>MLPs are learned vector-to-vector maps</a:t>
            </a:r>
          </a:p>
        </p:txBody>
      </p:sp>
      <p:pic>
        <p:nvPicPr>
          <p:cNvPr id="13" name="Picture 5"/>
          <p:cNvPicPr>
            <a:picLocks noChangeAspect="1"/>
          </p:cNvPicPr>
          <p:nvPr/>
        </p:nvPicPr>
        <p:blipFill>
          <a:blip r:embed="rId3"/>
          <a:stretch>
            <a:fillRect/>
          </a:stretch>
        </p:blipFill>
        <p:spPr>
          <a:xfrm>
            <a:off x="3833573" y="1463887"/>
            <a:ext cx="4675348" cy="4495730"/>
          </a:xfrm>
          <a:prstGeom prst="rect">
            <a:avLst/>
          </a:prstGeom>
        </p:spPr>
      </p:pic>
      <p:sp>
        <p:nvSpPr>
          <p:cNvPr id="7" name="TextBox 6">
            <a:extLst>
              <a:ext uri="{FF2B5EF4-FFF2-40B4-BE49-F238E27FC236}">
                <a16:creationId xmlns:a16="http://schemas.microsoft.com/office/drawing/2014/main" id="{86D55E4C-2C12-D595-BA20-7D99B7708816}"/>
              </a:ext>
            </a:extLst>
          </p:cNvPr>
          <p:cNvSpPr>
            <a:spLocks noGrp="1"/>
          </p:cNvSpPr>
          <p:nvPr/>
        </p:nvSpPr>
        <p:spPr>
          <a:xfrm>
            <a:off x="2359776" y="3391899"/>
            <a:ext cx="1528111" cy="461665"/>
          </a:xfrm>
          <a:prstGeom prst="rect">
            <a:avLst/>
          </a:prstGeom>
          <a:noFill/>
        </p:spPr>
        <p:txBody>
          <a:bodyPr wrap="none">
            <a:spAutoFit/>
          </a:bodyPr>
          <a:lstStyle/>
          <a:p>
            <a:pPr marL="0" indent="0" algn="l">
              <a:lnSpc>
                <a:spcPct val="100000"/>
              </a:lnSpc>
              <a:spcBef>
                <a:spcPts val="0"/>
              </a:spcBef>
              <a:spcAft>
                <a:spcPts val="0"/>
              </a:spcAft>
              <a:buNone/>
            </a:pPr>
            <a:r>
              <a:rPr sz="2400" b="0" i="0" u="none" cap="none">
                <a:ln>
                  <a:noFill/>
                </a:ln>
                <a:solidFill>
                  <a:srgbClr val="2E2C61"/>
                </a:solidFill>
                <a:latin typeface="Calibri"/>
                <a:ea typeface="Calibri"/>
                <a:cs typeface="Calibri"/>
              </a:rPr>
              <a:t>Input layer</a:t>
            </a:r>
          </a:p>
        </p:txBody>
      </p:sp>
      <p:sp>
        <p:nvSpPr>
          <p:cNvPr id="8" name="TextBox 7">
            <a:extLst>
              <a:ext uri="{FF2B5EF4-FFF2-40B4-BE49-F238E27FC236}">
                <a16:creationId xmlns:a16="http://schemas.microsoft.com/office/drawing/2014/main" id="{E31AC97D-3184-D4D5-944F-7F2129BABDCB}"/>
              </a:ext>
            </a:extLst>
          </p:cNvPr>
          <p:cNvSpPr>
            <a:spLocks noGrp="1"/>
          </p:cNvSpPr>
          <p:nvPr/>
        </p:nvSpPr>
        <p:spPr>
          <a:xfrm>
            <a:off x="8495859" y="3448464"/>
            <a:ext cx="1757341" cy="461665"/>
          </a:xfrm>
          <a:prstGeom prst="rect">
            <a:avLst/>
          </a:prstGeom>
          <a:noFill/>
        </p:spPr>
        <p:txBody>
          <a:bodyPr wrap="none">
            <a:spAutoFit/>
          </a:bodyPr>
          <a:lstStyle/>
          <a:p>
            <a:pPr marL="0" indent="0" algn="l">
              <a:lnSpc>
                <a:spcPct val="100000"/>
              </a:lnSpc>
              <a:spcBef>
                <a:spcPts val="0"/>
              </a:spcBef>
              <a:spcAft>
                <a:spcPts val="0"/>
              </a:spcAft>
              <a:buNone/>
            </a:pPr>
            <a:r>
              <a:rPr sz="2400" b="0" i="0" u="none" cap="none">
                <a:ln>
                  <a:noFill/>
                </a:ln>
                <a:solidFill>
                  <a:srgbClr val="2E2C61"/>
                </a:solidFill>
                <a:latin typeface="Calibri"/>
                <a:ea typeface="Calibri"/>
                <a:cs typeface="Calibri"/>
              </a:rPr>
              <a:t>Output layer</a:t>
            </a:r>
          </a:p>
        </p:txBody>
      </p:sp>
      <p:sp>
        <p:nvSpPr>
          <p:cNvPr id="9" name="TextBox 8">
            <a:extLst>
              <a:ext uri="{FF2B5EF4-FFF2-40B4-BE49-F238E27FC236}">
                <a16:creationId xmlns:a16="http://schemas.microsoft.com/office/drawing/2014/main" id="{0824EBE8-B56F-9D74-DF1B-6A4D920554E4}"/>
              </a:ext>
            </a:extLst>
          </p:cNvPr>
          <p:cNvSpPr>
            <a:spLocks noGrp="1"/>
          </p:cNvSpPr>
          <p:nvPr/>
        </p:nvSpPr>
        <p:spPr>
          <a:xfrm>
            <a:off x="5279514" y="5306474"/>
            <a:ext cx="1880323" cy="461665"/>
          </a:xfrm>
          <a:prstGeom prst="rect">
            <a:avLst/>
          </a:prstGeom>
          <a:noFill/>
        </p:spPr>
        <p:txBody>
          <a:bodyPr wrap="none">
            <a:spAutoFit/>
          </a:bodyPr>
          <a:lstStyle/>
          <a:p>
            <a:pPr marL="0" indent="0" algn="l">
              <a:lnSpc>
                <a:spcPct val="100000"/>
              </a:lnSpc>
              <a:spcBef>
                <a:spcPts val="0"/>
              </a:spcBef>
              <a:spcAft>
                <a:spcPts val="0"/>
              </a:spcAft>
              <a:buNone/>
            </a:pPr>
            <a:r>
              <a:rPr sz="2400" b="0" i="0" u="none" cap="none">
                <a:ln>
                  <a:noFill/>
                </a:ln>
                <a:solidFill>
                  <a:srgbClr val="2E2C61"/>
                </a:solidFill>
                <a:latin typeface="Calibri"/>
                <a:ea typeface="Calibri"/>
                <a:cs typeface="Calibri"/>
              </a:rPr>
              <a:t>Hidden layers</a:t>
            </a:r>
          </a:p>
        </p:txBody>
      </p:sp>
      <p:sp>
        <p:nvSpPr>
          <p:cNvPr id="2" name="Date Placeholder 1">
            <a:extLst>
              <a:ext uri="{FF2B5EF4-FFF2-40B4-BE49-F238E27FC236}">
                <a16:creationId xmlns:a16="http://schemas.microsoft.com/office/drawing/2014/main" id="{C3CDA862-0AB4-9C41-F5CA-DBD3700961EC}"/>
              </a:ext>
            </a:extLst>
          </p:cNvPr>
          <p:cNvSpPr>
            <a:spLocks noGrp="1"/>
          </p:cNvSpPr>
          <p:nvPr>
            <p:ph type="dt" idx="10"/>
          </p:nvPr>
        </p:nvSpPr>
        <p:spPr/>
        <p:txBody>
          <a:bodyPr/>
          <a:lstStyle/>
          <a:p>
            <a:pPr>
              <a:buNone/>
            </a:pPr>
            <a:fld id="{C3C9D3BB-9C8C-48CF-9F72-1C4997648666}" type="datetime1">
              <a:rPr lang="en-US"/>
              <a:t>7/29/2026</a:t>
            </a:fld>
            <a:endParaRPr/>
          </a:p>
        </p:txBody>
      </p:sp>
      <p:sp>
        <p:nvSpPr>
          <p:cNvPr id="4" name="Slide Number Placeholder 3">
            <a:extLst>
              <a:ext uri="{FF2B5EF4-FFF2-40B4-BE49-F238E27FC236}">
                <a16:creationId xmlns:a16="http://schemas.microsoft.com/office/drawing/2014/main" id="{3C91F38C-BE3F-DE4F-A8AC-FA722951860B}"/>
              </a:ext>
            </a:extLst>
          </p:cNvPr>
          <p:cNvSpPr>
            <a:spLocks noGrp="1"/>
          </p:cNvSpPr>
          <p:nvPr>
            <p:ph type="sldNum" idx="12"/>
          </p:nvPr>
        </p:nvSpPr>
        <p:spPr/>
        <p:txBody>
          <a:bodyPr/>
          <a:lstStyle/>
          <a:p>
            <a:pPr>
              <a:buNone/>
            </a:pPr>
            <a:fld id="{B5CEABB6-07DC-46E8-9B57-56EC44A396E5}" type="slidenum">
              <a:rPr/>
              <a:t>12</a:t>
            </a:fld>
            <a:endParaRPr/>
          </a:p>
        </p:txBody>
      </p:sp>
    </p:spTree>
    <p:extLst>
      <p:ext uri="{BB962C8B-B14F-4D97-AF65-F5344CB8AC3E}">
        <p14:creationId xmlns:p14="http://schemas.microsoft.com/office/powerpoint/2010/main" val="36379997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38F861B-6E90-D347-AA7B-C5BAB8567C4E}"/>
              </a:ext>
            </a:extLst>
          </p:cNvPr>
          <p:cNvSpPr>
            <a:spLocks noGrp="1"/>
          </p:cNvSpPr>
          <p:nvPr>
            <p:ph type="ftr" idx="11"/>
          </p:nvPr>
        </p:nvSpPr>
        <p:spPr/>
        <p:txBody>
          <a:bodyPr/>
          <a:lstStyle/>
          <a:p>
            <a:pPr marL="0" indent="0" algn="ctr">
              <a:lnSpc>
                <a:spcPct val="100000"/>
              </a:lnSpc>
              <a:spcBef>
                <a:spcPts val="0"/>
              </a:spcBef>
              <a:spcAft>
                <a:spcPts val="0"/>
              </a:spcAft>
              <a:buNone/>
              <a:defRPr sz="675">
                <a:solidFill>
                  <a:srgbClr val="777777"/>
                </a:solidFill>
              </a:defRPr>
            </a:pPr>
            <a:r>
              <a:rPr sz="675" b="0" i="0" u="none" cap="none">
                <a:ln>
                  <a:noFill/>
                </a:ln>
                <a:solidFill>
                  <a:srgbClr val="777777"/>
                </a:solidFill>
                <a:latin typeface="Tenorite"/>
                <a:ea typeface="Tenorite"/>
                <a:cs typeface="Tenorite"/>
              </a:rPr>
              <a:t>Introduction to Deep Learning - PSDI &amp; Royce Materials Data Summit</a:t>
            </a:r>
          </a:p>
        </p:txBody>
      </p:sp>
      <p:sp>
        <p:nvSpPr>
          <p:cNvPr id="5" name="Title 1">
            <a:extLst>
              <a:ext uri="{FF2B5EF4-FFF2-40B4-BE49-F238E27FC236}">
                <a16:creationId xmlns:a16="http://schemas.microsoft.com/office/drawing/2014/main" id="{A2DB8B04-D7C4-4EF4-BA35-A4ED27063014}"/>
              </a:ext>
            </a:extLst>
          </p:cNvPr>
          <p:cNvSpPr>
            <a:spLocks noGrp="1"/>
          </p:cNvSpPr>
          <p:nvPr/>
        </p:nvSpPr>
        <p:spPr>
          <a:xfrm>
            <a:off x="2955612" y="899248"/>
            <a:ext cx="7329424" cy="1325563"/>
          </a:xfrm>
          <a:prstGeom prst="rect">
            <a:avLst/>
          </a:prstGeom>
        </p:spPr>
        <p:txBody>
          <a:bodyPr/>
          <a:lstStyle>
            <a:lvl1pPr algn="l">
              <a:lnSpc>
                <a:spcPct val="90000"/>
              </a:lnSpc>
              <a:buNone/>
              <a:defRPr sz="4400" cap="all">
                <a:solidFill>
                  <a:schemeClr val="tx1"/>
                </a:solidFill>
                <a:latin typeface="+mj-lt"/>
                <a:ea typeface="+mj-lt"/>
                <a:cs typeface="+mj-lt"/>
              </a:defRPr>
            </a:lvl1pPr>
          </a:lstStyle>
          <a:p>
            <a:pPr marL="0" indent="0" algn="l">
              <a:lnSpc>
                <a:spcPct val="90000"/>
              </a:lnSpc>
              <a:spcBef>
                <a:spcPts val="0"/>
              </a:spcBef>
              <a:spcAft>
                <a:spcPts val="0"/>
              </a:spcAft>
              <a:buNone/>
              <a:defRPr sz="2250" b="0">
                <a:solidFill>
                  <a:srgbClr val="111111"/>
                </a:solidFill>
              </a:defRPr>
            </a:pPr>
            <a:r>
              <a:rPr sz="2250" b="0" i="0" u="none" cap="all">
                <a:ln>
                  <a:noFill/>
                </a:ln>
                <a:solidFill>
                  <a:srgbClr val="111111"/>
                </a:solidFill>
                <a:latin typeface="Tenorite"/>
                <a:ea typeface="Tenorite"/>
                <a:cs typeface="Tenorite"/>
              </a:rPr>
              <a:t>A dense layer is affine map plus nonlinearity</a:t>
            </a:r>
          </a:p>
        </p:txBody>
      </p:sp>
      <p:sp>
        <p:nvSpPr>
          <p:cNvPr id="6" name="Content Placeholder 2">
            <a:extLst>
              <a:ext uri="{FF2B5EF4-FFF2-40B4-BE49-F238E27FC236}">
                <a16:creationId xmlns:a16="http://schemas.microsoft.com/office/drawing/2014/main" id="{83C14CBB-63EE-0A89-D6A3-BE9DA2F1F3B5}"/>
              </a:ext>
            </a:extLst>
          </p:cNvPr>
          <p:cNvSpPr>
            <a:spLocks noGrp="1"/>
          </p:cNvSpPr>
          <p:nvPr/>
        </p:nvSpPr>
        <p:spPr>
          <a:xfrm>
            <a:off x="838200" y="1765705"/>
            <a:ext cx="7920372" cy="430380"/>
          </a:xfrm>
          <a:prstGeom prst="rect">
            <a:avLst/>
          </a:prstGeom>
        </p:spPr>
        <p:txBody>
          <a:bodyPr/>
          <a:lst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gn="l">
              <a:lnSpc>
                <a:spcPct val="90000"/>
              </a:lnSpc>
              <a:spcBef>
                <a:spcPts val="1000"/>
              </a:spcBef>
              <a:spcAft>
                <a:spcPts val="0"/>
              </a:spcAft>
              <a:buNone/>
              <a:defRPr sz="1500">
                <a:solidFill>
                  <a:srgbClr val="333333"/>
                </a:solidFill>
              </a:defRPr>
            </a:pPr>
            <a:r>
              <a:rPr sz="1800" b="0" i="0" u="none" cap="none">
                <a:ln>
                  <a:noFill/>
                </a:ln>
                <a:solidFill>
                  <a:srgbClr val="333333"/>
                </a:solidFill>
                <a:latin typeface="Tenorite"/>
                <a:ea typeface="Tenorite"/>
                <a:cs typeface="Tenorite"/>
              </a:rPr>
              <a:t>Each layer applies z = Wx + b then a nonlinear activation a = g(z)</a:t>
            </a:r>
          </a:p>
        </p:txBody>
      </p:sp>
      <p:sp>
        <p:nvSpPr>
          <p:cNvPr id="7" name="Oval 6">
            <a:extLst>
              <a:ext uri="{FF2B5EF4-FFF2-40B4-BE49-F238E27FC236}">
                <a16:creationId xmlns:a16="http://schemas.microsoft.com/office/drawing/2014/main" id="{A9DC50AE-F60A-0C42-14C4-D0CFD42E1504}"/>
              </a:ext>
            </a:extLst>
          </p:cNvPr>
          <p:cNvSpPr>
            <a:spLocks noGrp="1"/>
          </p:cNvSpPr>
          <p:nvPr/>
        </p:nvSpPr>
        <p:spPr>
          <a:xfrm>
            <a:off x="3756392" y="3384904"/>
            <a:ext cx="1739910" cy="1656184"/>
          </a:xfrm>
          <a:prstGeom prst="ellipse">
            <a:avLst/>
          </a:prstGeom>
          <a:solidFill>
            <a:schemeClr val="accent4">
              <a:lumMod val="20000"/>
              <a:lumOff val="80000"/>
            </a:schemeClr>
          </a:solidFill>
          <a:ln w="76200"/>
        </p:spPr>
        <p:style>
          <a:lnRef idx="2">
            <a:schemeClr val="dk1"/>
          </a:lnRef>
          <a:fillRef idx="1">
            <a:schemeClr val="lt1"/>
          </a:fillRef>
          <a:effectRef idx="0">
            <a:schemeClr val="dk1"/>
          </a:effectRef>
          <a:fontRef idx="minor">
            <a:schemeClr val="dk1"/>
          </a:fontRef>
        </p:style>
        <p:txBody>
          <a:bodyPr anchor="ctr"/>
          <a:lstStyle/>
          <a:p>
            <a:pPr marL="0" indent="0" algn="ctr">
              <a:lnSpc>
                <a:spcPct val="100000"/>
              </a:lnSpc>
              <a:spcBef>
                <a:spcPts val="0"/>
              </a:spcBef>
              <a:spcAft>
                <a:spcPts val="0"/>
              </a:spcAft>
              <a:buNone/>
            </a:pPr>
            <a:endParaRPr/>
          </a:p>
        </p:txBody>
      </p:sp>
      <p:cxnSp>
        <p:nvCxnSpPr>
          <p:cNvPr id="48" name="Straight Connector 7"/>
          <p:cNvCxnSpPr>
            <a:endCxn id="7" idx="1"/>
          </p:cNvCxnSpPr>
          <p:nvPr/>
        </p:nvCxnSpPr>
        <p:spPr>
          <a:xfrm>
            <a:off x="3223472" y="3045271"/>
            <a:ext cx="787725" cy="582176"/>
          </a:xfrm>
          <a:prstGeom prst="line">
            <a:avLst/>
          </a:prstGeom>
          <a:ln w="57150">
            <a:solidFill>
              <a:schemeClr val="accent2">
                <a:lumMod val="75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Straight Connector 8"/>
          <p:cNvCxnSpPr>
            <a:endCxn id="7" idx="3"/>
          </p:cNvCxnSpPr>
          <p:nvPr/>
        </p:nvCxnSpPr>
        <p:spPr>
          <a:xfrm flipV="1">
            <a:off x="3122600" y="4798545"/>
            <a:ext cx="888597" cy="636454"/>
          </a:xfrm>
          <a:prstGeom prst="line">
            <a:avLst/>
          </a:prstGeom>
          <a:ln w="57150">
            <a:solidFill>
              <a:schemeClr val="accent2">
                <a:lumMod val="75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Straight Connector 9"/>
          <p:cNvCxnSpPr>
            <a:endCxn id="7" idx="2"/>
          </p:cNvCxnSpPr>
          <p:nvPr/>
        </p:nvCxnSpPr>
        <p:spPr>
          <a:xfrm>
            <a:off x="2690552" y="4212996"/>
            <a:ext cx="1065841" cy="0"/>
          </a:xfrm>
          <a:prstGeom prst="line">
            <a:avLst/>
          </a:prstGeom>
          <a:ln w="57150">
            <a:solidFill>
              <a:schemeClr val="accent2">
                <a:lumMod val="75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1" name="Straight Connector 10">
            <a:extLst>
              <a:ext uri="{FF2B5EF4-FFF2-40B4-BE49-F238E27FC236}">
                <a16:creationId xmlns:a16="http://schemas.microsoft.com/office/drawing/2014/main" id="{1471DC24-C3FE-47D3-B43E-3F73BEDAD742}"/>
              </a:ext>
            </a:extLst>
          </p:cNvPr>
          <p:cNvSpPr>
            <a:spLocks noGrp="1"/>
          </p:cNvSpPr>
          <p:nvPr/>
        </p:nvSpPr>
        <p:spPr>
          <a:xfrm>
            <a:off x="5496303" y="4212996"/>
            <a:ext cx="1065841" cy="0"/>
          </a:xfrm>
          <a:prstGeom prst="line">
            <a:avLst/>
          </a:prstGeom>
          <a:ln w="57150">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5533D0F-AB3F-884F-280A-92D38F0C7F8D}"/>
                  </a:ext>
                </a:extLst>
              </p:cNvPr>
              <p:cNvSpPr>
                <a:spLocks noGrp="1"/>
              </p:cNvSpPr>
              <p:nvPr/>
            </p:nvSpPr>
            <p:spPr>
              <a:xfrm>
                <a:off x="8950736" y="3102314"/>
                <a:ext cx="1875193" cy="553998"/>
              </a:xfrm>
              <a:prstGeom prst="rect">
                <a:avLst/>
              </a:prstGeom>
              <a:noFill/>
            </p:spPr>
            <p:txBody>
              <a:bodyPr wrap="none" lIns="0" tIns="0" rIns="0" bIns="0">
                <a:spAutoFit/>
              </a:bodyPr>
              <a:lstStyle/>
              <a:p>
                <a:pPr marL="0" indent="0" algn="l">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GB" sz="3600" b="0" i="1">
                          <a:solidFill>
                            <a:srgbClr val="2E2C61"/>
                          </a:solidFill>
                          <a:latin typeface="Cambria Math"/>
                          <a:ea typeface="Cambria Math"/>
                          <a:cs typeface="Cambria Math"/>
                        </a:rPr>
                        <m:t>𝑦</m:t>
                      </m:r>
                      <m:r>
                        <a:rPr lang="en-GB" sz="3600" b="0" i="1">
                          <a:solidFill>
                            <a:srgbClr val="2E2C61"/>
                          </a:solidFill>
                          <a:latin typeface="Cambria Math"/>
                          <a:ea typeface="Cambria Math"/>
                          <a:cs typeface="Cambria Math"/>
                        </a:rPr>
                        <m:t>=</m:t>
                      </m:r>
                      <m:r>
                        <a:rPr lang="en-GB" sz="3600" b="0" i="1">
                          <a:solidFill>
                            <a:srgbClr val="2E2C61"/>
                          </a:solidFill>
                          <a:latin typeface="Cambria Math"/>
                          <a:ea typeface="Cambria Math"/>
                          <a:cs typeface="Cambria Math"/>
                        </a:rPr>
                        <m:t>𝑔</m:t>
                      </m:r>
                      <m:d>
                        <m:dPr>
                          <m:ctrlPr>
                            <a:rPr lang="en-GB" sz="3600" b="0" i="1">
                              <a:solidFill>
                                <a:srgbClr val="2E2C61"/>
                              </a:solidFill>
                              <a:latin typeface="Cambria Math" panose="02040503050406030204" pitchFamily="18" charset="0"/>
                              <a:ea typeface="Cambria Math"/>
                              <a:cs typeface="Cambria Math"/>
                            </a:rPr>
                          </m:ctrlPr>
                        </m:dPr>
                        <m:e>
                          <m:r>
                            <a:rPr lang="en-GB" sz="3600" b="0" i="1">
                              <a:solidFill>
                                <a:srgbClr val="2E2C61"/>
                              </a:solidFill>
                              <a:latin typeface="Cambria Math"/>
                              <a:ea typeface="Cambria Math"/>
                              <a:cs typeface="Cambria Math"/>
                            </a:rPr>
                            <m:t>𝑧</m:t>
                          </m:r>
                        </m:e>
                      </m:d>
                    </m:oMath>
                  </m:oMathPara>
                </a14:m>
                <a:endParaRPr/>
              </a:p>
            </p:txBody>
          </p:sp>
        </mc:Choice>
        <mc:Fallback xmlns="">
          <p:sp>
            <p:nvSpPr>
              <p:cNvPr id="12" name="TextBox 11">
                <a:extLst>
                  <a:ext uri="{FF2B5EF4-FFF2-40B4-BE49-F238E27FC236}">
                    <a16:creationId xmlns:a16="http://schemas.microsoft.com/office/drawing/2014/main" id="{05533D0F-AB3F-884F-280A-92D38F0C7F8D}"/>
                  </a:ext>
                </a:extLst>
              </p:cNvPr>
              <p:cNvSpPr>
                <a:spLocks noGrp="1" noRot="1" noChangeAspect="1" noMove="1" noResize="1" noEditPoints="1" noAdjustHandles="1" noChangeArrowheads="1" noChangeShapeType="1" noTextEdit="1"/>
              </p:cNvSpPr>
              <p:nvPr/>
            </p:nvSpPr>
            <p:spPr>
              <a:xfrm>
                <a:off x="8950736" y="3102314"/>
                <a:ext cx="1875193" cy="553998"/>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D993CEB-51A2-93B0-E58A-4E758DB72F93}"/>
                  </a:ext>
                </a:extLst>
              </p:cNvPr>
              <p:cNvSpPr>
                <a:spLocks noGrp="1"/>
              </p:cNvSpPr>
              <p:nvPr/>
            </p:nvSpPr>
            <p:spPr>
              <a:xfrm>
                <a:off x="8038882" y="4528870"/>
                <a:ext cx="2883097" cy="553998"/>
              </a:xfrm>
              <a:prstGeom prst="rect">
                <a:avLst/>
              </a:prstGeom>
              <a:noFill/>
            </p:spPr>
            <p:txBody>
              <a:bodyPr wrap="none" lIns="0" tIns="0" rIns="0" bIns="0">
                <a:spAutoFit/>
              </a:bodyPr>
              <a:lstStyle/>
              <a:p>
                <a:pPr marL="0" indent="0" algn="l">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GB" sz="3600" b="0" i="1">
                          <a:solidFill>
                            <a:srgbClr val="2E2C61"/>
                          </a:solidFill>
                          <a:latin typeface="Cambria Math"/>
                          <a:ea typeface="Cambria Math"/>
                          <a:cs typeface="Cambria Math"/>
                        </a:rPr>
                        <m:t>𝑧</m:t>
                      </m:r>
                      <m:r>
                        <a:rPr lang="en-GB" sz="3600" b="0" i="1">
                          <a:solidFill>
                            <a:srgbClr val="2E2C61"/>
                          </a:solidFill>
                          <a:latin typeface="Cambria Math"/>
                          <a:ea typeface="Cambria Math"/>
                          <a:cs typeface="Cambria Math"/>
                        </a:rPr>
                        <m:t>= </m:t>
                      </m:r>
                      <m:sSup>
                        <m:sSupPr>
                          <m:ctrlPr>
                            <a:rPr lang="en-GB" sz="3600" b="0" i="1">
                              <a:solidFill>
                                <a:srgbClr val="2E2C61"/>
                              </a:solidFill>
                              <a:latin typeface="Cambria Math" panose="02040503050406030204" pitchFamily="18" charset="0"/>
                              <a:ea typeface="Cambria Math"/>
                              <a:cs typeface="Cambria Math"/>
                            </a:rPr>
                          </m:ctrlPr>
                        </m:sSupPr>
                        <m:e>
                          <m:r>
                            <a:rPr lang="en-GB" sz="3600" b="1" i="1">
                              <a:solidFill>
                                <a:srgbClr val="2E2C61"/>
                              </a:solidFill>
                              <a:latin typeface="Cambria Math"/>
                              <a:ea typeface="Cambria Math"/>
                              <a:cs typeface="Cambria Math"/>
                            </a:rPr>
                            <m:t>𝒘</m:t>
                          </m:r>
                        </m:e>
                        <m:sup>
                          <m:r>
                            <a:rPr lang="en-GB" sz="3600" b="0" i="1">
                              <a:solidFill>
                                <a:srgbClr val="2E2C61"/>
                              </a:solidFill>
                              <a:latin typeface="Cambria Math"/>
                              <a:ea typeface="Cambria Math"/>
                              <a:cs typeface="Cambria Math"/>
                            </a:rPr>
                            <m:t>𝑇</m:t>
                          </m:r>
                        </m:sup>
                      </m:sSup>
                      <m:r>
                        <a:rPr lang="en-GB" sz="3600" b="0" i="1">
                          <a:solidFill>
                            <a:srgbClr val="2E2C61"/>
                          </a:solidFill>
                          <a:latin typeface="Cambria Math"/>
                          <a:ea typeface="Cambria Math"/>
                          <a:cs typeface="Cambria Math"/>
                        </a:rPr>
                        <m:t>.</m:t>
                      </m:r>
                      <m:r>
                        <a:rPr lang="en-GB" sz="3600" b="1" i="1">
                          <a:solidFill>
                            <a:srgbClr val="2E2C61"/>
                          </a:solidFill>
                          <a:latin typeface="Cambria Math"/>
                          <a:ea typeface="Cambria Math"/>
                          <a:cs typeface="Cambria Math"/>
                        </a:rPr>
                        <m:t>𝒙</m:t>
                      </m:r>
                      <m:r>
                        <a:rPr lang="en-GB" sz="3600" b="0" i="1">
                          <a:solidFill>
                            <a:srgbClr val="2E2C61"/>
                          </a:solidFill>
                          <a:latin typeface="Cambria Math"/>
                          <a:ea typeface="Cambria Math"/>
                          <a:cs typeface="Cambria Math"/>
                        </a:rPr>
                        <m:t>+</m:t>
                      </m:r>
                      <m:r>
                        <a:rPr lang="en-GB" sz="3600" b="0" i="1">
                          <a:solidFill>
                            <a:srgbClr val="2E2C61"/>
                          </a:solidFill>
                          <a:latin typeface="Cambria Math"/>
                          <a:ea typeface="Cambria Math"/>
                          <a:cs typeface="Cambria Math"/>
                        </a:rPr>
                        <m:t>𝑏</m:t>
                      </m:r>
                    </m:oMath>
                  </m:oMathPara>
                </a14:m>
                <a:endParaRPr/>
              </a:p>
            </p:txBody>
          </p:sp>
        </mc:Choice>
        <mc:Fallback xmlns="">
          <p:sp>
            <p:nvSpPr>
              <p:cNvPr id="13" name="TextBox 12">
                <a:extLst>
                  <a:ext uri="{FF2B5EF4-FFF2-40B4-BE49-F238E27FC236}">
                    <a16:creationId xmlns:a16="http://schemas.microsoft.com/office/drawing/2014/main" id="{7D993CEB-51A2-93B0-E58A-4E758DB72F93}"/>
                  </a:ext>
                </a:extLst>
              </p:cNvPr>
              <p:cNvSpPr>
                <a:spLocks noGrp="1" noRot="1" noChangeAspect="1" noMove="1" noResize="1" noEditPoints="1" noAdjustHandles="1" noChangeArrowheads="1" noChangeShapeType="1" noTextEdit="1"/>
              </p:cNvSpPr>
              <p:nvPr/>
            </p:nvSpPr>
            <p:spPr>
              <a:xfrm>
                <a:off x="8038882" y="4528870"/>
                <a:ext cx="2883097" cy="553998"/>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2E0BFE5-C082-6168-8A01-E1A3DED20406}"/>
                  </a:ext>
                </a:extLst>
              </p:cNvPr>
              <p:cNvSpPr>
                <a:spLocks noGrp="1"/>
              </p:cNvSpPr>
              <p:nvPr/>
            </p:nvSpPr>
            <p:spPr>
              <a:xfrm>
                <a:off x="2647658" y="5182983"/>
                <a:ext cx="363433" cy="553998"/>
              </a:xfrm>
              <a:prstGeom prst="rect">
                <a:avLst/>
              </a:prstGeom>
              <a:noFill/>
            </p:spPr>
            <p:txBody>
              <a:bodyPr wrap="none" lIns="0" tIns="0" rIns="0" bIns="0">
                <a:spAutoFit/>
              </a:bodyPr>
              <a:lstStyle/>
              <a:p>
                <a:pPr marL="0" indent="0" algn="l">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GB" sz="3600" b="0" i="1">
                          <a:solidFill>
                            <a:srgbClr val="2E2C61"/>
                          </a:solidFill>
                          <a:latin typeface="Cambria Math"/>
                          <a:ea typeface="Cambria Math"/>
                          <a:cs typeface="Cambria Math"/>
                        </a:rPr>
                        <m:t>𝑥</m:t>
                      </m:r>
                    </m:oMath>
                  </m:oMathPara>
                </a14:m>
                <a:endParaRPr/>
              </a:p>
            </p:txBody>
          </p:sp>
        </mc:Choice>
        <mc:Fallback xmlns="">
          <p:sp>
            <p:nvSpPr>
              <p:cNvPr id="14" name="TextBox 13">
                <a:extLst>
                  <a:ext uri="{FF2B5EF4-FFF2-40B4-BE49-F238E27FC236}">
                    <a16:creationId xmlns:a16="http://schemas.microsoft.com/office/drawing/2014/main" id="{32E0BFE5-C082-6168-8A01-E1A3DED20406}"/>
                  </a:ext>
                </a:extLst>
              </p:cNvPr>
              <p:cNvSpPr>
                <a:spLocks noGrp="1" noRot="1" noChangeAspect="1" noMove="1" noResize="1" noEditPoints="1" noAdjustHandles="1" noChangeArrowheads="1" noChangeShapeType="1" noTextEdit="1"/>
              </p:cNvSpPr>
              <p:nvPr/>
            </p:nvSpPr>
            <p:spPr>
              <a:xfrm>
                <a:off x="2647658" y="5182983"/>
                <a:ext cx="363433" cy="553998"/>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23BF1F4-E4AC-6547-F1E2-460CF5AADBA8}"/>
                  </a:ext>
                </a:extLst>
              </p:cNvPr>
              <p:cNvSpPr>
                <a:spLocks noGrp="1"/>
              </p:cNvSpPr>
              <p:nvPr/>
            </p:nvSpPr>
            <p:spPr>
              <a:xfrm>
                <a:off x="2274654" y="3960980"/>
                <a:ext cx="363433" cy="553998"/>
              </a:xfrm>
              <a:prstGeom prst="rect">
                <a:avLst/>
              </a:prstGeom>
              <a:noFill/>
            </p:spPr>
            <p:txBody>
              <a:bodyPr wrap="none" lIns="0" tIns="0" rIns="0" bIns="0">
                <a:spAutoFit/>
              </a:bodyPr>
              <a:lstStyle/>
              <a:p>
                <a:pPr marL="0" indent="0" algn="l">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GB" sz="3600" b="0" i="1">
                          <a:solidFill>
                            <a:srgbClr val="2E2C61"/>
                          </a:solidFill>
                          <a:latin typeface="Cambria Math"/>
                          <a:ea typeface="Cambria Math"/>
                          <a:cs typeface="Cambria Math"/>
                        </a:rPr>
                        <m:t>𝑥</m:t>
                      </m:r>
                    </m:oMath>
                  </m:oMathPara>
                </a14:m>
                <a:endParaRPr/>
              </a:p>
            </p:txBody>
          </p:sp>
        </mc:Choice>
        <mc:Fallback xmlns="">
          <p:sp>
            <p:nvSpPr>
              <p:cNvPr id="15" name="TextBox 14">
                <a:extLst>
                  <a:ext uri="{FF2B5EF4-FFF2-40B4-BE49-F238E27FC236}">
                    <a16:creationId xmlns:a16="http://schemas.microsoft.com/office/drawing/2014/main" id="{923BF1F4-E4AC-6547-F1E2-460CF5AADBA8}"/>
                  </a:ext>
                </a:extLst>
              </p:cNvPr>
              <p:cNvSpPr>
                <a:spLocks noGrp="1" noRot="1" noChangeAspect="1" noMove="1" noResize="1" noEditPoints="1" noAdjustHandles="1" noChangeArrowheads="1" noChangeShapeType="1" noTextEdit="1"/>
              </p:cNvSpPr>
              <p:nvPr/>
            </p:nvSpPr>
            <p:spPr>
              <a:xfrm>
                <a:off x="2274654" y="3960980"/>
                <a:ext cx="363433" cy="553998"/>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DA37DEF-8240-8D0A-FE4F-508DD3A288E1}"/>
                  </a:ext>
                </a:extLst>
              </p:cNvPr>
              <p:cNvSpPr>
                <a:spLocks noGrp="1"/>
              </p:cNvSpPr>
              <p:nvPr/>
            </p:nvSpPr>
            <p:spPr>
              <a:xfrm>
                <a:off x="2804338" y="2723754"/>
                <a:ext cx="363433" cy="553998"/>
              </a:xfrm>
              <a:prstGeom prst="rect">
                <a:avLst/>
              </a:prstGeom>
              <a:noFill/>
            </p:spPr>
            <p:txBody>
              <a:bodyPr wrap="none" lIns="0" tIns="0" rIns="0" bIns="0">
                <a:spAutoFit/>
              </a:bodyPr>
              <a:lstStyle/>
              <a:p>
                <a:pPr marL="0" indent="0" algn="l">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GB" sz="3600" b="0" i="1">
                          <a:solidFill>
                            <a:srgbClr val="2E2C61"/>
                          </a:solidFill>
                          <a:latin typeface="Cambria Math"/>
                          <a:ea typeface="Cambria Math"/>
                          <a:cs typeface="Cambria Math"/>
                        </a:rPr>
                        <m:t>𝑥</m:t>
                      </m:r>
                    </m:oMath>
                  </m:oMathPara>
                </a14:m>
                <a:endParaRPr/>
              </a:p>
            </p:txBody>
          </p:sp>
        </mc:Choice>
        <mc:Fallback xmlns="">
          <p:sp>
            <p:nvSpPr>
              <p:cNvPr id="16" name="TextBox 15">
                <a:extLst>
                  <a:ext uri="{FF2B5EF4-FFF2-40B4-BE49-F238E27FC236}">
                    <a16:creationId xmlns:a16="http://schemas.microsoft.com/office/drawing/2014/main" id="{BDA37DEF-8240-8D0A-FE4F-508DD3A288E1}"/>
                  </a:ext>
                </a:extLst>
              </p:cNvPr>
              <p:cNvSpPr>
                <a:spLocks noGrp="1" noRot="1" noChangeAspect="1" noMove="1" noResize="1" noEditPoints="1" noAdjustHandles="1" noChangeArrowheads="1" noChangeShapeType="1" noTextEdit="1"/>
              </p:cNvSpPr>
              <p:nvPr/>
            </p:nvSpPr>
            <p:spPr>
              <a:xfrm>
                <a:off x="2804338" y="2723754"/>
                <a:ext cx="363433" cy="553998"/>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D8022CC-9F36-72B8-51BF-E875A0269694}"/>
                  </a:ext>
                </a:extLst>
              </p:cNvPr>
              <p:cNvSpPr>
                <a:spLocks noGrp="1"/>
              </p:cNvSpPr>
              <p:nvPr/>
            </p:nvSpPr>
            <p:spPr>
              <a:xfrm>
                <a:off x="6766970" y="3859021"/>
                <a:ext cx="370166" cy="553998"/>
              </a:xfrm>
              <a:prstGeom prst="rect">
                <a:avLst/>
              </a:prstGeom>
              <a:noFill/>
            </p:spPr>
            <p:txBody>
              <a:bodyPr wrap="none" lIns="0" tIns="0" rIns="0" bIns="0">
                <a:spAutoFit/>
              </a:bodyPr>
              <a:lstStyle/>
              <a:p>
                <a:pPr marL="0" indent="0" algn="l">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GB" sz="3600" b="0" i="1">
                          <a:solidFill>
                            <a:srgbClr val="2E2C61"/>
                          </a:solidFill>
                          <a:latin typeface="Cambria Math"/>
                          <a:ea typeface="Cambria Math"/>
                          <a:cs typeface="Cambria Math"/>
                        </a:rPr>
                        <m:t>𝑦</m:t>
                      </m:r>
                    </m:oMath>
                  </m:oMathPara>
                </a14:m>
                <a:endParaRPr/>
              </a:p>
            </p:txBody>
          </p:sp>
        </mc:Choice>
        <mc:Fallback xmlns="">
          <p:sp>
            <p:nvSpPr>
              <p:cNvPr id="17" name="TextBox 16">
                <a:extLst>
                  <a:ext uri="{FF2B5EF4-FFF2-40B4-BE49-F238E27FC236}">
                    <a16:creationId xmlns:a16="http://schemas.microsoft.com/office/drawing/2014/main" id="{CD8022CC-9F36-72B8-51BF-E875A0269694}"/>
                  </a:ext>
                </a:extLst>
              </p:cNvPr>
              <p:cNvSpPr>
                <a:spLocks noGrp="1" noRot="1" noChangeAspect="1" noMove="1" noResize="1" noEditPoints="1" noAdjustHandles="1" noChangeArrowheads="1" noChangeShapeType="1" noTextEdit="1"/>
              </p:cNvSpPr>
              <p:nvPr/>
            </p:nvSpPr>
            <p:spPr>
              <a:xfrm>
                <a:off x="6766970" y="3859021"/>
                <a:ext cx="370166" cy="553998"/>
              </a:xfrm>
              <a:prstGeom prst="rect">
                <a:avLst/>
              </a:prstGeom>
              <a:blipFill>
                <a:blip r:embed="rId8"/>
                <a:stretch>
                  <a:fillRect/>
                </a:stretch>
              </a:blipFill>
            </p:spPr>
            <p:txBody>
              <a:bodyPr/>
              <a:lstStyle/>
              <a:p>
                <a:r>
                  <a:rPr lang="en-GB">
                    <a:noFill/>
                  </a:rPr>
                  <a:t> </a:t>
                </a:r>
              </a:p>
            </p:txBody>
          </p:sp>
        </mc:Fallback>
      </mc:AlternateContent>
      <p:sp>
        <p:nvSpPr>
          <p:cNvPr id="18" name="TextBox 17">
            <a:extLst>
              <a:ext uri="{FF2B5EF4-FFF2-40B4-BE49-F238E27FC236}">
                <a16:creationId xmlns:a16="http://schemas.microsoft.com/office/drawing/2014/main" id="{418CCBFE-DFBA-FF41-0C9E-F4D30B795CD4}"/>
              </a:ext>
            </a:extLst>
          </p:cNvPr>
          <p:cNvSpPr>
            <a:spLocks noGrp="1"/>
          </p:cNvSpPr>
          <p:nvPr/>
        </p:nvSpPr>
        <p:spPr>
          <a:xfrm>
            <a:off x="8838767" y="4145567"/>
            <a:ext cx="945131" cy="369332"/>
          </a:xfrm>
          <a:prstGeom prst="rect">
            <a:avLst/>
          </a:prstGeom>
          <a:noFill/>
        </p:spPr>
        <p:txBody>
          <a:bodyPr wrap="none">
            <a:spAutoFit/>
          </a:bodyPr>
          <a:lstStyle/>
          <a:p>
            <a:pPr marL="0" indent="0" algn="l">
              <a:lnSpc>
                <a:spcPct val="100000"/>
              </a:lnSpc>
              <a:spcBef>
                <a:spcPts val="0"/>
              </a:spcBef>
              <a:spcAft>
                <a:spcPts val="0"/>
              </a:spcAft>
              <a:buNone/>
            </a:pPr>
            <a:r>
              <a:rPr sz="1800" b="0" i="0" u="none" cap="none">
                <a:ln>
                  <a:noFill/>
                </a:ln>
                <a:solidFill>
                  <a:srgbClr val="2E2C61"/>
                </a:solidFill>
                <a:latin typeface="Calibri"/>
                <a:ea typeface="Calibri"/>
                <a:cs typeface="Calibri"/>
              </a:rPr>
              <a:t>Weights</a:t>
            </a:r>
          </a:p>
        </p:txBody>
      </p:sp>
      <p:sp>
        <p:nvSpPr>
          <p:cNvPr id="19" name="TextBox 18">
            <a:extLst>
              <a:ext uri="{FF2B5EF4-FFF2-40B4-BE49-F238E27FC236}">
                <a16:creationId xmlns:a16="http://schemas.microsoft.com/office/drawing/2014/main" id="{B99A5CA9-595D-1431-FC16-570769102FF2}"/>
              </a:ext>
            </a:extLst>
          </p:cNvPr>
          <p:cNvSpPr>
            <a:spLocks noGrp="1"/>
          </p:cNvSpPr>
          <p:nvPr/>
        </p:nvSpPr>
        <p:spPr>
          <a:xfrm>
            <a:off x="10413244" y="4157011"/>
            <a:ext cx="562975" cy="369332"/>
          </a:xfrm>
          <a:prstGeom prst="rect">
            <a:avLst/>
          </a:prstGeom>
          <a:noFill/>
        </p:spPr>
        <p:txBody>
          <a:bodyPr wrap="none">
            <a:spAutoFit/>
          </a:bodyPr>
          <a:lstStyle/>
          <a:p>
            <a:pPr marL="0" indent="0" algn="l">
              <a:lnSpc>
                <a:spcPct val="100000"/>
              </a:lnSpc>
              <a:spcBef>
                <a:spcPts val="0"/>
              </a:spcBef>
              <a:spcAft>
                <a:spcPts val="0"/>
              </a:spcAft>
              <a:buNone/>
            </a:pPr>
            <a:r>
              <a:rPr sz="1800" b="0" i="0" u="none" cap="none">
                <a:ln>
                  <a:noFill/>
                </a:ln>
                <a:solidFill>
                  <a:srgbClr val="2E2C61"/>
                </a:solidFill>
                <a:latin typeface="Calibri"/>
                <a:ea typeface="Calibri"/>
                <a:cs typeface="Calibri"/>
              </a:rPr>
              <a:t>Bias</a:t>
            </a:r>
          </a:p>
        </p:txBody>
      </p:sp>
      <p:sp>
        <p:nvSpPr>
          <p:cNvPr id="20" name="TextBox 19">
            <a:extLst>
              <a:ext uri="{FF2B5EF4-FFF2-40B4-BE49-F238E27FC236}">
                <a16:creationId xmlns:a16="http://schemas.microsoft.com/office/drawing/2014/main" id="{6E62A6B6-DD25-B7E9-5ACB-F9CF1FC5E69B}"/>
              </a:ext>
            </a:extLst>
          </p:cNvPr>
          <p:cNvSpPr>
            <a:spLocks noGrp="1"/>
          </p:cNvSpPr>
          <p:nvPr/>
        </p:nvSpPr>
        <p:spPr>
          <a:xfrm>
            <a:off x="9271644" y="5082868"/>
            <a:ext cx="1364476" cy="369332"/>
          </a:xfrm>
          <a:prstGeom prst="rect">
            <a:avLst/>
          </a:prstGeom>
          <a:noFill/>
        </p:spPr>
        <p:txBody>
          <a:bodyPr wrap="none">
            <a:spAutoFit/>
          </a:bodyPr>
          <a:lstStyle/>
          <a:p>
            <a:pPr marL="0" indent="0" algn="l">
              <a:lnSpc>
                <a:spcPct val="100000"/>
              </a:lnSpc>
              <a:spcBef>
                <a:spcPts val="0"/>
              </a:spcBef>
              <a:spcAft>
                <a:spcPts val="0"/>
              </a:spcAft>
              <a:buNone/>
            </a:pPr>
            <a:r>
              <a:rPr sz="1800" b="0" i="0" u="none" cap="none">
                <a:ln>
                  <a:noFill/>
                </a:ln>
                <a:solidFill>
                  <a:srgbClr val="2E2C61"/>
                </a:solidFill>
                <a:latin typeface="Calibri"/>
                <a:ea typeface="Calibri"/>
                <a:cs typeface="Calibri"/>
              </a:rPr>
              <a:t>Input signals</a:t>
            </a:r>
          </a:p>
        </p:txBody>
      </p:sp>
      <p:sp>
        <p:nvSpPr>
          <p:cNvPr id="21" name="TextBox 20">
            <a:extLst>
              <a:ext uri="{FF2B5EF4-FFF2-40B4-BE49-F238E27FC236}">
                <a16:creationId xmlns:a16="http://schemas.microsoft.com/office/drawing/2014/main" id="{13687264-4A2E-2D8E-2D8A-5657CBD379D8}"/>
              </a:ext>
            </a:extLst>
          </p:cNvPr>
          <p:cNvSpPr>
            <a:spLocks noGrp="1"/>
          </p:cNvSpPr>
          <p:nvPr/>
        </p:nvSpPr>
        <p:spPr>
          <a:xfrm>
            <a:off x="6494570" y="3220162"/>
            <a:ext cx="914966" cy="646331"/>
          </a:xfrm>
          <a:prstGeom prst="rect">
            <a:avLst/>
          </a:prstGeom>
          <a:noFill/>
        </p:spPr>
        <p:txBody>
          <a:bodyPr wrap="square">
            <a:spAutoFit/>
          </a:bodyPr>
          <a:lstStyle/>
          <a:p>
            <a:pPr marL="0" indent="0" algn="ctr">
              <a:lnSpc>
                <a:spcPct val="100000"/>
              </a:lnSpc>
              <a:spcBef>
                <a:spcPts val="0"/>
              </a:spcBef>
              <a:spcAft>
                <a:spcPts val="0"/>
              </a:spcAft>
              <a:buNone/>
            </a:pPr>
            <a:r>
              <a:rPr sz="1800" b="0" i="0" u="none" cap="none">
                <a:ln>
                  <a:noFill/>
                </a:ln>
                <a:solidFill>
                  <a:srgbClr val="2E2C61"/>
                </a:solidFill>
                <a:latin typeface="Calibri"/>
                <a:ea typeface="Calibri"/>
                <a:cs typeface="Calibri"/>
              </a:rPr>
              <a:t>Output signal</a:t>
            </a:r>
          </a:p>
        </p:txBody>
      </p:sp>
      <p:sp>
        <p:nvSpPr>
          <p:cNvPr id="22" name="TextBox 21">
            <a:extLst>
              <a:ext uri="{FF2B5EF4-FFF2-40B4-BE49-F238E27FC236}">
                <a16:creationId xmlns:a16="http://schemas.microsoft.com/office/drawing/2014/main" id="{020EB131-603A-090C-06F2-087B12F4DB42}"/>
              </a:ext>
            </a:extLst>
          </p:cNvPr>
          <p:cNvSpPr>
            <a:spLocks noGrp="1"/>
          </p:cNvSpPr>
          <p:nvPr/>
        </p:nvSpPr>
        <p:spPr>
          <a:xfrm>
            <a:off x="9705114" y="2455983"/>
            <a:ext cx="1191038" cy="646331"/>
          </a:xfrm>
          <a:prstGeom prst="rect">
            <a:avLst/>
          </a:prstGeom>
          <a:noFill/>
        </p:spPr>
        <p:txBody>
          <a:bodyPr wrap="square">
            <a:spAutoFit/>
          </a:bodyPr>
          <a:lstStyle/>
          <a:p>
            <a:pPr marL="0" indent="0" algn="ctr">
              <a:lnSpc>
                <a:spcPct val="100000"/>
              </a:lnSpc>
              <a:spcBef>
                <a:spcPts val="0"/>
              </a:spcBef>
              <a:spcAft>
                <a:spcPts val="0"/>
              </a:spcAft>
              <a:buNone/>
            </a:pPr>
            <a:r>
              <a:rPr sz="1800" b="0" i="0" u="none" cap="none">
                <a:ln>
                  <a:noFill/>
                </a:ln>
                <a:solidFill>
                  <a:srgbClr val="2E2C61"/>
                </a:solidFill>
                <a:latin typeface="Calibri"/>
                <a:ea typeface="Calibri"/>
                <a:cs typeface="Calibri"/>
              </a:rPr>
              <a:t>Activation function</a:t>
            </a:r>
          </a:p>
        </p:txBody>
      </p:sp>
      <p:sp>
        <p:nvSpPr>
          <p:cNvPr id="2" name="Date Placeholder 1">
            <a:extLst>
              <a:ext uri="{FF2B5EF4-FFF2-40B4-BE49-F238E27FC236}">
                <a16:creationId xmlns:a16="http://schemas.microsoft.com/office/drawing/2014/main" id="{2F97BD2E-0F09-4FC3-72A6-5576FB5A53E9}"/>
              </a:ext>
            </a:extLst>
          </p:cNvPr>
          <p:cNvSpPr>
            <a:spLocks noGrp="1"/>
          </p:cNvSpPr>
          <p:nvPr>
            <p:ph type="dt" idx="10"/>
          </p:nvPr>
        </p:nvSpPr>
        <p:spPr/>
        <p:txBody>
          <a:bodyPr/>
          <a:lstStyle/>
          <a:p>
            <a:pPr>
              <a:buNone/>
            </a:pPr>
            <a:fld id="{6B8A1ED4-C820-4B2D-A4D1-F54118843A6F}" type="datetime1">
              <a:rPr lang="en-US"/>
              <a:t>7/29/2026</a:t>
            </a:fld>
            <a:endParaRPr/>
          </a:p>
        </p:txBody>
      </p:sp>
      <p:sp>
        <p:nvSpPr>
          <p:cNvPr id="4" name="Slide Number Placeholder 3">
            <a:extLst>
              <a:ext uri="{FF2B5EF4-FFF2-40B4-BE49-F238E27FC236}">
                <a16:creationId xmlns:a16="http://schemas.microsoft.com/office/drawing/2014/main" id="{63616D37-7341-2B0F-8A3E-AED9BEA07C5D}"/>
              </a:ext>
            </a:extLst>
          </p:cNvPr>
          <p:cNvSpPr>
            <a:spLocks noGrp="1"/>
          </p:cNvSpPr>
          <p:nvPr>
            <p:ph type="sldNum" idx="12"/>
          </p:nvPr>
        </p:nvSpPr>
        <p:spPr/>
        <p:txBody>
          <a:bodyPr/>
          <a:lstStyle/>
          <a:p>
            <a:pPr>
              <a:buNone/>
            </a:pPr>
            <a:fld id="{B5CEABB6-07DC-46E8-9B57-56EC44A396E5}" type="slidenum">
              <a:rPr/>
              <a:t>13</a:t>
            </a:fld>
            <a:endParaRPr/>
          </a:p>
        </p:txBody>
      </p:sp>
    </p:spTree>
    <p:extLst>
      <p:ext uri="{BB962C8B-B14F-4D97-AF65-F5344CB8AC3E}">
        <p14:creationId xmlns:p14="http://schemas.microsoft.com/office/powerpoint/2010/main" val="1395469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438F861B-6E90-D347-AA7B-C5BAB8567C4E}"/>
              </a:ext>
            </a:extLst>
          </p:cNvPr>
          <p:cNvSpPr>
            <a:spLocks noGrp="1"/>
          </p:cNvSpPr>
          <p:nvPr>
            <p:ph type="ftr" idx="11"/>
          </p:nvPr>
        </p:nvSpPr>
        <p:spPr/>
        <p:txBody>
          <a:bodyPr/>
          <a:lstStyle/>
          <a:p>
            <a:pPr marL="0" indent="0" algn="ctr">
              <a:lnSpc>
                <a:spcPct val="100000"/>
              </a:lnSpc>
              <a:spcBef>
                <a:spcPts val="0"/>
              </a:spcBef>
              <a:spcAft>
                <a:spcPts val="0"/>
              </a:spcAft>
              <a:buNone/>
              <a:defRPr sz="675">
                <a:solidFill>
                  <a:srgbClr val="777777"/>
                </a:solidFill>
              </a:defRPr>
            </a:pPr>
            <a:r>
              <a:rPr sz="675" b="0" i="0" u="none" cap="none">
                <a:ln>
                  <a:noFill/>
                </a:ln>
                <a:solidFill>
                  <a:srgbClr val="777777"/>
                </a:solidFill>
                <a:latin typeface="Tenorite"/>
                <a:ea typeface="Tenorite"/>
                <a:cs typeface="Tenorite"/>
              </a:rPr>
              <a:t>Introduction to Deep Learning - PSDI &amp; Royce Materials Data Summit</a:t>
            </a:r>
          </a:p>
        </p:txBody>
      </p:sp>
      <p:sp>
        <p:nvSpPr>
          <p:cNvPr id="5" name="Rectangle 4">
            <a:extLst>
              <a:ext uri="{FF2B5EF4-FFF2-40B4-BE49-F238E27FC236}">
                <a16:creationId xmlns:a16="http://schemas.microsoft.com/office/drawing/2014/main" id="{156D29A0-9C04-4B56-B1E1-5B53F8755DC2}"/>
              </a:ext>
            </a:extLst>
          </p:cNvPr>
          <p:cNvSpPr>
            <a:spLocks noGrp="1"/>
          </p:cNvSpPr>
          <p:nvPr/>
        </p:nvSpPr>
        <p:spPr>
          <a:xfrm>
            <a:off x="838200" y="904875"/>
            <a:ext cx="10515600" cy="762000"/>
          </a:xfrm>
          <a:prstGeom prst="rect">
            <a:avLst/>
          </a:prstGeom>
          <a:noFill/>
          <a:ln w="0">
            <a:noFill/>
            <a:prstDash val="solid"/>
          </a:ln>
        </p:spPr>
        <p:txBody>
          <a:bodyPr/>
          <a:lstStyle/>
          <a:p>
            <a:pPr algn="ctr">
              <a:buNone/>
              <a:defRPr sz="2175">
                <a:solidFill>
                  <a:srgbClr val="111111"/>
                </a:solidFill>
              </a:defRPr>
            </a:pPr>
            <a:r>
              <a:rPr sz="2175">
                <a:solidFill>
                  <a:srgbClr val="111111"/>
                </a:solidFill>
              </a:rPr>
              <a:t>WHY NONLINEARITIES MATTER</a:t>
            </a:r>
          </a:p>
        </p:txBody>
      </p:sp>
      <p:sp>
        <p:nvSpPr>
          <p:cNvPr id="6" name="Rectangle: Rounded Corners 5">
            <a:extLst>
              <a:ext uri="{FF2B5EF4-FFF2-40B4-BE49-F238E27FC236}">
                <a16:creationId xmlns:a16="http://schemas.microsoft.com/office/drawing/2014/main" id="{D8528EDA-D11C-4DE7-ABDB-82807E03448E}"/>
              </a:ext>
            </a:extLst>
          </p:cNvPr>
          <p:cNvSpPr>
            <a:spLocks noGrp="1"/>
          </p:cNvSpPr>
          <p:nvPr/>
        </p:nvSpPr>
        <p:spPr>
          <a:xfrm>
            <a:off x="1245742" y="1928812"/>
            <a:ext cx="4381500" cy="3048000"/>
          </a:xfrm>
          <a:prstGeom prst="roundRect">
            <a:avLst>
              <a:gd name="adj" fmla="val 2500"/>
            </a:avLst>
          </a:prstGeom>
          <a:solidFill>
            <a:srgbClr val="F8F8F8"/>
          </a:solidFill>
          <a:ln w="9525">
            <a:solidFill>
              <a:srgbClr val="DEDEDE"/>
            </a:solidFill>
            <a:prstDash val="solid"/>
          </a:ln>
        </p:spPr>
        <p:txBody>
          <a:bodyPr/>
          <a:lstStyle/>
          <a:p>
            <a:endParaRPr/>
          </a:p>
        </p:txBody>
      </p:sp>
      <p:sp>
        <p:nvSpPr>
          <p:cNvPr id="7" name="Rectangle 6">
            <a:extLst>
              <a:ext uri="{FF2B5EF4-FFF2-40B4-BE49-F238E27FC236}">
                <a16:creationId xmlns:a16="http://schemas.microsoft.com/office/drawing/2014/main" id="{F36ADEF4-5013-4CD1-AD3B-E1D791F7EDC4}"/>
              </a:ext>
            </a:extLst>
          </p:cNvPr>
          <p:cNvSpPr>
            <a:spLocks noGrp="1"/>
          </p:cNvSpPr>
          <p:nvPr/>
        </p:nvSpPr>
        <p:spPr>
          <a:xfrm>
            <a:off x="1417192" y="2100262"/>
            <a:ext cx="800100" cy="38100"/>
          </a:xfrm>
          <a:prstGeom prst="rect">
            <a:avLst/>
          </a:prstGeom>
          <a:solidFill>
            <a:srgbClr val="D97706"/>
          </a:solidFill>
          <a:ln w="0">
            <a:solidFill>
              <a:srgbClr val="D97706"/>
            </a:solidFill>
            <a:prstDash val="solid"/>
          </a:ln>
        </p:spPr>
        <p:txBody>
          <a:bodyPr/>
          <a:lstStyle/>
          <a:p>
            <a:endParaRPr/>
          </a:p>
        </p:txBody>
      </p:sp>
      <p:sp>
        <p:nvSpPr>
          <p:cNvPr id="8" name="Rectangle 7">
            <a:extLst>
              <a:ext uri="{FF2B5EF4-FFF2-40B4-BE49-F238E27FC236}">
                <a16:creationId xmlns:a16="http://schemas.microsoft.com/office/drawing/2014/main" id="{18347546-60D3-4463-8120-DF47F2663D1E}"/>
              </a:ext>
            </a:extLst>
          </p:cNvPr>
          <p:cNvSpPr>
            <a:spLocks noGrp="1"/>
          </p:cNvSpPr>
          <p:nvPr/>
        </p:nvSpPr>
        <p:spPr>
          <a:xfrm>
            <a:off x="1417192" y="2328862"/>
            <a:ext cx="4038600" cy="400050"/>
          </a:xfrm>
          <a:prstGeom prst="rect">
            <a:avLst/>
          </a:prstGeom>
          <a:noFill/>
          <a:ln w="0">
            <a:noFill/>
            <a:prstDash val="solid"/>
          </a:ln>
        </p:spPr>
        <p:txBody>
          <a:bodyPr/>
          <a:lstStyle/>
          <a:p>
            <a:pPr>
              <a:buNone/>
              <a:defRPr sz="1650" b="1">
                <a:solidFill>
                  <a:srgbClr val="222222"/>
                </a:solidFill>
              </a:defRPr>
            </a:pPr>
            <a:r>
              <a:rPr b="1">
                <a:solidFill>
                  <a:srgbClr val="222222"/>
                </a:solidFill>
              </a:rPr>
              <a:t>Without activations</a:t>
            </a: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6CC2A288-FA96-4D2F-ACB5-B9B8496649EB}"/>
                  </a:ext>
                </a:extLst>
              </p:cNvPr>
              <p:cNvSpPr>
                <a:spLocks noGrp="1"/>
              </p:cNvSpPr>
              <p:nvPr/>
            </p:nvSpPr>
            <p:spPr>
              <a:xfrm>
                <a:off x="1417192" y="2805112"/>
                <a:ext cx="4038600" cy="2019300"/>
              </a:xfrm>
              <a:prstGeom prst="rect">
                <a:avLst/>
              </a:prstGeom>
              <a:noFill/>
              <a:ln w="0">
                <a:noFill/>
                <a:prstDash val="solid"/>
              </a:ln>
            </p:spPr>
            <p:txBody>
              <a:bodyPr/>
              <a:lstStyle/>
              <a:p>
                <a:pPr>
                  <a:buNone/>
                  <a:defRPr sz="1275">
                    <a:solidFill>
                      <a:srgbClr val="3A3A3A"/>
                    </a:solidFill>
                  </a:defRPr>
                </a:pPr>
                <a:r>
                  <a:rPr sz="1600">
                    <a:solidFill>
                      <a:srgbClr val="3A3A3A"/>
                    </a:solidFill>
                  </a:rPr>
                  <a:t>Stacked linear maps collapse:</a:t>
                </a:r>
              </a:p>
              <a:p>
                <a:endParaRPr sz="1600">
                  <a:solidFill>
                    <a:srgbClr val="3A3A3A"/>
                  </a:solidFill>
                </a:endParaRPr>
              </a:p>
              <a:p>
                <a:pPr>
                  <a:buNone/>
                  <a:defRPr sz="1275">
                    <a:solidFill>
                      <a:srgbClr val="3A3A3A"/>
                    </a:solidFill>
                  </a:defRPr>
                </a:pPr>
                <a14:m>
                  <m:oMathPara xmlns:m="http://schemas.openxmlformats.org/officeDocument/2006/math">
                    <m:oMathParaPr>
                      <m:jc m:val="centerGroup"/>
                    </m:oMathParaPr>
                    <m:oMath xmlns:m="http://schemas.openxmlformats.org/officeDocument/2006/math">
                      <m:sSub>
                        <m:sSubPr>
                          <m:ctrlPr>
                            <a:rPr lang="en-GB" sz="1600" b="0" i="1">
                              <a:solidFill>
                                <a:srgbClr val="3A3A3A"/>
                              </a:solidFill>
                              <a:latin typeface="Cambria Math" panose="02040503050406030204" pitchFamily="18" charset="0"/>
                              <a:ea typeface="Cambria Math"/>
                              <a:cs typeface="Cambria Math"/>
                            </a:rPr>
                          </m:ctrlPr>
                        </m:sSubPr>
                        <m:e>
                          <m:r>
                            <a:rPr lang="en-GB" sz="1600" b="0" i="1">
                              <a:solidFill>
                                <a:srgbClr val="3A3A3A"/>
                              </a:solidFill>
                              <a:latin typeface="Cambria Math"/>
                              <a:ea typeface="Cambria Math"/>
                              <a:cs typeface="Cambria Math"/>
                            </a:rPr>
                            <m:t>𝑊</m:t>
                          </m:r>
                        </m:e>
                        <m:sub>
                          <m:r>
                            <a:rPr lang="en-GB" sz="1600" b="0" i="1">
                              <a:solidFill>
                                <a:srgbClr val="3A3A3A"/>
                              </a:solidFill>
                              <a:latin typeface="Cambria Math"/>
                              <a:ea typeface="Cambria Math"/>
                              <a:cs typeface="Cambria Math"/>
                            </a:rPr>
                            <m:t>3</m:t>
                          </m:r>
                        </m:sub>
                      </m:sSub>
                      <m:r>
                        <a:rPr lang="en-GB" sz="1600" b="0" i="1">
                          <a:solidFill>
                            <a:srgbClr val="3A3A3A"/>
                          </a:solidFill>
                          <a:latin typeface="Cambria Math"/>
                          <a:ea typeface="Cambria Math"/>
                          <a:cs typeface="Cambria Math"/>
                        </a:rPr>
                        <m:t>⋅</m:t>
                      </m:r>
                      <m:sSub>
                        <m:sSubPr>
                          <m:ctrlPr>
                            <a:rPr lang="en-GB" sz="1600" b="0" i="1">
                              <a:solidFill>
                                <a:srgbClr val="3A3A3A"/>
                              </a:solidFill>
                              <a:latin typeface="Cambria Math" panose="02040503050406030204" pitchFamily="18" charset="0"/>
                              <a:ea typeface="Cambria Math"/>
                              <a:cs typeface="Cambria Math"/>
                            </a:rPr>
                          </m:ctrlPr>
                        </m:sSubPr>
                        <m:e>
                          <m:r>
                            <a:rPr lang="en-GB" sz="1600" b="0" i="1">
                              <a:solidFill>
                                <a:srgbClr val="3A3A3A"/>
                              </a:solidFill>
                              <a:latin typeface="Cambria Math"/>
                              <a:ea typeface="Cambria Math"/>
                              <a:cs typeface="Cambria Math"/>
                            </a:rPr>
                            <m:t>𝑊</m:t>
                          </m:r>
                        </m:e>
                        <m:sub>
                          <m:r>
                            <a:rPr lang="en-GB" sz="1600" b="0" i="1">
                              <a:solidFill>
                                <a:srgbClr val="3A3A3A"/>
                              </a:solidFill>
                              <a:latin typeface="Cambria Math"/>
                              <a:ea typeface="Cambria Math"/>
                              <a:cs typeface="Cambria Math"/>
                            </a:rPr>
                            <m:t>2</m:t>
                          </m:r>
                        </m:sub>
                      </m:sSub>
                      <m:r>
                        <a:rPr lang="en-GB" sz="1600" b="0" i="1">
                          <a:solidFill>
                            <a:srgbClr val="3A3A3A"/>
                          </a:solidFill>
                          <a:latin typeface="Cambria Math"/>
                          <a:ea typeface="Cambria Math"/>
                          <a:cs typeface="Cambria Math"/>
                        </a:rPr>
                        <m:t>⋅</m:t>
                      </m:r>
                      <m:sSub>
                        <m:sSubPr>
                          <m:ctrlPr>
                            <a:rPr lang="en-GB" sz="1600" b="0" i="1">
                              <a:solidFill>
                                <a:srgbClr val="3A3A3A"/>
                              </a:solidFill>
                              <a:latin typeface="Cambria Math" panose="02040503050406030204" pitchFamily="18" charset="0"/>
                              <a:ea typeface="Cambria Math"/>
                              <a:cs typeface="Cambria Math"/>
                            </a:rPr>
                          </m:ctrlPr>
                        </m:sSubPr>
                        <m:e>
                          <m:r>
                            <a:rPr lang="en-GB" sz="1600" b="0" i="1">
                              <a:solidFill>
                                <a:srgbClr val="3A3A3A"/>
                              </a:solidFill>
                              <a:latin typeface="Cambria Math"/>
                              <a:ea typeface="Cambria Math"/>
                              <a:cs typeface="Cambria Math"/>
                            </a:rPr>
                            <m:t>𝑊</m:t>
                          </m:r>
                        </m:e>
                        <m:sub>
                          <m:r>
                            <a:rPr lang="en-GB" sz="1600" b="0" i="1">
                              <a:solidFill>
                                <a:srgbClr val="3A3A3A"/>
                              </a:solidFill>
                              <a:latin typeface="Cambria Math"/>
                              <a:ea typeface="Cambria Math"/>
                              <a:cs typeface="Cambria Math"/>
                            </a:rPr>
                            <m:t>1</m:t>
                          </m:r>
                        </m:sub>
                      </m:sSub>
                      <m:r>
                        <a:rPr lang="en-GB" sz="1600" b="0" i="1">
                          <a:solidFill>
                            <a:srgbClr val="3A3A3A"/>
                          </a:solidFill>
                          <a:latin typeface="Cambria Math"/>
                          <a:ea typeface="Cambria Math"/>
                          <a:cs typeface="Cambria Math"/>
                        </a:rPr>
                        <m:t>…=</m:t>
                      </m:r>
                      <m:sSub>
                        <m:sSubPr>
                          <m:ctrlPr>
                            <a:rPr lang="en-GB" sz="1600" b="0" i="1">
                              <a:solidFill>
                                <a:srgbClr val="3A3A3A"/>
                              </a:solidFill>
                              <a:latin typeface="Cambria Math" panose="02040503050406030204" pitchFamily="18" charset="0"/>
                              <a:ea typeface="Cambria Math"/>
                              <a:cs typeface="Cambria Math"/>
                            </a:rPr>
                          </m:ctrlPr>
                        </m:sSubPr>
                        <m:e>
                          <m:r>
                            <a:rPr lang="en-GB" sz="1600" b="0" i="1">
                              <a:solidFill>
                                <a:srgbClr val="3A3A3A"/>
                              </a:solidFill>
                              <a:latin typeface="Cambria Math"/>
                              <a:ea typeface="Cambria Math"/>
                              <a:cs typeface="Cambria Math"/>
                            </a:rPr>
                            <m:t>𝑊</m:t>
                          </m:r>
                        </m:e>
                        <m:sub>
                          <m:r>
                            <a:rPr lang="en-GB" sz="1600" b="0" i="0">
                              <a:solidFill>
                                <a:srgbClr val="3A3A3A"/>
                              </a:solidFill>
                              <a:latin typeface="Cambria Math"/>
                              <a:ea typeface="Cambria Math"/>
                              <a:cs typeface="Cambria Math"/>
                            </a:rPr>
                            <m:t>𝑒𝑓𝑓</m:t>
                          </m:r>
                        </m:sub>
                      </m:sSub>
                      <m:r>
                        <a:rPr lang="en-GB" sz="1600" b="0" i="1">
                          <a:solidFill>
                            <a:srgbClr val="3A3A3A"/>
                          </a:solidFill>
                          <a:latin typeface="Cambria Math"/>
                          <a:ea typeface="Cambria Math"/>
                          <a:cs typeface="Cambria Math"/>
                        </a:rPr>
                        <m:t>…</m:t>
                      </m:r>
                    </m:oMath>
                  </m:oMathPara>
                </a14:m>
                <a:endParaRPr sz="1600">
                  <a:solidFill>
                    <a:srgbClr val="3A3A3A"/>
                  </a:solidFill>
                </a:endParaRPr>
              </a:p>
              <a:p>
                <a:pPr>
                  <a:buNone/>
                  <a:defRPr sz="1275">
                    <a:solidFill>
                      <a:srgbClr val="3A3A3A"/>
                    </a:solidFill>
                  </a:defRPr>
                </a:pPr>
                <a:endParaRPr sz="1600">
                  <a:solidFill>
                    <a:srgbClr val="3A3A3A"/>
                  </a:solidFill>
                </a:endParaRPr>
              </a:p>
              <a:p>
                <a:pPr>
                  <a:buNone/>
                  <a:defRPr sz="1275">
                    <a:solidFill>
                      <a:srgbClr val="3A3A3A"/>
                    </a:solidFill>
                  </a:defRPr>
                </a:pPr>
                <a:r>
                  <a:rPr sz="1600">
                    <a:solidFill>
                      <a:srgbClr val="3A3A3A"/>
                    </a:solidFill>
                  </a:rPr>
                  <a:t>Depth alone does not make the model nonlinear.</a:t>
                </a:r>
              </a:p>
            </p:txBody>
          </p:sp>
        </mc:Choice>
        <mc:Fallback xmlns="">
          <p:sp>
            <p:nvSpPr>
              <p:cNvPr id="9" name="Rectangle 8">
                <a:extLst>
                  <a:ext uri="{FF2B5EF4-FFF2-40B4-BE49-F238E27FC236}">
                    <a16:creationId xmlns:a16="http://schemas.microsoft.com/office/drawing/2014/main" id="{6CC2A288-FA96-4D2F-ACB5-B9B8496649EB}"/>
                  </a:ext>
                </a:extLst>
              </p:cNvPr>
              <p:cNvSpPr>
                <a:spLocks noGrp="1" noRot="1" noChangeAspect="1" noMove="1" noResize="1" noEditPoints="1" noAdjustHandles="1" noChangeArrowheads="1" noChangeShapeType="1" noTextEdit="1"/>
              </p:cNvSpPr>
              <p:nvPr/>
            </p:nvSpPr>
            <p:spPr>
              <a:xfrm>
                <a:off x="1417192" y="2805112"/>
                <a:ext cx="4038600" cy="2019300"/>
              </a:xfrm>
              <a:prstGeom prst="rect">
                <a:avLst/>
              </a:prstGeom>
              <a:blipFill>
                <a:blip r:embed="rId3"/>
                <a:stretch>
                  <a:fillRect l="-754" t="-906"/>
                </a:stretch>
              </a:blipFill>
              <a:ln w="0">
                <a:noFill/>
                <a:prstDash val="solid"/>
              </a:ln>
            </p:spPr>
            <p:txBody>
              <a:bodyPr/>
              <a:lstStyle/>
              <a:p>
                <a:r>
                  <a:rPr lang="en-GB">
                    <a:noFill/>
                  </a:rPr>
                  <a:t> </a:t>
                </a:r>
              </a:p>
            </p:txBody>
          </p:sp>
        </mc:Fallback>
      </mc:AlternateContent>
      <p:sp>
        <p:nvSpPr>
          <p:cNvPr id="10" name="Rectangle: Rounded Corners 9">
            <a:extLst>
              <a:ext uri="{FF2B5EF4-FFF2-40B4-BE49-F238E27FC236}">
                <a16:creationId xmlns:a16="http://schemas.microsoft.com/office/drawing/2014/main" id="{C828D046-98E0-4229-9A63-5A3C1134A9DD}"/>
              </a:ext>
            </a:extLst>
          </p:cNvPr>
          <p:cNvSpPr>
            <a:spLocks noGrp="1"/>
          </p:cNvSpPr>
          <p:nvPr/>
        </p:nvSpPr>
        <p:spPr>
          <a:xfrm>
            <a:off x="6753616" y="1970635"/>
            <a:ext cx="4381500" cy="3048000"/>
          </a:xfrm>
          <a:prstGeom prst="roundRect">
            <a:avLst>
              <a:gd name="adj" fmla="val 2500"/>
            </a:avLst>
          </a:prstGeom>
          <a:solidFill>
            <a:srgbClr val="F8F8F8"/>
          </a:solidFill>
          <a:ln w="9525">
            <a:solidFill>
              <a:srgbClr val="DEDEDE"/>
            </a:solidFill>
            <a:prstDash val="solid"/>
          </a:ln>
        </p:spPr>
        <p:txBody>
          <a:bodyPr/>
          <a:lstStyle/>
          <a:p>
            <a:endParaRPr/>
          </a:p>
        </p:txBody>
      </p:sp>
      <p:sp>
        <p:nvSpPr>
          <p:cNvPr id="11" name="Rectangle 10">
            <a:extLst>
              <a:ext uri="{FF2B5EF4-FFF2-40B4-BE49-F238E27FC236}">
                <a16:creationId xmlns:a16="http://schemas.microsoft.com/office/drawing/2014/main" id="{872BCFD1-8CAC-4F8E-B4FB-E689748467CA}"/>
              </a:ext>
            </a:extLst>
          </p:cNvPr>
          <p:cNvSpPr>
            <a:spLocks noGrp="1"/>
          </p:cNvSpPr>
          <p:nvPr/>
        </p:nvSpPr>
        <p:spPr>
          <a:xfrm>
            <a:off x="6941692" y="2100262"/>
            <a:ext cx="800100" cy="38100"/>
          </a:xfrm>
          <a:prstGeom prst="rect">
            <a:avLst/>
          </a:prstGeom>
          <a:solidFill>
            <a:srgbClr val="57A773"/>
          </a:solidFill>
          <a:ln w="0">
            <a:solidFill>
              <a:srgbClr val="57A773"/>
            </a:solidFill>
            <a:prstDash val="solid"/>
          </a:ln>
        </p:spPr>
        <p:txBody>
          <a:bodyPr/>
          <a:lstStyle/>
          <a:p>
            <a:endParaRPr/>
          </a:p>
        </p:txBody>
      </p:sp>
      <p:sp>
        <p:nvSpPr>
          <p:cNvPr id="12" name="Rectangle 11">
            <a:extLst>
              <a:ext uri="{FF2B5EF4-FFF2-40B4-BE49-F238E27FC236}">
                <a16:creationId xmlns:a16="http://schemas.microsoft.com/office/drawing/2014/main" id="{99957425-2FE1-48FA-84FB-898978016C0A}"/>
              </a:ext>
            </a:extLst>
          </p:cNvPr>
          <p:cNvSpPr>
            <a:spLocks noGrp="1"/>
          </p:cNvSpPr>
          <p:nvPr/>
        </p:nvSpPr>
        <p:spPr>
          <a:xfrm>
            <a:off x="6941692" y="2328862"/>
            <a:ext cx="4038600" cy="400050"/>
          </a:xfrm>
          <a:prstGeom prst="rect">
            <a:avLst/>
          </a:prstGeom>
          <a:noFill/>
          <a:ln w="0">
            <a:noFill/>
            <a:prstDash val="solid"/>
          </a:ln>
        </p:spPr>
        <p:txBody>
          <a:bodyPr/>
          <a:lstStyle/>
          <a:p>
            <a:pPr>
              <a:buNone/>
              <a:defRPr sz="1650" b="1">
                <a:solidFill>
                  <a:srgbClr val="222222"/>
                </a:solidFill>
              </a:defRPr>
            </a:pPr>
            <a:r>
              <a:rPr b="1">
                <a:solidFill>
                  <a:srgbClr val="222222"/>
                </a:solidFill>
              </a:rPr>
              <a:t>With activations</a:t>
            </a: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49EEA690-69E3-4DA5-A6A2-4D5DB76C6524}"/>
                  </a:ext>
                </a:extLst>
              </p:cNvPr>
              <p:cNvSpPr>
                <a:spLocks noGrp="1"/>
              </p:cNvSpPr>
              <p:nvPr/>
            </p:nvSpPr>
            <p:spPr>
              <a:xfrm>
                <a:off x="6941692" y="2805112"/>
                <a:ext cx="4038600" cy="2019300"/>
              </a:xfrm>
              <a:prstGeom prst="rect">
                <a:avLst/>
              </a:prstGeom>
              <a:noFill/>
              <a:ln w="0">
                <a:noFill/>
                <a:prstDash val="solid"/>
              </a:ln>
            </p:spPr>
            <p:txBody>
              <a:bodyPr/>
              <a:lstStyle/>
              <a:p>
                <a:pPr>
                  <a:buNone/>
                  <a:defRPr sz="1275">
                    <a:solidFill>
                      <a:srgbClr val="3A3A3A"/>
                    </a:solidFill>
                  </a:defRPr>
                </a:pPr>
                <a14:m>
                  <m:oMathPara xmlns:m="http://schemas.openxmlformats.org/officeDocument/2006/math">
                    <m:oMathParaPr>
                      <m:jc m:val="centerGroup"/>
                    </m:oMathParaPr>
                    <m:oMath xmlns:m="http://schemas.openxmlformats.org/officeDocument/2006/math">
                      <m:sSub>
                        <m:sSubPr>
                          <m:ctrlPr>
                            <a:rPr lang="en-GB" sz="1600" i="1">
                              <a:solidFill>
                                <a:srgbClr val="3A3A3A"/>
                              </a:solidFill>
                              <a:latin typeface="Cambria Math" panose="02040503050406030204" pitchFamily="18" charset="0"/>
                              <a:ea typeface="Cambria Math"/>
                              <a:cs typeface="Cambria Math"/>
                            </a:rPr>
                          </m:ctrlPr>
                        </m:sSubPr>
                        <m:e>
                          <m:r>
                            <a:rPr lang="en-GB" sz="1600" i="1">
                              <a:solidFill>
                                <a:srgbClr val="3A3A3A"/>
                              </a:solidFill>
                              <a:latin typeface="Cambria Math"/>
                              <a:ea typeface="Cambria Math"/>
                              <a:cs typeface="Cambria Math"/>
                            </a:rPr>
                            <m:t>𝑎</m:t>
                          </m:r>
                        </m:e>
                        <m:sub>
                          <m:r>
                            <a:rPr lang="en-GB" sz="1600" i="1">
                              <a:solidFill>
                                <a:srgbClr val="3A3A3A"/>
                              </a:solidFill>
                              <a:latin typeface="Cambria Math"/>
                              <a:ea typeface="Cambria Math"/>
                              <a:cs typeface="Cambria Math"/>
                            </a:rPr>
                            <m:t>𝑙</m:t>
                          </m:r>
                        </m:sub>
                      </m:sSub>
                      <m:r>
                        <a:rPr lang="en-GB" sz="1600" i="1">
                          <a:solidFill>
                            <a:srgbClr val="3A3A3A"/>
                          </a:solidFill>
                          <a:latin typeface="Cambria Math"/>
                          <a:ea typeface="Cambria Math"/>
                          <a:cs typeface="Cambria Math"/>
                        </a:rPr>
                        <m:t>=</m:t>
                      </m:r>
                      <m:r>
                        <a:rPr lang="en-GB" sz="1600" i="1">
                          <a:solidFill>
                            <a:srgbClr val="3A3A3A"/>
                          </a:solidFill>
                          <a:latin typeface="Cambria Math"/>
                          <a:ea typeface="Cambria Math"/>
                          <a:cs typeface="Cambria Math"/>
                        </a:rPr>
                        <m:t>𝑔</m:t>
                      </m:r>
                      <m:d>
                        <m:dPr>
                          <m:ctrlPr>
                            <a:rPr lang="en-GB" sz="1600" i="1">
                              <a:solidFill>
                                <a:srgbClr val="3A3A3A"/>
                              </a:solidFill>
                              <a:latin typeface="Cambria Math" panose="02040503050406030204" pitchFamily="18" charset="0"/>
                              <a:ea typeface="Cambria Math"/>
                              <a:cs typeface="Cambria Math"/>
                            </a:rPr>
                          </m:ctrlPr>
                        </m:dPr>
                        <m:e>
                          <m:sSub>
                            <m:sSubPr>
                              <m:ctrlPr>
                                <a:rPr lang="en-GB" sz="1600" i="1">
                                  <a:solidFill>
                                    <a:srgbClr val="3A3A3A"/>
                                  </a:solidFill>
                                  <a:latin typeface="Cambria Math" panose="02040503050406030204" pitchFamily="18" charset="0"/>
                                  <a:ea typeface="Cambria Math"/>
                                  <a:cs typeface="Cambria Math"/>
                                </a:rPr>
                              </m:ctrlPr>
                            </m:sSubPr>
                            <m:e>
                              <m:r>
                                <a:rPr lang="en-GB" sz="1600" i="1">
                                  <a:solidFill>
                                    <a:srgbClr val="3A3A3A"/>
                                  </a:solidFill>
                                  <a:latin typeface="Cambria Math"/>
                                  <a:ea typeface="Cambria Math"/>
                                  <a:cs typeface="Cambria Math"/>
                                </a:rPr>
                                <m:t>𝑊</m:t>
                              </m:r>
                            </m:e>
                            <m:sub>
                              <m:r>
                                <a:rPr lang="en-GB" sz="1600" i="1">
                                  <a:solidFill>
                                    <a:srgbClr val="3A3A3A"/>
                                  </a:solidFill>
                                  <a:latin typeface="Cambria Math"/>
                                  <a:ea typeface="Cambria Math"/>
                                  <a:cs typeface="Cambria Math"/>
                                </a:rPr>
                                <m:t>𝑙</m:t>
                              </m:r>
                            </m:sub>
                          </m:sSub>
                          <m:sSub>
                            <m:sSubPr>
                              <m:ctrlPr>
                                <a:rPr lang="en-GB" sz="1600" i="1">
                                  <a:solidFill>
                                    <a:srgbClr val="3A3A3A"/>
                                  </a:solidFill>
                                  <a:latin typeface="Cambria Math" panose="02040503050406030204" pitchFamily="18" charset="0"/>
                                  <a:ea typeface="Cambria Math"/>
                                  <a:cs typeface="Cambria Math"/>
                                </a:rPr>
                              </m:ctrlPr>
                            </m:sSubPr>
                            <m:e>
                              <m:r>
                                <a:rPr lang="en-GB" sz="1600" i="1">
                                  <a:solidFill>
                                    <a:srgbClr val="3A3A3A"/>
                                  </a:solidFill>
                                  <a:latin typeface="Cambria Math"/>
                                  <a:ea typeface="Cambria Math"/>
                                  <a:cs typeface="Cambria Math"/>
                                </a:rPr>
                                <m:t>𝑎</m:t>
                              </m:r>
                            </m:e>
                            <m:sub>
                              <m:r>
                                <a:rPr lang="en-GB" sz="1600" i="1">
                                  <a:solidFill>
                                    <a:srgbClr val="3A3A3A"/>
                                  </a:solidFill>
                                  <a:latin typeface="Cambria Math"/>
                                  <a:ea typeface="Cambria Math"/>
                                  <a:cs typeface="Cambria Math"/>
                                </a:rPr>
                                <m:t>𝑙</m:t>
                              </m:r>
                              <m:r>
                                <a:rPr lang="en-GB" sz="1600" i="1">
                                  <a:solidFill>
                                    <a:srgbClr val="3A3A3A"/>
                                  </a:solidFill>
                                  <a:latin typeface="Cambria Math"/>
                                  <a:ea typeface="Cambria Math"/>
                                  <a:cs typeface="Cambria Math"/>
                                </a:rPr>
                                <m:t>−1</m:t>
                              </m:r>
                            </m:sub>
                          </m:sSub>
                          <m:r>
                            <a:rPr lang="en-GB" sz="1600" i="1">
                              <a:solidFill>
                                <a:srgbClr val="3A3A3A"/>
                              </a:solidFill>
                              <a:latin typeface="Cambria Math"/>
                              <a:ea typeface="Cambria Math"/>
                              <a:cs typeface="Cambria Math"/>
                            </a:rPr>
                            <m:t>+</m:t>
                          </m:r>
                          <m:sSub>
                            <m:sSubPr>
                              <m:ctrlPr>
                                <a:rPr lang="en-GB" sz="1600" i="1">
                                  <a:solidFill>
                                    <a:srgbClr val="3A3A3A"/>
                                  </a:solidFill>
                                  <a:latin typeface="Cambria Math" panose="02040503050406030204" pitchFamily="18" charset="0"/>
                                  <a:ea typeface="Cambria Math"/>
                                  <a:cs typeface="Cambria Math"/>
                                </a:rPr>
                              </m:ctrlPr>
                            </m:sSubPr>
                            <m:e>
                              <m:r>
                                <a:rPr lang="en-GB" sz="1600" i="1">
                                  <a:solidFill>
                                    <a:srgbClr val="3A3A3A"/>
                                  </a:solidFill>
                                  <a:latin typeface="Cambria Math"/>
                                  <a:ea typeface="Cambria Math"/>
                                  <a:cs typeface="Cambria Math"/>
                                </a:rPr>
                                <m:t>𝑏</m:t>
                              </m:r>
                            </m:e>
                            <m:sub>
                              <m:r>
                                <a:rPr lang="en-GB" sz="1600" i="1">
                                  <a:solidFill>
                                    <a:srgbClr val="3A3A3A"/>
                                  </a:solidFill>
                                  <a:latin typeface="Cambria Math"/>
                                  <a:ea typeface="Cambria Math"/>
                                  <a:cs typeface="Cambria Math"/>
                                </a:rPr>
                                <m:t>𝑙</m:t>
                              </m:r>
                            </m:sub>
                          </m:sSub>
                        </m:e>
                      </m:d>
                    </m:oMath>
                  </m:oMathPara>
                </a14:m>
                <a:endParaRPr/>
              </a:p>
              <a:p>
                <a:pPr>
                  <a:buNone/>
                  <a:defRPr sz="1275">
                    <a:solidFill>
                      <a:srgbClr val="3A3A3A"/>
                    </a:solidFill>
                  </a:defRPr>
                </a:pPr>
                <a:endParaRPr/>
              </a:p>
              <a:p>
                <a:pPr>
                  <a:buNone/>
                  <a:defRPr sz="1275">
                    <a:solidFill>
                      <a:srgbClr val="3A3A3A"/>
                    </a:solidFill>
                  </a:defRPr>
                </a:pPr>
                <a:r>
                  <a:rPr sz="1600">
                    <a:solidFill>
                      <a:srgbClr val="3A3A3A"/>
                    </a:solidFill>
                  </a:rPr>
                  <a:t>Composition of simple nonlinear maps can build complex decision boundaries.</a:t>
                </a:r>
              </a:p>
            </p:txBody>
          </p:sp>
        </mc:Choice>
        <mc:Fallback xmlns="">
          <p:sp>
            <p:nvSpPr>
              <p:cNvPr id="13" name="Rectangle 12">
                <a:extLst>
                  <a:ext uri="{FF2B5EF4-FFF2-40B4-BE49-F238E27FC236}">
                    <a16:creationId xmlns:a16="http://schemas.microsoft.com/office/drawing/2014/main" id="{49EEA690-69E3-4DA5-A6A2-4D5DB76C6524}"/>
                  </a:ext>
                </a:extLst>
              </p:cNvPr>
              <p:cNvSpPr>
                <a:spLocks noGrp="1" noRot="1" noChangeAspect="1" noMove="1" noResize="1" noEditPoints="1" noAdjustHandles="1" noChangeArrowheads="1" noChangeShapeType="1" noTextEdit="1"/>
              </p:cNvSpPr>
              <p:nvPr/>
            </p:nvSpPr>
            <p:spPr>
              <a:xfrm>
                <a:off x="6941692" y="2805112"/>
                <a:ext cx="4038600" cy="2019300"/>
              </a:xfrm>
              <a:prstGeom prst="rect">
                <a:avLst/>
              </a:prstGeom>
              <a:blipFill>
                <a:blip r:embed="rId4"/>
                <a:stretch>
                  <a:fillRect l="-906"/>
                </a:stretch>
              </a:blipFill>
              <a:ln w="0">
                <a:noFill/>
                <a:prstDash val="solid"/>
              </a:ln>
            </p:spPr>
            <p:txBody>
              <a:bodyPr/>
              <a:lstStyle/>
              <a:p>
                <a:r>
                  <a:rPr lang="en-GB">
                    <a:noFill/>
                  </a:rPr>
                  <a:t> </a:t>
                </a:r>
              </a:p>
            </p:txBody>
          </p:sp>
        </mc:Fallback>
      </mc:AlternateContent>
      <p:sp>
        <p:nvSpPr>
          <p:cNvPr id="14" name="Rectangle 13">
            <a:extLst>
              <a:ext uri="{FF2B5EF4-FFF2-40B4-BE49-F238E27FC236}">
                <a16:creationId xmlns:a16="http://schemas.microsoft.com/office/drawing/2014/main" id="{E1EF5723-F6D6-4316-A79A-291B5FC01EA5}"/>
              </a:ext>
            </a:extLst>
          </p:cNvPr>
          <p:cNvSpPr>
            <a:spLocks noGrp="1"/>
          </p:cNvSpPr>
          <p:nvPr/>
        </p:nvSpPr>
        <p:spPr>
          <a:xfrm>
            <a:off x="1381125" y="5238750"/>
            <a:ext cx="9429750" cy="419100"/>
          </a:xfrm>
          <a:prstGeom prst="rect">
            <a:avLst/>
          </a:prstGeom>
          <a:noFill/>
          <a:ln w="0">
            <a:noFill/>
            <a:prstDash val="solid"/>
          </a:ln>
        </p:spPr>
        <p:txBody>
          <a:bodyPr/>
          <a:lstStyle/>
          <a:p>
            <a:pPr algn="ctr">
              <a:buNone/>
              <a:defRPr sz="1725">
                <a:solidFill>
                  <a:srgbClr val="333333"/>
                </a:solidFill>
              </a:defRPr>
            </a:pPr>
            <a:r>
              <a:rPr sz="1725">
                <a:solidFill>
                  <a:srgbClr val="333333"/>
                </a:solidFill>
              </a:rPr>
              <a:t>This is the step from fitting a plane to learning a useful transformation of the data.</a:t>
            </a:r>
          </a:p>
        </p:txBody>
      </p:sp>
      <p:sp>
        <p:nvSpPr>
          <p:cNvPr id="2" name="Date Placeholder 1">
            <a:extLst>
              <a:ext uri="{FF2B5EF4-FFF2-40B4-BE49-F238E27FC236}">
                <a16:creationId xmlns:a16="http://schemas.microsoft.com/office/drawing/2014/main" id="{17306AE7-B6A1-C309-ED82-DCF8358A6E2F}"/>
              </a:ext>
            </a:extLst>
          </p:cNvPr>
          <p:cNvSpPr>
            <a:spLocks noGrp="1"/>
          </p:cNvSpPr>
          <p:nvPr>
            <p:ph type="dt" idx="10"/>
          </p:nvPr>
        </p:nvSpPr>
        <p:spPr/>
        <p:txBody>
          <a:bodyPr/>
          <a:lstStyle/>
          <a:p>
            <a:pPr>
              <a:buNone/>
            </a:pPr>
            <a:fld id="{FC0CB1EC-C7B0-4E93-850A-703E8C0817ED}" type="datetime1">
              <a:rPr lang="en-US"/>
              <a:t>7/29/2026</a:t>
            </a:fld>
            <a:endParaRPr/>
          </a:p>
        </p:txBody>
      </p:sp>
      <p:sp>
        <p:nvSpPr>
          <p:cNvPr id="4" name="Slide Number Placeholder 3">
            <a:extLst>
              <a:ext uri="{FF2B5EF4-FFF2-40B4-BE49-F238E27FC236}">
                <a16:creationId xmlns:a16="http://schemas.microsoft.com/office/drawing/2014/main" id="{D4365F15-4219-2A7F-DEA6-B361CCB8AA92}"/>
              </a:ext>
            </a:extLst>
          </p:cNvPr>
          <p:cNvSpPr>
            <a:spLocks noGrp="1"/>
          </p:cNvSpPr>
          <p:nvPr>
            <p:ph type="sldNum" idx="12"/>
          </p:nvPr>
        </p:nvSpPr>
        <p:spPr/>
        <p:txBody>
          <a:bodyPr/>
          <a:lstStyle/>
          <a:p>
            <a:pPr>
              <a:buNone/>
            </a:pPr>
            <a:fld id="{B5CEABB6-07DC-46E8-9B57-56EC44A396E5}" type="slidenum">
              <a:rPr/>
              <a:t>14</a:t>
            </a:fld>
            <a:endParaRPr/>
          </a:p>
        </p:txBody>
      </p:sp>
    </p:spTree>
    <p:extLst>
      <p:ext uri="{BB962C8B-B14F-4D97-AF65-F5344CB8AC3E}">
        <p14:creationId xmlns:p14="http://schemas.microsoft.com/office/powerpoint/2010/main" val="1395469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7946CAF-339F-CBF2-0649-989C529E4A81}"/>
              </a:ext>
            </a:extLst>
          </p:cNvPr>
          <p:cNvSpPr>
            <a:spLocks noGrp="1"/>
          </p:cNvSpPr>
          <p:nvPr>
            <p:ph type="ftr" idx="11"/>
          </p:nvPr>
        </p:nvSpPr>
        <p:spPr/>
        <p:txBody>
          <a:bodyPr/>
          <a:lstStyle/>
          <a:p>
            <a:pPr>
              <a:buNone/>
              <a:defRPr sz="675">
                <a:solidFill>
                  <a:srgbClr val="777777"/>
                </a:solidFill>
              </a:defRPr>
            </a:pPr>
            <a:r>
              <a:rPr sz="675">
                <a:solidFill>
                  <a:srgbClr val="777777"/>
                </a:solidFill>
              </a:rPr>
              <a:t>Introduction to Deep Learning - PSDI &amp; Royce Materials Data Summit</a:t>
            </a:r>
          </a:p>
        </p:txBody>
      </p:sp>
      <p:sp>
        <p:nvSpPr>
          <p:cNvPr id="5" name="Rectangle 4">
            <a:extLst>
              <a:ext uri="{FF2B5EF4-FFF2-40B4-BE49-F238E27FC236}">
                <a16:creationId xmlns:a16="http://schemas.microsoft.com/office/drawing/2014/main" id="{2A665F8D-620F-48AD-B85A-D458BEA14829}"/>
              </a:ext>
            </a:extLst>
          </p:cNvPr>
          <p:cNvSpPr>
            <a:spLocks noGrp="1"/>
          </p:cNvSpPr>
          <p:nvPr/>
        </p:nvSpPr>
        <p:spPr>
          <a:xfrm>
            <a:off x="838200" y="773112"/>
            <a:ext cx="10515600" cy="762000"/>
          </a:xfrm>
          <a:prstGeom prst="rect">
            <a:avLst/>
          </a:prstGeom>
          <a:noFill/>
          <a:ln w="0">
            <a:noFill/>
            <a:prstDash val="solid"/>
          </a:ln>
        </p:spPr>
        <p:txBody>
          <a:bodyPr/>
          <a:lstStyle/>
          <a:p>
            <a:pPr algn="ctr">
              <a:buNone/>
              <a:defRPr sz="2175">
                <a:solidFill>
                  <a:srgbClr val="111111"/>
                </a:solidFill>
              </a:defRPr>
            </a:pPr>
            <a:r>
              <a:rPr sz="2175">
                <a:solidFill>
                  <a:srgbClr val="111111"/>
                </a:solidFill>
              </a:rPr>
              <a:t>LOSS FUNCTIONS TURN LEARNING INTO OPTIMISATION</a:t>
            </a:r>
          </a:p>
        </p:txBody>
      </p:sp>
      <p:sp>
        <p:nvSpPr>
          <p:cNvPr id="6" name="Rectangle 5">
            <a:extLst>
              <a:ext uri="{FF2B5EF4-FFF2-40B4-BE49-F238E27FC236}">
                <a16:creationId xmlns:a16="http://schemas.microsoft.com/office/drawing/2014/main" id="{38ACF144-376D-4E3B-8B7A-DB8E9A9B80AB}"/>
              </a:ext>
            </a:extLst>
          </p:cNvPr>
          <p:cNvSpPr>
            <a:spLocks noGrp="1"/>
          </p:cNvSpPr>
          <p:nvPr/>
        </p:nvSpPr>
        <p:spPr>
          <a:xfrm>
            <a:off x="633520" y="2266950"/>
            <a:ext cx="564218" cy="533400"/>
          </a:xfrm>
          <a:prstGeom prst="rect">
            <a:avLst/>
          </a:prstGeom>
          <a:noFill/>
          <a:ln w="0">
            <a:noFill/>
            <a:prstDash val="solid"/>
          </a:ln>
        </p:spPr>
        <p:txBody>
          <a:bodyPr/>
          <a:lstStyle/>
          <a:p>
            <a:pPr algn="ctr">
              <a:buNone/>
              <a:defRPr sz="2250" b="1">
                <a:solidFill>
                  <a:srgbClr val="D97706"/>
                </a:solidFill>
              </a:defRPr>
            </a:pPr>
            <a:r>
              <a:rPr sz="3600" b="1">
                <a:solidFill>
                  <a:srgbClr val="D97706"/>
                </a:solidFill>
              </a:rPr>
              <a:t>1</a:t>
            </a:r>
          </a:p>
        </p:txBody>
      </p:sp>
      <p:sp>
        <p:nvSpPr>
          <p:cNvPr id="7" name="Rectangle 6">
            <a:extLst>
              <a:ext uri="{FF2B5EF4-FFF2-40B4-BE49-F238E27FC236}">
                <a16:creationId xmlns:a16="http://schemas.microsoft.com/office/drawing/2014/main" id="{654AADE4-24D9-4F9E-997C-12FF3B30D585}"/>
              </a:ext>
            </a:extLst>
          </p:cNvPr>
          <p:cNvSpPr>
            <a:spLocks noGrp="1"/>
          </p:cNvSpPr>
          <p:nvPr/>
        </p:nvSpPr>
        <p:spPr>
          <a:xfrm>
            <a:off x="1252645" y="2295525"/>
            <a:ext cx="1813558" cy="323850"/>
          </a:xfrm>
          <a:prstGeom prst="rect">
            <a:avLst/>
          </a:prstGeom>
          <a:noFill/>
          <a:ln w="0">
            <a:noFill/>
            <a:prstDash val="solid"/>
          </a:ln>
        </p:spPr>
        <p:txBody>
          <a:bodyPr/>
          <a:lstStyle/>
          <a:p>
            <a:pPr>
              <a:buNone/>
              <a:defRPr sz="1725" b="1">
                <a:solidFill>
                  <a:srgbClr val="222222"/>
                </a:solidFill>
              </a:defRPr>
            </a:pPr>
            <a:r>
              <a:rPr b="1">
                <a:solidFill>
                  <a:srgbClr val="222222"/>
                </a:solidFill>
              </a:rPr>
              <a:t>Model</a:t>
            </a:r>
          </a:p>
        </p:txBody>
      </p:sp>
      <p:sp>
        <p:nvSpPr>
          <p:cNvPr id="8" name="Rectangle 7">
            <a:extLst>
              <a:ext uri="{FF2B5EF4-FFF2-40B4-BE49-F238E27FC236}">
                <a16:creationId xmlns:a16="http://schemas.microsoft.com/office/drawing/2014/main" id="{AB8FB6B5-78F0-4C4B-88C2-0F1D6CB3D916}"/>
              </a:ext>
            </a:extLst>
          </p:cNvPr>
          <p:cNvSpPr>
            <a:spLocks noGrp="1"/>
          </p:cNvSpPr>
          <p:nvPr/>
        </p:nvSpPr>
        <p:spPr>
          <a:xfrm>
            <a:off x="1252644" y="2743200"/>
            <a:ext cx="1914311" cy="685800"/>
          </a:xfrm>
          <a:prstGeom prst="rect">
            <a:avLst/>
          </a:prstGeom>
          <a:noFill/>
          <a:ln w="0">
            <a:noFill/>
            <a:prstDash val="solid"/>
          </a:ln>
        </p:spPr>
        <p:txBody>
          <a:bodyPr/>
          <a:lstStyle/>
          <a:p>
            <a:pPr>
              <a:buNone/>
              <a:defRPr sz="1350">
                <a:solidFill>
                  <a:srgbClr val="444444"/>
                </a:solidFill>
              </a:defRPr>
            </a:pPr>
            <a:r>
              <a:rPr sz="1600">
                <a:solidFill>
                  <a:srgbClr val="444444"/>
                </a:solidFill>
              </a:rPr>
              <a:t>make a prediction</a:t>
            </a:r>
          </a:p>
        </p:txBody>
      </p:sp>
      <p:sp>
        <p:nvSpPr>
          <p:cNvPr id="9" name="Rectangle 8">
            <a:extLst>
              <a:ext uri="{FF2B5EF4-FFF2-40B4-BE49-F238E27FC236}">
                <a16:creationId xmlns:a16="http://schemas.microsoft.com/office/drawing/2014/main" id="{3D567B14-8899-466D-BF3F-3EEE07DAA1B7}"/>
              </a:ext>
            </a:extLst>
          </p:cNvPr>
          <p:cNvSpPr>
            <a:spLocks noGrp="1"/>
          </p:cNvSpPr>
          <p:nvPr/>
        </p:nvSpPr>
        <p:spPr>
          <a:xfrm>
            <a:off x="3300520" y="2266950"/>
            <a:ext cx="564218" cy="533400"/>
          </a:xfrm>
          <a:prstGeom prst="rect">
            <a:avLst/>
          </a:prstGeom>
          <a:noFill/>
          <a:ln w="0">
            <a:noFill/>
            <a:prstDash val="solid"/>
          </a:ln>
        </p:spPr>
        <p:txBody>
          <a:bodyPr/>
          <a:lstStyle/>
          <a:p>
            <a:pPr algn="ctr">
              <a:buNone/>
              <a:defRPr sz="2250" b="1">
                <a:solidFill>
                  <a:srgbClr val="D97706"/>
                </a:solidFill>
              </a:defRPr>
            </a:pPr>
            <a:r>
              <a:rPr sz="3600" b="1">
                <a:solidFill>
                  <a:srgbClr val="D97706"/>
                </a:solidFill>
              </a:rPr>
              <a:t>2</a:t>
            </a:r>
          </a:p>
        </p:txBody>
      </p:sp>
      <p:sp>
        <p:nvSpPr>
          <p:cNvPr id="10" name="Rectangle 9">
            <a:extLst>
              <a:ext uri="{FF2B5EF4-FFF2-40B4-BE49-F238E27FC236}">
                <a16:creationId xmlns:a16="http://schemas.microsoft.com/office/drawing/2014/main" id="{0E3F302D-2595-4A3B-884E-D773CAFEF480}"/>
              </a:ext>
            </a:extLst>
          </p:cNvPr>
          <p:cNvSpPr>
            <a:spLocks noGrp="1"/>
          </p:cNvSpPr>
          <p:nvPr/>
        </p:nvSpPr>
        <p:spPr>
          <a:xfrm>
            <a:off x="3919645" y="2295525"/>
            <a:ext cx="1813558" cy="323850"/>
          </a:xfrm>
          <a:prstGeom prst="rect">
            <a:avLst/>
          </a:prstGeom>
          <a:noFill/>
          <a:ln w="0">
            <a:noFill/>
            <a:prstDash val="solid"/>
          </a:ln>
        </p:spPr>
        <p:txBody>
          <a:bodyPr/>
          <a:lstStyle/>
          <a:p>
            <a:pPr>
              <a:buNone/>
              <a:defRPr sz="1725" b="1">
                <a:solidFill>
                  <a:srgbClr val="222222"/>
                </a:solidFill>
              </a:defRPr>
            </a:pPr>
            <a:r>
              <a:rPr b="1">
                <a:solidFill>
                  <a:srgbClr val="222222"/>
                </a:solidFill>
              </a:rPr>
              <a:t>Loss</a:t>
            </a:r>
          </a:p>
        </p:txBody>
      </p:sp>
      <p:sp>
        <p:nvSpPr>
          <p:cNvPr id="11" name="Rectangle 10">
            <a:extLst>
              <a:ext uri="{FF2B5EF4-FFF2-40B4-BE49-F238E27FC236}">
                <a16:creationId xmlns:a16="http://schemas.microsoft.com/office/drawing/2014/main" id="{95D85010-CC16-42D8-BB9E-A7DC881ACAE5}"/>
              </a:ext>
            </a:extLst>
          </p:cNvPr>
          <p:cNvSpPr>
            <a:spLocks noGrp="1"/>
          </p:cNvSpPr>
          <p:nvPr/>
        </p:nvSpPr>
        <p:spPr>
          <a:xfrm>
            <a:off x="3919644" y="2743200"/>
            <a:ext cx="1914311" cy="685800"/>
          </a:xfrm>
          <a:prstGeom prst="rect">
            <a:avLst/>
          </a:prstGeom>
          <a:noFill/>
          <a:ln w="0">
            <a:noFill/>
            <a:prstDash val="solid"/>
          </a:ln>
        </p:spPr>
        <p:txBody>
          <a:bodyPr/>
          <a:lstStyle/>
          <a:p>
            <a:pPr>
              <a:buNone/>
              <a:defRPr sz="1350">
                <a:solidFill>
                  <a:srgbClr val="444444"/>
                </a:solidFill>
              </a:defRPr>
            </a:pPr>
            <a:r>
              <a:rPr sz="1600">
                <a:solidFill>
                  <a:srgbClr val="444444"/>
                </a:solidFill>
              </a:rPr>
              <a:t>measure the error</a:t>
            </a:r>
          </a:p>
        </p:txBody>
      </p:sp>
      <p:sp>
        <p:nvSpPr>
          <p:cNvPr id="12" name="Rectangle 11">
            <a:extLst>
              <a:ext uri="{FF2B5EF4-FFF2-40B4-BE49-F238E27FC236}">
                <a16:creationId xmlns:a16="http://schemas.microsoft.com/office/drawing/2014/main" id="{CE7DBF21-1DC4-48D0-BDDB-D6EC77981CF2}"/>
              </a:ext>
            </a:extLst>
          </p:cNvPr>
          <p:cNvSpPr>
            <a:spLocks noGrp="1"/>
          </p:cNvSpPr>
          <p:nvPr/>
        </p:nvSpPr>
        <p:spPr>
          <a:xfrm>
            <a:off x="712179" y="3875088"/>
            <a:ext cx="564218" cy="533400"/>
          </a:xfrm>
          <a:prstGeom prst="rect">
            <a:avLst/>
          </a:prstGeom>
          <a:noFill/>
          <a:ln w="0">
            <a:noFill/>
            <a:prstDash val="solid"/>
          </a:ln>
        </p:spPr>
        <p:txBody>
          <a:bodyPr/>
          <a:lstStyle/>
          <a:p>
            <a:pPr algn="ctr">
              <a:buNone/>
              <a:defRPr sz="2250" b="1">
                <a:solidFill>
                  <a:srgbClr val="D97706"/>
                </a:solidFill>
              </a:defRPr>
            </a:pPr>
            <a:r>
              <a:rPr sz="3600" b="1">
                <a:solidFill>
                  <a:srgbClr val="D97706"/>
                </a:solidFill>
              </a:rPr>
              <a:t>3</a:t>
            </a:r>
          </a:p>
        </p:txBody>
      </p:sp>
      <p:sp>
        <p:nvSpPr>
          <p:cNvPr id="13" name="Rectangle 12">
            <a:extLst>
              <a:ext uri="{FF2B5EF4-FFF2-40B4-BE49-F238E27FC236}">
                <a16:creationId xmlns:a16="http://schemas.microsoft.com/office/drawing/2014/main" id="{A7C667BF-6A92-450F-A363-8B6DB81A2B86}"/>
              </a:ext>
            </a:extLst>
          </p:cNvPr>
          <p:cNvSpPr>
            <a:spLocks noGrp="1"/>
          </p:cNvSpPr>
          <p:nvPr/>
        </p:nvSpPr>
        <p:spPr>
          <a:xfrm>
            <a:off x="1331304" y="3903663"/>
            <a:ext cx="1813558" cy="323850"/>
          </a:xfrm>
          <a:prstGeom prst="rect">
            <a:avLst/>
          </a:prstGeom>
          <a:noFill/>
          <a:ln w="0">
            <a:noFill/>
            <a:prstDash val="solid"/>
          </a:ln>
        </p:spPr>
        <p:txBody>
          <a:bodyPr/>
          <a:lstStyle/>
          <a:p>
            <a:pPr>
              <a:buNone/>
              <a:defRPr sz="1725" b="1">
                <a:solidFill>
                  <a:srgbClr val="222222"/>
                </a:solidFill>
              </a:defRPr>
            </a:pPr>
            <a:r>
              <a:rPr b="1">
                <a:solidFill>
                  <a:srgbClr val="222222"/>
                </a:solidFill>
              </a:rPr>
              <a:t>Gradient</a:t>
            </a:r>
          </a:p>
        </p:txBody>
      </p:sp>
      <p:sp>
        <p:nvSpPr>
          <p:cNvPr id="14" name="Rectangle 13">
            <a:extLst>
              <a:ext uri="{FF2B5EF4-FFF2-40B4-BE49-F238E27FC236}">
                <a16:creationId xmlns:a16="http://schemas.microsoft.com/office/drawing/2014/main" id="{4769D551-98F0-4130-AFAE-2B8142498CBB}"/>
              </a:ext>
            </a:extLst>
          </p:cNvPr>
          <p:cNvSpPr>
            <a:spLocks noGrp="1"/>
          </p:cNvSpPr>
          <p:nvPr/>
        </p:nvSpPr>
        <p:spPr>
          <a:xfrm>
            <a:off x="1331303" y="4351338"/>
            <a:ext cx="1969217" cy="685800"/>
          </a:xfrm>
          <a:prstGeom prst="rect">
            <a:avLst/>
          </a:prstGeom>
          <a:noFill/>
          <a:ln w="0">
            <a:noFill/>
            <a:prstDash val="solid"/>
          </a:ln>
        </p:spPr>
        <p:txBody>
          <a:bodyPr/>
          <a:lstStyle/>
          <a:p>
            <a:pPr>
              <a:buNone/>
              <a:defRPr sz="1350">
                <a:solidFill>
                  <a:srgbClr val="444444"/>
                </a:solidFill>
              </a:defRPr>
            </a:pPr>
            <a:r>
              <a:rPr sz="1600">
                <a:solidFill>
                  <a:srgbClr val="444444"/>
                </a:solidFill>
              </a:rPr>
              <a:t>ask how each parameter affects it</a:t>
            </a:r>
          </a:p>
        </p:txBody>
      </p:sp>
      <p:sp>
        <p:nvSpPr>
          <p:cNvPr id="15" name="Rectangle 14">
            <a:extLst>
              <a:ext uri="{FF2B5EF4-FFF2-40B4-BE49-F238E27FC236}">
                <a16:creationId xmlns:a16="http://schemas.microsoft.com/office/drawing/2014/main" id="{12529A80-BDD0-467D-9ED1-9858B0DACACA}"/>
              </a:ext>
            </a:extLst>
          </p:cNvPr>
          <p:cNvSpPr>
            <a:spLocks noGrp="1"/>
          </p:cNvSpPr>
          <p:nvPr/>
        </p:nvSpPr>
        <p:spPr>
          <a:xfrm>
            <a:off x="3379179" y="3875088"/>
            <a:ext cx="564218" cy="533400"/>
          </a:xfrm>
          <a:prstGeom prst="rect">
            <a:avLst/>
          </a:prstGeom>
          <a:noFill/>
          <a:ln w="0">
            <a:noFill/>
            <a:prstDash val="solid"/>
          </a:ln>
        </p:spPr>
        <p:txBody>
          <a:bodyPr/>
          <a:lstStyle/>
          <a:p>
            <a:pPr algn="ctr">
              <a:buNone/>
              <a:defRPr sz="2250" b="1">
                <a:solidFill>
                  <a:srgbClr val="D97706"/>
                </a:solidFill>
              </a:defRPr>
            </a:pPr>
            <a:r>
              <a:rPr sz="3600" b="1">
                <a:solidFill>
                  <a:srgbClr val="D97706"/>
                </a:solidFill>
              </a:rPr>
              <a:t>4</a:t>
            </a:r>
          </a:p>
        </p:txBody>
      </p:sp>
      <p:sp>
        <p:nvSpPr>
          <p:cNvPr id="16" name="Rectangle 15">
            <a:extLst>
              <a:ext uri="{FF2B5EF4-FFF2-40B4-BE49-F238E27FC236}">
                <a16:creationId xmlns:a16="http://schemas.microsoft.com/office/drawing/2014/main" id="{A3BED568-9AA5-4A44-A104-F14420723C97}"/>
              </a:ext>
            </a:extLst>
          </p:cNvPr>
          <p:cNvSpPr>
            <a:spLocks noGrp="1"/>
          </p:cNvSpPr>
          <p:nvPr/>
        </p:nvSpPr>
        <p:spPr>
          <a:xfrm>
            <a:off x="3998304" y="3903663"/>
            <a:ext cx="1813558" cy="323850"/>
          </a:xfrm>
          <a:prstGeom prst="rect">
            <a:avLst/>
          </a:prstGeom>
          <a:noFill/>
          <a:ln w="0">
            <a:noFill/>
            <a:prstDash val="solid"/>
          </a:ln>
        </p:spPr>
        <p:txBody>
          <a:bodyPr/>
          <a:lstStyle/>
          <a:p>
            <a:pPr>
              <a:buNone/>
              <a:defRPr sz="1725" b="1">
                <a:solidFill>
                  <a:srgbClr val="222222"/>
                </a:solidFill>
              </a:defRPr>
            </a:pPr>
            <a:r>
              <a:rPr b="1">
                <a:solidFill>
                  <a:srgbClr val="222222"/>
                </a:solidFill>
              </a:rPr>
              <a:t>Update</a:t>
            </a:r>
          </a:p>
        </p:txBody>
      </p:sp>
      <p:sp>
        <p:nvSpPr>
          <p:cNvPr id="17" name="Rectangle 16">
            <a:extLst>
              <a:ext uri="{FF2B5EF4-FFF2-40B4-BE49-F238E27FC236}">
                <a16:creationId xmlns:a16="http://schemas.microsoft.com/office/drawing/2014/main" id="{33C107DD-0146-4531-AD0F-937F6FADCE93}"/>
              </a:ext>
            </a:extLst>
          </p:cNvPr>
          <p:cNvSpPr>
            <a:spLocks noGrp="1"/>
          </p:cNvSpPr>
          <p:nvPr/>
        </p:nvSpPr>
        <p:spPr>
          <a:xfrm>
            <a:off x="3998303" y="4351338"/>
            <a:ext cx="1914311" cy="685800"/>
          </a:xfrm>
          <a:prstGeom prst="rect">
            <a:avLst/>
          </a:prstGeom>
          <a:noFill/>
          <a:ln w="0">
            <a:noFill/>
            <a:prstDash val="solid"/>
          </a:ln>
        </p:spPr>
        <p:txBody>
          <a:bodyPr/>
          <a:lstStyle/>
          <a:p>
            <a:pPr>
              <a:buNone/>
              <a:defRPr sz="1350">
                <a:solidFill>
                  <a:srgbClr val="444444"/>
                </a:solidFill>
              </a:defRPr>
            </a:pPr>
            <a:r>
              <a:rPr sz="1600">
                <a:solidFill>
                  <a:srgbClr val="444444"/>
                </a:solidFill>
              </a:rPr>
              <a:t>step downhill</a:t>
            </a:r>
          </a:p>
        </p:txBody>
      </p:sp>
      <p:sp>
        <p:nvSpPr>
          <p:cNvPr id="2" name="Date Placeholder 1">
            <a:extLst>
              <a:ext uri="{FF2B5EF4-FFF2-40B4-BE49-F238E27FC236}">
                <a16:creationId xmlns:a16="http://schemas.microsoft.com/office/drawing/2014/main" id="{2EF00D71-12C6-349F-25C6-4D74AC253E51}"/>
              </a:ext>
            </a:extLst>
          </p:cNvPr>
          <p:cNvSpPr>
            <a:spLocks noGrp="1"/>
          </p:cNvSpPr>
          <p:nvPr>
            <p:ph type="dt" idx="10"/>
          </p:nvPr>
        </p:nvSpPr>
        <p:spPr/>
        <p:txBody>
          <a:bodyPr/>
          <a:lstStyle/>
          <a:p>
            <a:pPr>
              <a:buNone/>
            </a:pPr>
            <a:fld id="{A9603EBC-09BC-4B7A-B2AE-FCAA42D8479D}" type="datetime1">
              <a:rPr lang="en-US"/>
              <a:t>7/29/2026</a:t>
            </a:fld>
            <a:endParaRPr/>
          </a:p>
        </p:txBody>
      </p:sp>
      <p:sp>
        <p:nvSpPr>
          <p:cNvPr id="4" name="Slide Number Placeholder 3">
            <a:extLst>
              <a:ext uri="{FF2B5EF4-FFF2-40B4-BE49-F238E27FC236}">
                <a16:creationId xmlns:a16="http://schemas.microsoft.com/office/drawing/2014/main" id="{E7D1F5A9-A551-40BD-9C6B-71D81FC05F7C}"/>
              </a:ext>
            </a:extLst>
          </p:cNvPr>
          <p:cNvSpPr>
            <a:spLocks noGrp="1"/>
          </p:cNvSpPr>
          <p:nvPr>
            <p:ph type="sldNum" idx="12"/>
          </p:nvPr>
        </p:nvSpPr>
        <p:spPr/>
        <p:txBody>
          <a:bodyPr/>
          <a:lstStyle/>
          <a:p>
            <a:pPr>
              <a:buNone/>
            </a:pPr>
            <a:fld id="{B5CEABB6-07DC-46E8-9B57-56EC44A396E5}" type="slidenum">
              <a:rPr/>
              <a:t>15</a:t>
            </a:fld>
            <a:endParaRPr/>
          </a:p>
        </p:txBody>
      </p:sp>
      <p:pic>
        <p:nvPicPr>
          <p:cNvPr id="20" name="Picture 19">
            <a:extLst>
              <a:ext uri="{FF2B5EF4-FFF2-40B4-BE49-F238E27FC236}">
                <a16:creationId xmlns:a16="http://schemas.microsoft.com/office/drawing/2014/main" id="{B971DAC5-EA6D-2680-4A28-B46EEA278892}"/>
              </a:ext>
            </a:extLst>
          </p:cNvPr>
          <p:cNvPicPr>
            <a:picLocks noChangeAspect="1"/>
          </p:cNvPicPr>
          <p:nvPr/>
        </p:nvPicPr>
        <p:blipFill>
          <a:blip r:embed="rId3"/>
          <a:srcRect r="32556"/>
          <a:stretch>
            <a:fillRect/>
          </a:stretch>
        </p:blipFill>
        <p:spPr>
          <a:xfrm>
            <a:off x="6458799" y="1845456"/>
            <a:ext cx="4899098" cy="4059263"/>
          </a:xfrm>
          <a:prstGeom prst="rect">
            <a:avLst/>
          </a:prstGeom>
        </p:spPr>
      </p:pic>
      <p:sp>
        <p:nvSpPr>
          <p:cNvPr id="22" name="TextBox 27">
            <a:extLst>
              <a:ext uri="{FF2B5EF4-FFF2-40B4-BE49-F238E27FC236}">
                <a16:creationId xmlns:a16="http://schemas.microsoft.com/office/drawing/2014/main" id="{5FBC02DB-0F99-2BCC-4A4C-74FE3C63CB01}"/>
              </a:ext>
            </a:extLst>
          </p:cNvPr>
          <p:cNvSpPr>
            <a:spLocks noGrp="1"/>
          </p:cNvSpPr>
          <p:nvPr/>
        </p:nvSpPr>
        <p:spPr>
          <a:xfrm>
            <a:off x="316108" y="6017796"/>
            <a:ext cx="6104372" cy="338554"/>
          </a:xfrm>
          <a:prstGeom prst="rect">
            <a:avLst/>
          </a:prstGeom>
          <a:noFill/>
        </p:spPr>
        <p:txBody>
          <a:bodyPr wrap="square">
            <a:spAutoFit/>
          </a:bodyPr>
          <a:lstStyle/>
          <a:p>
            <a:r>
              <a:rPr lang="en-GB" sz="1600" i="1" dirty="0"/>
              <a:t>Welch labs - Youtuber</a:t>
            </a:r>
            <a:endParaRPr sz="1600" b="1" dirty="0"/>
          </a:p>
        </p:txBody>
      </p:sp>
    </p:spTree>
    <p:extLst>
      <p:ext uri="{BB962C8B-B14F-4D97-AF65-F5344CB8AC3E}">
        <p14:creationId xmlns:p14="http://schemas.microsoft.com/office/powerpoint/2010/main" val="663767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7946CAF-339F-CBF2-0649-989C529E4A81}"/>
              </a:ext>
            </a:extLst>
          </p:cNvPr>
          <p:cNvSpPr>
            <a:spLocks noGrp="1"/>
          </p:cNvSpPr>
          <p:nvPr>
            <p:ph type="ftr" idx="11"/>
          </p:nvPr>
        </p:nvSpPr>
        <p:spPr/>
        <p:txBody>
          <a:bodyPr/>
          <a:lstStyle/>
          <a:p>
            <a:pPr>
              <a:buNone/>
              <a:defRPr sz="675">
                <a:solidFill>
                  <a:srgbClr val="777777"/>
                </a:solidFill>
              </a:defRPr>
            </a:pPr>
            <a:r>
              <a:rPr sz="675">
                <a:solidFill>
                  <a:srgbClr val="777777"/>
                </a:solidFill>
              </a:rPr>
              <a:t>Introduction to Deep Learning - PSDI &amp; Royce Materials Data Summit</a:t>
            </a:r>
          </a:p>
        </p:txBody>
      </p:sp>
      <p:sp>
        <p:nvSpPr>
          <p:cNvPr id="5" name="Oval 4">
            <a:extLst>
              <a:ext uri="{FF2B5EF4-FFF2-40B4-BE49-F238E27FC236}">
                <a16:creationId xmlns:a16="http://schemas.microsoft.com/office/drawing/2014/main" id="{DF46B241-7042-6E76-567E-1EABBCC4AA06}"/>
              </a:ext>
            </a:extLst>
          </p:cNvPr>
          <p:cNvSpPr>
            <a:spLocks noGrp="1"/>
          </p:cNvSpPr>
          <p:nvPr/>
        </p:nvSpPr>
        <p:spPr>
          <a:xfrm>
            <a:off x="2048281" y="1333201"/>
            <a:ext cx="377190" cy="377190"/>
          </a:xfrm>
          <a:prstGeom prst="ellipse">
            <a:avLst/>
          </a:prstGeom>
          <a:solidFill>
            <a:schemeClr val="accent6">
              <a:lumMod val="60000"/>
              <a:lumOff val="40000"/>
            </a:schemeClr>
          </a:solidFill>
          <a:ln w="57150"/>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67AAFBAE-340F-1C83-05B1-92DF0E6A2452}"/>
              </a:ext>
            </a:extLst>
          </p:cNvPr>
          <p:cNvSpPr>
            <a:spLocks noGrp="1"/>
          </p:cNvSpPr>
          <p:nvPr/>
        </p:nvSpPr>
        <p:spPr>
          <a:xfrm>
            <a:off x="2048281" y="1862791"/>
            <a:ext cx="377190" cy="377190"/>
          </a:xfrm>
          <a:prstGeom prst="ellipse">
            <a:avLst/>
          </a:prstGeom>
          <a:solidFill>
            <a:schemeClr val="accent6">
              <a:lumMod val="20000"/>
              <a:lumOff val="80000"/>
            </a:schemeClr>
          </a:solidFill>
          <a:ln w="57150"/>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Oval 6">
            <a:extLst>
              <a:ext uri="{FF2B5EF4-FFF2-40B4-BE49-F238E27FC236}">
                <a16:creationId xmlns:a16="http://schemas.microsoft.com/office/drawing/2014/main" id="{DDC440AA-899B-88DA-2A51-8850868121E5}"/>
              </a:ext>
            </a:extLst>
          </p:cNvPr>
          <p:cNvSpPr>
            <a:spLocks noGrp="1"/>
          </p:cNvSpPr>
          <p:nvPr/>
        </p:nvSpPr>
        <p:spPr>
          <a:xfrm>
            <a:off x="2048281" y="2392381"/>
            <a:ext cx="377190" cy="377190"/>
          </a:xfrm>
          <a:prstGeom prst="ellipse">
            <a:avLst/>
          </a:prstGeom>
          <a:solidFill>
            <a:schemeClr val="accent6">
              <a:lumMod val="20000"/>
              <a:lumOff val="80000"/>
            </a:schemeClr>
          </a:solidFill>
          <a:ln w="57150"/>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Oval 7">
            <a:extLst>
              <a:ext uri="{FF2B5EF4-FFF2-40B4-BE49-F238E27FC236}">
                <a16:creationId xmlns:a16="http://schemas.microsoft.com/office/drawing/2014/main" id="{1272FF15-BA6E-012E-601F-9A6B884C0945}"/>
              </a:ext>
            </a:extLst>
          </p:cNvPr>
          <p:cNvSpPr>
            <a:spLocks noGrp="1"/>
          </p:cNvSpPr>
          <p:nvPr/>
        </p:nvSpPr>
        <p:spPr>
          <a:xfrm>
            <a:off x="4360951" y="1333201"/>
            <a:ext cx="377190" cy="377190"/>
          </a:xfrm>
          <a:prstGeom prst="ellipse">
            <a:avLst/>
          </a:prstGeom>
          <a:solidFill>
            <a:schemeClr val="accent6">
              <a:lumMod val="60000"/>
              <a:lumOff val="40000"/>
            </a:schemeClr>
          </a:solidFill>
          <a:ln w="57150"/>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Oval 8">
            <a:extLst>
              <a:ext uri="{FF2B5EF4-FFF2-40B4-BE49-F238E27FC236}">
                <a16:creationId xmlns:a16="http://schemas.microsoft.com/office/drawing/2014/main" id="{575E6A8B-2ADA-C6E6-AB5D-49A6E5BFDE6D}"/>
              </a:ext>
            </a:extLst>
          </p:cNvPr>
          <p:cNvSpPr>
            <a:spLocks noGrp="1"/>
          </p:cNvSpPr>
          <p:nvPr/>
        </p:nvSpPr>
        <p:spPr>
          <a:xfrm>
            <a:off x="4360951" y="1862791"/>
            <a:ext cx="377190" cy="377190"/>
          </a:xfrm>
          <a:prstGeom prst="ellipse">
            <a:avLst/>
          </a:prstGeom>
          <a:solidFill>
            <a:schemeClr val="accent6">
              <a:lumMod val="20000"/>
              <a:lumOff val="80000"/>
            </a:schemeClr>
          </a:solidFill>
          <a:ln w="57150"/>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987BA68D-D2EE-E035-5E7F-BDE3B93F97B3}"/>
              </a:ext>
            </a:extLst>
          </p:cNvPr>
          <p:cNvSpPr>
            <a:spLocks noGrp="1"/>
          </p:cNvSpPr>
          <p:nvPr/>
        </p:nvSpPr>
        <p:spPr>
          <a:xfrm>
            <a:off x="4360951" y="2392381"/>
            <a:ext cx="377190" cy="377190"/>
          </a:xfrm>
          <a:prstGeom prst="ellipse">
            <a:avLst/>
          </a:prstGeom>
          <a:solidFill>
            <a:schemeClr val="accent6">
              <a:lumMod val="20000"/>
              <a:lumOff val="80000"/>
            </a:schemeClr>
          </a:solidFill>
          <a:ln w="57150"/>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C65D5051-3CF8-B55B-57F9-036314E1AF5C}"/>
              </a:ext>
            </a:extLst>
          </p:cNvPr>
          <p:cNvSpPr>
            <a:spLocks noGrp="1"/>
          </p:cNvSpPr>
          <p:nvPr/>
        </p:nvSpPr>
        <p:spPr>
          <a:xfrm>
            <a:off x="6673621" y="1333201"/>
            <a:ext cx="377190" cy="377190"/>
          </a:xfrm>
          <a:prstGeom prst="ellipse">
            <a:avLst/>
          </a:prstGeom>
          <a:solidFill>
            <a:schemeClr val="accent6">
              <a:lumMod val="60000"/>
              <a:lumOff val="40000"/>
            </a:schemeClr>
          </a:solidFill>
          <a:ln w="57150"/>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Oval 11">
            <a:extLst>
              <a:ext uri="{FF2B5EF4-FFF2-40B4-BE49-F238E27FC236}">
                <a16:creationId xmlns:a16="http://schemas.microsoft.com/office/drawing/2014/main" id="{13C3FF44-31EF-3F4B-4713-72466D378BEF}"/>
              </a:ext>
            </a:extLst>
          </p:cNvPr>
          <p:cNvSpPr>
            <a:spLocks noGrp="1"/>
          </p:cNvSpPr>
          <p:nvPr/>
        </p:nvSpPr>
        <p:spPr>
          <a:xfrm>
            <a:off x="6673621" y="1862791"/>
            <a:ext cx="377190" cy="377190"/>
          </a:xfrm>
          <a:prstGeom prst="ellipse">
            <a:avLst/>
          </a:prstGeom>
          <a:solidFill>
            <a:schemeClr val="accent6">
              <a:lumMod val="20000"/>
              <a:lumOff val="80000"/>
            </a:schemeClr>
          </a:solidFill>
          <a:ln w="57150"/>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44BC3027-92ED-A2BA-11C5-4F934A01826E}"/>
              </a:ext>
            </a:extLst>
          </p:cNvPr>
          <p:cNvSpPr>
            <a:spLocks noGrp="1"/>
          </p:cNvSpPr>
          <p:nvPr/>
        </p:nvSpPr>
        <p:spPr>
          <a:xfrm>
            <a:off x="6673621" y="2392381"/>
            <a:ext cx="377190" cy="377190"/>
          </a:xfrm>
          <a:prstGeom prst="ellipse">
            <a:avLst/>
          </a:prstGeom>
          <a:solidFill>
            <a:schemeClr val="accent6">
              <a:lumMod val="20000"/>
              <a:lumOff val="80000"/>
            </a:schemeClr>
          </a:solidFill>
          <a:ln w="57150"/>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Oval 13">
            <a:extLst>
              <a:ext uri="{FF2B5EF4-FFF2-40B4-BE49-F238E27FC236}">
                <a16:creationId xmlns:a16="http://schemas.microsoft.com/office/drawing/2014/main" id="{537AB59D-5713-2913-965C-7C9DAE280F40}"/>
              </a:ext>
            </a:extLst>
          </p:cNvPr>
          <p:cNvSpPr>
            <a:spLocks noGrp="1"/>
          </p:cNvSpPr>
          <p:nvPr/>
        </p:nvSpPr>
        <p:spPr>
          <a:xfrm>
            <a:off x="2048281" y="4571701"/>
            <a:ext cx="377190" cy="377190"/>
          </a:xfrm>
          <a:prstGeom prst="ellipse">
            <a:avLst/>
          </a:prstGeom>
          <a:solidFill>
            <a:schemeClr val="accent2">
              <a:lumMod val="60000"/>
              <a:lumOff val="40000"/>
            </a:schemeClr>
          </a:solidFill>
          <a:ln w="57150"/>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1C59FFDA-91F5-751E-6877-9B06E004C89F}"/>
              </a:ext>
            </a:extLst>
          </p:cNvPr>
          <p:cNvSpPr>
            <a:spLocks noGrp="1"/>
          </p:cNvSpPr>
          <p:nvPr/>
        </p:nvSpPr>
        <p:spPr>
          <a:xfrm>
            <a:off x="2048281" y="5101291"/>
            <a:ext cx="377190" cy="377190"/>
          </a:xfrm>
          <a:prstGeom prst="ellipse">
            <a:avLst/>
          </a:prstGeom>
          <a:solidFill>
            <a:schemeClr val="accent2">
              <a:lumMod val="20000"/>
              <a:lumOff val="80000"/>
            </a:schemeClr>
          </a:solidFill>
          <a:ln w="57150"/>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Oval 15">
            <a:extLst>
              <a:ext uri="{FF2B5EF4-FFF2-40B4-BE49-F238E27FC236}">
                <a16:creationId xmlns:a16="http://schemas.microsoft.com/office/drawing/2014/main" id="{F40411C1-DB5E-CE8A-65BA-7C0C970509A8}"/>
              </a:ext>
            </a:extLst>
          </p:cNvPr>
          <p:cNvSpPr>
            <a:spLocks noGrp="1"/>
          </p:cNvSpPr>
          <p:nvPr/>
        </p:nvSpPr>
        <p:spPr>
          <a:xfrm>
            <a:off x="2048281" y="5630881"/>
            <a:ext cx="377190" cy="377190"/>
          </a:xfrm>
          <a:prstGeom prst="ellipse">
            <a:avLst/>
          </a:prstGeom>
          <a:solidFill>
            <a:schemeClr val="accent2">
              <a:lumMod val="20000"/>
              <a:lumOff val="80000"/>
            </a:schemeClr>
          </a:solidFill>
          <a:ln w="57150"/>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Oval 16">
            <a:extLst>
              <a:ext uri="{FF2B5EF4-FFF2-40B4-BE49-F238E27FC236}">
                <a16:creationId xmlns:a16="http://schemas.microsoft.com/office/drawing/2014/main" id="{C4CC2A9D-1073-1115-8DF6-006806941AC6}"/>
              </a:ext>
            </a:extLst>
          </p:cNvPr>
          <p:cNvSpPr>
            <a:spLocks noGrp="1"/>
          </p:cNvSpPr>
          <p:nvPr/>
        </p:nvSpPr>
        <p:spPr>
          <a:xfrm>
            <a:off x="4360951" y="4571701"/>
            <a:ext cx="377190" cy="377190"/>
          </a:xfrm>
          <a:prstGeom prst="ellipse">
            <a:avLst/>
          </a:prstGeom>
          <a:solidFill>
            <a:schemeClr val="accent2">
              <a:lumMod val="60000"/>
              <a:lumOff val="40000"/>
            </a:schemeClr>
          </a:solidFill>
          <a:ln w="57150"/>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8" name="Oval 17">
            <a:extLst>
              <a:ext uri="{FF2B5EF4-FFF2-40B4-BE49-F238E27FC236}">
                <a16:creationId xmlns:a16="http://schemas.microsoft.com/office/drawing/2014/main" id="{EDF75AC7-FA4A-9618-14CC-2EF70F89D001}"/>
              </a:ext>
            </a:extLst>
          </p:cNvPr>
          <p:cNvSpPr>
            <a:spLocks noGrp="1"/>
          </p:cNvSpPr>
          <p:nvPr/>
        </p:nvSpPr>
        <p:spPr>
          <a:xfrm>
            <a:off x="4360951" y="5101291"/>
            <a:ext cx="377190" cy="377190"/>
          </a:xfrm>
          <a:prstGeom prst="ellipse">
            <a:avLst/>
          </a:prstGeom>
          <a:solidFill>
            <a:schemeClr val="accent2">
              <a:lumMod val="20000"/>
              <a:lumOff val="80000"/>
            </a:schemeClr>
          </a:solidFill>
          <a:ln w="57150"/>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Oval 18">
            <a:extLst>
              <a:ext uri="{FF2B5EF4-FFF2-40B4-BE49-F238E27FC236}">
                <a16:creationId xmlns:a16="http://schemas.microsoft.com/office/drawing/2014/main" id="{9F793271-945A-BECD-0CA9-3DAA5ADECA85}"/>
              </a:ext>
            </a:extLst>
          </p:cNvPr>
          <p:cNvSpPr>
            <a:spLocks noGrp="1"/>
          </p:cNvSpPr>
          <p:nvPr/>
        </p:nvSpPr>
        <p:spPr>
          <a:xfrm>
            <a:off x="4360951" y="5630881"/>
            <a:ext cx="377190" cy="377190"/>
          </a:xfrm>
          <a:prstGeom prst="ellipse">
            <a:avLst/>
          </a:prstGeom>
          <a:solidFill>
            <a:schemeClr val="accent2">
              <a:lumMod val="20000"/>
              <a:lumOff val="80000"/>
            </a:schemeClr>
          </a:solidFill>
          <a:ln w="57150"/>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F305FEFF-B1C1-C647-1A16-F00DE731911D}"/>
              </a:ext>
            </a:extLst>
          </p:cNvPr>
          <p:cNvSpPr>
            <a:spLocks noGrp="1"/>
          </p:cNvSpPr>
          <p:nvPr/>
        </p:nvSpPr>
        <p:spPr>
          <a:xfrm>
            <a:off x="6673621" y="4571701"/>
            <a:ext cx="377190" cy="377190"/>
          </a:xfrm>
          <a:prstGeom prst="ellipse">
            <a:avLst/>
          </a:prstGeom>
          <a:solidFill>
            <a:schemeClr val="accent2">
              <a:lumMod val="60000"/>
              <a:lumOff val="40000"/>
            </a:schemeClr>
          </a:solidFill>
          <a:ln w="57150"/>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 name="Oval 20">
            <a:extLst>
              <a:ext uri="{FF2B5EF4-FFF2-40B4-BE49-F238E27FC236}">
                <a16:creationId xmlns:a16="http://schemas.microsoft.com/office/drawing/2014/main" id="{54956976-9D34-BC07-674C-ECB678F7965B}"/>
              </a:ext>
            </a:extLst>
          </p:cNvPr>
          <p:cNvSpPr>
            <a:spLocks noGrp="1"/>
          </p:cNvSpPr>
          <p:nvPr/>
        </p:nvSpPr>
        <p:spPr>
          <a:xfrm>
            <a:off x="6673621" y="5101291"/>
            <a:ext cx="377190" cy="377190"/>
          </a:xfrm>
          <a:prstGeom prst="ellipse">
            <a:avLst/>
          </a:prstGeom>
          <a:solidFill>
            <a:schemeClr val="accent2">
              <a:lumMod val="20000"/>
              <a:lumOff val="80000"/>
            </a:schemeClr>
          </a:solidFill>
          <a:ln w="57150"/>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 name="Oval 21">
            <a:extLst>
              <a:ext uri="{FF2B5EF4-FFF2-40B4-BE49-F238E27FC236}">
                <a16:creationId xmlns:a16="http://schemas.microsoft.com/office/drawing/2014/main" id="{6A1F2250-280D-DBFA-F4B2-DC7F7C75B070}"/>
              </a:ext>
            </a:extLst>
          </p:cNvPr>
          <p:cNvSpPr>
            <a:spLocks noGrp="1"/>
          </p:cNvSpPr>
          <p:nvPr/>
        </p:nvSpPr>
        <p:spPr>
          <a:xfrm>
            <a:off x="6673621" y="5630881"/>
            <a:ext cx="377190" cy="377190"/>
          </a:xfrm>
          <a:prstGeom prst="ellipse">
            <a:avLst/>
          </a:prstGeom>
          <a:solidFill>
            <a:schemeClr val="accent2">
              <a:lumMod val="20000"/>
              <a:lumOff val="80000"/>
            </a:schemeClr>
          </a:solidFill>
          <a:ln w="57150"/>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93604964-6771-2017-376F-3475CD7AA9FA}"/>
                  </a:ext>
                </a:extLst>
              </p:cNvPr>
              <p:cNvSpPr>
                <a:spLocks noGrp="1"/>
              </p:cNvSpPr>
              <p:nvPr/>
            </p:nvSpPr>
            <p:spPr>
              <a:xfrm>
                <a:off x="2531492" y="1114459"/>
                <a:ext cx="709873" cy="595932"/>
              </a:xfrm>
              <a:prstGeom prst="rect">
                <a:avLst/>
              </a:prstGeom>
              <a:noFill/>
            </p:spPr>
            <p:txBody>
              <a:bodyPr wrap="none">
                <a:spAutoFit/>
              </a:bodyPr>
              <a:lstStyle/>
              <a:p>
                <a:pPr>
                  <a:buNone/>
                </a:pPr>
                <a14:m>
                  <m:oMathPara xmlns:m="http://schemas.openxmlformats.org/officeDocument/2006/math">
                    <m:oMathParaPr>
                      <m:jc m:val="centerGroup"/>
                    </m:oMathParaPr>
                    <m:oMath xmlns:m="http://schemas.openxmlformats.org/officeDocument/2006/math">
                      <m:sSup>
                        <m:sSupPr>
                          <m:ctrlPr>
                            <a:rPr lang="en-GB" sz="3200" b="1" i="1">
                              <a:solidFill>
                                <a:schemeClr val="tx1"/>
                              </a:solidFill>
                              <a:latin typeface="Cambria Math" panose="02040503050406030204" pitchFamily="18" charset="0"/>
                              <a:ea typeface="Cambria Math"/>
                              <a:cs typeface="Cambria Math"/>
                            </a:rPr>
                          </m:ctrlPr>
                        </m:sSupPr>
                        <m:e>
                          <m:r>
                            <a:rPr lang="en-GB" sz="3200" b="1" i="1">
                              <a:solidFill>
                                <a:schemeClr val="tx1"/>
                              </a:solidFill>
                              <a:latin typeface="Cambria Math"/>
                              <a:ea typeface="Cambria Math"/>
                              <a:cs typeface="Cambria Math"/>
                            </a:rPr>
                            <m:t>𝒚</m:t>
                          </m:r>
                        </m:e>
                        <m:sup>
                          <m:r>
                            <a:rPr lang="en-GB" sz="3200" b="1" i="1">
                              <a:solidFill>
                                <a:schemeClr val="tx1"/>
                              </a:solidFill>
                              <a:latin typeface="Cambria Math"/>
                              <a:ea typeface="Cambria Math"/>
                              <a:cs typeface="Cambria Math"/>
                            </a:rPr>
                            <m:t>𝟏</m:t>
                          </m:r>
                        </m:sup>
                      </m:sSup>
                    </m:oMath>
                  </m:oMathPara>
                </a14:m>
                <a:endParaRPr/>
              </a:p>
            </p:txBody>
          </p:sp>
        </mc:Choice>
        <mc:Fallback xmlns="">
          <p:sp>
            <p:nvSpPr>
              <p:cNvPr id="23" name="TextBox 22">
                <a:extLst>
                  <a:ext uri="{FF2B5EF4-FFF2-40B4-BE49-F238E27FC236}">
                    <a16:creationId xmlns:a16="http://schemas.microsoft.com/office/drawing/2014/main" id="{93604964-6771-2017-376F-3475CD7AA9FA}"/>
                  </a:ext>
                </a:extLst>
              </p:cNvPr>
              <p:cNvSpPr>
                <a:spLocks noGrp="1" noRot="1" noChangeAspect="1" noMove="1" noResize="1" noEditPoints="1" noAdjustHandles="1" noChangeArrowheads="1" noChangeShapeType="1" noTextEdit="1"/>
              </p:cNvSpPr>
              <p:nvPr/>
            </p:nvSpPr>
            <p:spPr>
              <a:xfrm>
                <a:off x="2531492" y="1114459"/>
                <a:ext cx="709873" cy="595932"/>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C4E440A-81EF-DD4C-6BEF-2BD5B5ACB9B0}"/>
                  </a:ext>
                </a:extLst>
              </p:cNvPr>
              <p:cNvSpPr>
                <a:spLocks noGrp="1"/>
              </p:cNvSpPr>
              <p:nvPr/>
            </p:nvSpPr>
            <p:spPr>
              <a:xfrm>
                <a:off x="4738141" y="1114459"/>
                <a:ext cx="709874" cy="595932"/>
              </a:xfrm>
              <a:prstGeom prst="rect">
                <a:avLst/>
              </a:prstGeom>
              <a:noFill/>
            </p:spPr>
            <p:txBody>
              <a:bodyPr wrap="none">
                <a:spAutoFit/>
              </a:bodyPr>
              <a:lstStyle/>
              <a:p>
                <a:pPr>
                  <a:buNone/>
                </a:pPr>
                <a14:m>
                  <m:oMathPara xmlns:m="http://schemas.openxmlformats.org/officeDocument/2006/math">
                    <m:oMathParaPr>
                      <m:jc m:val="centerGroup"/>
                    </m:oMathParaPr>
                    <m:oMath xmlns:m="http://schemas.openxmlformats.org/officeDocument/2006/math">
                      <m:sSup>
                        <m:sSupPr>
                          <m:ctrlPr>
                            <a:rPr lang="en-GB" sz="3200" b="1" i="1">
                              <a:solidFill>
                                <a:schemeClr val="tx1"/>
                              </a:solidFill>
                              <a:latin typeface="Cambria Math" panose="02040503050406030204" pitchFamily="18" charset="0"/>
                              <a:ea typeface="Cambria Math"/>
                              <a:cs typeface="Cambria Math"/>
                            </a:rPr>
                          </m:ctrlPr>
                        </m:sSupPr>
                        <m:e>
                          <m:r>
                            <a:rPr lang="en-GB" sz="3200" b="1" i="1">
                              <a:solidFill>
                                <a:schemeClr val="tx1"/>
                              </a:solidFill>
                              <a:latin typeface="Cambria Math"/>
                              <a:ea typeface="Cambria Math"/>
                              <a:cs typeface="Cambria Math"/>
                            </a:rPr>
                            <m:t>𝒚</m:t>
                          </m:r>
                        </m:e>
                        <m:sup>
                          <m:r>
                            <a:rPr lang="en-GB" sz="3200" b="1" i="1">
                              <a:solidFill>
                                <a:schemeClr val="tx1"/>
                              </a:solidFill>
                              <a:latin typeface="Cambria Math"/>
                              <a:ea typeface="Cambria Math"/>
                              <a:cs typeface="Cambria Math"/>
                            </a:rPr>
                            <m:t>𝟐</m:t>
                          </m:r>
                        </m:sup>
                      </m:sSup>
                    </m:oMath>
                  </m:oMathPara>
                </a14:m>
                <a:endParaRPr/>
              </a:p>
            </p:txBody>
          </p:sp>
        </mc:Choice>
        <mc:Fallback xmlns="">
          <p:sp>
            <p:nvSpPr>
              <p:cNvPr id="24" name="TextBox 23">
                <a:extLst>
                  <a:ext uri="{FF2B5EF4-FFF2-40B4-BE49-F238E27FC236}">
                    <a16:creationId xmlns:a16="http://schemas.microsoft.com/office/drawing/2014/main" id="{DC4E440A-81EF-DD4C-6BEF-2BD5B5ACB9B0}"/>
                  </a:ext>
                </a:extLst>
              </p:cNvPr>
              <p:cNvSpPr>
                <a:spLocks noGrp="1" noRot="1" noChangeAspect="1" noMove="1" noResize="1" noEditPoints="1" noAdjustHandles="1" noChangeArrowheads="1" noChangeShapeType="1" noTextEdit="1"/>
              </p:cNvSpPr>
              <p:nvPr/>
            </p:nvSpPr>
            <p:spPr>
              <a:xfrm>
                <a:off x="4738141" y="1114459"/>
                <a:ext cx="709874" cy="595932"/>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7E8E2E10-256C-5FED-1338-1B5E59DA4E5E}"/>
                  </a:ext>
                </a:extLst>
              </p:cNvPr>
              <p:cNvSpPr>
                <a:spLocks noGrp="1"/>
              </p:cNvSpPr>
              <p:nvPr/>
            </p:nvSpPr>
            <p:spPr>
              <a:xfrm>
                <a:off x="6990510" y="1114459"/>
                <a:ext cx="709874" cy="595932"/>
              </a:xfrm>
              <a:prstGeom prst="rect">
                <a:avLst/>
              </a:prstGeom>
              <a:noFill/>
            </p:spPr>
            <p:txBody>
              <a:bodyPr wrap="none">
                <a:spAutoFit/>
              </a:bodyPr>
              <a:lstStyle/>
              <a:p>
                <a:pPr>
                  <a:buNone/>
                </a:pPr>
                <a14:m>
                  <m:oMathPara xmlns:m="http://schemas.openxmlformats.org/officeDocument/2006/math">
                    <m:oMathParaPr>
                      <m:jc m:val="centerGroup"/>
                    </m:oMathParaPr>
                    <m:oMath xmlns:m="http://schemas.openxmlformats.org/officeDocument/2006/math">
                      <m:sSup>
                        <m:sSupPr>
                          <m:ctrlPr>
                            <a:rPr lang="en-GB" sz="3200" b="1" i="1">
                              <a:solidFill>
                                <a:schemeClr val="tx1"/>
                              </a:solidFill>
                              <a:latin typeface="Cambria Math" panose="02040503050406030204" pitchFamily="18" charset="0"/>
                              <a:ea typeface="Cambria Math"/>
                              <a:cs typeface="Cambria Math"/>
                            </a:rPr>
                          </m:ctrlPr>
                        </m:sSupPr>
                        <m:e>
                          <m:r>
                            <a:rPr lang="en-GB" sz="3200" b="1" i="1">
                              <a:solidFill>
                                <a:schemeClr val="tx1"/>
                              </a:solidFill>
                              <a:latin typeface="Cambria Math"/>
                              <a:ea typeface="Cambria Math"/>
                              <a:cs typeface="Cambria Math"/>
                            </a:rPr>
                            <m:t>𝒚</m:t>
                          </m:r>
                        </m:e>
                        <m:sup>
                          <m:r>
                            <a:rPr lang="en-GB" sz="3200" b="1" i="1">
                              <a:solidFill>
                                <a:schemeClr val="tx1"/>
                              </a:solidFill>
                              <a:latin typeface="Cambria Math"/>
                              <a:ea typeface="Cambria Math"/>
                              <a:cs typeface="Cambria Math"/>
                            </a:rPr>
                            <m:t>𝟑</m:t>
                          </m:r>
                        </m:sup>
                      </m:sSup>
                    </m:oMath>
                  </m:oMathPara>
                </a14:m>
                <a:endParaRPr/>
              </a:p>
            </p:txBody>
          </p:sp>
        </mc:Choice>
        <mc:Fallback xmlns="">
          <p:sp>
            <p:nvSpPr>
              <p:cNvPr id="25" name="TextBox 24">
                <a:extLst>
                  <a:ext uri="{FF2B5EF4-FFF2-40B4-BE49-F238E27FC236}">
                    <a16:creationId xmlns:a16="http://schemas.microsoft.com/office/drawing/2014/main" id="{7E8E2E10-256C-5FED-1338-1B5E59DA4E5E}"/>
                  </a:ext>
                </a:extLst>
              </p:cNvPr>
              <p:cNvSpPr>
                <a:spLocks noGrp="1" noRot="1" noChangeAspect="1" noMove="1" noResize="1" noEditPoints="1" noAdjustHandles="1" noChangeArrowheads="1" noChangeShapeType="1" noTextEdit="1"/>
              </p:cNvSpPr>
              <p:nvPr/>
            </p:nvSpPr>
            <p:spPr>
              <a:xfrm>
                <a:off x="6990510" y="1114459"/>
                <a:ext cx="709874" cy="59593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375A700-72D4-924E-1E53-BF58BABE6E34}"/>
                  </a:ext>
                </a:extLst>
              </p:cNvPr>
              <p:cNvSpPr>
                <a:spLocks noGrp="1"/>
              </p:cNvSpPr>
              <p:nvPr/>
            </p:nvSpPr>
            <p:spPr>
              <a:xfrm>
                <a:off x="2419422" y="4366627"/>
                <a:ext cx="974369" cy="595932"/>
              </a:xfrm>
              <a:prstGeom prst="rect">
                <a:avLst/>
              </a:prstGeom>
              <a:noFill/>
            </p:spPr>
            <p:txBody>
              <a:bodyPr wrap="none">
                <a:spAutoFit/>
              </a:bodyPr>
              <a:lstStyle/>
              <a:p>
                <a:pPr>
                  <a:buNone/>
                </a:pPr>
                <a14:m>
                  <m:oMathPara xmlns:m="http://schemas.openxmlformats.org/officeDocument/2006/math">
                    <m:oMathParaPr>
                      <m:jc m:val="centerGroup"/>
                    </m:oMathParaPr>
                    <m:oMath xmlns:m="http://schemas.openxmlformats.org/officeDocument/2006/math">
                      <m:sSup>
                        <m:sSupPr>
                          <m:ctrlPr>
                            <a:rPr lang="en-GB" sz="3200" b="1" i="1">
                              <a:solidFill>
                                <a:schemeClr val="tx1"/>
                              </a:solidFill>
                              <a:latin typeface="Cambria Math" panose="02040503050406030204" pitchFamily="18" charset="0"/>
                              <a:ea typeface="Cambria Math"/>
                              <a:cs typeface="Cambria Math"/>
                            </a:rPr>
                          </m:ctrlPr>
                        </m:sSupPr>
                        <m:e>
                          <m:r>
                            <a:rPr lang="en-GB" sz="3200" b="1" i="1">
                              <a:solidFill>
                                <a:schemeClr val="tx1"/>
                              </a:solidFill>
                              <a:latin typeface="Cambria Math"/>
                              <a:ea typeface="Cambria Math"/>
                              <a:cs typeface="Cambria Math"/>
                            </a:rPr>
                            <m:t>𝒅𝒚</m:t>
                          </m:r>
                        </m:e>
                        <m:sup>
                          <m:r>
                            <a:rPr lang="en-GB" sz="3200" b="1" i="1">
                              <a:solidFill>
                                <a:schemeClr val="tx1"/>
                              </a:solidFill>
                              <a:latin typeface="Cambria Math"/>
                              <a:ea typeface="Cambria Math"/>
                              <a:cs typeface="Cambria Math"/>
                            </a:rPr>
                            <m:t>𝟏</m:t>
                          </m:r>
                        </m:sup>
                      </m:sSup>
                    </m:oMath>
                  </m:oMathPara>
                </a14:m>
                <a:endParaRPr/>
              </a:p>
            </p:txBody>
          </p:sp>
        </mc:Choice>
        <mc:Fallback xmlns="">
          <p:sp>
            <p:nvSpPr>
              <p:cNvPr id="26" name="TextBox 25">
                <a:extLst>
                  <a:ext uri="{FF2B5EF4-FFF2-40B4-BE49-F238E27FC236}">
                    <a16:creationId xmlns:a16="http://schemas.microsoft.com/office/drawing/2014/main" id="{8375A700-72D4-924E-1E53-BF58BABE6E34}"/>
                  </a:ext>
                </a:extLst>
              </p:cNvPr>
              <p:cNvSpPr>
                <a:spLocks noGrp="1" noRot="1" noChangeAspect="1" noMove="1" noResize="1" noEditPoints="1" noAdjustHandles="1" noChangeArrowheads="1" noChangeShapeType="1" noTextEdit="1"/>
              </p:cNvSpPr>
              <p:nvPr/>
            </p:nvSpPr>
            <p:spPr>
              <a:xfrm>
                <a:off x="2419422" y="4366627"/>
                <a:ext cx="974369" cy="595932"/>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926EEF2C-FF06-3228-AE16-755BA0AEC677}"/>
                  </a:ext>
                </a:extLst>
              </p:cNvPr>
              <p:cNvSpPr>
                <a:spLocks noGrp="1"/>
              </p:cNvSpPr>
              <p:nvPr/>
            </p:nvSpPr>
            <p:spPr>
              <a:xfrm>
                <a:off x="4716905" y="4400917"/>
                <a:ext cx="974369" cy="595932"/>
              </a:xfrm>
              <a:prstGeom prst="rect">
                <a:avLst/>
              </a:prstGeom>
              <a:noFill/>
            </p:spPr>
            <p:txBody>
              <a:bodyPr wrap="none">
                <a:spAutoFit/>
              </a:bodyPr>
              <a:lstStyle/>
              <a:p>
                <a:pPr>
                  <a:buNone/>
                </a:pPr>
                <a14:m>
                  <m:oMathPara xmlns:m="http://schemas.openxmlformats.org/officeDocument/2006/math">
                    <m:oMathParaPr>
                      <m:jc m:val="centerGroup"/>
                    </m:oMathParaPr>
                    <m:oMath xmlns:m="http://schemas.openxmlformats.org/officeDocument/2006/math">
                      <m:sSup>
                        <m:sSupPr>
                          <m:ctrlPr>
                            <a:rPr lang="en-GB" sz="3200" b="1" i="1">
                              <a:solidFill>
                                <a:schemeClr val="tx1"/>
                              </a:solidFill>
                              <a:latin typeface="Cambria Math" panose="02040503050406030204" pitchFamily="18" charset="0"/>
                              <a:ea typeface="Cambria Math"/>
                              <a:cs typeface="Cambria Math"/>
                            </a:rPr>
                          </m:ctrlPr>
                        </m:sSupPr>
                        <m:e>
                          <m:r>
                            <a:rPr lang="en-GB" sz="3200" b="1" i="1">
                              <a:solidFill>
                                <a:schemeClr val="tx1"/>
                              </a:solidFill>
                              <a:latin typeface="Cambria Math"/>
                              <a:ea typeface="Cambria Math"/>
                              <a:cs typeface="Cambria Math"/>
                            </a:rPr>
                            <m:t>𝒅𝒚</m:t>
                          </m:r>
                        </m:e>
                        <m:sup>
                          <m:r>
                            <a:rPr lang="en-GB" sz="3200" b="1" i="1">
                              <a:solidFill>
                                <a:schemeClr val="tx1"/>
                              </a:solidFill>
                              <a:latin typeface="Cambria Math"/>
                              <a:ea typeface="Cambria Math"/>
                              <a:cs typeface="Cambria Math"/>
                            </a:rPr>
                            <m:t>𝟐</m:t>
                          </m:r>
                        </m:sup>
                      </m:sSup>
                    </m:oMath>
                  </m:oMathPara>
                </a14:m>
                <a:endParaRPr/>
              </a:p>
            </p:txBody>
          </p:sp>
        </mc:Choice>
        <mc:Fallback xmlns="">
          <p:sp>
            <p:nvSpPr>
              <p:cNvPr id="27" name="TextBox 26">
                <a:extLst>
                  <a:ext uri="{FF2B5EF4-FFF2-40B4-BE49-F238E27FC236}">
                    <a16:creationId xmlns:a16="http://schemas.microsoft.com/office/drawing/2014/main" id="{926EEF2C-FF06-3228-AE16-755BA0AEC677}"/>
                  </a:ext>
                </a:extLst>
              </p:cNvPr>
              <p:cNvSpPr>
                <a:spLocks noGrp="1" noRot="1" noChangeAspect="1" noMove="1" noResize="1" noEditPoints="1" noAdjustHandles="1" noChangeArrowheads="1" noChangeShapeType="1" noTextEdit="1"/>
              </p:cNvSpPr>
              <p:nvPr/>
            </p:nvSpPr>
            <p:spPr>
              <a:xfrm>
                <a:off x="4716905" y="4400917"/>
                <a:ext cx="974369" cy="595932"/>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2A3F7D5-D2A1-6ADC-800C-1F7FA07B645E}"/>
                  </a:ext>
                </a:extLst>
              </p:cNvPr>
              <p:cNvSpPr>
                <a:spLocks noGrp="1"/>
              </p:cNvSpPr>
              <p:nvPr/>
            </p:nvSpPr>
            <p:spPr>
              <a:xfrm>
                <a:off x="7120050" y="4318669"/>
                <a:ext cx="974369" cy="595932"/>
              </a:xfrm>
              <a:prstGeom prst="rect">
                <a:avLst/>
              </a:prstGeom>
              <a:noFill/>
            </p:spPr>
            <p:txBody>
              <a:bodyPr wrap="none">
                <a:spAutoFit/>
              </a:bodyPr>
              <a:lstStyle/>
              <a:p>
                <a:pPr>
                  <a:buNone/>
                </a:pPr>
                <a14:m>
                  <m:oMathPara xmlns:m="http://schemas.openxmlformats.org/officeDocument/2006/math">
                    <m:oMathParaPr>
                      <m:jc m:val="centerGroup"/>
                    </m:oMathParaPr>
                    <m:oMath xmlns:m="http://schemas.openxmlformats.org/officeDocument/2006/math">
                      <m:sSup>
                        <m:sSupPr>
                          <m:ctrlPr>
                            <a:rPr lang="en-GB" sz="3200" b="1" i="1">
                              <a:solidFill>
                                <a:schemeClr val="tx1"/>
                              </a:solidFill>
                              <a:latin typeface="Cambria Math" panose="02040503050406030204" pitchFamily="18" charset="0"/>
                              <a:ea typeface="Cambria Math"/>
                              <a:cs typeface="Cambria Math"/>
                            </a:rPr>
                          </m:ctrlPr>
                        </m:sSupPr>
                        <m:e>
                          <m:r>
                            <a:rPr lang="en-GB" sz="3200" b="1" i="1">
                              <a:solidFill>
                                <a:schemeClr val="tx1"/>
                              </a:solidFill>
                              <a:latin typeface="Cambria Math"/>
                              <a:ea typeface="Cambria Math"/>
                              <a:cs typeface="Cambria Math"/>
                            </a:rPr>
                            <m:t>𝒅𝒚</m:t>
                          </m:r>
                        </m:e>
                        <m:sup>
                          <m:r>
                            <a:rPr lang="en-GB" sz="3200" b="1" i="1">
                              <a:solidFill>
                                <a:schemeClr val="tx1"/>
                              </a:solidFill>
                              <a:latin typeface="Cambria Math"/>
                              <a:ea typeface="Cambria Math"/>
                              <a:cs typeface="Cambria Math"/>
                            </a:rPr>
                            <m:t>𝟑</m:t>
                          </m:r>
                        </m:sup>
                      </m:sSup>
                    </m:oMath>
                  </m:oMathPara>
                </a14:m>
                <a:endParaRPr/>
              </a:p>
            </p:txBody>
          </p:sp>
        </mc:Choice>
        <mc:Fallback xmlns="">
          <p:sp>
            <p:nvSpPr>
              <p:cNvPr id="28" name="TextBox 27">
                <a:extLst>
                  <a:ext uri="{FF2B5EF4-FFF2-40B4-BE49-F238E27FC236}">
                    <a16:creationId xmlns:a16="http://schemas.microsoft.com/office/drawing/2014/main" id="{12A3F7D5-D2A1-6ADC-800C-1F7FA07B645E}"/>
                  </a:ext>
                </a:extLst>
              </p:cNvPr>
              <p:cNvSpPr>
                <a:spLocks noGrp="1" noRot="1" noChangeAspect="1" noMove="1" noResize="1" noEditPoints="1" noAdjustHandles="1" noChangeArrowheads="1" noChangeShapeType="1" noTextEdit="1"/>
              </p:cNvSpPr>
              <p:nvPr/>
            </p:nvSpPr>
            <p:spPr>
              <a:xfrm>
                <a:off x="7120050" y="4318669"/>
                <a:ext cx="974369" cy="595932"/>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C751447-D6A0-7C1F-AEAC-4D7B87D018EF}"/>
                  </a:ext>
                </a:extLst>
              </p:cNvPr>
              <p:cNvSpPr>
                <a:spLocks noGrp="1"/>
              </p:cNvSpPr>
              <p:nvPr/>
            </p:nvSpPr>
            <p:spPr>
              <a:xfrm>
                <a:off x="6990510" y="3037996"/>
                <a:ext cx="1052917" cy="595932"/>
              </a:xfrm>
              <a:prstGeom prst="rect">
                <a:avLst/>
              </a:prstGeom>
              <a:noFill/>
            </p:spPr>
            <p:txBody>
              <a:bodyPr wrap="none">
                <a:spAutoFit/>
              </a:bodyPr>
              <a:lstStyle/>
              <a:p>
                <a:pPr>
                  <a:buNone/>
                </a:pPr>
                <a14:m>
                  <m:oMathPara xmlns:m="http://schemas.openxmlformats.org/officeDocument/2006/math">
                    <m:oMathParaPr>
                      <m:jc m:val="centerGroup"/>
                    </m:oMathParaPr>
                    <m:oMath xmlns:m="http://schemas.openxmlformats.org/officeDocument/2006/math">
                      <m:sSup>
                        <m:sSupPr>
                          <m:ctrlPr>
                            <a:rPr lang="en-GB" sz="3200" b="1" i="1">
                              <a:solidFill>
                                <a:schemeClr val="tx1"/>
                              </a:solidFill>
                              <a:latin typeface="Cambria Math" panose="02040503050406030204" pitchFamily="18" charset="0"/>
                              <a:ea typeface="Cambria Math"/>
                              <a:cs typeface="Cambria Math"/>
                            </a:rPr>
                          </m:ctrlPr>
                        </m:sSupPr>
                        <m:e>
                          <m:r>
                            <a:rPr lang="en-GB" sz="3200" b="1" i="1">
                              <a:solidFill>
                                <a:schemeClr val="tx1"/>
                              </a:solidFill>
                              <a:latin typeface="Cambria Math"/>
                              <a:ea typeface="Cambria Math"/>
                              <a:cs typeface="Cambria Math"/>
                            </a:rPr>
                            <m:t>𝒅𝒘</m:t>
                          </m:r>
                        </m:e>
                        <m:sup>
                          <m:r>
                            <a:rPr lang="en-GB" sz="3200" b="1" i="1">
                              <a:solidFill>
                                <a:schemeClr val="tx1"/>
                              </a:solidFill>
                              <a:latin typeface="Cambria Math"/>
                              <a:ea typeface="Cambria Math"/>
                              <a:cs typeface="Cambria Math"/>
                            </a:rPr>
                            <m:t>𝟑</m:t>
                          </m:r>
                        </m:sup>
                      </m:sSup>
                    </m:oMath>
                  </m:oMathPara>
                </a14:m>
                <a:endParaRPr/>
              </a:p>
            </p:txBody>
          </p:sp>
        </mc:Choice>
        <mc:Fallback xmlns="">
          <p:sp>
            <p:nvSpPr>
              <p:cNvPr id="29" name="TextBox 28">
                <a:extLst>
                  <a:ext uri="{FF2B5EF4-FFF2-40B4-BE49-F238E27FC236}">
                    <a16:creationId xmlns:a16="http://schemas.microsoft.com/office/drawing/2014/main" id="{4C751447-D6A0-7C1F-AEAC-4D7B87D018EF}"/>
                  </a:ext>
                </a:extLst>
              </p:cNvPr>
              <p:cNvSpPr>
                <a:spLocks noGrp="1" noRot="1" noChangeAspect="1" noMove="1" noResize="1" noEditPoints="1" noAdjustHandles="1" noChangeArrowheads="1" noChangeShapeType="1" noTextEdit="1"/>
              </p:cNvSpPr>
              <p:nvPr/>
            </p:nvSpPr>
            <p:spPr>
              <a:xfrm>
                <a:off x="6990510" y="3037996"/>
                <a:ext cx="1052917" cy="595932"/>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75856341-2A9B-0DA0-6592-B2F7FB3D8D4B}"/>
                  </a:ext>
                </a:extLst>
              </p:cNvPr>
              <p:cNvSpPr>
                <a:spLocks noGrp="1"/>
              </p:cNvSpPr>
              <p:nvPr/>
            </p:nvSpPr>
            <p:spPr>
              <a:xfrm>
                <a:off x="6990509" y="3456310"/>
                <a:ext cx="977575" cy="595932"/>
              </a:xfrm>
              <a:prstGeom prst="rect">
                <a:avLst/>
              </a:prstGeom>
              <a:noFill/>
            </p:spPr>
            <p:txBody>
              <a:bodyPr wrap="none">
                <a:spAutoFit/>
              </a:bodyPr>
              <a:lstStyle/>
              <a:p>
                <a:pPr>
                  <a:buNone/>
                </a:pPr>
                <a14:m>
                  <m:oMathPara xmlns:m="http://schemas.openxmlformats.org/officeDocument/2006/math">
                    <m:oMathParaPr>
                      <m:jc m:val="centerGroup"/>
                    </m:oMathParaPr>
                    <m:oMath xmlns:m="http://schemas.openxmlformats.org/officeDocument/2006/math">
                      <m:sSup>
                        <m:sSupPr>
                          <m:ctrlPr>
                            <a:rPr lang="en-GB" sz="3200" b="1" i="1">
                              <a:solidFill>
                                <a:schemeClr val="tx1"/>
                              </a:solidFill>
                              <a:latin typeface="Cambria Math" panose="02040503050406030204" pitchFamily="18" charset="0"/>
                              <a:ea typeface="Cambria Math"/>
                              <a:cs typeface="Cambria Math"/>
                            </a:rPr>
                          </m:ctrlPr>
                        </m:sSupPr>
                        <m:e>
                          <m:r>
                            <a:rPr lang="en-GB" sz="3200" b="1" i="1">
                              <a:solidFill>
                                <a:schemeClr val="tx1"/>
                              </a:solidFill>
                              <a:latin typeface="Cambria Math"/>
                              <a:ea typeface="Cambria Math"/>
                              <a:cs typeface="Cambria Math"/>
                            </a:rPr>
                            <m:t>𝒅𝒃</m:t>
                          </m:r>
                        </m:e>
                        <m:sup>
                          <m:r>
                            <a:rPr lang="en-GB" sz="3200" b="1" i="1">
                              <a:solidFill>
                                <a:schemeClr val="tx1"/>
                              </a:solidFill>
                              <a:latin typeface="Cambria Math"/>
                              <a:ea typeface="Cambria Math"/>
                              <a:cs typeface="Cambria Math"/>
                            </a:rPr>
                            <m:t>𝟑</m:t>
                          </m:r>
                        </m:sup>
                      </m:sSup>
                    </m:oMath>
                  </m:oMathPara>
                </a14:m>
                <a:endParaRPr/>
              </a:p>
            </p:txBody>
          </p:sp>
        </mc:Choice>
        <mc:Fallback xmlns="">
          <p:sp>
            <p:nvSpPr>
              <p:cNvPr id="30" name="TextBox 29">
                <a:extLst>
                  <a:ext uri="{FF2B5EF4-FFF2-40B4-BE49-F238E27FC236}">
                    <a16:creationId xmlns:a16="http://schemas.microsoft.com/office/drawing/2014/main" id="{75856341-2A9B-0DA0-6592-B2F7FB3D8D4B}"/>
                  </a:ext>
                </a:extLst>
              </p:cNvPr>
              <p:cNvSpPr>
                <a:spLocks noGrp="1" noRot="1" noChangeAspect="1" noMove="1" noResize="1" noEditPoints="1" noAdjustHandles="1" noChangeArrowheads="1" noChangeShapeType="1" noTextEdit="1"/>
              </p:cNvSpPr>
              <p:nvPr/>
            </p:nvSpPr>
            <p:spPr>
              <a:xfrm>
                <a:off x="6990509" y="3456310"/>
                <a:ext cx="977575" cy="595932"/>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3C405F19-7C3B-B525-28ED-E4C42E67D041}"/>
                  </a:ext>
                </a:extLst>
              </p:cNvPr>
              <p:cNvSpPr>
                <a:spLocks noGrp="1"/>
              </p:cNvSpPr>
              <p:nvPr/>
            </p:nvSpPr>
            <p:spPr>
              <a:xfrm>
                <a:off x="4638357" y="3086801"/>
                <a:ext cx="1052917" cy="595932"/>
              </a:xfrm>
              <a:prstGeom prst="rect">
                <a:avLst/>
              </a:prstGeom>
              <a:noFill/>
            </p:spPr>
            <p:txBody>
              <a:bodyPr wrap="none">
                <a:spAutoFit/>
              </a:bodyPr>
              <a:lstStyle/>
              <a:p>
                <a:pPr>
                  <a:buNone/>
                </a:pPr>
                <a14:m>
                  <m:oMathPara xmlns:m="http://schemas.openxmlformats.org/officeDocument/2006/math">
                    <m:oMathParaPr>
                      <m:jc m:val="centerGroup"/>
                    </m:oMathParaPr>
                    <m:oMath xmlns:m="http://schemas.openxmlformats.org/officeDocument/2006/math">
                      <m:sSup>
                        <m:sSupPr>
                          <m:ctrlPr>
                            <a:rPr lang="en-GB" sz="3200" b="1" i="1">
                              <a:solidFill>
                                <a:schemeClr val="tx1"/>
                              </a:solidFill>
                              <a:latin typeface="Cambria Math" panose="02040503050406030204" pitchFamily="18" charset="0"/>
                              <a:ea typeface="Cambria Math"/>
                              <a:cs typeface="Cambria Math"/>
                            </a:rPr>
                          </m:ctrlPr>
                        </m:sSupPr>
                        <m:e>
                          <m:r>
                            <a:rPr lang="en-GB" sz="3200" b="1" i="1">
                              <a:solidFill>
                                <a:schemeClr val="tx1"/>
                              </a:solidFill>
                              <a:latin typeface="Cambria Math"/>
                              <a:ea typeface="Cambria Math"/>
                              <a:cs typeface="Cambria Math"/>
                            </a:rPr>
                            <m:t>𝒅𝒘</m:t>
                          </m:r>
                        </m:e>
                        <m:sup>
                          <m:r>
                            <a:rPr lang="en-GB" sz="3200" b="1" i="1">
                              <a:solidFill>
                                <a:schemeClr val="tx1"/>
                              </a:solidFill>
                              <a:latin typeface="Cambria Math"/>
                              <a:ea typeface="Cambria Math"/>
                              <a:cs typeface="Cambria Math"/>
                            </a:rPr>
                            <m:t>𝟐</m:t>
                          </m:r>
                        </m:sup>
                      </m:sSup>
                    </m:oMath>
                  </m:oMathPara>
                </a14:m>
                <a:endParaRPr/>
              </a:p>
            </p:txBody>
          </p:sp>
        </mc:Choice>
        <mc:Fallback xmlns="">
          <p:sp>
            <p:nvSpPr>
              <p:cNvPr id="31" name="TextBox 30">
                <a:extLst>
                  <a:ext uri="{FF2B5EF4-FFF2-40B4-BE49-F238E27FC236}">
                    <a16:creationId xmlns:a16="http://schemas.microsoft.com/office/drawing/2014/main" id="{3C405F19-7C3B-B525-28ED-E4C42E67D041}"/>
                  </a:ext>
                </a:extLst>
              </p:cNvPr>
              <p:cNvSpPr>
                <a:spLocks noGrp="1" noRot="1" noChangeAspect="1" noMove="1" noResize="1" noEditPoints="1" noAdjustHandles="1" noChangeArrowheads="1" noChangeShapeType="1" noTextEdit="1"/>
              </p:cNvSpPr>
              <p:nvPr/>
            </p:nvSpPr>
            <p:spPr>
              <a:xfrm>
                <a:off x="4638357" y="3086801"/>
                <a:ext cx="1052917" cy="595932"/>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DBA7D07F-FB74-1833-3442-A6421DBCB5F1}"/>
                  </a:ext>
                </a:extLst>
              </p:cNvPr>
              <p:cNvSpPr>
                <a:spLocks noGrp="1"/>
              </p:cNvSpPr>
              <p:nvPr/>
            </p:nvSpPr>
            <p:spPr>
              <a:xfrm>
                <a:off x="4638356" y="3505115"/>
                <a:ext cx="977575" cy="595932"/>
              </a:xfrm>
              <a:prstGeom prst="rect">
                <a:avLst/>
              </a:prstGeom>
              <a:noFill/>
            </p:spPr>
            <p:txBody>
              <a:bodyPr wrap="none">
                <a:spAutoFit/>
              </a:bodyPr>
              <a:lstStyle/>
              <a:p>
                <a:pPr>
                  <a:buNone/>
                </a:pPr>
                <a14:m>
                  <m:oMathPara xmlns:m="http://schemas.openxmlformats.org/officeDocument/2006/math">
                    <m:oMathParaPr>
                      <m:jc m:val="centerGroup"/>
                    </m:oMathParaPr>
                    <m:oMath xmlns:m="http://schemas.openxmlformats.org/officeDocument/2006/math">
                      <m:sSup>
                        <m:sSupPr>
                          <m:ctrlPr>
                            <a:rPr lang="en-GB" sz="3200" b="1" i="1">
                              <a:solidFill>
                                <a:schemeClr val="tx1"/>
                              </a:solidFill>
                              <a:latin typeface="Cambria Math" panose="02040503050406030204" pitchFamily="18" charset="0"/>
                              <a:ea typeface="Cambria Math"/>
                              <a:cs typeface="Cambria Math"/>
                            </a:rPr>
                          </m:ctrlPr>
                        </m:sSupPr>
                        <m:e>
                          <m:r>
                            <a:rPr lang="en-GB" sz="3200" b="1" i="1">
                              <a:solidFill>
                                <a:schemeClr val="tx1"/>
                              </a:solidFill>
                              <a:latin typeface="Cambria Math"/>
                              <a:ea typeface="Cambria Math"/>
                              <a:cs typeface="Cambria Math"/>
                            </a:rPr>
                            <m:t>𝒅𝒃</m:t>
                          </m:r>
                        </m:e>
                        <m:sup>
                          <m:r>
                            <a:rPr lang="en-GB" sz="3200" b="1" i="1">
                              <a:solidFill>
                                <a:schemeClr val="tx1"/>
                              </a:solidFill>
                              <a:latin typeface="Cambria Math"/>
                              <a:ea typeface="Cambria Math"/>
                              <a:cs typeface="Cambria Math"/>
                            </a:rPr>
                            <m:t>𝟐</m:t>
                          </m:r>
                        </m:sup>
                      </m:sSup>
                    </m:oMath>
                  </m:oMathPara>
                </a14:m>
                <a:endParaRPr/>
              </a:p>
            </p:txBody>
          </p:sp>
        </mc:Choice>
        <mc:Fallback xmlns="">
          <p:sp>
            <p:nvSpPr>
              <p:cNvPr id="32" name="TextBox 31">
                <a:extLst>
                  <a:ext uri="{FF2B5EF4-FFF2-40B4-BE49-F238E27FC236}">
                    <a16:creationId xmlns:a16="http://schemas.microsoft.com/office/drawing/2014/main" id="{DBA7D07F-FB74-1833-3442-A6421DBCB5F1}"/>
                  </a:ext>
                </a:extLst>
              </p:cNvPr>
              <p:cNvSpPr>
                <a:spLocks noGrp="1" noRot="1" noChangeAspect="1" noMove="1" noResize="1" noEditPoints="1" noAdjustHandles="1" noChangeArrowheads="1" noChangeShapeType="1" noTextEdit="1"/>
              </p:cNvSpPr>
              <p:nvPr/>
            </p:nvSpPr>
            <p:spPr>
              <a:xfrm>
                <a:off x="4638356" y="3505115"/>
                <a:ext cx="977575" cy="595932"/>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974EB13F-483F-0993-6ECF-0192B3DBA096}"/>
                  </a:ext>
                </a:extLst>
              </p:cNvPr>
              <p:cNvSpPr>
                <a:spLocks noGrp="1"/>
              </p:cNvSpPr>
              <p:nvPr/>
            </p:nvSpPr>
            <p:spPr>
              <a:xfrm>
                <a:off x="2262538" y="3126805"/>
                <a:ext cx="1052917" cy="595932"/>
              </a:xfrm>
              <a:prstGeom prst="rect">
                <a:avLst/>
              </a:prstGeom>
              <a:noFill/>
            </p:spPr>
            <p:txBody>
              <a:bodyPr wrap="none">
                <a:spAutoFit/>
              </a:bodyPr>
              <a:lstStyle/>
              <a:p>
                <a:pPr>
                  <a:buNone/>
                </a:pPr>
                <a14:m>
                  <m:oMathPara xmlns:m="http://schemas.openxmlformats.org/officeDocument/2006/math">
                    <m:oMathParaPr>
                      <m:jc m:val="centerGroup"/>
                    </m:oMathParaPr>
                    <m:oMath xmlns:m="http://schemas.openxmlformats.org/officeDocument/2006/math">
                      <m:sSup>
                        <m:sSupPr>
                          <m:ctrlPr>
                            <a:rPr lang="en-GB" sz="3200" b="1" i="1">
                              <a:solidFill>
                                <a:schemeClr val="tx1"/>
                              </a:solidFill>
                              <a:latin typeface="Cambria Math" panose="02040503050406030204" pitchFamily="18" charset="0"/>
                              <a:ea typeface="Cambria Math"/>
                              <a:cs typeface="Cambria Math"/>
                            </a:rPr>
                          </m:ctrlPr>
                        </m:sSupPr>
                        <m:e>
                          <m:r>
                            <a:rPr lang="en-GB" sz="3200" b="1" i="1">
                              <a:solidFill>
                                <a:schemeClr val="tx1"/>
                              </a:solidFill>
                              <a:latin typeface="Cambria Math"/>
                              <a:ea typeface="Cambria Math"/>
                              <a:cs typeface="Cambria Math"/>
                            </a:rPr>
                            <m:t>𝒅𝒘</m:t>
                          </m:r>
                        </m:e>
                        <m:sup>
                          <m:r>
                            <a:rPr lang="en-GB" sz="3200" b="1" i="1">
                              <a:solidFill>
                                <a:schemeClr val="tx1"/>
                              </a:solidFill>
                              <a:latin typeface="Cambria Math"/>
                              <a:ea typeface="Cambria Math"/>
                              <a:cs typeface="Cambria Math"/>
                            </a:rPr>
                            <m:t>𝟏</m:t>
                          </m:r>
                        </m:sup>
                      </m:sSup>
                    </m:oMath>
                  </m:oMathPara>
                </a14:m>
                <a:endParaRPr/>
              </a:p>
            </p:txBody>
          </p:sp>
        </mc:Choice>
        <mc:Fallback xmlns="">
          <p:sp>
            <p:nvSpPr>
              <p:cNvPr id="33" name="TextBox 32">
                <a:extLst>
                  <a:ext uri="{FF2B5EF4-FFF2-40B4-BE49-F238E27FC236}">
                    <a16:creationId xmlns:a16="http://schemas.microsoft.com/office/drawing/2014/main" id="{974EB13F-483F-0993-6ECF-0192B3DBA096}"/>
                  </a:ext>
                </a:extLst>
              </p:cNvPr>
              <p:cNvSpPr>
                <a:spLocks noGrp="1" noRot="1" noChangeAspect="1" noMove="1" noResize="1" noEditPoints="1" noAdjustHandles="1" noChangeArrowheads="1" noChangeShapeType="1" noTextEdit="1"/>
              </p:cNvSpPr>
              <p:nvPr/>
            </p:nvSpPr>
            <p:spPr>
              <a:xfrm>
                <a:off x="2262538" y="3126805"/>
                <a:ext cx="1052917" cy="595932"/>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67C18FB7-3C89-A870-66B3-D02A2533714E}"/>
                  </a:ext>
                </a:extLst>
              </p:cNvPr>
              <p:cNvSpPr>
                <a:spLocks noGrp="1"/>
              </p:cNvSpPr>
              <p:nvPr/>
            </p:nvSpPr>
            <p:spPr>
              <a:xfrm>
                <a:off x="2251107" y="3545119"/>
                <a:ext cx="977575" cy="595932"/>
              </a:xfrm>
              <a:prstGeom prst="rect">
                <a:avLst/>
              </a:prstGeom>
              <a:noFill/>
            </p:spPr>
            <p:txBody>
              <a:bodyPr wrap="none">
                <a:spAutoFit/>
              </a:bodyPr>
              <a:lstStyle/>
              <a:p>
                <a:pPr>
                  <a:buNone/>
                </a:pPr>
                <a14:m>
                  <m:oMathPara xmlns:m="http://schemas.openxmlformats.org/officeDocument/2006/math">
                    <m:oMathParaPr>
                      <m:jc m:val="centerGroup"/>
                    </m:oMathParaPr>
                    <m:oMath xmlns:m="http://schemas.openxmlformats.org/officeDocument/2006/math">
                      <m:sSup>
                        <m:sSupPr>
                          <m:ctrlPr>
                            <a:rPr lang="en-GB" sz="3200" b="1" i="1">
                              <a:solidFill>
                                <a:schemeClr val="tx1"/>
                              </a:solidFill>
                              <a:latin typeface="Cambria Math" panose="02040503050406030204" pitchFamily="18" charset="0"/>
                              <a:ea typeface="Cambria Math"/>
                              <a:cs typeface="Cambria Math"/>
                            </a:rPr>
                          </m:ctrlPr>
                        </m:sSupPr>
                        <m:e>
                          <m:r>
                            <a:rPr lang="en-GB" sz="3200" b="1" i="1">
                              <a:solidFill>
                                <a:schemeClr val="tx1"/>
                              </a:solidFill>
                              <a:latin typeface="Cambria Math"/>
                              <a:ea typeface="Cambria Math"/>
                              <a:cs typeface="Cambria Math"/>
                            </a:rPr>
                            <m:t>𝒅𝒃</m:t>
                          </m:r>
                        </m:e>
                        <m:sup>
                          <m:r>
                            <a:rPr lang="en-GB" sz="3200" b="1" i="1">
                              <a:solidFill>
                                <a:schemeClr val="tx1"/>
                              </a:solidFill>
                              <a:latin typeface="Cambria Math"/>
                              <a:ea typeface="Cambria Math"/>
                              <a:cs typeface="Cambria Math"/>
                            </a:rPr>
                            <m:t>𝟏</m:t>
                          </m:r>
                        </m:sup>
                      </m:sSup>
                    </m:oMath>
                  </m:oMathPara>
                </a14:m>
                <a:endParaRPr/>
              </a:p>
            </p:txBody>
          </p:sp>
        </mc:Choice>
        <mc:Fallback xmlns="">
          <p:sp>
            <p:nvSpPr>
              <p:cNvPr id="34" name="TextBox 33">
                <a:extLst>
                  <a:ext uri="{FF2B5EF4-FFF2-40B4-BE49-F238E27FC236}">
                    <a16:creationId xmlns:a16="http://schemas.microsoft.com/office/drawing/2014/main" id="{67C18FB7-3C89-A870-66B3-D02A2533714E}"/>
                  </a:ext>
                </a:extLst>
              </p:cNvPr>
              <p:cNvSpPr>
                <a:spLocks noGrp="1" noRot="1" noChangeAspect="1" noMove="1" noResize="1" noEditPoints="1" noAdjustHandles="1" noChangeArrowheads="1" noChangeShapeType="1" noTextEdit="1"/>
              </p:cNvSpPr>
              <p:nvPr/>
            </p:nvSpPr>
            <p:spPr>
              <a:xfrm>
                <a:off x="2251107" y="3545119"/>
                <a:ext cx="977575" cy="595932"/>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04DDDFF-224A-A650-78CE-3B157993A416}"/>
                  </a:ext>
                </a:extLst>
              </p:cNvPr>
              <p:cNvSpPr>
                <a:spLocks noGrp="1"/>
              </p:cNvSpPr>
              <p:nvPr/>
            </p:nvSpPr>
            <p:spPr>
              <a:xfrm>
                <a:off x="9330477" y="3095770"/>
                <a:ext cx="1394934" cy="584775"/>
              </a:xfrm>
              <a:prstGeom prst="rect">
                <a:avLst/>
              </a:prstGeom>
              <a:noFill/>
            </p:spPr>
            <p:txBody>
              <a:bodyPr wrap="none">
                <a:spAutoFit/>
              </a:bodyPr>
              <a:lstStyle/>
              <a:p>
                <a:r>
                  <a:rPr sz="3200" b="1">
                    <a:solidFill>
                      <a:schemeClr val="tx1"/>
                    </a:solidFill>
                  </a:rPr>
                  <a:t>Loss(</a:t>
                </a:r>
                <a14:m>
                  <m:oMath xmlns:m="http://schemas.openxmlformats.org/officeDocument/2006/math">
                    <m:r>
                      <a:rPr lang="en-GB" sz="3200" b="1" i="1">
                        <a:solidFill>
                          <a:schemeClr val="tx1"/>
                        </a:solidFill>
                        <a:latin typeface="Cambria Math"/>
                        <a:ea typeface="Cambria Math"/>
                        <a:cs typeface="Cambria Math"/>
                      </a:rPr>
                      <m:t>𝑳</m:t>
                    </m:r>
                  </m:oMath>
                </a14:m>
                <a:r>
                  <a:rPr sz="3200" b="1">
                    <a:solidFill>
                      <a:schemeClr val="tx1"/>
                    </a:solidFill>
                  </a:rPr>
                  <a:t>)</a:t>
                </a:r>
              </a:p>
            </p:txBody>
          </p:sp>
        </mc:Choice>
        <mc:Fallback xmlns="">
          <p:sp>
            <p:nvSpPr>
              <p:cNvPr id="35" name="TextBox 34">
                <a:extLst>
                  <a:ext uri="{FF2B5EF4-FFF2-40B4-BE49-F238E27FC236}">
                    <a16:creationId xmlns:a16="http://schemas.microsoft.com/office/drawing/2014/main" id="{704DDDFF-224A-A650-78CE-3B157993A416}"/>
                  </a:ext>
                </a:extLst>
              </p:cNvPr>
              <p:cNvSpPr>
                <a:spLocks noGrp="1" noRot="1" noChangeAspect="1" noMove="1" noResize="1" noEditPoints="1" noAdjustHandles="1" noChangeArrowheads="1" noChangeShapeType="1" noTextEdit="1"/>
              </p:cNvSpPr>
              <p:nvPr/>
            </p:nvSpPr>
            <p:spPr>
              <a:xfrm>
                <a:off x="9330477" y="3095770"/>
                <a:ext cx="1394934" cy="584775"/>
              </a:xfrm>
              <a:prstGeom prst="rect">
                <a:avLst/>
              </a:prstGeom>
              <a:blipFill>
                <a:blip r:embed="rId15"/>
                <a:stretch>
                  <a:fillRect l="-11404" t="-12500" r="-18421" b="-3437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CFCC330-CE81-729D-D79C-166557D5C828}"/>
                  </a:ext>
                </a:extLst>
              </p:cNvPr>
              <p:cNvSpPr>
                <a:spLocks noGrp="1"/>
              </p:cNvSpPr>
              <p:nvPr/>
            </p:nvSpPr>
            <p:spPr>
              <a:xfrm>
                <a:off x="8472037" y="4953023"/>
                <a:ext cx="2253374" cy="1112099"/>
              </a:xfrm>
              <a:prstGeom prst="rect">
                <a:avLst/>
              </a:prstGeom>
              <a:ln w="38100"/>
            </p:spPr>
            <p:style>
              <a:lnRef idx="2">
                <a:schemeClr val="dk1"/>
              </a:lnRef>
              <a:fillRef idx="1">
                <a:schemeClr val="lt1"/>
              </a:fillRef>
              <a:effectRef idx="0">
                <a:schemeClr val="dk1"/>
              </a:effectRef>
              <a:fontRef idx="minor">
                <a:schemeClr val="dk1"/>
              </a:fontRef>
            </p:style>
            <p:txBody>
              <a:bodyPr wrap="none">
                <a:spAutoFit/>
              </a:bodyPr>
              <a:lstStyle/>
              <a:p>
                <a:pPr>
                  <a:buNone/>
                </a:pPr>
                <a14:m>
                  <m:oMathPara xmlns:m="http://schemas.openxmlformats.org/officeDocument/2006/math">
                    <m:oMathParaPr>
                      <m:jc m:val="centerGroup"/>
                    </m:oMathParaPr>
                    <m:oMath xmlns:m="http://schemas.openxmlformats.org/officeDocument/2006/math">
                      <m:sSup>
                        <m:sSupPr>
                          <m:ctrlPr>
                            <a:rPr lang="en-GB" sz="3200" b="1" i="1">
                              <a:solidFill>
                                <a:schemeClr val="tx1"/>
                              </a:solidFill>
                              <a:latin typeface="Cambria Math" panose="02040503050406030204" pitchFamily="18" charset="0"/>
                              <a:ea typeface="Cambria Math"/>
                              <a:cs typeface="Cambria Math"/>
                            </a:rPr>
                          </m:ctrlPr>
                        </m:sSupPr>
                        <m:e>
                          <m:r>
                            <a:rPr lang="en-GB" sz="3200" b="1" i="1">
                              <a:solidFill>
                                <a:schemeClr val="tx1"/>
                              </a:solidFill>
                              <a:latin typeface="Cambria Math"/>
                              <a:ea typeface="Cambria Math"/>
                              <a:cs typeface="Cambria Math"/>
                            </a:rPr>
                            <m:t>𝒅𝒚</m:t>
                          </m:r>
                        </m:e>
                        <m:sup>
                          <m:r>
                            <a:rPr lang="en-GB" sz="3200" b="1" i="1">
                              <a:solidFill>
                                <a:schemeClr val="tx1"/>
                              </a:solidFill>
                              <a:latin typeface="Cambria Math"/>
                              <a:ea typeface="Cambria Math"/>
                              <a:cs typeface="Cambria Math"/>
                            </a:rPr>
                            <m:t>𝒏</m:t>
                          </m:r>
                        </m:sup>
                      </m:sSup>
                      <m:r>
                        <a:rPr lang="en-GB" sz="3200" b="1" i="1">
                          <a:solidFill>
                            <a:schemeClr val="tx1"/>
                          </a:solidFill>
                          <a:latin typeface="Cambria Math"/>
                          <a:ea typeface="Cambria Math"/>
                          <a:cs typeface="Cambria Math"/>
                        </a:rPr>
                        <m:t>≜</m:t>
                      </m:r>
                      <m:f>
                        <m:fPr>
                          <m:ctrlPr>
                            <a:rPr lang="en-GB" sz="3200" b="1" i="1">
                              <a:solidFill>
                                <a:schemeClr val="tx1"/>
                              </a:solidFill>
                              <a:latin typeface="Cambria Math" panose="02040503050406030204" pitchFamily="18" charset="0"/>
                              <a:ea typeface="Cambria Math"/>
                              <a:cs typeface="Cambria Math"/>
                            </a:rPr>
                          </m:ctrlPr>
                        </m:fPr>
                        <m:num>
                          <m:r>
                            <a:rPr lang="en-GB" sz="3200" b="1" i="1">
                              <a:solidFill>
                                <a:schemeClr val="tx1"/>
                              </a:solidFill>
                              <a:latin typeface="Cambria Math"/>
                              <a:ea typeface="Cambria Math"/>
                              <a:cs typeface="Cambria Math"/>
                            </a:rPr>
                            <m:t>𝒅𝑳</m:t>
                          </m:r>
                        </m:num>
                        <m:den>
                          <m:r>
                            <a:rPr lang="en-GB" sz="3200" b="1" i="1">
                              <a:solidFill>
                                <a:schemeClr val="tx1"/>
                              </a:solidFill>
                              <a:latin typeface="Cambria Math"/>
                              <a:ea typeface="Cambria Math"/>
                              <a:cs typeface="Cambria Math"/>
                            </a:rPr>
                            <m:t>𝒅</m:t>
                          </m:r>
                          <m:sSup>
                            <m:sSupPr>
                              <m:ctrlPr>
                                <a:rPr lang="en-GB" sz="3200" b="1" i="1">
                                  <a:solidFill>
                                    <a:schemeClr val="tx1"/>
                                  </a:solidFill>
                                  <a:latin typeface="Cambria Math" panose="02040503050406030204" pitchFamily="18" charset="0"/>
                                  <a:ea typeface="Cambria Math"/>
                                  <a:cs typeface="Cambria Math"/>
                                </a:rPr>
                              </m:ctrlPr>
                            </m:sSupPr>
                            <m:e>
                              <m:r>
                                <a:rPr lang="en-GB" sz="3200" b="1" i="1">
                                  <a:solidFill>
                                    <a:schemeClr val="tx1"/>
                                  </a:solidFill>
                                  <a:latin typeface="Cambria Math"/>
                                  <a:ea typeface="Cambria Math"/>
                                  <a:cs typeface="Cambria Math"/>
                                </a:rPr>
                                <m:t>𝒚</m:t>
                              </m:r>
                            </m:e>
                            <m:sup>
                              <m:r>
                                <a:rPr lang="en-GB" sz="3200" b="1" i="1">
                                  <a:solidFill>
                                    <a:schemeClr val="tx1"/>
                                  </a:solidFill>
                                  <a:latin typeface="Cambria Math"/>
                                  <a:ea typeface="Cambria Math"/>
                                  <a:cs typeface="Cambria Math"/>
                                </a:rPr>
                                <m:t>𝒏</m:t>
                              </m:r>
                            </m:sup>
                          </m:sSup>
                        </m:den>
                      </m:f>
                    </m:oMath>
                  </m:oMathPara>
                </a14:m>
                <a:endParaRPr/>
              </a:p>
            </p:txBody>
          </p:sp>
        </mc:Choice>
        <mc:Fallback xmlns="">
          <p:sp>
            <p:nvSpPr>
              <p:cNvPr id="36" name="TextBox 35">
                <a:extLst>
                  <a:ext uri="{FF2B5EF4-FFF2-40B4-BE49-F238E27FC236}">
                    <a16:creationId xmlns:a16="http://schemas.microsoft.com/office/drawing/2014/main" id="{5CFCC330-CE81-729D-D79C-166557D5C828}"/>
                  </a:ext>
                </a:extLst>
              </p:cNvPr>
              <p:cNvSpPr>
                <a:spLocks noGrp="1" noRot="1" noChangeAspect="1" noMove="1" noResize="1" noEditPoints="1" noAdjustHandles="1" noChangeArrowheads="1" noChangeShapeType="1" noTextEdit="1"/>
              </p:cNvSpPr>
              <p:nvPr/>
            </p:nvSpPr>
            <p:spPr>
              <a:xfrm>
                <a:off x="8472037" y="4953023"/>
                <a:ext cx="2253374" cy="1112099"/>
              </a:xfrm>
              <a:prstGeom prst="rect">
                <a:avLst/>
              </a:prstGeom>
              <a:blipFill>
                <a:blip r:embed="rId16"/>
                <a:stretch>
                  <a:fillRect/>
                </a:stretch>
              </a:blipFill>
              <a:ln w="38100"/>
            </p:spPr>
            <p:txBody>
              <a:bodyPr/>
              <a:lstStyle/>
              <a:p>
                <a:r>
                  <a:rPr lang="en-GB">
                    <a:noFill/>
                  </a:rPr>
                  <a:t> </a:t>
                </a:r>
              </a:p>
            </p:txBody>
          </p:sp>
        </mc:Fallback>
      </mc:AlternateContent>
      <p:cxnSp>
        <p:nvCxnSpPr>
          <p:cNvPr id="162" name="Straight Arrow Connector 36"/>
          <p:cNvCxnSpPr/>
          <p:nvPr/>
        </p:nvCxnSpPr>
        <p:spPr>
          <a:xfrm>
            <a:off x="2886428" y="2051386"/>
            <a:ext cx="1196393"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63" name="Straight Arrow Connector 37"/>
          <p:cNvCxnSpPr/>
          <p:nvPr/>
        </p:nvCxnSpPr>
        <p:spPr>
          <a:xfrm>
            <a:off x="5093078" y="2051386"/>
            <a:ext cx="1196393"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64" name="Straight Arrow Connector 38"/>
          <p:cNvCxnSpPr/>
          <p:nvPr/>
        </p:nvCxnSpPr>
        <p:spPr>
          <a:xfrm flipH="1">
            <a:off x="5485397" y="4760296"/>
            <a:ext cx="1098449" cy="10691"/>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65" name="Straight Arrow Connector 39"/>
          <p:cNvCxnSpPr/>
          <p:nvPr/>
        </p:nvCxnSpPr>
        <p:spPr>
          <a:xfrm flipH="1">
            <a:off x="3148216" y="4787464"/>
            <a:ext cx="1098449" cy="10691"/>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66" name="Straight Arrow Connector 40"/>
          <p:cNvCxnSpPr/>
          <p:nvPr/>
        </p:nvCxnSpPr>
        <p:spPr>
          <a:xfrm flipV="1">
            <a:off x="2236876" y="3037996"/>
            <a:ext cx="0" cy="1014246"/>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67" name="Straight Arrow Connector 41"/>
          <p:cNvCxnSpPr/>
          <p:nvPr/>
        </p:nvCxnSpPr>
        <p:spPr>
          <a:xfrm flipV="1">
            <a:off x="4569751" y="3037996"/>
            <a:ext cx="0" cy="1014246"/>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68" name="Straight Arrow Connector 42"/>
          <p:cNvCxnSpPr/>
          <p:nvPr/>
        </p:nvCxnSpPr>
        <p:spPr>
          <a:xfrm flipV="1">
            <a:off x="6902626" y="3037996"/>
            <a:ext cx="0" cy="1014246"/>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44" name="Arc 43">
            <a:extLst>
              <a:ext uri="{FF2B5EF4-FFF2-40B4-BE49-F238E27FC236}">
                <a16:creationId xmlns:a16="http://schemas.microsoft.com/office/drawing/2014/main" id="{8AF1F87B-958B-8161-0537-ECBB184BDCE6}"/>
              </a:ext>
            </a:extLst>
          </p:cNvPr>
          <p:cNvSpPr>
            <a:spLocks noGrp="1"/>
          </p:cNvSpPr>
          <p:nvPr/>
        </p:nvSpPr>
        <p:spPr>
          <a:xfrm>
            <a:off x="6152255" y="2067036"/>
            <a:ext cx="3702707" cy="1556182"/>
          </a:xfrm>
          <a:prstGeom prst="arc">
            <a:avLst/>
          </a:prstGeom>
          <a:ln w="57150">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anchor="ctr"/>
          <a:lstStyle/>
          <a:p>
            <a:pPr algn="ctr">
              <a:buNone/>
            </a:pPr>
            <a:endParaRPr/>
          </a:p>
        </p:txBody>
      </p:sp>
      <p:sp>
        <p:nvSpPr>
          <p:cNvPr id="45" name="Arc 44">
            <a:extLst>
              <a:ext uri="{FF2B5EF4-FFF2-40B4-BE49-F238E27FC236}">
                <a16:creationId xmlns:a16="http://schemas.microsoft.com/office/drawing/2014/main" id="{86AB8036-2E5E-6083-C431-0CF06F421955}"/>
              </a:ext>
            </a:extLst>
          </p:cNvPr>
          <p:cNvSpPr>
            <a:spLocks noGrp="1"/>
          </p:cNvSpPr>
          <p:nvPr/>
        </p:nvSpPr>
        <p:spPr>
          <a:xfrm flipV="1">
            <a:off x="6192073" y="3071669"/>
            <a:ext cx="3702707" cy="1556182"/>
          </a:xfrm>
          <a:prstGeom prst="arc">
            <a:avLst/>
          </a:prstGeom>
          <a:ln w="57150">
            <a:headEnd type="triangle" w="med" len="med"/>
            <a:tailEnd type="none" w="med" len="med"/>
          </a:ln>
        </p:spPr>
        <p:style>
          <a:lnRef idx="2">
            <a:schemeClr val="accent1"/>
          </a:lnRef>
          <a:fillRef idx="0">
            <a:schemeClr val="accent1"/>
          </a:fillRef>
          <a:effectRef idx="1">
            <a:schemeClr val="accent1"/>
          </a:effectRef>
          <a:fontRef idx="minor">
            <a:schemeClr val="tx1"/>
          </a:fontRef>
        </p:style>
        <p:txBody>
          <a:bodyPr anchor="ctr"/>
          <a:lstStyle/>
          <a:p>
            <a:pPr algn="ctr">
              <a:buNone/>
            </a:pPr>
            <a:endParaRPr/>
          </a:p>
        </p:txBody>
      </p:sp>
      <p:sp>
        <p:nvSpPr>
          <p:cNvPr id="46" name="Title 1">
            <a:extLst>
              <a:ext uri="{FF2B5EF4-FFF2-40B4-BE49-F238E27FC236}">
                <a16:creationId xmlns:a16="http://schemas.microsoft.com/office/drawing/2014/main" id="{8A57B895-53F1-B5B8-6689-8FDA9AB208E3}"/>
              </a:ext>
            </a:extLst>
          </p:cNvPr>
          <p:cNvSpPr>
            <a:spLocks noGrp="1"/>
          </p:cNvSpPr>
          <p:nvPr/>
        </p:nvSpPr>
        <p:spPr>
          <a:xfrm>
            <a:off x="1031671" y="247145"/>
            <a:ext cx="10515600" cy="506385"/>
          </a:xfrm>
          <a:prstGeom prst="rect">
            <a:avLst/>
          </a:prstGeom>
        </p:spPr>
        <p:txBody>
          <a:bodyPr vert="horz" lIns="91440" tIns="45720" rIns="91440" bIns="45720" anchor="b">
            <a:normAutofit/>
          </a:bodyPr>
          <a:lstStyle>
            <a:lvl1pPr algn="ctr">
              <a:lnSpc>
                <a:spcPct val="90000"/>
              </a:lnSpc>
              <a:buNone/>
              <a:defRPr sz="6000">
                <a:solidFill>
                  <a:schemeClr val="tx1"/>
                </a:solidFill>
                <a:latin typeface="+mj-lt"/>
                <a:ea typeface="+mj-lt"/>
                <a:cs typeface="+mj-lt"/>
              </a:defRPr>
            </a:lvl1pPr>
          </a:lstStyle>
          <a:p>
            <a:pPr>
              <a:buNone/>
              <a:defRPr sz="2250" b="0">
                <a:solidFill>
                  <a:srgbClr val="111111"/>
                </a:solidFill>
              </a:defRPr>
            </a:pPr>
            <a:r>
              <a:rPr sz="2250" b="0">
                <a:solidFill>
                  <a:srgbClr val="111111"/>
                </a:solidFill>
                <a:latin typeface="Tenorite"/>
                <a:ea typeface="Tenorite"/>
                <a:cs typeface="Tenorite"/>
              </a:rPr>
              <a:t>Backpropagation is efficient chain rule</a:t>
            </a:r>
          </a:p>
        </p:txBody>
      </p:sp>
      <p:sp>
        <p:nvSpPr>
          <p:cNvPr id="2" name="Date Placeholder 1">
            <a:extLst>
              <a:ext uri="{FF2B5EF4-FFF2-40B4-BE49-F238E27FC236}">
                <a16:creationId xmlns:a16="http://schemas.microsoft.com/office/drawing/2014/main" id="{03FFD94E-E7A3-A459-A8CE-7BD87DA87A1B}"/>
              </a:ext>
            </a:extLst>
          </p:cNvPr>
          <p:cNvSpPr>
            <a:spLocks noGrp="1"/>
          </p:cNvSpPr>
          <p:nvPr>
            <p:ph type="dt" idx="10"/>
          </p:nvPr>
        </p:nvSpPr>
        <p:spPr/>
        <p:txBody>
          <a:bodyPr/>
          <a:lstStyle/>
          <a:p>
            <a:pPr>
              <a:buNone/>
            </a:pPr>
            <a:fld id="{6FBAB905-F404-45C9-B63D-F093A68E4E6E}" type="datetime1">
              <a:rPr lang="en-US"/>
              <a:t>7/29/2026</a:t>
            </a:fld>
            <a:endParaRPr/>
          </a:p>
        </p:txBody>
      </p:sp>
      <p:sp>
        <p:nvSpPr>
          <p:cNvPr id="4" name="Slide Number Placeholder 3">
            <a:extLst>
              <a:ext uri="{FF2B5EF4-FFF2-40B4-BE49-F238E27FC236}">
                <a16:creationId xmlns:a16="http://schemas.microsoft.com/office/drawing/2014/main" id="{33E663E1-FD58-8B2D-4B1A-3F7F05EFD8A1}"/>
              </a:ext>
            </a:extLst>
          </p:cNvPr>
          <p:cNvSpPr>
            <a:spLocks noGrp="1"/>
          </p:cNvSpPr>
          <p:nvPr>
            <p:ph type="sldNum" idx="12"/>
          </p:nvPr>
        </p:nvSpPr>
        <p:spPr/>
        <p:txBody>
          <a:bodyPr/>
          <a:lstStyle/>
          <a:p>
            <a:pPr>
              <a:buNone/>
            </a:pPr>
            <a:fld id="{B5CEABB6-07DC-46E8-9B57-56EC44A396E5}" type="slidenum">
              <a:rPr/>
              <a:t>16</a:t>
            </a:fld>
            <a:endParaRPr/>
          </a:p>
        </p:txBody>
      </p:sp>
    </p:spTree>
    <p:extLst>
      <p:ext uri="{BB962C8B-B14F-4D97-AF65-F5344CB8AC3E}">
        <p14:creationId xmlns:p14="http://schemas.microsoft.com/office/powerpoint/2010/main" val="663767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54ABB-4929-4810-950B-2DAEA0A5BAB4}"/>
              </a:ext>
            </a:extLst>
          </p:cNvPr>
          <p:cNvSpPr>
            <a:spLocks noGrp="1"/>
          </p:cNvSpPr>
          <p:nvPr>
            <p:ph type="title"/>
          </p:nvPr>
        </p:nvSpPr>
        <p:spPr>
          <a:xfrm>
            <a:off x="2187690" y="136525"/>
            <a:ext cx="8421688" cy="1325563"/>
          </a:xfrm>
        </p:spPr>
        <p:txBody>
          <a:bodyPr/>
          <a:lstStyle/>
          <a:p>
            <a:pPr>
              <a:buNone/>
              <a:defRPr sz="2250" b="0">
                <a:solidFill>
                  <a:srgbClr val="111111"/>
                </a:solidFill>
              </a:defRPr>
            </a:pPr>
            <a:r>
              <a:rPr sz="2250" b="0">
                <a:solidFill>
                  <a:srgbClr val="111111"/>
                </a:solidFill>
              </a:rPr>
              <a:t>Sequences break the fixed-vector assumption</a:t>
            </a:r>
          </a:p>
        </p:txBody>
      </p:sp>
      <p:pic>
        <p:nvPicPr>
          <p:cNvPr id="28" name="Picture 23"/>
          <p:cNvPicPr>
            <a:picLocks noChangeAspect="1"/>
          </p:cNvPicPr>
          <p:nvPr/>
        </p:nvPicPr>
        <p:blipFill>
          <a:blip r:embed="rId3"/>
          <a:stretch>
            <a:fillRect/>
          </a:stretch>
        </p:blipFill>
        <p:spPr>
          <a:xfrm>
            <a:off x="1582622" y="1462088"/>
            <a:ext cx="4273666" cy="4474852"/>
          </a:xfrm>
          <a:prstGeom prst="rect">
            <a:avLst/>
          </a:prstGeom>
        </p:spPr>
      </p:pic>
      <p:sp>
        <p:nvSpPr>
          <p:cNvPr id="25" name="TextBox 24">
            <a:extLst>
              <a:ext uri="{FF2B5EF4-FFF2-40B4-BE49-F238E27FC236}">
                <a16:creationId xmlns:a16="http://schemas.microsoft.com/office/drawing/2014/main" id="{1EAA0723-423B-78AC-1BB6-4C7A0A3D9644}"/>
              </a:ext>
            </a:extLst>
          </p:cNvPr>
          <p:cNvSpPr>
            <a:spLocks noGrp="1"/>
          </p:cNvSpPr>
          <p:nvPr/>
        </p:nvSpPr>
        <p:spPr>
          <a:xfrm>
            <a:off x="6767229" y="2998218"/>
            <a:ext cx="4114800" cy="1223412"/>
          </a:xfrm>
          <a:prstGeom prst="rect">
            <a:avLst/>
          </a:prstGeom>
          <a:noFill/>
        </p:spPr>
        <p:txBody>
          <a:bodyPr wrap="square">
            <a:spAutoFit/>
          </a:bodyPr>
          <a:lstStyle/>
          <a:p>
            <a:pPr>
              <a:buNone/>
              <a:defRPr sz="1650">
                <a:solidFill>
                  <a:srgbClr val="333333"/>
                </a:solidFill>
              </a:defRPr>
            </a:pPr>
            <a:r>
              <a:rPr>
                <a:solidFill>
                  <a:srgbClr val="333333"/>
                </a:solidFill>
              </a:rPr>
              <a:t>MLPs expect fixed-size inputs.</a:t>
            </a:r>
          </a:p>
          <a:p>
            <a:endParaRPr>
              <a:solidFill>
                <a:srgbClr val="333333"/>
              </a:solidFill>
            </a:endParaRPr>
          </a:p>
          <a:p>
            <a:pPr>
              <a:buNone/>
              <a:defRPr sz="1650">
                <a:solidFill>
                  <a:srgbClr val="333333"/>
                </a:solidFill>
              </a:defRPr>
            </a:pPr>
            <a:r>
              <a:rPr>
                <a:solidFill>
                  <a:srgbClr val="333333"/>
                </a:solidFill>
              </a:rPr>
              <a:t>Sequences vary in length, order matters, and predictions depend on context.</a:t>
            </a:r>
          </a:p>
        </p:txBody>
      </p:sp>
      <p:sp>
        <p:nvSpPr>
          <p:cNvPr id="3" name="Date Placeholder 2">
            <a:extLst>
              <a:ext uri="{FF2B5EF4-FFF2-40B4-BE49-F238E27FC236}">
                <a16:creationId xmlns:a16="http://schemas.microsoft.com/office/drawing/2014/main" id="{DD900D54-EE14-5E60-8845-430472516E79}"/>
              </a:ext>
            </a:extLst>
          </p:cNvPr>
          <p:cNvSpPr>
            <a:spLocks noGrp="1"/>
          </p:cNvSpPr>
          <p:nvPr>
            <p:ph type="dt" idx="10"/>
          </p:nvPr>
        </p:nvSpPr>
        <p:spPr/>
        <p:txBody>
          <a:bodyPr/>
          <a:lstStyle/>
          <a:p>
            <a:pPr>
              <a:buNone/>
            </a:pPr>
            <a:fld id="{65B4684A-4844-489E-BF1D-40BD4110DA98}" type="datetime1">
              <a:rPr lang="en-US"/>
              <a:t>7/29/2026</a:t>
            </a:fld>
            <a:endParaRPr/>
          </a:p>
        </p:txBody>
      </p:sp>
      <p:sp>
        <p:nvSpPr>
          <p:cNvPr id="4" name="Footer Placeholder 3">
            <a:extLst>
              <a:ext uri="{FF2B5EF4-FFF2-40B4-BE49-F238E27FC236}">
                <a16:creationId xmlns:a16="http://schemas.microsoft.com/office/drawing/2014/main" id="{E726394F-EEEA-1037-D5CD-4A6311C324F0}"/>
              </a:ext>
            </a:extLst>
          </p:cNvPr>
          <p:cNvSpPr>
            <a:spLocks noGrp="1"/>
          </p:cNvSpPr>
          <p:nvPr>
            <p:ph type="ftr" idx="11"/>
          </p:nvPr>
        </p:nvSpPr>
        <p:spPr/>
        <p:txBody>
          <a:bodyPr/>
          <a:lstStyle/>
          <a:p>
            <a:pPr>
              <a:buNone/>
            </a:pPr>
            <a:r>
              <a:t>Introduction to Deep Learning - PSDI &amp; Royce Materials Data Summit</a:t>
            </a:r>
          </a:p>
        </p:txBody>
      </p:sp>
      <p:sp>
        <p:nvSpPr>
          <p:cNvPr id="5" name="Slide Number Placeholder 4">
            <a:extLst>
              <a:ext uri="{FF2B5EF4-FFF2-40B4-BE49-F238E27FC236}">
                <a16:creationId xmlns:a16="http://schemas.microsoft.com/office/drawing/2014/main" id="{A5E2EFC6-9A21-5F5E-A47E-B11B7E931276}"/>
              </a:ext>
            </a:extLst>
          </p:cNvPr>
          <p:cNvSpPr>
            <a:spLocks noGrp="1"/>
          </p:cNvSpPr>
          <p:nvPr>
            <p:ph type="sldNum" idx="12"/>
          </p:nvPr>
        </p:nvSpPr>
        <p:spPr/>
        <p:txBody>
          <a:bodyPr/>
          <a:lstStyle/>
          <a:p>
            <a:pPr>
              <a:buNone/>
            </a:pPr>
            <a:fld id="{B5CEABB6-07DC-46E8-9B57-56EC44A396E5}" type="slidenum">
              <a:rPr/>
              <a:t>17</a:t>
            </a:fld>
            <a:endParaRPr/>
          </a:p>
        </p:txBody>
      </p:sp>
    </p:spTree>
    <p:extLst>
      <p:ext uri="{BB962C8B-B14F-4D97-AF65-F5344CB8AC3E}">
        <p14:creationId xmlns:p14="http://schemas.microsoft.com/office/powerpoint/2010/main" val="21211780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E6DDD0E-99AD-4D28-9476-1BD35C43C571}"/>
              </a:ext>
            </a:extLst>
          </p:cNvPr>
          <p:cNvSpPr>
            <a:spLocks noGrp="1"/>
          </p:cNvSpPr>
          <p:nvPr/>
        </p:nvSpPr>
        <p:spPr>
          <a:xfrm>
            <a:off x="962025" y="762642"/>
            <a:ext cx="10515600" cy="762000"/>
          </a:xfrm>
          <a:prstGeom prst="rect">
            <a:avLst/>
          </a:prstGeom>
          <a:noFill/>
          <a:ln w="0">
            <a:noFill/>
            <a:prstDash val="solid"/>
          </a:ln>
        </p:spPr>
        <p:txBody>
          <a:bodyPr/>
          <a:lstStyle/>
          <a:p>
            <a:pPr algn="ctr">
              <a:buNone/>
              <a:defRPr sz="2175">
                <a:solidFill>
                  <a:srgbClr val="111111"/>
                </a:solidFill>
              </a:defRPr>
            </a:pPr>
            <a:r>
              <a:rPr sz="2175">
                <a:solidFill>
                  <a:srgbClr val="111111"/>
                </a:solidFill>
              </a:rPr>
              <a:t>NEURAL MODELS DIFFER BY DATA SHAPE</a:t>
            </a:r>
          </a:p>
        </p:txBody>
      </p:sp>
      <p:sp>
        <p:nvSpPr>
          <p:cNvPr id="13" name="Rectangle 12">
            <a:extLst>
              <a:ext uri="{FF2B5EF4-FFF2-40B4-BE49-F238E27FC236}">
                <a16:creationId xmlns:a16="http://schemas.microsoft.com/office/drawing/2014/main" id="{6D353F27-3D1C-4D83-B137-18B732E00415}"/>
              </a:ext>
            </a:extLst>
          </p:cNvPr>
          <p:cNvSpPr>
            <a:spLocks noGrp="1"/>
          </p:cNvSpPr>
          <p:nvPr/>
        </p:nvSpPr>
        <p:spPr>
          <a:xfrm>
            <a:off x="1123950" y="1905642"/>
            <a:ext cx="10191750" cy="419100"/>
          </a:xfrm>
          <a:prstGeom prst="rect">
            <a:avLst/>
          </a:prstGeom>
          <a:noFill/>
          <a:ln w="0">
            <a:noFill/>
            <a:prstDash val="solid"/>
          </a:ln>
        </p:spPr>
        <p:txBody>
          <a:bodyPr/>
          <a:lstStyle/>
          <a:p>
            <a:pPr algn="ctr">
              <a:buNone/>
              <a:defRPr sz="1725">
                <a:solidFill>
                  <a:srgbClr val="333333"/>
                </a:solidFill>
              </a:defRPr>
            </a:pPr>
            <a:r>
              <a:rPr>
                <a:solidFill>
                  <a:srgbClr val="333333"/>
                </a:solidFill>
              </a:rPr>
              <a:t>Choose the architecture by asking what shape of information must be read and produced.</a:t>
            </a:r>
          </a:p>
        </p:txBody>
      </p:sp>
      <p:sp>
        <p:nvSpPr>
          <p:cNvPr id="14" name="Rectangle 13">
            <a:extLst>
              <a:ext uri="{FF2B5EF4-FFF2-40B4-BE49-F238E27FC236}">
                <a16:creationId xmlns:a16="http://schemas.microsoft.com/office/drawing/2014/main" id="{1EF7EE9E-1FE2-4661-9246-2BAB5E36D802}"/>
              </a:ext>
            </a:extLst>
          </p:cNvPr>
          <p:cNvSpPr>
            <a:spLocks noGrp="1"/>
          </p:cNvSpPr>
          <p:nvPr/>
        </p:nvSpPr>
        <p:spPr>
          <a:xfrm>
            <a:off x="1028700" y="2667642"/>
            <a:ext cx="3143250" cy="304800"/>
          </a:xfrm>
          <a:prstGeom prst="rect">
            <a:avLst/>
          </a:prstGeom>
          <a:noFill/>
          <a:ln w="0">
            <a:noFill/>
            <a:prstDash val="solid"/>
          </a:ln>
        </p:spPr>
        <p:txBody>
          <a:bodyPr/>
          <a:lstStyle/>
          <a:p>
            <a:pPr>
              <a:buNone/>
              <a:defRPr sz="1350" b="1">
                <a:solidFill>
                  <a:srgbClr val="222222"/>
                </a:solidFill>
              </a:defRPr>
            </a:pPr>
            <a:r>
              <a:rPr sz="1600" b="1">
                <a:solidFill>
                  <a:srgbClr val="222222"/>
                </a:solidFill>
              </a:rPr>
              <a:t>Data shape</a:t>
            </a:r>
          </a:p>
        </p:txBody>
      </p:sp>
      <p:sp>
        <p:nvSpPr>
          <p:cNvPr id="15" name="Rectangle 14">
            <a:extLst>
              <a:ext uri="{FF2B5EF4-FFF2-40B4-BE49-F238E27FC236}">
                <a16:creationId xmlns:a16="http://schemas.microsoft.com/office/drawing/2014/main" id="{D7BECFA1-F13D-412E-BC43-186F77AE34BD}"/>
              </a:ext>
            </a:extLst>
          </p:cNvPr>
          <p:cNvSpPr>
            <a:spLocks noGrp="1"/>
          </p:cNvSpPr>
          <p:nvPr/>
        </p:nvSpPr>
        <p:spPr>
          <a:xfrm>
            <a:off x="4743450" y="2667642"/>
            <a:ext cx="2905125" cy="304800"/>
          </a:xfrm>
          <a:prstGeom prst="rect">
            <a:avLst/>
          </a:prstGeom>
          <a:noFill/>
          <a:ln w="0">
            <a:noFill/>
            <a:prstDash val="solid"/>
          </a:ln>
        </p:spPr>
        <p:txBody>
          <a:bodyPr/>
          <a:lstStyle/>
          <a:p>
            <a:pPr>
              <a:buNone/>
              <a:defRPr sz="1350" b="1">
                <a:solidFill>
                  <a:srgbClr val="222222"/>
                </a:solidFill>
              </a:defRPr>
            </a:pPr>
            <a:r>
              <a:rPr sz="1600" b="1">
                <a:solidFill>
                  <a:srgbClr val="222222"/>
                </a:solidFill>
              </a:rPr>
              <a:t>Learning task</a:t>
            </a:r>
          </a:p>
        </p:txBody>
      </p:sp>
      <p:sp>
        <p:nvSpPr>
          <p:cNvPr id="16" name="Rectangle 15">
            <a:extLst>
              <a:ext uri="{FF2B5EF4-FFF2-40B4-BE49-F238E27FC236}">
                <a16:creationId xmlns:a16="http://schemas.microsoft.com/office/drawing/2014/main" id="{25499859-46EF-4291-80A9-9ACE3E28E3C6}"/>
              </a:ext>
            </a:extLst>
          </p:cNvPr>
          <p:cNvSpPr>
            <a:spLocks noGrp="1"/>
          </p:cNvSpPr>
          <p:nvPr/>
        </p:nvSpPr>
        <p:spPr>
          <a:xfrm>
            <a:off x="8124825" y="2667642"/>
            <a:ext cx="3143250" cy="304800"/>
          </a:xfrm>
          <a:prstGeom prst="rect">
            <a:avLst/>
          </a:prstGeom>
          <a:noFill/>
          <a:ln w="0">
            <a:noFill/>
            <a:prstDash val="solid"/>
          </a:ln>
        </p:spPr>
        <p:txBody>
          <a:bodyPr/>
          <a:lstStyle/>
          <a:p>
            <a:pPr>
              <a:buNone/>
              <a:defRPr sz="1350" b="1">
                <a:solidFill>
                  <a:srgbClr val="222222"/>
                </a:solidFill>
              </a:defRPr>
            </a:pPr>
            <a:r>
              <a:rPr sz="1600" b="1">
                <a:solidFill>
                  <a:srgbClr val="222222"/>
                </a:solidFill>
              </a:rPr>
              <a:t>Workshop example</a:t>
            </a:r>
          </a:p>
        </p:txBody>
      </p:sp>
      <p:sp>
        <p:nvSpPr>
          <p:cNvPr id="17" name="Rectangle 16">
            <a:extLst>
              <a:ext uri="{FF2B5EF4-FFF2-40B4-BE49-F238E27FC236}">
                <a16:creationId xmlns:a16="http://schemas.microsoft.com/office/drawing/2014/main" id="{1C98A36E-3899-4DB4-8E9B-515757B948E7}"/>
              </a:ext>
            </a:extLst>
          </p:cNvPr>
          <p:cNvSpPr>
            <a:spLocks noGrp="1"/>
          </p:cNvSpPr>
          <p:nvPr/>
        </p:nvSpPr>
        <p:spPr>
          <a:xfrm>
            <a:off x="838200" y="3029592"/>
            <a:ext cx="10763250" cy="571500"/>
          </a:xfrm>
          <a:prstGeom prst="rect">
            <a:avLst/>
          </a:prstGeom>
          <a:solidFill>
            <a:srgbClr val="F7F7F7"/>
          </a:solidFill>
          <a:ln w="9525">
            <a:solidFill>
              <a:srgbClr val="E3E3E3"/>
            </a:solidFill>
            <a:prstDash val="solid"/>
          </a:ln>
        </p:spPr>
        <p:txBody>
          <a:bodyPr/>
          <a:lstStyle/>
          <a:p>
            <a:endParaRPr/>
          </a:p>
        </p:txBody>
      </p:sp>
      <p:sp>
        <p:nvSpPr>
          <p:cNvPr id="18" name="Rectangle 17">
            <a:extLst>
              <a:ext uri="{FF2B5EF4-FFF2-40B4-BE49-F238E27FC236}">
                <a16:creationId xmlns:a16="http://schemas.microsoft.com/office/drawing/2014/main" id="{EC648C31-3782-4C92-B224-B6FC692844B0}"/>
              </a:ext>
            </a:extLst>
          </p:cNvPr>
          <p:cNvSpPr>
            <a:spLocks noGrp="1"/>
          </p:cNvSpPr>
          <p:nvPr/>
        </p:nvSpPr>
        <p:spPr>
          <a:xfrm>
            <a:off x="1028700" y="3143892"/>
            <a:ext cx="3143250" cy="342900"/>
          </a:xfrm>
          <a:prstGeom prst="rect">
            <a:avLst/>
          </a:prstGeom>
          <a:noFill/>
          <a:ln w="0">
            <a:noFill/>
            <a:prstDash val="solid"/>
          </a:ln>
        </p:spPr>
        <p:txBody>
          <a:bodyPr/>
          <a:lstStyle/>
          <a:p>
            <a:pPr>
              <a:buNone/>
              <a:defRPr sz="1500" b="1">
                <a:solidFill>
                  <a:srgbClr val="D97706"/>
                </a:solidFill>
              </a:defRPr>
            </a:pPr>
            <a:r>
              <a:rPr b="1">
                <a:solidFill>
                  <a:srgbClr val="D97706"/>
                </a:solidFill>
              </a:rPr>
              <a:t>fixed vector -&gt; label</a:t>
            </a:r>
          </a:p>
        </p:txBody>
      </p:sp>
      <p:sp>
        <p:nvSpPr>
          <p:cNvPr id="19" name="Rectangle 18">
            <a:extLst>
              <a:ext uri="{FF2B5EF4-FFF2-40B4-BE49-F238E27FC236}">
                <a16:creationId xmlns:a16="http://schemas.microsoft.com/office/drawing/2014/main" id="{5A3F76BF-C9E6-4228-BBE6-39A313929281}"/>
              </a:ext>
            </a:extLst>
          </p:cNvPr>
          <p:cNvSpPr>
            <a:spLocks noGrp="1"/>
          </p:cNvSpPr>
          <p:nvPr/>
        </p:nvSpPr>
        <p:spPr>
          <a:xfrm>
            <a:off x="4362450" y="3143892"/>
            <a:ext cx="2905125" cy="342900"/>
          </a:xfrm>
          <a:prstGeom prst="rect">
            <a:avLst/>
          </a:prstGeom>
          <a:noFill/>
          <a:ln w="0">
            <a:noFill/>
            <a:prstDash val="solid"/>
          </a:ln>
        </p:spPr>
        <p:txBody>
          <a:bodyPr/>
          <a:lstStyle/>
          <a:p>
            <a:pPr>
              <a:buNone/>
              <a:defRPr sz="1350" b="0">
                <a:solidFill>
                  <a:srgbClr val="333333"/>
                </a:solidFill>
              </a:defRPr>
            </a:pPr>
            <a:r>
              <a:rPr sz="1600" b="0">
                <a:solidFill>
                  <a:srgbClr val="333333"/>
                </a:solidFill>
              </a:rPr>
              <a:t>classification / regression</a:t>
            </a:r>
          </a:p>
        </p:txBody>
      </p:sp>
      <p:sp>
        <p:nvSpPr>
          <p:cNvPr id="20" name="Rectangle 19">
            <a:extLst>
              <a:ext uri="{FF2B5EF4-FFF2-40B4-BE49-F238E27FC236}">
                <a16:creationId xmlns:a16="http://schemas.microsoft.com/office/drawing/2014/main" id="{FBBECF61-494D-44A3-9B1E-12F833FF56DE}"/>
              </a:ext>
            </a:extLst>
          </p:cNvPr>
          <p:cNvSpPr>
            <a:spLocks noGrp="1"/>
          </p:cNvSpPr>
          <p:nvPr/>
        </p:nvSpPr>
        <p:spPr>
          <a:xfrm>
            <a:off x="7889817" y="3134367"/>
            <a:ext cx="3587808" cy="342900"/>
          </a:xfrm>
          <a:prstGeom prst="rect">
            <a:avLst/>
          </a:prstGeom>
          <a:noFill/>
          <a:ln w="0">
            <a:noFill/>
            <a:prstDash val="solid"/>
          </a:ln>
        </p:spPr>
        <p:txBody>
          <a:bodyPr/>
          <a:lstStyle/>
          <a:p>
            <a:pPr>
              <a:buNone/>
              <a:defRPr sz="1350" b="0">
                <a:solidFill>
                  <a:srgbClr val="333333"/>
                </a:solidFill>
              </a:defRPr>
            </a:pPr>
            <a:r>
              <a:rPr sz="1600" b="0">
                <a:solidFill>
                  <a:srgbClr val="333333"/>
                </a:solidFill>
              </a:rPr>
              <a:t>two-moons MLP, property prediction</a:t>
            </a:r>
          </a:p>
        </p:txBody>
      </p:sp>
      <p:sp>
        <p:nvSpPr>
          <p:cNvPr id="21" name="Rectangle 20">
            <a:extLst>
              <a:ext uri="{FF2B5EF4-FFF2-40B4-BE49-F238E27FC236}">
                <a16:creationId xmlns:a16="http://schemas.microsoft.com/office/drawing/2014/main" id="{3D8C48CA-84BF-44ED-A4CF-53E746C1236C}"/>
              </a:ext>
            </a:extLst>
          </p:cNvPr>
          <p:cNvSpPr>
            <a:spLocks noGrp="1"/>
          </p:cNvSpPr>
          <p:nvPr/>
        </p:nvSpPr>
        <p:spPr>
          <a:xfrm>
            <a:off x="838200" y="3734442"/>
            <a:ext cx="10763250" cy="571500"/>
          </a:xfrm>
          <a:prstGeom prst="rect">
            <a:avLst/>
          </a:prstGeom>
          <a:solidFill>
            <a:srgbClr val="FFFFFF"/>
          </a:solidFill>
          <a:ln w="9525">
            <a:solidFill>
              <a:srgbClr val="E3E3E3"/>
            </a:solidFill>
            <a:prstDash val="solid"/>
          </a:ln>
        </p:spPr>
        <p:txBody>
          <a:bodyPr/>
          <a:lstStyle/>
          <a:p>
            <a:endParaRPr/>
          </a:p>
        </p:txBody>
      </p:sp>
      <p:sp>
        <p:nvSpPr>
          <p:cNvPr id="22" name="Rectangle 21">
            <a:extLst>
              <a:ext uri="{FF2B5EF4-FFF2-40B4-BE49-F238E27FC236}">
                <a16:creationId xmlns:a16="http://schemas.microsoft.com/office/drawing/2014/main" id="{244E6FA6-7195-4E38-A631-3DB6D454D736}"/>
              </a:ext>
            </a:extLst>
          </p:cNvPr>
          <p:cNvSpPr>
            <a:spLocks noGrp="1"/>
          </p:cNvSpPr>
          <p:nvPr/>
        </p:nvSpPr>
        <p:spPr>
          <a:xfrm>
            <a:off x="1028700" y="3848742"/>
            <a:ext cx="3143250" cy="342900"/>
          </a:xfrm>
          <a:prstGeom prst="rect">
            <a:avLst/>
          </a:prstGeom>
          <a:noFill/>
          <a:ln w="0">
            <a:noFill/>
            <a:prstDash val="solid"/>
          </a:ln>
        </p:spPr>
        <p:txBody>
          <a:bodyPr/>
          <a:lstStyle/>
          <a:p>
            <a:pPr>
              <a:buNone/>
              <a:defRPr sz="1500" b="1">
                <a:solidFill>
                  <a:srgbClr val="D97706"/>
                </a:solidFill>
              </a:defRPr>
            </a:pPr>
            <a:r>
              <a:rPr b="1">
                <a:solidFill>
                  <a:srgbClr val="D97706"/>
                </a:solidFill>
              </a:rPr>
              <a:t>sequence -&gt; label</a:t>
            </a:r>
          </a:p>
        </p:txBody>
      </p:sp>
      <p:sp>
        <p:nvSpPr>
          <p:cNvPr id="23" name="Rectangle 22">
            <a:extLst>
              <a:ext uri="{FF2B5EF4-FFF2-40B4-BE49-F238E27FC236}">
                <a16:creationId xmlns:a16="http://schemas.microsoft.com/office/drawing/2014/main" id="{7C2EA780-42FB-40CC-BF1C-4F24D763CF35}"/>
              </a:ext>
            </a:extLst>
          </p:cNvPr>
          <p:cNvSpPr>
            <a:spLocks noGrp="1"/>
          </p:cNvSpPr>
          <p:nvPr/>
        </p:nvSpPr>
        <p:spPr>
          <a:xfrm>
            <a:off x="4362450" y="3858267"/>
            <a:ext cx="3324227" cy="342900"/>
          </a:xfrm>
          <a:prstGeom prst="rect">
            <a:avLst/>
          </a:prstGeom>
          <a:noFill/>
          <a:ln w="0">
            <a:noFill/>
            <a:prstDash val="solid"/>
          </a:ln>
        </p:spPr>
        <p:txBody>
          <a:bodyPr/>
          <a:lstStyle/>
          <a:p>
            <a:pPr>
              <a:buNone/>
              <a:defRPr sz="1350" b="0">
                <a:solidFill>
                  <a:srgbClr val="333333"/>
                </a:solidFill>
              </a:defRPr>
            </a:pPr>
            <a:r>
              <a:rPr sz="1600" b="0">
                <a:solidFill>
                  <a:srgbClr val="333333"/>
                </a:solidFill>
              </a:rPr>
              <a:t>classification from ordered tokens</a:t>
            </a:r>
          </a:p>
        </p:txBody>
      </p:sp>
      <p:sp>
        <p:nvSpPr>
          <p:cNvPr id="24" name="Rectangle 23">
            <a:extLst>
              <a:ext uri="{FF2B5EF4-FFF2-40B4-BE49-F238E27FC236}">
                <a16:creationId xmlns:a16="http://schemas.microsoft.com/office/drawing/2014/main" id="{4AA53AD5-6300-4E0F-8648-1FEAB416C305}"/>
              </a:ext>
            </a:extLst>
          </p:cNvPr>
          <p:cNvSpPr>
            <a:spLocks noGrp="1"/>
          </p:cNvSpPr>
          <p:nvPr/>
        </p:nvSpPr>
        <p:spPr>
          <a:xfrm>
            <a:off x="7889817" y="3848742"/>
            <a:ext cx="3143250" cy="342900"/>
          </a:xfrm>
          <a:prstGeom prst="rect">
            <a:avLst/>
          </a:prstGeom>
          <a:noFill/>
          <a:ln w="0">
            <a:noFill/>
            <a:prstDash val="solid"/>
          </a:ln>
        </p:spPr>
        <p:txBody>
          <a:bodyPr/>
          <a:lstStyle/>
          <a:p>
            <a:pPr>
              <a:buNone/>
              <a:defRPr sz="1350" b="0">
                <a:solidFill>
                  <a:srgbClr val="333333"/>
                </a:solidFill>
              </a:defRPr>
            </a:pPr>
            <a:r>
              <a:rPr sz="1600" b="0">
                <a:solidFill>
                  <a:srgbClr val="333333"/>
                </a:solidFill>
              </a:rPr>
              <a:t>materials class or validity label</a:t>
            </a:r>
          </a:p>
        </p:txBody>
      </p:sp>
      <p:sp>
        <p:nvSpPr>
          <p:cNvPr id="25" name="Rectangle 24">
            <a:extLst>
              <a:ext uri="{FF2B5EF4-FFF2-40B4-BE49-F238E27FC236}">
                <a16:creationId xmlns:a16="http://schemas.microsoft.com/office/drawing/2014/main" id="{3640D704-5620-4B6F-B50C-19E0E57909B6}"/>
              </a:ext>
            </a:extLst>
          </p:cNvPr>
          <p:cNvSpPr>
            <a:spLocks noGrp="1"/>
          </p:cNvSpPr>
          <p:nvPr/>
        </p:nvSpPr>
        <p:spPr>
          <a:xfrm>
            <a:off x="838200" y="4439292"/>
            <a:ext cx="10763250" cy="571500"/>
          </a:xfrm>
          <a:prstGeom prst="rect">
            <a:avLst/>
          </a:prstGeom>
          <a:solidFill>
            <a:srgbClr val="F7F7F7"/>
          </a:solidFill>
          <a:ln w="9525">
            <a:solidFill>
              <a:srgbClr val="E3E3E3"/>
            </a:solidFill>
            <a:prstDash val="solid"/>
          </a:ln>
        </p:spPr>
        <p:txBody>
          <a:bodyPr/>
          <a:lstStyle/>
          <a:p>
            <a:endParaRPr/>
          </a:p>
        </p:txBody>
      </p:sp>
      <p:sp>
        <p:nvSpPr>
          <p:cNvPr id="26" name="Rectangle 25">
            <a:extLst>
              <a:ext uri="{FF2B5EF4-FFF2-40B4-BE49-F238E27FC236}">
                <a16:creationId xmlns:a16="http://schemas.microsoft.com/office/drawing/2014/main" id="{1225E14B-616A-40DB-9E78-657F915B5678}"/>
              </a:ext>
            </a:extLst>
          </p:cNvPr>
          <p:cNvSpPr>
            <a:spLocks noGrp="1"/>
          </p:cNvSpPr>
          <p:nvPr/>
        </p:nvSpPr>
        <p:spPr>
          <a:xfrm>
            <a:off x="1028700" y="4553592"/>
            <a:ext cx="3143250" cy="342900"/>
          </a:xfrm>
          <a:prstGeom prst="rect">
            <a:avLst/>
          </a:prstGeom>
          <a:noFill/>
          <a:ln w="0">
            <a:noFill/>
            <a:prstDash val="solid"/>
          </a:ln>
        </p:spPr>
        <p:txBody>
          <a:bodyPr/>
          <a:lstStyle/>
          <a:p>
            <a:pPr>
              <a:buNone/>
              <a:defRPr sz="1500" b="1">
                <a:solidFill>
                  <a:srgbClr val="D97706"/>
                </a:solidFill>
              </a:defRPr>
            </a:pPr>
            <a:r>
              <a:rPr b="1">
                <a:solidFill>
                  <a:srgbClr val="D97706"/>
                </a:solidFill>
              </a:rPr>
              <a:t>sequence -&gt; sequence</a:t>
            </a:r>
          </a:p>
        </p:txBody>
      </p:sp>
      <p:sp>
        <p:nvSpPr>
          <p:cNvPr id="27" name="Rectangle 26">
            <a:extLst>
              <a:ext uri="{FF2B5EF4-FFF2-40B4-BE49-F238E27FC236}">
                <a16:creationId xmlns:a16="http://schemas.microsoft.com/office/drawing/2014/main" id="{9B4673CA-7281-4165-A7CD-F41AB462329D}"/>
              </a:ext>
            </a:extLst>
          </p:cNvPr>
          <p:cNvSpPr>
            <a:spLocks noGrp="1"/>
          </p:cNvSpPr>
          <p:nvPr/>
        </p:nvSpPr>
        <p:spPr>
          <a:xfrm>
            <a:off x="4351280" y="4572642"/>
            <a:ext cx="3594215" cy="342900"/>
          </a:xfrm>
          <a:prstGeom prst="rect">
            <a:avLst/>
          </a:prstGeom>
          <a:noFill/>
          <a:ln w="0">
            <a:noFill/>
            <a:prstDash val="solid"/>
          </a:ln>
        </p:spPr>
        <p:txBody>
          <a:bodyPr/>
          <a:lstStyle/>
          <a:p>
            <a:pPr>
              <a:buNone/>
              <a:defRPr sz="1350" b="0">
                <a:solidFill>
                  <a:srgbClr val="333333"/>
                </a:solidFill>
              </a:defRPr>
            </a:pPr>
            <a:r>
              <a:rPr sz="1600" b="0">
                <a:solidFill>
                  <a:srgbClr val="333333"/>
                </a:solidFill>
              </a:rPr>
              <a:t>translate or transform sequences</a:t>
            </a:r>
          </a:p>
        </p:txBody>
      </p:sp>
      <p:sp>
        <p:nvSpPr>
          <p:cNvPr id="28" name="Rectangle 27">
            <a:extLst>
              <a:ext uri="{FF2B5EF4-FFF2-40B4-BE49-F238E27FC236}">
                <a16:creationId xmlns:a16="http://schemas.microsoft.com/office/drawing/2014/main" id="{7A64ABEF-C4FC-43C9-8F18-73087F5ECABC}"/>
              </a:ext>
            </a:extLst>
          </p:cNvPr>
          <p:cNvSpPr>
            <a:spLocks noGrp="1"/>
          </p:cNvSpPr>
          <p:nvPr/>
        </p:nvSpPr>
        <p:spPr>
          <a:xfrm>
            <a:off x="7889817" y="4553592"/>
            <a:ext cx="3143250" cy="342900"/>
          </a:xfrm>
          <a:prstGeom prst="rect">
            <a:avLst/>
          </a:prstGeom>
          <a:noFill/>
          <a:ln w="0">
            <a:noFill/>
            <a:prstDash val="solid"/>
          </a:ln>
        </p:spPr>
        <p:txBody>
          <a:bodyPr/>
          <a:lstStyle/>
          <a:p>
            <a:pPr>
              <a:buNone/>
              <a:defRPr sz="1350" b="0">
                <a:solidFill>
                  <a:srgbClr val="333333"/>
                </a:solidFill>
              </a:defRPr>
            </a:pPr>
            <a:r>
              <a:rPr sz="1600" b="0">
                <a:solidFill>
                  <a:srgbClr val="333333"/>
                </a:solidFill>
              </a:rPr>
              <a:t>translation, structured output</a:t>
            </a:r>
          </a:p>
        </p:txBody>
      </p:sp>
      <p:sp>
        <p:nvSpPr>
          <p:cNvPr id="29" name="Rectangle 28">
            <a:extLst>
              <a:ext uri="{FF2B5EF4-FFF2-40B4-BE49-F238E27FC236}">
                <a16:creationId xmlns:a16="http://schemas.microsoft.com/office/drawing/2014/main" id="{7CFCB7CC-7B5A-47CB-A8C4-27C199F04F45}"/>
              </a:ext>
            </a:extLst>
          </p:cNvPr>
          <p:cNvSpPr>
            <a:spLocks noGrp="1"/>
          </p:cNvSpPr>
          <p:nvPr/>
        </p:nvSpPr>
        <p:spPr>
          <a:xfrm>
            <a:off x="838200" y="5144142"/>
            <a:ext cx="10763250" cy="571500"/>
          </a:xfrm>
          <a:prstGeom prst="rect">
            <a:avLst/>
          </a:prstGeom>
          <a:solidFill>
            <a:srgbClr val="FFFFFF"/>
          </a:solidFill>
          <a:ln w="9525">
            <a:solidFill>
              <a:srgbClr val="E3E3E3"/>
            </a:solidFill>
            <a:prstDash val="solid"/>
          </a:ln>
        </p:spPr>
        <p:txBody>
          <a:bodyPr/>
          <a:lstStyle/>
          <a:p>
            <a:endParaRPr/>
          </a:p>
        </p:txBody>
      </p:sp>
      <p:sp>
        <p:nvSpPr>
          <p:cNvPr id="30" name="Rectangle 29">
            <a:extLst>
              <a:ext uri="{FF2B5EF4-FFF2-40B4-BE49-F238E27FC236}">
                <a16:creationId xmlns:a16="http://schemas.microsoft.com/office/drawing/2014/main" id="{8587B943-FC29-46D5-8FF3-9B288F3EB34E}"/>
              </a:ext>
            </a:extLst>
          </p:cNvPr>
          <p:cNvSpPr>
            <a:spLocks noGrp="1"/>
          </p:cNvSpPr>
          <p:nvPr/>
        </p:nvSpPr>
        <p:spPr>
          <a:xfrm>
            <a:off x="1028700" y="5258442"/>
            <a:ext cx="3143250" cy="342900"/>
          </a:xfrm>
          <a:prstGeom prst="rect">
            <a:avLst/>
          </a:prstGeom>
          <a:noFill/>
          <a:ln w="0">
            <a:noFill/>
            <a:prstDash val="solid"/>
          </a:ln>
        </p:spPr>
        <p:txBody>
          <a:bodyPr/>
          <a:lstStyle/>
          <a:p>
            <a:pPr>
              <a:buNone/>
              <a:defRPr sz="1500" b="1">
                <a:solidFill>
                  <a:srgbClr val="D97706"/>
                </a:solidFill>
              </a:defRPr>
            </a:pPr>
            <a:r>
              <a:rPr b="1">
                <a:solidFill>
                  <a:srgbClr val="D97706"/>
                </a:solidFill>
              </a:rPr>
              <a:t>previous tokens -&gt; next token</a:t>
            </a:r>
          </a:p>
        </p:txBody>
      </p:sp>
      <p:sp>
        <p:nvSpPr>
          <p:cNvPr id="31" name="Rectangle 30">
            <a:extLst>
              <a:ext uri="{FF2B5EF4-FFF2-40B4-BE49-F238E27FC236}">
                <a16:creationId xmlns:a16="http://schemas.microsoft.com/office/drawing/2014/main" id="{B41A97E7-BECD-4515-B63B-4CE9EA039AC1}"/>
              </a:ext>
            </a:extLst>
          </p:cNvPr>
          <p:cNvSpPr>
            <a:spLocks noGrp="1"/>
          </p:cNvSpPr>
          <p:nvPr/>
        </p:nvSpPr>
        <p:spPr>
          <a:xfrm>
            <a:off x="4362450" y="5258442"/>
            <a:ext cx="2905125" cy="342900"/>
          </a:xfrm>
          <a:prstGeom prst="rect">
            <a:avLst/>
          </a:prstGeom>
          <a:noFill/>
          <a:ln w="0">
            <a:noFill/>
            <a:prstDash val="solid"/>
          </a:ln>
        </p:spPr>
        <p:txBody>
          <a:bodyPr/>
          <a:lstStyle/>
          <a:p>
            <a:pPr>
              <a:buNone/>
              <a:defRPr sz="1350" b="0">
                <a:solidFill>
                  <a:srgbClr val="333333"/>
                </a:solidFill>
              </a:defRPr>
            </a:pPr>
            <a:r>
              <a:rPr sz="1600" b="0">
                <a:solidFill>
                  <a:srgbClr val="333333"/>
                </a:solidFill>
              </a:rPr>
              <a:t>autoregressive generation</a:t>
            </a:r>
          </a:p>
        </p:txBody>
      </p:sp>
      <p:sp>
        <p:nvSpPr>
          <p:cNvPr id="32" name="Rectangle 31">
            <a:extLst>
              <a:ext uri="{FF2B5EF4-FFF2-40B4-BE49-F238E27FC236}">
                <a16:creationId xmlns:a16="http://schemas.microsoft.com/office/drawing/2014/main" id="{5135054F-9805-48E4-8527-706BB7911FC2}"/>
              </a:ext>
            </a:extLst>
          </p:cNvPr>
          <p:cNvSpPr>
            <a:spLocks noGrp="1"/>
          </p:cNvSpPr>
          <p:nvPr/>
        </p:nvSpPr>
        <p:spPr>
          <a:xfrm>
            <a:off x="7889817" y="5258442"/>
            <a:ext cx="3143250" cy="342900"/>
          </a:xfrm>
          <a:prstGeom prst="rect">
            <a:avLst/>
          </a:prstGeom>
          <a:noFill/>
          <a:ln w="0">
            <a:noFill/>
            <a:prstDash val="solid"/>
          </a:ln>
        </p:spPr>
        <p:txBody>
          <a:bodyPr/>
          <a:lstStyle/>
          <a:p>
            <a:pPr>
              <a:buNone/>
              <a:defRPr sz="1350" b="0">
                <a:solidFill>
                  <a:srgbClr val="333333"/>
                </a:solidFill>
              </a:defRPr>
            </a:pPr>
            <a:r>
              <a:rPr sz="1600" b="0">
                <a:solidFill>
                  <a:srgbClr val="333333"/>
                </a:solidFill>
              </a:rPr>
              <a:t>LLMs and CIF generation</a:t>
            </a:r>
          </a:p>
        </p:txBody>
      </p:sp>
      <p:sp>
        <p:nvSpPr>
          <p:cNvPr id="2" name="Date Placeholder 1">
            <a:extLst>
              <a:ext uri="{FF2B5EF4-FFF2-40B4-BE49-F238E27FC236}">
                <a16:creationId xmlns:a16="http://schemas.microsoft.com/office/drawing/2014/main" id="{F0E96F2A-244C-AABF-FC3E-B26BD84B4109}"/>
              </a:ext>
            </a:extLst>
          </p:cNvPr>
          <p:cNvSpPr>
            <a:spLocks noGrp="1"/>
          </p:cNvSpPr>
          <p:nvPr>
            <p:ph type="dt" idx="10"/>
          </p:nvPr>
        </p:nvSpPr>
        <p:spPr/>
        <p:txBody>
          <a:bodyPr/>
          <a:lstStyle/>
          <a:p>
            <a:pPr>
              <a:buNone/>
            </a:pPr>
            <a:fld id="{6411DBE6-18B3-4EA1-8E42-5FDED875F857}" type="datetime1">
              <a:rPr lang="en-US"/>
              <a:t>7/29/2026</a:t>
            </a:fld>
            <a:endParaRPr/>
          </a:p>
        </p:txBody>
      </p:sp>
      <p:sp>
        <p:nvSpPr>
          <p:cNvPr id="3" name="Footer Placeholder 2">
            <a:extLst>
              <a:ext uri="{FF2B5EF4-FFF2-40B4-BE49-F238E27FC236}">
                <a16:creationId xmlns:a16="http://schemas.microsoft.com/office/drawing/2014/main" id="{2016DC78-022D-3CFB-46AC-ED67EAF8549B}"/>
              </a:ext>
            </a:extLst>
          </p:cNvPr>
          <p:cNvSpPr>
            <a:spLocks noGrp="1"/>
          </p:cNvSpPr>
          <p:nvPr>
            <p:ph type="ftr" idx="11"/>
          </p:nvPr>
        </p:nvSpPr>
        <p:spPr/>
        <p:txBody>
          <a:bodyPr/>
          <a:lstStyle/>
          <a:p>
            <a:pPr>
              <a:buNone/>
            </a:pPr>
            <a:r>
              <a:t>Introduction to Deep Learning - PSDI &amp; Royce Materials Data Summit</a:t>
            </a:r>
          </a:p>
        </p:txBody>
      </p:sp>
      <p:sp>
        <p:nvSpPr>
          <p:cNvPr id="4" name="Slide Number Placeholder 3">
            <a:extLst>
              <a:ext uri="{FF2B5EF4-FFF2-40B4-BE49-F238E27FC236}">
                <a16:creationId xmlns:a16="http://schemas.microsoft.com/office/drawing/2014/main" id="{7BF1C677-26D7-1EB9-C215-A7B0B6ED7DC1}"/>
              </a:ext>
            </a:extLst>
          </p:cNvPr>
          <p:cNvSpPr>
            <a:spLocks noGrp="1"/>
          </p:cNvSpPr>
          <p:nvPr>
            <p:ph type="sldNum" idx="12"/>
          </p:nvPr>
        </p:nvSpPr>
        <p:spPr/>
        <p:txBody>
          <a:bodyPr/>
          <a:lstStyle/>
          <a:p>
            <a:pPr>
              <a:buNone/>
            </a:pPr>
            <a:fld id="{B5CEABB6-07DC-46E8-9B57-56EC44A396E5}" type="slidenum">
              <a:rPr/>
              <a:t>18</a:t>
            </a:fld>
            <a:endParaRPr/>
          </a:p>
        </p:txBody>
      </p:sp>
    </p:spTree>
    <p:extLst>
      <p:ext uri="{BB962C8B-B14F-4D97-AF65-F5344CB8AC3E}">
        <p14:creationId xmlns:p14="http://schemas.microsoft.com/office/powerpoint/2010/main" val="21211780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6F7BB-30A8-4980-AD4A-2FB0B53FA6C9}"/>
              </a:ext>
            </a:extLst>
          </p:cNvPr>
          <p:cNvSpPr>
            <a:spLocks noGrp="1"/>
          </p:cNvSpPr>
          <p:nvPr>
            <p:ph type="title"/>
          </p:nvPr>
        </p:nvSpPr>
        <p:spPr>
          <a:xfrm>
            <a:off x="1854334" y="501759"/>
            <a:ext cx="8421688" cy="1325563"/>
          </a:xfrm>
        </p:spPr>
        <p:txBody>
          <a:bodyPr/>
          <a:lstStyle/>
          <a:p>
            <a:pPr>
              <a:buNone/>
              <a:defRPr sz="2250" b="0">
                <a:solidFill>
                  <a:srgbClr val="111111"/>
                </a:solidFill>
              </a:defRPr>
            </a:pPr>
            <a:r>
              <a:rPr sz="2250" b="0">
                <a:solidFill>
                  <a:srgbClr val="111111"/>
                </a:solidFill>
              </a:rPr>
              <a:t>RNNs carry context in a hidden state</a:t>
            </a:r>
          </a:p>
        </p:txBody>
      </p:sp>
      <p:pic>
        <p:nvPicPr>
          <p:cNvPr id="9" name="Picture 39"/>
          <p:cNvPicPr>
            <a:picLocks noChangeAspect="1"/>
          </p:cNvPicPr>
          <p:nvPr/>
        </p:nvPicPr>
        <p:blipFill>
          <a:blip r:embed="rId3"/>
          <a:stretch>
            <a:fillRect/>
          </a:stretch>
        </p:blipFill>
        <p:spPr>
          <a:xfrm>
            <a:off x="3143781" y="1827322"/>
            <a:ext cx="5721667" cy="2875786"/>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54CA350-2B4C-0EFA-F96A-AED8FF58AD1A}"/>
                  </a:ext>
                </a:extLst>
              </p:cNvPr>
              <p:cNvSpPr>
                <a:spLocks noGrp="1"/>
              </p:cNvSpPr>
              <p:nvPr/>
            </p:nvSpPr>
            <p:spPr>
              <a:xfrm>
                <a:off x="4301393" y="5085117"/>
                <a:ext cx="3406445" cy="369332"/>
              </a:xfrm>
              <a:prstGeom prst="rect">
                <a:avLst/>
              </a:prstGeom>
              <a:noFill/>
            </p:spPr>
            <p:txBody>
              <a:bodyPr wrap="none" lIns="0" tIns="0" rIns="0" bIns="0">
                <a:spAutoFit/>
              </a:bodyPr>
              <a:lstStyle/>
              <a:p>
                <a:pPr>
                  <a:buNone/>
                </a:pPr>
                <a14:m>
                  <m:oMathPara xmlns:m="http://schemas.openxmlformats.org/officeDocument/2006/math">
                    <m:oMathParaPr>
                      <m:jc m:val="centerGroup"/>
                    </m:oMathParaPr>
                    <m:oMath xmlns:m="http://schemas.openxmlformats.org/officeDocument/2006/math">
                      <m:sSub>
                        <m:sSubPr>
                          <m:ctrlPr>
                            <a:rPr lang="en-GB" sz="2400" b="0" i="1">
                              <a:latin typeface="Cambria Math" panose="02040503050406030204" pitchFamily="18" charset="0"/>
                              <a:ea typeface="Cambria Math"/>
                              <a:cs typeface="Cambria Math"/>
                            </a:rPr>
                          </m:ctrlPr>
                        </m:sSubPr>
                        <m:e>
                          <m:r>
                            <a:rPr lang="en-GB" sz="2400" b="0" i="1">
                              <a:latin typeface="Cambria Math"/>
                              <a:ea typeface="Cambria Math"/>
                              <a:cs typeface="Cambria Math"/>
                            </a:rPr>
                            <m:t>h</m:t>
                          </m:r>
                        </m:e>
                        <m:sub>
                          <m:r>
                            <a:rPr lang="en-GB" sz="2400" b="0" i="1">
                              <a:latin typeface="Cambria Math"/>
                              <a:ea typeface="Cambria Math"/>
                              <a:cs typeface="Cambria Math"/>
                            </a:rPr>
                            <m:t>𝑡</m:t>
                          </m:r>
                        </m:sub>
                      </m:sSub>
                      <m:r>
                        <a:rPr lang="en-GB" sz="2400" b="0" i="1">
                          <a:latin typeface="Cambria Math"/>
                          <a:ea typeface="Cambria Math"/>
                          <a:cs typeface="Cambria Math"/>
                        </a:rPr>
                        <m:t>=</m:t>
                      </m:r>
                      <m:sSub>
                        <m:sSubPr>
                          <m:ctrlPr>
                            <a:rPr lang="en-GB" sz="2400" b="0" i="1">
                              <a:latin typeface="Cambria Math" panose="02040503050406030204" pitchFamily="18" charset="0"/>
                              <a:ea typeface="Cambria Math"/>
                              <a:cs typeface="Cambria Math"/>
                            </a:rPr>
                          </m:ctrlPr>
                        </m:sSubPr>
                        <m:e>
                          <m:r>
                            <a:rPr lang="en-GB" sz="2400" b="0" i="1">
                              <a:latin typeface="Cambria Math"/>
                              <a:ea typeface="Cambria Math"/>
                              <a:cs typeface="Cambria Math"/>
                            </a:rPr>
                            <m:t>𝑓</m:t>
                          </m:r>
                        </m:e>
                        <m:sub>
                          <m:r>
                            <a:rPr lang="en-GB" sz="2400" b="0" i="1">
                              <a:latin typeface="Cambria Math"/>
                              <a:ea typeface="Cambria Math"/>
                              <a:cs typeface="Cambria Math"/>
                            </a:rPr>
                            <m:t>𝑤</m:t>
                          </m:r>
                        </m:sub>
                      </m:sSub>
                      <m:r>
                        <a:rPr lang="en-GB" sz="2400" b="0" i="1">
                          <a:latin typeface="Cambria Math"/>
                          <a:ea typeface="Cambria Math"/>
                          <a:cs typeface="Cambria Math"/>
                        </a:rPr>
                        <m:t>(</m:t>
                      </m:r>
                      <m:sSub>
                        <m:sSubPr>
                          <m:ctrlPr>
                            <a:rPr lang="en-GB" sz="2400" b="0" i="1">
                              <a:latin typeface="Cambria Math" panose="02040503050406030204" pitchFamily="18" charset="0"/>
                              <a:ea typeface="Cambria Math"/>
                              <a:cs typeface="Cambria Math"/>
                            </a:rPr>
                          </m:ctrlPr>
                        </m:sSubPr>
                        <m:e>
                          <m:r>
                            <a:rPr lang="en-GB" sz="2400" b="0" i="1">
                              <a:latin typeface="Cambria Math"/>
                              <a:ea typeface="Cambria Math"/>
                              <a:cs typeface="Cambria Math"/>
                            </a:rPr>
                            <m:t>𝑊</m:t>
                          </m:r>
                        </m:e>
                        <m:sub>
                          <m:r>
                            <a:rPr lang="en-GB" sz="2400" b="0" i="1">
                              <a:latin typeface="Cambria Math"/>
                              <a:ea typeface="Cambria Math"/>
                              <a:cs typeface="Cambria Math"/>
                            </a:rPr>
                            <m:t>hh</m:t>
                          </m:r>
                        </m:sub>
                      </m:sSub>
                      <m:sSub>
                        <m:sSubPr>
                          <m:ctrlPr>
                            <a:rPr lang="en-GB" sz="2400" b="0" i="1">
                              <a:latin typeface="Cambria Math" panose="02040503050406030204" pitchFamily="18" charset="0"/>
                              <a:ea typeface="Cambria Math"/>
                              <a:cs typeface="Cambria Math"/>
                            </a:rPr>
                          </m:ctrlPr>
                        </m:sSubPr>
                        <m:e>
                          <m:r>
                            <a:rPr lang="en-GB" sz="2400" b="0" i="1">
                              <a:latin typeface="Cambria Math"/>
                              <a:ea typeface="Cambria Math"/>
                              <a:cs typeface="Cambria Math"/>
                            </a:rPr>
                            <m:t>h</m:t>
                          </m:r>
                        </m:e>
                        <m:sub>
                          <m:r>
                            <a:rPr lang="en-GB" sz="2400" b="0" i="1">
                              <a:latin typeface="Cambria Math"/>
                              <a:ea typeface="Cambria Math"/>
                              <a:cs typeface="Cambria Math"/>
                            </a:rPr>
                            <m:t>𝑡</m:t>
                          </m:r>
                          <m:r>
                            <a:rPr lang="en-GB" sz="2400" b="0" i="1">
                              <a:latin typeface="Cambria Math"/>
                              <a:ea typeface="Cambria Math"/>
                              <a:cs typeface="Cambria Math"/>
                            </a:rPr>
                            <m:t>−1</m:t>
                          </m:r>
                        </m:sub>
                      </m:sSub>
                      <m:r>
                        <a:rPr lang="en-GB" sz="2400" b="0" i="1">
                          <a:latin typeface="Cambria Math"/>
                          <a:ea typeface="Cambria Math"/>
                          <a:cs typeface="Cambria Math"/>
                        </a:rPr>
                        <m:t>,</m:t>
                      </m:r>
                      <m:sSub>
                        <m:sSubPr>
                          <m:ctrlPr>
                            <a:rPr lang="en-GB" sz="2400" b="0" i="1">
                              <a:latin typeface="Cambria Math" panose="02040503050406030204" pitchFamily="18" charset="0"/>
                              <a:ea typeface="Cambria Math"/>
                              <a:cs typeface="Cambria Math"/>
                            </a:rPr>
                          </m:ctrlPr>
                        </m:sSubPr>
                        <m:e>
                          <m:r>
                            <a:rPr lang="en-GB" sz="2400" b="0" i="1">
                              <a:latin typeface="Cambria Math"/>
                              <a:ea typeface="Cambria Math"/>
                              <a:cs typeface="Cambria Math"/>
                            </a:rPr>
                            <m:t>𝑊</m:t>
                          </m:r>
                        </m:e>
                        <m:sub>
                          <m:r>
                            <a:rPr lang="en-GB" sz="2400" b="0" i="1">
                              <a:latin typeface="Cambria Math"/>
                              <a:ea typeface="Cambria Math"/>
                              <a:cs typeface="Cambria Math"/>
                            </a:rPr>
                            <m:t>𝑥h</m:t>
                          </m:r>
                        </m:sub>
                      </m:sSub>
                      <m:sSub>
                        <m:sSubPr>
                          <m:ctrlPr>
                            <a:rPr lang="en-GB" sz="2400" b="0" i="1">
                              <a:latin typeface="Cambria Math" panose="02040503050406030204" pitchFamily="18" charset="0"/>
                              <a:ea typeface="Cambria Math"/>
                              <a:cs typeface="Cambria Math"/>
                            </a:rPr>
                          </m:ctrlPr>
                        </m:sSubPr>
                        <m:e>
                          <m:r>
                            <a:rPr lang="en-GB" sz="2400" b="0" i="1">
                              <a:latin typeface="Cambria Math"/>
                              <a:ea typeface="Cambria Math"/>
                              <a:cs typeface="Cambria Math"/>
                            </a:rPr>
                            <m:t>𝑥</m:t>
                          </m:r>
                        </m:e>
                        <m:sub>
                          <m:r>
                            <a:rPr lang="en-GB" sz="2400" b="0" i="1">
                              <a:latin typeface="Cambria Math"/>
                              <a:ea typeface="Cambria Math"/>
                              <a:cs typeface="Cambria Math"/>
                            </a:rPr>
                            <m:t>𝑡</m:t>
                          </m:r>
                        </m:sub>
                      </m:sSub>
                      <m:r>
                        <a:rPr lang="en-GB" sz="2400" b="0" i="1">
                          <a:latin typeface="Cambria Math"/>
                          <a:ea typeface="Cambria Math"/>
                          <a:cs typeface="Cambria Math"/>
                        </a:rPr>
                        <m:t>)</m:t>
                      </m:r>
                    </m:oMath>
                  </m:oMathPara>
                </a14:m>
                <a:endParaRPr/>
              </a:p>
            </p:txBody>
          </p:sp>
        </mc:Choice>
        <mc:Fallback xmlns="">
          <p:sp>
            <p:nvSpPr>
              <p:cNvPr id="6" name="TextBox 5">
                <a:extLst>
                  <a:ext uri="{FF2B5EF4-FFF2-40B4-BE49-F238E27FC236}">
                    <a16:creationId xmlns:a16="http://schemas.microsoft.com/office/drawing/2014/main" id="{454CA350-2B4C-0EFA-F96A-AED8FF58AD1A}"/>
                  </a:ext>
                </a:extLst>
              </p:cNvPr>
              <p:cNvSpPr>
                <a:spLocks noGrp="1" noRot="1" noChangeAspect="1" noMove="1" noResize="1" noEditPoints="1" noAdjustHandles="1" noChangeArrowheads="1" noChangeShapeType="1" noTextEdit="1"/>
              </p:cNvSpPr>
              <p:nvPr/>
            </p:nvSpPr>
            <p:spPr>
              <a:xfrm>
                <a:off x="4301393" y="5085117"/>
                <a:ext cx="3406445" cy="369332"/>
              </a:xfrm>
              <a:prstGeom prst="rect">
                <a:avLst/>
              </a:prstGeom>
              <a:blipFill>
                <a:blip r:embed="rId4"/>
                <a:stretch>
                  <a:fillRect l="-1613" r="-2688" b="-36066"/>
                </a:stretch>
              </a:blipFill>
            </p:spPr>
            <p:txBody>
              <a:bodyPr/>
              <a:lstStyle/>
              <a:p>
                <a:r>
                  <a:rPr lang="en-GB">
                    <a:noFill/>
                  </a:rPr>
                  <a:t> </a:t>
                </a:r>
              </a:p>
            </p:txBody>
          </p:sp>
        </mc:Fallback>
      </mc:AlternateContent>
      <p:sp>
        <p:nvSpPr>
          <p:cNvPr id="3" name="Date Placeholder 2">
            <a:extLst>
              <a:ext uri="{FF2B5EF4-FFF2-40B4-BE49-F238E27FC236}">
                <a16:creationId xmlns:a16="http://schemas.microsoft.com/office/drawing/2014/main" id="{8D937949-9ECA-0534-3599-6273680F8779}"/>
              </a:ext>
            </a:extLst>
          </p:cNvPr>
          <p:cNvSpPr>
            <a:spLocks noGrp="1"/>
          </p:cNvSpPr>
          <p:nvPr>
            <p:ph type="dt" idx="10"/>
          </p:nvPr>
        </p:nvSpPr>
        <p:spPr/>
        <p:txBody>
          <a:bodyPr/>
          <a:lstStyle/>
          <a:p>
            <a:pPr>
              <a:buNone/>
            </a:pPr>
            <a:fld id="{B0F98BE3-F5DE-40E7-9BB9-7BA78539E7F4}" type="datetime1">
              <a:rPr lang="en-US"/>
              <a:t>7/29/2026</a:t>
            </a:fld>
            <a:endParaRPr/>
          </a:p>
        </p:txBody>
      </p:sp>
      <p:sp>
        <p:nvSpPr>
          <p:cNvPr id="4" name="Footer Placeholder 3">
            <a:extLst>
              <a:ext uri="{FF2B5EF4-FFF2-40B4-BE49-F238E27FC236}">
                <a16:creationId xmlns:a16="http://schemas.microsoft.com/office/drawing/2014/main" id="{4893FC9C-7331-A152-D336-DCDE50858D40}"/>
              </a:ext>
            </a:extLst>
          </p:cNvPr>
          <p:cNvSpPr>
            <a:spLocks noGrp="1"/>
          </p:cNvSpPr>
          <p:nvPr>
            <p:ph type="ftr" idx="11"/>
          </p:nvPr>
        </p:nvSpPr>
        <p:spPr/>
        <p:txBody>
          <a:bodyPr/>
          <a:lstStyle/>
          <a:p>
            <a:pPr>
              <a:buNone/>
            </a:pPr>
            <a:r>
              <a:t>Introduction to Deep Learning - PSDI &amp; Royce Materials Data Summit</a:t>
            </a:r>
          </a:p>
        </p:txBody>
      </p:sp>
      <p:sp>
        <p:nvSpPr>
          <p:cNvPr id="5" name="Slide Number Placeholder 4">
            <a:extLst>
              <a:ext uri="{FF2B5EF4-FFF2-40B4-BE49-F238E27FC236}">
                <a16:creationId xmlns:a16="http://schemas.microsoft.com/office/drawing/2014/main" id="{D49414E6-FE26-D780-C38F-D5E52BAD2DF2}"/>
              </a:ext>
            </a:extLst>
          </p:cNvPr>
          <p:cNvSpPr>
            <a:spLocks noGrp="1"/>
          </p:cNvSpPr>
          <p:nvPr>
            <p:ph type="sldNum" idx="12"/>
          </p:nvPr>
        </p:nvSpPr>
        <p:spPr/>
        <p:txBody>
          <a:bodyPr/>
          <a:lstStyle/>
          <a:p>
            <a:pPr>
              <a:buNone/>
            </a:pPr>
            <a:fld id="{B5CEABB6-07DC-46E8-9B57-56EC44A396E5}" type="slidenum">
              <a:rPr/>
              <a:t>19</a:t>
            </a:fld>
            <a:endParaRPr/>
          </a:p>
        </p:txBody>
      </p:sp>
    </p:spTree>
    <p:extLst>
      <p:ext uri="{BB962C8B-B14F-4D97-AF65-F5344CB8AC3E}">
        <p14:creationId xmlns:p14="http://schemas.microsoft.com/office/powerpoint/2010/main" val="34774530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2609E-E6DA-B467-78D3-FE12C848D5CE}"/>
              </a:ext>
            </a:extLst>
          </p:cNvPr>
          <p:cNvSpPr>
            <a:spLocks noGrp="1"/>
          </p:cNvSpPr>
          <p:nvPr>
            <p:ph type="title"/>
          </p:nvPr>
        </p:nvSpPr>
        <p:spPr/>
        <p:txBody>
          <a:bodyPr/>
          <a:lstStyle/>
          <a:p>
            <a:pPr>
              <a:buNone/>
              <a:defRPr sz="2250" b="0">
                <a:solidFill>
                  <a:srgbClr val="111111"/>
                </a:solidFill>
              </a:defRPr>
            </a:pPr>
            <a:r>
              <a:rPr sz="2250" b="0">
                <a:solidFill>
                  <a:srgbClr val="111111"/>
                </a:solidFill>
              </a:rPr>
              <a:t>Long-range context is the pressure point</a:t>
            </a:r>
          </a:p>
        </p:txBody>
      </p:sp>
      <p:sp>
        <p:nvSpPr>
          <p:cNvPr id="3" name="TextBox 2">
            <a:extLst>
              <a:ext uri="{FF2B5EF4-FFF2-40B4-BE49-F238E27FC236}">
                <a16:creationId xmlns:a16="http://schemas.microsoft.com/office/drawing/2014/main" id="{C71822C0-6ABA-DFA0-D040-8CC45575A1C5}"/>
              </a:ext>
            </a:extLst>
          </p:cNvPr>
          <p:cNvSpPr>
            <a:spLocks noGrp="1"/>
          </p:cNvSpPr>
          <p:nvPr/>
        </p:nvSpPr>
        <p:spPr>
          <a:xfrm>
            <a:off x="3124200" y="2514370"/>
            <a:ext cx="6445995" cy="646331"/>
          </a:xfrm>
          <a:prstGeom prst="rect">
            <a:avLst/>
          </a:prstGeom>
          <a:noFill/>
        </p:spPr>
        <p:txBody>
          <a:bodyPr wrap="none">
            <a:spAutoFit/>
          </a:bodyPr>
          <a:lstStyle/>
          <a:p>
            <a:r>
              <a:rPr sz="2400">
                <a:latin typeface="Courier New"/>
                <a:ea typeface="Courier New"/>
                <a:cs typeface="Courier New"/>
              </a:rPr>
              <a:t>The clouds are in the ________. </a:t>
            </a:r>
            <a:r>
              <a:rPr sz="3600">
                <a:solidFill>
                  <a:schemeClr val="accent6">
                    <a:lumMod val="75000"/>
                  </a:schemeClr>
                </a:solidFill>
                <a:latin typeface="Comic Sans MS"/>
                <a:ea typeface="Comic Sans MS"/>
                <a:cs typeface="Comic Sans MS"/>
              </a:rPr>
              <a:t></a:t>
            </a:r>
          </a:p>
        </p:txBody>
      </p:sp>
      <p:sp>
        <p:nvSpPr>
          <p:cNvPr id="7" name="TextBox 6">
            <a:extLst>
              <a:ext uri="{FF2B5EF4-FFF2-40B4-BE49-F238E27FC236}">
                <a16:creationId xmlns:a16="http://schemas.microsoft.com/office/drawing/2014/main" id="{7FFCBD44-5044-94AC-710A-18E519F069EE}"/>
              </a:ext>
            </a:extLst>
          </p:cNvPr>
          <p:cNvSpPr>
            <a:spLocks noGrp="1"/>
          </p:cNvSpPr>
          <p:nvPr/>
        </p:nvSpPr>
        <p:spPr>
          <a:xfrm>
            <a:off x="3211403" y="3901424"/>
            <a:ext cx="5776734" cy="2123658"/>
          </a:xfrm>
          <a:prstGeom prst="rect">
            <a:avLst/>
          </a:prstGeom>
          <a:noFill/>
        </p:spPr>
        <p:txBody>
          <a:bodyPr wrap="square">
            <a:spAutoFit/>
          </a:bodyPr>
          <a:lstStyle/>
          <a:p>
            <a:r>
              <a:rPr sz="2400">
                <a:latin typeface="Courier New"/>
                <a:ea typeface="Courier New"/>
                <a:cs typeface="Courier New"/>
              </a:rPr>
              <a:t>I was born in France. At the age of 16 I moved country. I have lived here since I was 21. Nonetheless, I still speak fluent _______. </a:t>
            </a:r>
            <a:r>
              <a:rPr sz="3600">
                <a:solidFill>
                  <a:srgbClr val="FF0000"/>
                </a:solidFill>
                <a:latin typeface="Comic Sans MS"/>
                <a:ea typeface="Comic Sans MS"/>
                <a:cs typeface="Comic Sans MS"/>
              </a:rPr>
              <a:t></a:t>
            </a:r>
          </a:p>
        </p:txBody>
      </p:sp>
      <p:sp>
        <p:nvSpPr>
          <p:cNvPr id="8" name="TextBox 7">
            <a:extLst>
              <a:ext uri="{FF2B5EF4-FFF2-40B4-BE49-F238E27FC236}">
                <a16:creationId xmlns:a16="http://schemas.microsoft.com/office/drawing/2014/main" id="{54CE875B-9C70-FECC-8CE5-B79EFAFED38E}"/>
              </a:ext>
            </a:extLst>
          </p:cNvPr>
          <p:cNvSpPr>
            <a:spLocks noGrp="1"/>
          </p:cNvSpPr>
          <p:nvPr/>
        </p:nvSpPr>
        <p:spPr>
          <a:xfrm>
            <a:off x="2883870" y="1774677"/>
            <a:ext cx="6424259" cy="640080"/>
          </a:xfrm>
          <a:prstGeom prst="rect">
            <a:avLst/>
          </a:prstGeom>
          <a:noFill/>
        </p:spPr>
        <p:txBody>
          <a:bodyPr wrap="none">
            <a:spAutoFit/>
          </a:bodyPr>
          <a:lstStyle/>
          <a:p>
            <a:pPr>
              <a:buNone/>
              <a:defRPr sz="1425">
                <a:solidFill>
                  <a:srgbClr val="333333"/>
                </a:solidFill>
              </a:defRPr>
            </a:pPr>
            <a:r>
              <a:rPr sz="1425">
                <a:solidFill>
                  <a:srgbClr val="333333"/>
                </a:solidFill>
              </a:rPr>
              <a:t>RNNs compress context into one evolving state.</a:t>
            </a:r>
          </a:p>
          <a:p>
            <a:pPr>
              <a:buNone/>
              <a:defRPr sz="1425">
                <a:solidFill>
                  <a:srgbClr val="333333"/>
                </a:solidFill>
              </a:defRPr>
            </a:pPr>
            <a:r>
              <a:rPr sz="1425">
                <a:solidFill>
                  <a:srgbClr val="333333"/>
                </a:solidFill>
              </a:rPr>
              <a:t>LSTMs and GRUs help, but distant context can still be hard to retain.</a:t>
            </a:r>
          </a:p>
        </p:txBody>
      </p:sp>
      <p:sp>
        <p:nvSpPr>
          <p:cNvPr id="4" name="Date Placeholder 3">
            <a:extLst>
              <a:ext uri="{FF2B5EF4-FFF2-40B4-BE49-F238E27FC236}">
                <a16:creationId xmlns:a16="http://schemas.microsoft.com/office/drawing/2014/main" id="{3F9AB151-A8DD-65A5-308D-123ADAA38E45}"/>
              </a:ext>
            </a:extLst>
          </p:cNvPr>
          <p:cNvSpPr>
            <a:spLocks noGrp="1"/>
          </p:cNvSpPr>
          <p:nvPr>
            <p:ph type="dt" idx="10"/>
          </p:nvPr>
        </p:nvSpPr>
        <p:spPr/>
        <p:txBody>
          <a:bodyPr/>
          <a:lstStyle/>
          <a:p>
            <a:pPr>
              <a:buNone/>
            </a:pPr>
            <a:fld id="{BDB6C309-0D5A-41CB-A76C-1AC840F841E7}" type="datetime1">
              <a:rPr lang="en-US"/>
              <a:t>7/29/2026</a:t>
            </a:fld>
            <a:endParaRPr/>
          </a:p>
        </p:txBody>
      </p:sp>
      <p:sp>
        <p:nvSpPr>
          <p:cNvPr id="5" name="Footer Placeholder 4">
            <a:extLst>
              <a:ext uri="{FF2B5EF4-FFF2-40B4-BE49-F238E27FC236}">
                <a16:creationId xmlns:a16="http://schemas.microsoft.com/office/drawing/2014/main" id="{49B3A78B-95BD-D222-1603-A4EBF649751E}"/>
              </a:ext>
            </a:extLst>
          </p:cNvPr>
          <p:cNvSpPr>
            <a:spLocks noGrp="1"/>
          </p:cNvSpPr>
          <p:nvPr>
            <p:ph type="ftr" idx="11"/>
          </p:nvPr>
        </p:nvSpPr>
        <p:spPr/>
        <p:txBody>
          <a:bodyPr/>
          <a:lstStyle/>
          <a:p>
            <a:pPr>
              <a:buNone/>
            </a:pPr>
            <a:r>
              <a:t>Introduction to Deep Learning - PSDI &amp; Royce Materials Data Summit</a:t>
            </a:r>
          </a:p>
        </p:txBody>
      </p:sp>
      <p:sp>
        <p:nvSpPr>
          <p:cNvPr id="6" name="Slide Number Placeholder 5">
            <a:extLst>
              <a:ext uri="{FF2B5EF4-FFF2-40B4-BE49-F238E27FC236}">
                <a16:creationId xmlns:a16="http://schemas.microsoft.com/office/drawing/2014/main" id="{9AFF320F-BC3B-BCA4-0D6C-AD1604D811C4}"/>
              </a:ext>
            </a:extLst>
          </p:cNvPr>
          <p:cNvSpPr>
            <a:spLocks noGrp="1"/>
          </p:cNvSpPr>
          <p:nvPr>
            <p:ph type="sldNum" idx="12"/>
          </p:nvPr>
        </p:nvSpPr>
        <p:spPr/>
        <p:txBody>
          <a:bodyPr/>
          <a:lstStyle/>
          <a:p>
            <a:pPr>
              <a:buNone/>
            </a:pPr>
            <a:fld id="{B5CEABB6-07DC-46E8-9B57-56EC44A396E5}" type="slidenum">
              <a:rPr/>
              <a:t>20</a:t>
            </a:fld>
            <a:endParaRPr/>
          </a:p>
        </p:txBody>
      </p:sp>
    </p:spTree>
    <p:extLst>
      <p:ext uri="{BB962C8B-B14F-4D97-AF65-F5344CB8AC3E}">
        <p14:creationId xmlns:p14="http://schemas.microsoft.com/office/powerpoint/2010/main" val="42114954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91EBDE0-DEC2-4D29-AB8F-4674D922B2C1}"/>
              </a:ext>
            </a:extLst>
          </p:cNvPr>
          <p:cNvSpPr>
            <a:spLocks noGrp="1"/>
          </p:cNvSpPr>
          <p:nvPr/>
        </p:nvSpPr>
        <p:spPr>
          <a:xfrm>
            <a:off x="838200" y="361950"/>
            <a:ext cx="10515600" cy="762000"/>
          </a:xfrm>
          <a:prstGeom prst="rect">
            <a:avLst/>
          </a:prstGeom>
          <a:noFill/>
          <a:ln w="0">
            <a:noFill/>
            <a:prstDash val="solid"/>
          </a:ln>
        </p:spPr>
        <p:txBody>
          <a:bodyPr anchor="ctr"/>
          <a:lstStyle/>
          <a:p>
            <a:pPr algn="ctr">
              <a:buNone/>
              <a:defRPr sz="2175">
                <a:solidFill>
                  <a:srgbClr val="111111"/>
                </a:solidFill>
              </a:defRPr>
            </a:pPr>
            <a:r>
              <a:rPr sz="2175">
                <a:solidFill>
                  <a:srgbClr val="111111"/>
                </a:solidFill>
              </a:rPr>
              <a:t>LSTMS AND GRUS ADD GATES, BUT REMAIN SEQUENTIAL</a:t>
            </a:r>
          </a:p>
        </p:txBody>
      </p:sp>
      <p:sp>
        <p:nvSpPr>
          <p:cNvPr id="8" name="Rectangle: Rounded Corners 7">
            <a:extLst>
              <a:ext uri="{FF2B5EF4-FFF2-40B4-BE49-F238E27FC236}">
                <a16:creationId xmlns:a16="http://schemas.microsoft.com/office/drawing/2014/main" id="{D70E66C9-8327-42D3-AA8C-CCAF70FA9D55}"/>
              </a:ext>
            </a:extLst>
          </p:cNvPr>
          <p:cNvSpPr>
            <a:spLocks noGrp="1"/>
          </p:cNvSpPr>
          <p:nvPr/>
        </p:nvSpPr>
        <p:spPr>
          <a:xfrm>
            <a:off x="1047750" y="1762125"/>
            <a:ext cx="3048000" cy="3048000"/>
          </a:xfrm>
          <a:prstGeom prst="roundRect">
            <a:avLst>
              <a:gd name="adj" fmla="val 2500"/>
            </a:avLst>
          </a:prstGeom>
          <a:solidFill>
            <a:srgbClr val="F8F8F8"/>
          </a:solidFill>
          <a:ln w="9525">
            <a:solidFill>
              <a:srgbClr val="DEDEDE"/>
            </a:solidFill>
            <a:prstDash val="solid"/>
          </a:ln>
        </p:spPr>
        <p:txBody>
          <a:bodyPr/>
          <a:lstStyle/>
          <a:p>
            <a:endParaRPr/>
          </a:p>
        </p:txBody>
      </p:sp>
      <p:sp>
        <p:nvSpPr>
          <p:cNvPr id="9" name="Rectangle 8">
            <a:extLst>
              <a:ext uri="{FF2B5EF4-FFF2-40B4-BE49-F238E27FC236}">
                <a16:creationId xmlns:a16="http://schemas.microsoft.com/office/drawing/2014/main" id="{E9F82E6D-D13E-4B17-979A-A4E6BAA1B226}"/>
              </a:ext>
            </a:extLst>
          </p:cNvPr>
          <p:cNvSpPr>
            <a:spLocks noGrp="1"/>
          </p:cNvSpPr>
          <p:nvPr/>
        </p:nvSpPr>
        <p:spPr>
          <a:xfrm>
            <a:off x="1219200" y="1933575"/>
            <a:ext cx="800100" cy="38100"/>
          </a:xfrm>
          <a:prstGeom prst="rect">
            <a:avLst/>
          </a:prstGeom>
          <a:solidFill>
            <a:srgbClr val="D97706"/>
          </a:solidFill>
          <a:ln w="0">
            <a:solidFill>
              <a:srgbClr val="D97706"/>
            </a:solidFill>
            <a:prstDash val="solid"/>
          </a:ln>
        </p:spPr>
        <p:txBody>
          <a:bodyPr/>
          <a:lstStyle/>
          <a:p>
            <a:endParaRPr/>
          </a:p>
        </p:txBody>
      </p:sp>
      <p:sp>
        <p:nvSpPr>
          <p:cNvPr id="10" name="Rectangle 9">
            <a:extLst>
              <a:ext uri="{FF2B5EF4-FFF2-40B4-BE49-F238E27FC236}">
                <a16:creationId xmlns:a16="http://schemas.microsoft.com/office/drawing/2014/main" id="{3FD6376D-28E4-48BB-B65A-FE1D3F73EF16}"/>
              </a:ext>
            </a:extLst>
          </p:cNvPr>
          <p:cNvSpPr>
            <a:spLocks noGrp="1"/>
          </p:cNvSpPr>
          <p:nvPr/>
        </p:nvSpPr>
        <p:spPr>
          <a:xfrm>
            <a:off x="1219200" y="2162175"/>
            <a:ext cx="2705100" cy="400050"/>
          </a:xfrm>
          <a:prstGeom prst="rect">
            <a:avLst/>
          </a:prstGeom>
          <a:noFill/>
          <a:ln w="0">
            <a:noFill/>
            <a:prstDash val="solid"/>
          </a:ln>
        </p:spPr>
        <p:txBody>
          <a:bodyPr/>
          <a:lstStyle/>
          <a:p>
            <a:pPr>
              <a:buNone/>
              <a:defRPr sz="1650" b="1">
                <a:solidFill>
                  <a:srgbClr val="222222"/>
                </a:solidFill>
              </a:defRPr>
            </a:pPr>
            <a:r>
              <a:rPr b="1">
                <a:solidFill>
                  <a:srgbClr val="222222"/>
                </a:solidFill>
              </a:rPr>
              <a:t>Keep</a:t>
            </a:r>
          </a:p>
        </p:txBody>
      </p:sp>
      <p:sp>
        <p:nvSpPr>
          <p:cNvPr id="11" name="Rectangle 10">
            <a:extLst>
              <a:ext uri="{FF2B5EF4-FFF2-40B4-BE49-F238E27FC236}">
                <a16:creationId xmlns:a16="http://schemas.microsoft.com/office/drawing/2014/main" id="{4C0C3AD6-0441-4D63-8241-8B7D238752C4}"/>
              </a:ext>
            </a:extLst>
          </p:cNvPr>
          <p:cNvSpPr>
            <a:spLocks noGrp="1"/>
          </p:cNvSpPr>
          <p:nvPr/>
        </p:nvSpPr>
        <p:spPr>
          <a:xfrm>
            <a:off x="1219200" y="2638425"/>
            <a:ext cx="2705100" cy="2019300"/>
          </a:xfrm>
          <a:prstGeom prst="rect">
            <a:avLst/>
          </a:prstGeom>
          <a:noFill/>
          <a:ln w="0">
            <a:noFill/>
            <a:prstDash val="solid"/>
          </a:ln>
        </p:spPr>
        <p:txBody>
          <a:bodyPr/>
          <a:lstStyle/>
          <a:p>
            <a:pPr>
              <a:buNone/>
              <a:defRPr sz="1275">
                <a:solidFill>
                  <a:srgbClr val="3A3A3A"/>
                </a:solidFill>
              </a:defRPr>
            </a:pPr>
            <a:r>
              <a:rPr sz="1600">
                <a:solidFill>
                  <a:srgbClr val="3A3A3A"/>
                </a:solidFill>
              </a:rPr>
              <a:t>A gate can preserve useful information over many time steps.</a:t>
            </a:r>
          </a:p>
        </p:txBody>
      </p:sp>
      <p:sp>
        <p:nvSpPr>
          <p:cNvPr id="12" name="Rectangle: Rounded Corners 11">
            <a:extLst>
              <a:ext uri="{FF2B5EF4-FFF2-40B4-BE49-F238E27FC236}">
                <a16:creationId xmlns:a16="http://schemas.microsoft.com/office/drawing/2014/main" id="{B47F6F01-F1D1-4E4B-A069-0C9040AAF5C5}"/>
              </a:ext>
            </a:extLst>
          </p:cNvPr>
          <p:cNvSpPr>
            <a:spLocks noGrp="1"/>
          </p:cNvSpPr>
          <p:nvPr/>
        </p:nvSpPr>
        <p:spPr>
          <a:xfrm>
            <a:off x="4572000" y="1762125"/>
            <a:ext cx="3048000" cy="3048000"/>
          </a:xfrm>
          <a:prstGeom prst="roundRect">
            <a:avLst>
              <a:gd name="adj" fmla="val 2500"/>
            </a:avLst>
          </a:prstGeom>
          <a:solidFill>
            <a:srgbClr val="F8F8F8"/>
          </a:solidFill>
          <a:ln w="9525">
            <a:solidFill>
              <a:srgbClr val="DEDEDE"/>
            </a:solidFill>
            <a:prstDash val="solid"/>
          </a:ln>
        </p:spPr>
        <p:txBody>
          <a:bodyPr/>
          <a:lstStyle/>
          <a:p>
            <a:endParaRPr/>
          </a:p>
        </p:txBody>
      </p:sp>
      <p:sp>
        <p:nvSpPr>
          <p:cNvPr id="13" name="Rectangle 12">
            <a:extLst>
              <a:ext uri="{FF2B5EF4-FFF2-40B4-BE49-F238E27FC236}">
                <a16:creationId xmlns:a16="http://schemas.microsoft.com/office/drawing/2014/main" id="{188A7447-4139-4CD0-A482-6610CF45A528}"/>
              </a:ext>
            </a:extLst>
          </p:cNvPr>
          <p:cNvSpPr>
            <a:spLocks noGrp="1"/>
          </p:cNvSpPr>
          <p:nvPr/>
        </p:nvSpPr>
        <p:spPr>
          <a:xfrm>
            <a:off x="4743450" y="1933575"/>
            <a:ext cx="800100" cy="38100"/>
          </a:xfrm>
          <a:prstGeom prst="rect">
            <a:avLst/>
          </a:prstGeom>
          <a:solidFill>
            <a:srgbClr val="4F8CC9"/>
          </a:solidFill>
          <a:ln w="0">
            <a:solidFill>
              <a:srgbClr val="4F8CC9"/>
            </a:solidFill>
            <a:prstDash val="solid"/>
          </a:ln>
        </p:spPr>
        <p:txBody>
          <a:bodyPr/>
          <a:lstStyle/>
          <a:p>
            <a:endParaRPr/>
          </a:p>
        </p:txBody>
      </p:sp>
      <p:sp>
        <p:nvSpPr>
          <p:cNvPr id="14" name="Rectangle 13">
            <a:extLst>
              <a:ext uri="{FF2B5EF4-FFF2-40B4-BE49-F238E27FC236}">
                <a16:creationId xmlns:a16="http://schemas.microsoft.com/office/drawing/2014/main" id="{CD2A3100-1B5F-47D5-8296-28A6A35079FE}"/>
              </a:ext>
            </a:extLst>
          </p:cNvPr>
          <p:cNvSpPr>
            <a:spLocks noGrp="1"/>
          </p:cNvSpPr>
          <p:nvPr/>
        </p:nvSpPr>
        <p:spPr>
          <a:xfrm>
            <a:off x="4743450" y="2162175"/>
            <a:ext cx="2705100" cy="400050"/>
          </a:xfrm>
          <a:prstGeom prst="rect">
            <a:avLst/>
          </a:prstGeom>
          <a:noFill/>
          <a:ln w="0">
            <a:noFill/>
            <a:prstDash val="solid"/>
          </a:ln>
        </p:spPr>
        <p:txBody>
          <a:bodyPr/>
          <a:lstStyle/>
          <a:p>
            <a:pPr>
              <a:buNone/>
              <a:defRPr sz="1650" b="1">
                <a:solidFill>
                  <a:srgbClr val="222222"/>
                </a:solidFill>
              </a:defRPr>
            </a:pPr>
            <a:r>
              <a:rPr b="1">
                <a:solidFill>
                  <a:srgbClr val="222222"/>
                </a:solidFill>
              </a:rPr>
              <a:t>Forget</a:t>
            </a:r>
          </a:p>
        </p:txBody>
      </p:sp>
      <p:sp>
        <p:nvSpPr>
          <p:cNvPr id="15" name="Rectangle 14">
            <a:extLst>
              <a:ext uri="{FF2B5EF4-FFF2-40B4-BE49-F238E27FC236}">
                <a16:creationId xmlns:a16="http://schemas.microsoft.com/office/drawing/2014/main" id="{B53D79CF-9C59-4C74-AE1B-3DBF799F6518}"/>
              </a:ext>
            </a:extLst>
          </p:cNvPr>
          <p:cNvSpPr>
            <a:spLocks noGrp="1"/>
          </p:cNvSpPr>
          <p:nvPr/>
        </p:nvSpPr>
        <p:spPr>
          <a:xfrm>
            <a:off x="4743450" y="2638425"/>
            <a:ext cx="2705100" cy="2019300"/>
          </a:xfrm>
          <a:prstGeom prst="rect">
            <a:avLst/>
          </a:prstGeom>
          <a:noFill/>
          <a:ln w="0">
            <a:noFill/>
            <a:prstDash val="solid"/>
          </a:ln>
        </p:spPr>
        <p:txBody>
          <a:bodyPr/>
          <a:lstStyle/>
          <a:p>
            <a:pPr>
              <a:buNone/>
              <a:defRPr sz="1275">
                <a:solidFill>
                  <a:srgbClr val="3A3A3A"/>
                </a:solidFill>
              </a:defRPr>
            </a:pPr>
            <a:r>
              <a:rPr sz="1600">
                <a:solidFill>
                  <a:srgbClr val="3A3A3A"/>
                </a:solidFill>
              </a:rPr>
              <a:t>A gate can suppress information that no longer helps the prediction.</a:t>
            </a:r>
          </a:p>
        </p:txBody>
      </p:sp>
      <p:sp>
        <p:nvSpPr>
          <p:cNvPr id="16" name="Rectangle: Rounded Corners 15">
            <a:extLst>
              <a:ext uri="{FF2B5EF4-FFF2-40B4-BE49-F238E27FC236}">
                <a16:creationId xmlns:a16="http://schemas.microsoft.com/office/drawing/2014/main" id="{9B3EA8F7-8FFD-40D6-9479-FA744391440F}"/>
              </a:ext>
            </a:extLst>
          </p:cNvPr>
          <p:cNvSpPr>
            <a:spLocks noGrp="1"/>
          </p:cNvSpPr>
          <p:nvPr/>
        </p:nvSpPr>
        <p:spPr>
          <a:xfrm>
            <a:off x="8096250" y="1762125"/>
            <a:ext cx="3048000" cy="3048000"/>
          </a:xfrm>
          <a:prstGeom prst="roundRect">
            <a:avLst>
              <a:gd name="adj" fmla="val 2500"/>
            </a:avLst>
          </a:prstGeom>
          <a:solidFill>
            <a:srgbClr val="F8F8F8"/>
          </a:solidFill>
          <a:ln w="9525">
            <a:solidFill>
              <a:srgbClr val="DEDEDE"/>
            </a:solidFill>
            <a:prstDash val="solid"/>
          </a:ln>
        </p:spPr>
        <p:txBody>
          <a:bodyPr/>
          <a:lstStyle/>
          <a:p>
            <a:endParaRPr/>
          </a:p>
        </p:txBody>
      </p:sp>
      <p:sp>
        <p:nvSpPr>
          <p:cNvPr id="17" name="Rectangle 16">
            <a:extLst>
              <a:ext uri="{FF2B5EF4-FFF2-40B4-BE49-F238E27FC236}">
                <a16:creationId xmlns:a16="http://schemas.microsoft.com/office/drawing/2014/main" id="{1FCF48A9-A107-44D8-9A13-24728AB899EA}"/>
              </a:ext>
            </a:extLst>
          </p:cNvPr>
          <p:cNvSpPr>
            <a:spLocks noGrp="1"/>
          </p:cNvSpPr>
          <p:nvPr/>
        </p:nvSpPr>
        <p:spPr>
          <a:xfrm>
            <a:off x="8267700" y="1933575"/>
            <a:ext cx="800100" cy="38100"/>
          </a:xfrm>
          <a:prstGeom prst="rect">
            <a:avLst/>
          </a:prstGeom>
          <a:solidFill>
            <a:srgbClr val="57A773"/>
          </a:solidFill>
          <a:ln w="0">
            <a:solidFill>
              <a:srgbClr val="57A773"/>
            </a:solidFill>
            <a:prstDash val="solid"/>
          </a:ln>
        </p:spPr>
        <p:txBody>
          <a:bodyPr/>
          <a:lstStyle/>
          <a:p>
            <a:endParaRPr/>
          </a:p>
        </p:txBody>
      </p:sp>
      <p:sp>
        <p:nvSpPr>
          <p:cNvPr id="18" name="Rectangle 17">
            <a:extLst>
              <a:ext uri="{FF2B5EF4-FFF2-40B4-BE49-F238E27FC236}">
                <a16:creationId xmlns:a16="http://schemas.microsoft.com/office/drawing/2014/main" id="{62B3C77E-5245-4548-8588-0B6E561FD9A3}"/>
              </a:ext>
            </a:extLst>
          </p:cNvPr>
          <p:cNvSpPr>
            <a:spLocks noGrp="1"/>
          </p:cNvSpPr>
          <p:nvPr/>
        </p:nvSpPr>
        <p:spPr>
          <a:xfrm>
            <a:off x="8267700" y="2162175"/>
            <a:ext cx="2705100" cy="400050"/>
          </a:xfrm>
          <a:prstGeom prst="rect">
            <a:avLst/>
          </a:prstGeom>
          <a:noFill/>
          <a:ln w="0">
            <a:noFill/>
            <a:prstDash val="solid"/>
          </a:ln>
        </p:spPr>
        <p:txBody>
          <a:bodyPr/>
          <a:lstStyle/>
          <a:p>
            <a:pPr>
              <a:buNone/>
              <a:defRPr sz="1650" b="1">
                <a:solidFill>
                  <a:srgbClr val="222222"/>
                </a:solidFill>
              </a:defRPr>
            </a:pPr>
            <a:r>
              <a:rPr b="1">
                <a:solidFill>
                  <a:srgbClr val="222222"/>
                </a:solidFill>
              </a:rPr>
              <a:t>Write</a:t>
            </a:r>
          </a:p>
        </p:txBody>
      </p:sp>
      <p:sp>
        <p:nvSpPr>
          <p:cNvPr id="19" name="Rectangle 18">
            <a:extLst>
              <a:ext uri="{FF2B5EF4-FFF2-40B4-BE49-F238E27FC236}">
                <a16:creationId xmlns:a16="http://schemas.microsoft.com/office/drawing/2014/main" id="{5EBC0BB6-A259-44AB-BF5D-59070D6829F4}"/>
              </a:ext>
            </a:extLst>
          </p:cNvPr>
          <p:cNvSpPr>
            <a:spLocks noGrp="1"/>
          </p:cNvSpPr>
          <p:nvPr/>
        </p:nvSpPr>
        <p:spPr>
          <a:xfrm>
            <a:off x="8267700" y="2638425"/>
            <a:ext cx="2705100" cy="2019300"/>
          </a:xfrm>
          <a:prstGeom prst="rect">
            <a:avLst/>
          </a:prstGeom>
          <a:noFill/>
          <a:ln w="0">
            <a:noFill/>
            <a:prstDash val="solid"/>
          </a:ln>
        </p:spPr>
        <p:txBody>
          <a:bodyPr/>
          <a:lstStyle/>
          <a:p>
            <a:pPr>
              <a:buNone/>
              <a:defRPr sz="1275">
                <a:solidFill>
                  <a:srgbClr val="3A3A3A"/>
                </a:solidFill>
              </a:defRPr>
            </a:pPr>
            <a:r>
              <a:rPr sz="1600">
                <a:solidFill>
                  <a:srgbClr val="3A3A3A"/>
                </a:solidFill>
              </a:rPr>
              <a:t>A gate can decide what new information enters the hidden state.</a:t>
            </a:r>
          </a:p>
        </p:txBody>
      </p:sp>
      <p:sp>
        <p:nvSpPr>
          <p:cNvPr id="20" name="Rectangle 19">
            <a:extLst>
              <a:ext uri="{FF2B5EF4-FFF2-40B4-BE49-F238E27FC236}">
                <a16:creationId xmlns:a16="http://schemas.microsoft.com/office/drawing/2014/main" id="{0CC67449-E0B1-4017-A806-4FAEE99C9852}"/>
              </a:ext>
            </a:extLst>
          </p:cNvPr>
          <p:cNvSpPr>
            <a:spLocks noGrp="1"/>
          </p:cNvSpPr>
          <p:nvPr/>
        </p:nvSpPr>
        <p:spPr>
          <a:xfrm>
            <a:off x="1428750" y="5238750"/>
            <a:ext cx="9334500" cy="419100"/>
          </a:xfrm>
          <a:prstGeom prst="rect">
            <a:avLst/>
          </a:prstGeom>
          <a:noFill/>
          <a:ln w="0">
            <a:noFill/>
            <a:prstDash val="solid"/>
          </a:ln>
        </p:spPr>
        <p:txBody>
          <a:bodyPr/>
          <a:lstStyle/>
          <a:p>
            <a:pPr algn="ctr">
              <a:buNone/>
              <a:defRPr sz="1725">
                <a:solidFill>
                  <a:srgbClr val="333333"/>
                </a:solidFill>
              </a:defRPr>
            </a:pPr>
            <a:r>
              <a:rPr sz="1725">
                <a:solidFill>
                  <a:srgbClr val="333333"/>
                </a:solidFill>
              </a:rPr>
              <a:t>This improves recurrent memory, but the model still processes tokens step by step.</a:t>
            </a:r>
          </a:p>
        </p:txBody>
      </p:sp>
      <p:sp>
        <p:nvSpPr>
          <p:cNvPr id="2" name="Date Placeholder 1">
            <a:extLst>
              <a:ext uri="{FF2B5EF4-FFF2-40B4-BE49-F238E27FC236}">
                <a16:creationId xmlns:a16="http://schemas.microsoft.com/office/drawing/2014/main" id="{464BC41B-C441-F1FE-FCB5-D07FEA98606A}"/>
              </a:ext>
            </a:extLst>
          </p:cNvPr>
          <p:cNvSpPr>
            <a:spLocks noGrp="1"/>
          </p:cNvSpPr>
          <p:nvPr>
            <p:ph type="dt" idx="10"/>
          </p:nvPr>
        </p:nvSpPr>
        <p:spPr/>
        <p:txBody>
          <a:bodyPr/>
          <a:lstStyle/>
          <a:p>
            <a:pPr>
              <a:buNone/>
            </a:pPr>
            <a:fld id="{190AEA20-CA62-473E-A5FE-CC7BD15581AC}" type="datetime1">
              <a:rPr lang="en-US"/>
              <a:t>7/29/2026</a:t>
            </a:fld>
            <a:endParaRPr/>
          </a:p>
        </p:txBody>
      </p:sp>
      <p:sp>
        <p:nvSpPr>
          <p:cNvPr id="3" name="Footer Placeholder 2">
            <a:extLst>
              <a:ext uri="{FF2B5EF4-FFF2-40B4-BE49-F238E27FC236}">
                <a16:creationId xmlns:a16="http://schemas.microsoft.com/office/drawing/2014/main" id="{B18563B7-1901-7632-FF44-E8ADC31D32FF}"/>
              </a:ext>
            </a:extLst>
          </p:cNvPr>
          <p:cNvSpPr>
            <a:spLocks noGrp="1"/>
          </p:cNvSpPr>
          <p:nvPr>
            <p:ph type="ftr" idx="11"/>
          </p:nvPr>
        </p:nvSpPr>
        <p:spPr/>
        <p:txBody>
          <a:bodyPr/>
          <a:lstStyle/>
          <a:p>
            <a:pPr>
              <a:buNone/>
            </a:pPr>
            <a:r>
              <a:t>Introduction to Deep Learning - PSDI &amp; Royce Materials Data Summit</a:t>
            </a:r>
          </a:p>
        </p:txBody>
      </p:sp>
      <p:sp>
        <p:nvSpPr>
          <p:cNvPr id="4" name="Slide Number Placeholder 3">
            <a:extLst>
              <a:ext uri="{FF2B5EF4-FFF2-40B4-BE49-F238E27FC236}">
                <a16:creationId xmlns:a16="http://schemas.microsoft.com/office/drawing/2014/main" id="{E13BC685-5C1B-80F8-37E7-793B2E4667CC}"/>
              </a:ext>
            </a:extLst>
          </p:cNvPr>
          <p:cNvSpPr>
            <a:spLocks noGrp="1"/>
          </p:cNvSpPr>
          <p:nvPr>
            <p:ph type="sldNum" idx="12"/>
          </p:nvPr>
        </p:nvSpPr>
        <p:spPr/>
        <p:txBody>
          <a:bodyPr/>
          <a:lstStyle/>
          <a:p>
            <a:pPr>
              <a:buNone/>
            </a:pPr>
            <a:fld id="{B5CEABB6-07DC-46E8-9B57-56EC44A396E5}" type="slidenum">
              <a:rPr/>
              <a:t>21</a:t>
            </a:fld>
            <a:endParaRPr/>
          </a:p>
        </p:txBody>
      </p:sp>
    </p:spTree>
    <p:extLst>
      <p:ext uri="{BB962C8B-B14F-4D97-AF65-F5344CB8AC3E}">
        <p14:creationId xmlns:p14="http://schemas.microsoft.com/office/powerpoint/2010/main" val="42114954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05BF2-0955-D34E-7FF9-6A665B3272AB}"/>
              </a:ext>
            </a:extLst>
          </p:cNvPr>
          <p:cNvSpPr>
            <a:spLocks noGrp="1"/>
          </p:cNvSpPr>
          <p:nvPr>
            <p:ph type="title"/>
          </p:nvPr>
        </p:nvSpPr>
        <p:spPr/>
        <p:txBody>
          <a:bodyPr/>
          <a:lstStyle/>
          <a:p>
            <a:pPr>
              <a:buNone/>
              <a:defRPr sz="2250" b="0">
                <a:solidFill>
                  <a:srgbClr val="111111"/>
                </a:solidFill>
              </a:defRPr>
            </a:pPr>
            <a:r>
              <a:rPr sz="2250" b="0">
                <a:solidFill>
                  <a:srgbClr val="111111"/>
                </a:solidFill>
              </a:rPr>
              <a:t>Autoregressive models turn sequences into generation</a:t>
            </a:r>
          </a:p>
        </p:txBody>
      </p:sp>
      <p:pic>
        <p:nvPicPr>
          <p:cNvPr id="13" name="Picture 4"/>
          <p:cNvPicPr>
            <a:picLocks noChangeAspect="1"/>
          </p:cNvPicPr>
          <p:nvPr/>
        </p:nvPicPr>
        <p:blipFill>
          <a:blip r:embed="rId3"/>
          <a:stretch>
            <a:fillRect/>
          </a:stretch>
        </p:blipFill>
        <p:spPr>
          <a:xfrm>
            <a:off x="2226879" y="3112268"/>
            <a:ext cx="7916380" cy="2391109"/>
          </a:xfrm>
          <a:prstGeom prst="rect">
            <a:avLst/>
          </a:prstGeom>
        </p:spPr>
      </p:pic>
      <p:sp>
        <p:nvSpPr>
          <p:cNvPr id="6" name="TextBox 5">
            <a:extLst>
              <a:ext uri="{FF2B5EF4-FFF2-40B4-BE49-F238E27FC236}">
                <a16:creationId xmlns:a16="http://schemas.microsoft.com/office/drawing/2014/main" id="{A81DEEFE-2EEF-6D8E-E587-4437BA09A704}"/>
              </a:ext>
            </a:extLst>
          </p:cNvPr>
          <p:cNvSpPr>
            <a:spLocks noGrp="1"/>
          </p:cNvSpPr>
          <p:nvPr/>
        </p:nvSpPr>
        <p:spPr>
          <a:xfrm>
            <a:off x="1625729" y="1660684"/>
            <a:ext cx="8845292" cy="2042160"/>
          </a:xfrm>
          <a:prstGeom prst="rect">
            <a:avLst/>
          </a:prstGeom>
          <a:noFill/>
        </p:spPr>
        <p:txBody>
          <a:bodyPr wrap="square">
            <a:spAutoFit/>
          </a:bodyPr>
          <a:lstStyle/>
          <a:p>
            <a:pPr>
              <a:buNone/>
              <a:defRPr sz="1500">
                <a:solidFill>
                  <a:srgbClr val="333333"/>
                </a:solidFill>
              </a:defRPr>
            </a:pPr>
            <a:r>
              <a:rPr sz="1500">
                <a:solidFill>
                  <a:srgbClr val="333333"/>
                </a:solidFill>
              </a:rPr>
              <a:t>Training:</a:t>
            </a:r>
          </a:p>
          <a:p>
            <a:pPr>
              <a:buNone/>
              <a:defRPr sz="1500">
                <a:solidFill>
                  <a:srgbClr val="333333"/>
                </a:solidFill>
              </a:defRPr>
            </a:pPr>
            <a:r>
              <a:rPr sz="1500">
                <a:solidFill>
                  <a:srgbClr val="333333"/>
                </a:solidFill>
              </a:rPr>
              <a:t>learn p(next token | previous tokens)</a:t>
            </a:r>
          </a:p>
          <a:p>
            <a:endParaRPr sz="1500">
              <a:solidFill>
                <a:srgbClr val="333333"/>
              </a:solidFill>
            </a:endParaRPr>
          </a:p>
          <a:p>
            <a:pPr>
              <a:buNone/>
              <a:defRPr sz="1500">
                <a:solidFill>
                  <a:srgbClr val="333333"/>
                </a:solidFill>
              </a:defRPr>
            </a:pPr>
            <a:r>
              <a:rPr sz="1500">
                <a:solidFill>
                  <a:srgbClr val="333333"/>
                </a:solidFill>
              </a:rPr>
              <a:t>Generation:</a:t>
            </a:r>
          </a:p>
          <a:p>
            <a:pPr>
              <a:buNone/>
              <a:defRPr sz="1500">
                <a:solidFill>
                  <a:srgbClr val="333333"/>
                </a:solidFill>
              </a:defRPr>
            </a:pPr>
            <a:r>
              <a:rPr sz="1500">
                <a:solidFill>
                  <a:srgbClr val="333333"/>
                </a:solidFill>
              </a:rPr>
              <a:t>sample one token, append it, repeat</a:t>
            </a:r>
          </a:p>
          <a:p>
            <a:endParaRPr sz="1500">
              <a:solidFill>
                <a:srgbClr val="333333"/>
              </a:solidFill>
            </a:endParaRPr>
          </a:p>
          <a:p>
            <a:pPr>
              <a:buNone/>
              <a:defRPr sz="1500">
                <a:solidFill>
                  <a:srgbClr val="333333"/>
                </a:solidFill>
              </a:defRPr>
            </a:pPr>
            <a:r>
              <a:rPr sz="1500">
                <a:solidFill>
                  <a:srgbClr val="333333"/>
                </a:solidFill>
              </a:rPr>
              <a:t>For CIFs, the generated text is a candidate crystal structure.</a:t>
            </a:r>
          </a:p>
        </p:txBody>
      </p:sp>
      <p:sp>
        <p:nvSpPr>
          <p:cNvPr id="10" name="Rectangle 9">
            <a:extLst>
              <a:ext uri="{FF2B5EF4-FFF2-40B4-BE49-F238E27FC236}">
                <a16:creationId xmlns:a16="http://schemas.microsoft.com/office/drawing/2014/main" id="{A5DFCCA8-368B-43DE-AEA4-5059EEA62453}"/>
              </a:ext>
            </a:extLst>
          </p:cNvPr>
          <p:cNvSpPr>
            <a:spLocks noGrp="1"/>
          </p:cNvSpPr>
          <p:nvPr/>
        </p:nvSpPr>
        <p:spPr>
          <a:xfrm>
            <a:off x="1762125" y="5715000"/>
            <a:ext cx="8572500" cy="419100"/>
          </a:xfrm>
          <a:prstGeom prst="rect">
            <a:avLst/>
          </a:prstGeom>
          <a:noFill/>
          <a:ln w="0">
            <a:noFill/>
            <a:prstDash val="solid"/>
          </a:ln>
        </p:spPr>
        <p:txBody>
          <a:bodyPr/>
          <a:lstStyle/>
          <a:p>
            <a:pPr algn="ctr">
              <a:buNone/>
              <a:defRPr sz="1800">
                <a:solidFill>
                  <a:srgbClr val="111111"/>
                </a:solidFill>
              </a:defRPr>
            </a:pPr>
            <a:r>
              <a:rPr sz="1800">
                <a:solidFill>
                  <a:srgbClr val="111111"/>
                </a:solidFill>
              </a:rPr>
              <a:t>p(sequence) = p(x1) p(x2 | x1) ... p(xT | x1, ..., xT-1)</a:t>
            </a:r>
          </a:p>
        </p:txBody>
      </p:sp>
      <p:sp>
        <p:nvSpPr>
          <p:cNvPr id="3" name="Date Placeholder 2">
            <a:extLst>
              <a:ext uri="{FF2B5EF4-FFF2-40B4-BE49-F238E27FC236}">
                <a16:creationId xmlns:a16="http://schemas.microsoft.com/office/drawing/2014/main" id="{D6084747-9969-B0A2-F209-D809B3E262E9}"/>
              </a:ext>
            </a:extLst>
          </p:cNvPr>
          <p:cNvSpPr>
            <a:spLocks noGrp="1"/>
          </p:cNvSpPr>
          <p:nvPr>
            <p:ph type="dt" idx="10"/>
          </p:nvPr>
        </p:nvSpPr>
        <p:spPr/>
        <p:txBody>
          <a:bodyPr/>
          <a:lstStyle/>
          <a:p>
            <a:pPr>
              <a:buNone/>
            </a:pPr>
            <a:fld id="{03D5F414-5D8B-4FB4-A1FA-C4C3DF6AB4B2}" type="datetime1">
              <a:rPr lang="en-US"/>
              <a:t>7/29/2026</a:t>
            </a:fld>
            <a:endParaRPr/>
          </a:p>
        </p:txBody>
      </p:sp>
      <p:sp>
        <p:nvSpPr>
          <p:cNvPr id="5" name="Footer Placeholder 4">
            <a:extLst>
              <a:ext uri="{FF2B5EF4-FFF2-40B4-BE49-F238E27FC236}">
                <a16:creationId xmlns:a16="http://schemas.microsoft.com/office/drawing/2014/main" id="{6E070D0C-A757-B864-3ED7-B29CFFB6E9BB}"/>
              </a:ext>
            </a:extLst>
          </p:cNvPr>
          <p:cNvSpPr>
            <a:spLocks noGrp="1"/>
          </p:cNvSpPr>
          <p:nvPr>
            <p:ph type="ftr" idx="11"/>
          </p:nvPr>
        </p:nvSpPr>
        <p:spPr/>
        <p:txBody>
          <a:bodyPr/>
          <a:lstStyle/>
          <a:p>
            <a:pPr>
              <a:buNone/>
            </a:pPr>
            <a:r>
              <a:t>Introduction to Deep Learning - PSDI &amp; Royce Materials Data Summit</a:t>
            </a:r>
          </a:p>
        </p:txBody>
      </p:sp>
      <p:sp>
        <p:nvSpPr>
          <p:cNvPr id="4" name="Slide Number Placeholder 3">
            <a:extLst>
              <a:ext uri="{FF2B5EF4-FFF2-40B4-BE49-F238E27FC236}">
                <a16:creationId xmlns:a16="http://schemas.microsoft.com/office/drawing/2014/main" id="{A23FBB53-6479-6099-7415-5589DA0C2073}"/>
              </a:ext>
            </a:extLst>
          </p:cNvPr>
          <p:cNvSpPr>
            <a:spLocks noGrp="1"/>
          </p:cNvSpPr>
          <p:nvPr>
            <p:ph type="sldNum" idx="12"/>
          </p:nvPr>
        </p:nvSpPr>
        <p:spPr/>
        <p:txBody>
          <a:bodyPr/>
          <a:lstStyle/>
          <a:p>
            <a:pPr>
              <a:buNone/>
            </a:pPr>
            <a:fld id="{B5CEABB6-07DC-46E8-9B57-56EC44A396E5}" type="slidenum">
              <a:rPr/>
              <a:t>22</a:t>
            </a:fld>
            <a:endParaRPr/>
          </a:p>
        </p:txBody>
      </p:sp>
    </p:spTree>
    <p:extLst>
      <p:ext uri="{BB962C8B-B14F-4D97-AF65-F5344CB8AC3E}">
        <p14:creationId xmlns:p14="http://schemas.microsoft.com/office/powerpoint/2010/main" val="13039048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EA215D-4AD9-4A54-AE01-7BD73E369FAE}"/>
              </a:ext>
            </a:extLst>
          </p:cNvPr>
          <p:cNvSpPr>
            <a:spLocks noGrp="1"/>
          </p:cNvSpPr>
          <p:nvPr/>
        </p:nvSpPr>
        <p:spPr>
          <a:xfrm>
            <a:off x="838200" y="271030"/>
            <a:ext cx="10515600" cy="762000"/>
          </a:xfrm>
          <a:prstGeom prst="rect">
            <a:avLst/>
          </a:prstGeom>
          <a:noFill/>
          <a:ln w="0">
            <a:noFill/>
            <a:prstDash val="solid"/>
          </a:ln>
        </p:spPr>
        <p:txBody>
          <a:bodyPr anchor="ctr"/>
          <a:lstStyle/>
          <a:p>
            <a:pPr algn="ctr">
              <a:buNone/>
              <a:defRPr sz="2175">
                <a:solidFill>
                  <a:srgbClr val="111111"/>
                </a:solidFill>
              </a:defRPr>
            </a:pPr>
            <a:r>
              <a:rPr sz="2175" dirty="0">
                <a:solidFill>
                  <a:srgbClr val="111111"/>
                </a:solidFill>
              </a:rPr>
              <a:t>TRAINING AND GENERATION ARE RELATED BUT NOT IDENTICAL</a:t>
            </a:r>
          </a:p>
        </p:txBody>
      </p:sp>
      <p:sp>
        <p:nvSpPr>
          <p:cNvPr id="6" name="Rectangle: Rounded Corners 5">
            <a:extLst>
              <a:ext uri="{FF2B5EF4-FFF2-40B4-BE49-F238E27FC236}">
                <a16:creationId xmlns:a16="http://schemas.microsoft.com/office/drawing/2014/main" id="{A5503D1D-4BE0-4774-B887-7B8448CE36D3}"/>
              </a:ext>
            </a:extLst>
          </p:cNvPr>
          <p:cNvSpPr>
            <a:spLocks noGrp="1"/>
          </p:cNvSpPr>
          <p:nvPr/>
        </p:nvSpPr>
        <p:spPr>
          <a:xfrm>
            <a:off x="1143000" y="1328306"/>
            <a:ext cx="3048000" cy="1924050"/>
          </a:xfrm>
          <a:prstGeom prst="roundRect">
            <a:avLst>
              <a:gd name="adj" fmla="val 2581"/>
            </a:avLst>
          </a:prstGeom>
          <a:solidFill>
            <a:srgbClr val="F8F8F8"/>
          </a:solidFill>
          <a:ln w="9525">
            <a:solidFill>
              <a:srgbClr val="DEDEDE"/>
            </a:solidFill>
            <a:prstDash val="solid"/>
          </a:ln>
        </p:spPr>
        <p:txBody>
          <a:bodyPr/>
          <a:lstStyle/>
          <a:p>
            <a:endParaRPr/>
          </a:p>
        </p:txBody>
      </p:sp>
      <p:sp>
        <p:nvSpPr>
          <p:cNvPr id="7" name="Rectangle 6">
            <a:extLst>
              <a:ext uri="{FF2B5EF4-FFF2-40B4-BE49-F238E27FC236}">
                <a16:creationId xmlns:a16="http://schemas.microsoft.com/office/drawing/2014/main" id="{290A70FC-3111-4F1A-B365-57287B313044}"/>
              </a:ext>
            </a:extLst>
          </p:cNvPr>
          <p:cNvSpPr>
            <a:spLocks noGrp="1"/>
          </p:cNvSpPr>
          <p:nvPr/>
        </p:nvSpPr>
        <p:spPr>
          <a:xfrm>
            <a:off x="1314450" y="1499756"/>
            <a:ext cx="800100" cy="38100"/>
          </a:xfrm>
          <a:prstGeom prst="rect">
            <a:avLst/>
          </a:prstGeom>
          <a:solidFill>
            <a:srgbClr val="D97706"/>
          </a:solidFill>
          <a:ln w="0">
            <a:solidFill>
              <a:srgbClr val="D97706"/>
            </a:solidFill>
            <a:prstDash val="solid"/>
          </a:ln>
        </p:spPr>
        <p:txBody>
          <a:bodyPr/>
          <a:lstStyle/>
          <a:p>
            <a:endParaRPr/>
          </a:p>
        </p:txBody>
      </p:sp>
      <p:sp>
        <p:nvSpPr>
          <p:cNvPr id="8" name="Rectangle 7">
            <a:extLst>
              <a:ext uri="{FF2B5EF4-FFF2-40B4-BE49-F238E27FC236}">
                <a16:creationId xmlns:a16="http://schemas.microsoft.com/office/drawing/2014/main" id="{3415058D-E326-4B31-B4D9-4C4843E40372}"/>
              </a:ext>
            </a:extLst>
          </p:cNvPr>
          <p:cNvSpPr>
            <a:spLocks noGrp="1"/>
          </p:cNvSpPr>
          <p:nvPr/>
        </p:nvSpPr>
        <p:spPr>
          <a:xfrm>
            <a:off x="1314450" y="1728356"/>
            <a:ext cx="2705100" cy="400050"/>
          </a:xfrm>
          <a:prstGeom prst="rect">
            <a:avLst/>
          </a:prstGeom>
          <a:noFill/>
          <a:ln w="0">
            <a:noFill/>
            <a:prstDash val="solid"/>
          </a:ln>
        </p:spPr>
        <p:txBody>
          <a:bodyPr/>
          <a:lstStyle/>
          <a:p>
            <a:pPr>
              <a:buNone/>
              <a:defRPr sz="1650" b="1">
                <a:solidFill>
                  <a:srgbClr val="222222"/>
                </a:solidFill>
              </a:defRPr>
            </a:pPr>
            <a:r>
              <a:rPr b="1">
                <a:solidFill>
                  <a:srgbClr val="222222"/>
                </a:solidFill>
              </a:rPr>
              <a:t>Training</a:t>
            </a:r>
          </a:p>
        </p:txBody>
      </p:sp>
      <p:sp>
        <p:nvSpPr>
          <p:cNvPr id="9" name="Rectangle 8">
            <a:extLst>
              <a:ext uri="{FF2B5EF4-FFF2-40B4-BE49-F238E27FC236}">
                <a16:creationId xmlns:a16="http://schemas.microsoft.com/office/drawing/2014/main" id="{BAF425CF-0700-441D-824C-8109E33CC8FA}"/>
              </a:ext>
            </a:extLst>
          </p:cNvPr>
          <p:cNvSpPr>
            <a:spLocks noGrp="1"/>
          </p:cNvSpPr>
          <p:nvPr/>
        </p:nvSpPr>
        <p:spPr>
          <a:xfrm>
            <a:off x="1314450" y="2204606"/>
            <a:ext cx="2705100" cy="1924050"/>
          </a:xfrm>
          <a:prstGeom prst="rect">
            <a:avLst/>
          </a:prstGeom>
          <a:noFill/>
          <a:ln w="0">
            <a:noFill/>
            <a:prstDash val="solid"/>
          </a:ln>
        </p:spPr>
        <p:txBody>
          <a:bodyPr/>
          <a:lstStyle/>
          <a:p>
            <a:pPr>
              <a:buNone/>
              <a:defRPr sz="1275">
                <a:solidFill>
                  <a:srgbClr val="3A3A3A"/>
                </a:solidFill>
              </a:defRPr>
            </a:pPr>
            <a:r>
              <a:rPr sz="1600">
                <a:solidFill>
                  <a:srgbClr val="3A3A3A"/>
                </a:solidFill>
              </a:rPr>
              <a:t>The model sees correct previous tokens and learns to predict the next one.</a:t>
            </a:r>
          </a:p>
        </p:txBody>
      </p:sp>
      <p:sp>
        <p:nvSpPr>
          <p:cNvPr id="10" name="Rectangle: Rounded Corners 9">
            <a:extLst>
              <a:ext uri="{FF2B5EF4-FFF2-40B4-BE49-F238E27FC236}">
                <a16:creationId xmlns:a16="http://schemas.microsoft.com/office/drawing/2014/main" id="{C5587C52-7D51-4744-8193-1792600D9CD5}"/>
              </a:ext>
            </a:extLst>
          </p:cNvPr>
          <p:cNvSpPr>
            <a:spLocks noGrp="1"/>
          </p:cNvSpPr>
          <p:nvPr/>
        </p:nvSpPr>
        <p:spPr>
          <a:xfrm>
            <a:off x="4572000" y="1328306"/>
            <a:ext cx="3048000" cy="1924050"/>
          </a:xfrm>
          <a:prstGeom prst="roundRect">
            <a:avLst>
              <a:gd name="adj" fmla="val 2581"/>
            </a:avLst>
          </a:prstGeom>
          <a:solidFill>
            <a:srgbClr val="F8F8F8"/>
          </a:solidFill>
          <a:ln w="9525">
            <a:solidFill>
              <a:srgbClr val="DEDEDE"/>
            </a:solidFill>
            <a:prstDash val="solid"/>
          </a:ln>
        </p:spPr>
        <p:txBody>
          <a:bodyPr/>
          <a:lstStyle/>
          <a:p>
            <a:endParaRPr/>
          </a:p>
        </p:txBody>
      </p:sp>
      <p:sp>
        <p:nvSpPr>
          <p:cNvPr id="11" name="Rectangle 10">
            <a:extLst>
              <a:ext uri="{FF2B5EF4-FFF2-40B4-BE49-F238E27FC236}">
                <a16:creationId xmlns:a16="http://schemas.microsoft.com/office/drawing/2014/main" id="{68AC18B9-1D9E-4639-A2C5-0E46C262FED9}"/>
              </a:ext>
            </a:extLst>
          </p:cNvPr>
          <p:cNvSpPr>
            <a:spLocks noGrp="1"/>
          </p:cNvSpPr>
          <p:nvPr/>
        </p:nvSpPr>
        <p:spPr>
          <a:xfrm>
            <a:off x="4743450" y="1499756"/>
            <a:ext cx="800100" cy="38100"/>
          </a:xfrm>
          <a:prstGeom prst="rect">
            <a:avLst/>
          </a:prstGeom>
          <a:solidFill>
            <a:srgbClr val="4F8CC9"/>
          </a:solidFill>
          <a:ln w="0">
            <a:solidFill>
              <a:srgbClr val="4F8CC9"/>
            </a:solidFill>
            <a:prstDash val="solid"/>
          </a:ln>
        </p:spPr>
        <p:txBody>
          <a:bodyPr/>
          <a:lstStyle/>
          <a:p>
            <a:endParaRPr/>
          </a:p>
        </p:txBody>
      </p:sp>
      <p:sp>
        <p:nvSpPr>
          <p:cNvPr id="12" name="Rectangle 11">
            <a:extLst>
              <a:ext uri="{FF2B5EF4-FFF2-40B4-BE49-F238E27FC236}">
                <a16:creationId xmlns:a16="http://schemas.microsoft.com/office/drawing/2014/main" id="{A2A4529D-F8C0-487A-B838-D7C752430E0D}"/>
              </a:ext>
            </a:extLst>
          </p:cNvPr>
          <p:cNvSpPr>
            <a:spLocks noGrp="1"/>
          </p:cNvSpPr>
          <p:nvPr/>
        </p:nvSpPr>
        <p:spPr>
          <a:xfrm>
            <a:off x="4743450" y="1728356"/>
            <a:ext cx="2705100" cy="400050"/>
          </a:xfrm>
          <a:prstGeom prst="rect">
            <a:avLst/>
          </a:prstGeom>
          <a:noFill/>
          <a:ln w="0">
            <a:noFill/>
            <a:prstDash val="solid"/>
          </a:ln>
        </p:spPr>
        <p:txBody>
          <a:bodyPr/>
          <a:lstStyle/>
          <a:p>
            <a:pPr>
              <a:buNone/>
              <a:defRPr sz="1650" b="1">
                <a:solidFill>
                  <a:srgbClr val="222222"/>
                </a:solidFill>
              </a:defRPr>
            </a:pPr>
            <a:r>
              <a:rPr b="1">
                <a:solidFill>
                  <a:srgbClr val="222222"/>
                </a:solidFill>
              </a:rPr>
              <a:t>Generation</a:t>
            </a:r>
          </a:p>
        </p:txBody>
      </p:sp>
      <p:sp>
        <p:nvSpPr>
          <p:cNvPr id="13" name="Rectangle 12">
            <a:extLst>
              <a:ext uri="{FF2B5EF4-FFF2-40B4-BE49-F238E27FC236}">
                <a16:creationId xmlns:a16="http://schemas.microsoft.com/office/drawing/2014/main" id="{835E14E1-C5FD-4AC2-A121-AA5DD2033BF9}"/>
              </a:ext>
            </a:extLst>
          </p:cNvPr>
          <p:cNvSpPr>
            <a:spLocks noGrp="1"/>
          </p:cNvSpPr>
          <p:nvPr/>
        </p:nvSpPr>
        <p:spPr>
          <a:xfrm>
            <a:off x="4743450" y="2204606"/>
            <a:ext cx="2705100" cy="1924050"/>
          </a:xfrm>
          <a:prstGeom prst="rect">
            <a:avLst/>
          </a:prstGeom>
          <a:noFill/>
          <a:ln w="0">
            <a:noFill/>
            <a:prstDash val="solid"/>
          </a:ln>
        </p:spPr>
        <p:txBody>
          <a:bodyPr/>
          <a:lstStyle/>
          <a:p>
            <a:pPr>
              <a:buNone/>
              <a:defRPr sz="1275">
                <a:solidFill>
                  <a:srgbClr val="3A3A3A"/>
                </a:solidFill>
              </a:defRPr>
            </a:pPr>
            <a:r>
              <a:rPr sz="1600">
                <a:solidFill>
                  <a:srgbClr val="3A3A3A"/>
                </a:solidFill>
              </a:rPr>
              <a:t>The model samples a token, appends it, and must condition on its own output.</a:t>
            </a:r>
          </a:p>
        </p:txBody>
      </p:sp>
      <p:sp>
        <p:nvSpPr>
          <p:cNvPr id="14" name="Rectangle: Rounded Corners 13">
            <a:extLst>
              <a:ext uri="{FF2B5EF4-FFF2-40B4-BE49-F238E27FC236}">
                <a16:creationId xmlns:a16="http://schemas.microsoft.com/office/drawing/2014/main" id="{652DED60-BA9E-4C04-BDE9-641FA03B0ED2}"/>
              </a:ext>
            </a:extLst>
          </p:cNvPr>
          <p:cNvSpPr>
            <a:spLocks noGrp="1"/>
          </p:cNvSpPr>
          <p:nvPr/>
        </p:nvSpPr>
        <p:spPr>
          <a:xfrm>
            <a:off x="8001000" y="1328306"/>
            <a:ext cx="3048000" cy="1924050"/>
          </a:xfrm>
          <a:prstGeom prst="roundRect">
            <a:avLst>
              <a:gd name="adj" fmla="val 2581"/>
            </a:avLst>
          </a:prstGeom>
          <a:solidFill>
            <a:srgbClr val="F8F8F8"/>
          </a:solidFill>
          <a:ln w="9525">
            <a:solidFill>
              <a:srgbClr val="DEDEDE"/>
            </a:solidFill>
            <a:prstDash val="solid"/>
          </a:ln>
        </p:spPr>
        <p:txBody>
          <a:bodyPr/>
          <a:lstStyle/>
          <a:p>
            <a:endParaRPr/>
          </a:p>
        </p:txBody>
      </p:sp>
      <p:sp>
        <p:nvSpPr>
          <p:cNvPr id="15" name="Rectangle 14">
            <a:extLst>
              <a:ext uri="{FF2B5EF4-FFF2-40B4-BE49-F238E27FC236}">
                <a16:creationId xmlns:a16="http://schemas.microsoft.com/office/drawing/2014/main" id="{AE888C00-94EB-45F1-A5CA-8EAB601E4190}"/>
              </a:ext>
            </a:extLst>
          </p:cNvPr>
          <p:cNvSpPr>
            <a:spLocks noGrp="1"/>
          </p:cNvSpPr>
          <p:nvPr/>
        </p:nvSpPr>
        <p:spPr>
          <a:xfrm>
            <a:off x="8172450" y="1499756"/>
            <a:ext cx="800100" cy="38100"/>
          </a:xfrm>
          <a:prstGeom prst="rect">
            <a:avLst/>
          </a:prstGeom>
          <a:solidFill>
            <a:srgbClr val="57A773"/>
          </a:solidFill>
          <a:ln w="0">
            <a:solidFill>
              <a:srgbClr val="57A773"/>
            </a:solidFill>
            <a:prstDash val="solid"/>
          </a:ln>
        </p:spPr>
        <p:txBody>
          <a:bodyPr/>
          <a:lstStyle/>
          <a:p>
            <a:endParaRPr/>
          </a:p>
        </p:txBody>
      </p:sp>
      <p:sp>
        <p:nvSpPr>
          <p:cNvPr id="16" name="Rectangle 15">
            <a:extLst>
              <a:ext uri="{FF2B5EF4-FFF2-40B4-BE49-F238E27FC236}">
                <a16:creationId xmlns:a16="http://schemas.microsoft.com/office/drawing/2014/main" id="{6761DF5A-C0C6-4B63-AE58-0B95A956C02B}"/>
              </a:ext>
            </a:extLst>
          </p:cNvPr>
          <p:cNvSpPr>
            <a:spLocks noGrp="1"/>
          </p:cNvSpPr>
          <p:nvPr/>
        </p:nvSpPr>
        <p:spPr>
          <a:xfrm>
            <a:off x="8172450" y="1728356"/>
            <a:ext cx="2705100" cy="400050"/>
          </a:xfrm>
          <a:prstGeom prst="rect">
            <a:avLst/>
          </a:prstGeom>
          <a:noFill/>
          <a:ln w="0">
            <a:noFill/>
            <a:prstDash val="solid"/>
          </a:ln>
        </p:spPr>
        <p:txBody>
          <a:bodyPr/>
          <a:lstStyle/>
          <a:p>
            <a:pPr>
              <a:buNone/>
              <a:defRPr sz="1650" b="1">
                <a:solidFill>
                  <a:srgbClr val="222222"/>
                </a:solidFill>
              </a:defRPr>
            </a:pPr>
            <a:r>
              <a:rPr b="1">
                <a:solidFill>
                  <a:srgbClr val="222222"/>
                </a:solidFill>
              </a:rPr>
              <a:t>Validation</a:t>
            </a:r>
          </a:p>
        </p:txBody>
      </p:sp>
      <p:sp>
        <p:nvSpPr>
          <p:cNvPr id="17" name="Rectangle 16">
            <a:extLst>
              <a:ext uri="{FF2B5EF4-FFF2-40B4-BE49-F238E27FC236}">
                <a16:creationId xmlns:a16="http://schemas.microsoft.com/office/drawing/2014/main" id="{22EBDE3E-6E02-4E48-A7AF-57D92BC42A33}"/>
              </a:ext>
            </a:extLst>
          </p:cNvPr>
          <p:cNvSpPr>
            <a:spLocks noGrp="1"/>
          </p:cNvSpPr>
          <p:nvPr/>
        </p:nvSpPr>
        <p:spPr>
          <a:xfrm>
            <a:off x="8172450" y="2128406"/>
            <a:ext cx="2876550" cy="2000250"/>
          </a:xfrm>
          <a:prstGeom prst="rect">
            <a:avLst/>
          </a:prstGeom>
          <a:noFill/>
          <a:ln w="0">
            <a:noFill/>
            <a:prstDash val="solid"/>
          </a:ln>
        </p:spPr>
        <p:txBody>
          <a:bodyPr/>
          <a:lstStyle/>
          <a:p>
            <a:pPr>
              <a:buNone/>
              <a:defRPr sz="1275">
                <a:solidFill>
                  <a:srgbClr val="3A3A3A"/>
                </a:solidFill>
              </a:defRPr>
            </a:pPr>
            <a:r>
              <a:rPr sz="1600" dirty="0">
                <a:solidFill>
                  <a:srgbClr val="3A3A3A"/>
                </a:solidFill>
              </a:rPr>
              <a:t>Syntax, distances, charge balance, symmetry, and energy filters become important.</a:t>
            </a:r>
          </a:p>
        </p:txBody>
      </p:sp>
      <p:sp>
        <p:nvSpPr>
          <p:cNvPr id="2" name="Date Placeholder 1">
            <a:extLst>
              <a:ext uri="{FF2B5EF4-FFF2-40B4-BE49-F238E27FC236}">
                <a16:creationId xmlns:a16="http://schemas.microsoft.com/office/drawing/2014/main" id="{6244DA65-F3CB-9677-A966-D904BEA09AB5}"/>
              </a:ext>
            </a:extLst>
          </p:cNvPr>
          <p:cNvSpPr>
            <a:spLocks noGrp="1"/>
          </p:cNvSpPr>
          <p:nvPr>
            <p:ph type="dt" idx="10"/>
          </p:nvPr>
        </p:nvSpPr>
        <p:spPr/>
        <p:txBody>
          <a:bodyPr/>
          <a:lstStyle/>
          <a:p>
            <a:pPr>
              <a:buNone/>
            </a:pPr>
            <a:fld id="{4B78BFC5-E39F-448F-8587-883C8905F956}" type="datetime1">
              <a:rPr lang="en-US"/>
              <a:t>7/29/2026</a:t>
            </a:fld>
            <a:endParaRPr/>
          </a:p>
        </p:txBody>
      </p:sp>
      <p:sp>
        <p:nvSpPr>
          <p:cNvPr id="3" name="Footer Placeholder 2">
            <a:extLst>
              <a:ext uri="{FF2B5EF4-FFF2-40B4-BE49-F238E27FC236}">
                <a16:creationId xmlns:a16="http://schemas.microsoft.com/office/drawing/2014/main" id="{BE4B2541-E52C-7510-2E84-B2670BB1C1E7}"/>
              </a:ext>
            </a:extLst>
          </p:cNvPr>
          <p:cNvSpPr>
            <a:spLocks noGrp="1"/>
          </p:cNvSpPr>
          <p:nvPr>
            <p:ph type="ftr" idx="11"/>
          </p:nvPr>
        </p:nvSpPr>
        <p:spPr/>
        <p:txBody>
          <a:bodyPr/>
          <a:lstStyle/>
          <a:p>
            <a:pPr>
              <a:buNone/>
            </a:pPr>
            <a:r>
              <a:t>Introduction to Deep Learning - PSDI &amp; Royce Materials Data Summit</a:t>
            </a:r>
          </a:p>
        </p:txBody>
      </p:sp>
      <p:sp>
        <p:nvSpPr>
          <p:cNvPr id="4" name="Slide Number Placeholder 3">
            <a:extLst>
              <a:ext uri="{FF2B5EF4-FFF2-40B4-BE49-F238E27FC236}">
                <a16:creationId xmlns:a16="http://schemas.microsoft.com/office/drawing/2014/main" id="{2ADB38DF-48F9-3750-1D33-0A15DE84B0DD}"/>
              </a:ext>
            </a:extLst>
          </p:cNvPr>
          <p:cNvSpPr>
            <a:spLocks noGrp="1"/>
          </p:cNvSpPr>
          <p:nvPr>
            <p:ph type="sldNum" idx="12"/>
          </p:nvPr>
        </p:nvSpPr>
        <p:spPr/>
        <p:txBody>
          <a:bodyPr/>
          <a:lstStyle/>
          <a:p>
            <a:pPr>
              <a:buNone/>
            </a:pPr>
            <a:fld id="{B5CEABB6-07DC-46E8-9B57-56EC44A396E5}" type="slidenum">
              <a:rPr/>
              <a:t>23</a:t>
            </a:fld>
            <a:endParaRPr/>
          </a:p>
        </p:txBody>
      </p:sp>
      <p:pic>
        <p:nvPicPr>
          <p:cNvPr id="20" name="Picture 39">
            <a:extLst>
              <a:ext uri="{FF2B5EF4-FFF2-40B4-BE49-F238E27FC236}">
                <a16:creationId xmlns:a16="http://schemas.microsoft.com/office/drawing/2014/main" id="{1B7CFE9E-A505-2653-B4E6-C3713B621191}"/>
              </a:ext>
            </a:extLst>
          </p:cNvPr>
          <p:cNvPicPr>
            <a:picLocks noChangeAspect="1"/>
          </p:cNvPicPr>
          <p:nvPr/>
        </p:nvPicPr>
        <p:blipFill>
          <a:blip r:embed="rId3"/>
          <a:stretch>
            <a:fillRect/>
          </a:stretch>
        </p:blipFill>
        <p:spPr>
          <a:xfrm>
            <a:off x="3487946" y="3547632"/>
            <a:ext cx="5216107" cy="2621685"/>
          </a:xfrm>
          <a:prstGeom prst="rect">
            <a:avLst/>
          </a:prstGeom>
        </p:spPr>
      </p:pic>
    </p:spTree>
    <p:extLst>
      <p:ext uri="{BB962C8B-B14F-4D97-AF65-F5344CB8AC3E}">
        <p14:creationId xmlns:p14="http://schemas.microsoft.com/office/powerpoint/2010/main" val="13039048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78F5B-AEDA-1F32-5F38-9688A4331D86}"/>
              </a:ext>
            </a:extLst>
          </p:cNvPr>
          <p:cNvSpPr>
            <a:spLocks noGrp="1"/>
          </p:cNvSpPr>
          <p:nvPr>
            <p:ph type="title"/>
          </p:nvPr>
        </p:nvSpPr>
        <p:spPr>
          <a:xfrm>
            <a:off x="923200" y="0"/>
            <a:ext cx="10515600" cy="1325563"/>
          </a:xfrm>
        </p:spPr>
        <p:txBody>
          <a:bodyPr/>
          <a:lstStyle/>
          <a:p>
            <a:pPr>
              <a:buNone/>
              <a:defRPr sz="2250" b="0">
                <a:solidFill>
                  <a:srgbClr val="111111"/>
                </a:solidFill>
              </a:defRPr>
            </a:pPr>
            <a:r>
              <a:rPr sz="2250" b="0">
                <a:solidFill>
                  <a:srgbClr val="111111"/>
                </a:solidFill>
              </a:rPr>
              <a:t>CIFs can be treated as a language</a:t>
            </a:r>
          </a:p>
        </p:txBody>
      </p:sp>
      <p:pic>
        <p:nvPicPr>
          <p:cNvPr id="10" name="Picture 4"/>
          <p:cNvPicPr>
            <a:picLocks noChangeAspect="1"/>
          </p:cNvPicPr>
          <p:nvPr/>
        </p:nvPicPr>
        <p:blipFill>
          <a:blip r:embed="rId3"/>
          <a:stretch>
            <a:fillRect/>
          </a:stretch>
        </p:blipFill>
        <p:spPr>
          <a:xfrm>
            <a:off x="1392464" y="1176493"/>
            <a:ext cx="8798288" cy="4129448"/>
          </a:xfrm>
          <a:prstGeom prst="rect">
            <a:avLst/>
          </a:prstGeom>
        </p:spPr>
      </p:pic>
      <p:sp>
        <p:nvSpPr>
          <p:cNvPr id="6" name="TextBox 5">
            <a:extLst>
              <a:ext uri="{FF2B5EF4-FFF2-40B4-BE49-F238E27FC236}">
                <a16:creationId xmlns:a16="http://schemas.microsoft.com/office/drawing/2014/main" id="{9C191117-C1D0-1212-C852-A58487FBF387}"/>
              </a:ext>
            </a:extLst>
          </p:cNvPr>
          <p:cNvSpPr>
            <a:spLocks noGrp="1"/>
          </p:cNvSpPr>
          <p:nvPr/>
        </p:nvSpPr>
        <p:spPr>
          <a:xfrm>
            <a:off x="2157987" y="5578475"/>
            <a:ext cx="8217699" cy="369332"/>
          </a:xfrm>
          <a:prstGeom prst="rect">
            <a:avLst/>
          </a:prstGeom>
          <a:noFill/>
        </p:spPr>
        <p:txBody>
          <a:bodyPr wrap="none">
            <a:spAutoFit/>
          </a:bodyPr>
          <a:lstStyle/>
          <a:p>
            <a:r>
              <a:t>A </a:t>
            </a:r>
            <a:r>
              <a:rPr>
                <a:solidFill>
                  <a:schemeClr val="accent2">
                    <a:lumMod val="75000"/>
                  </a:schemeClr>
                </a:solidFill>
              </a:rPr>
              <a:t>decoder only transformer </a:t>
            </a:r>
            <a:r>
              <a:t>trained on cif files for materials </a:t>
            </a:r>
            <a:r>
              <a:rPr>
                <a:solidFill>
                  <a:schemeClr val="accent6">
                    <a:lumMod val="75000"/>
                  </a:schemeClr>
                </a:solidFill>
              </a:rPr>
              <a:t>structure generation</a:t>
            </a:r>
          </a:p>
        </p:txBody>
      </p:sp>
      <p:sp>
        <p:nvSpPr>
          <p:cNvPr id="7" name="TextBox 6">
            <a:extLst>
              <a:ext uri="{FF2B5EF4-FFF2-40B4-BE49-F238E27FC236}">
                <a16:creationId xmlns:a16="http://schemas.microsoft.com/office/drawing/2014/main" id="{3806882F-A1CF-B2D4-6BD2-2E37F4C01456}"/>
              </a:ext>
            </a:extLst>
          </p:cNvPr>
          <p:cNvSpPr>
            <a:spLocks noGrp="1"/>
          </p:cNvSpPr>
          <p:nvPr/>
        </p:nvSpPr>
        <p:spPr>
          <a:xfrm>
            <a:off x="170000" y="6079609"/>
            <a:ext cx="6096836" cy="369332"/>
          </a:xfrm>
          <a:prstGeom prst="rect">
            <a:avLst/>
          </a:prstGeom>
          <a:noFill/>
        </p:spPr>
        <p:txBody>
          <a:bodyPr wrap="square">
            <a:spAutoFit/>
          </a:bodyPr>
          <a:lstStyle/>
          <a:p>
            <a:r>
              <a:t>Nature Communications 15, 1 (2024)</a:t>
            </a:r>
          </a:p>
        </p:txBody>
      </p:sp>
      <p:sp>
        <p:nvSpPr>
          <p:cNvPr id="3" name="Date Placeholder 2">
            <a:extLst>
              <a:ext uri="{FF2B5EF4-FFF2-40B4-BE49-F238E27FC236}">
                <a16:creationId xmlns:a16="http://schemas.microsoft.com/office/drawing/2014/main" id="{DFD2F33D-4CB5-6B8B-4375-0FA1B59F4DF6}"/>
              </a:ext>
            </a:extLst>
          </p:cNvPr>
          <p:cNvSpPr>
            <a:spLocks noGrp="1"/>
          </p:cNvSpPr>
          <p:nvPr>
            <p:ph type="dt" idx="10"/>
          </p:nvPr>
        </p:nvSpPr>
        <p:spPr>
          <a:xfrm>
            <a:off x="753200" y="6400284"/>
            <a:ext cx="2743200" cy="365125"/>
          </a:xfrm>
        </p:spPr>
        <p:txBody>
          <a:bodyPr/>
          <a:lstStyle/>
          <a:p>
            <a:pPr>
              <a:buNone/>
            </a:pPr>
            <a:fld id="{66B437F6-510D-4C82-A7B4-EBA2803BDBFD}" type="datetime1">
              <a:rPr lang="en-US"/>
              <a:t>7/29/2026</a:t>
            </a:fld>
            <a:endParaRPr/>
          </a:p>
        </p:txBody>
      </p:sp>
      <p:sp>
        <p:nvSpPr>
          <p:cNvPr id="5" name="Footer Placeholder 4">
            <a:extLst>
              <a:ext uri="{FF2B5EF4-FFF2-40B4-BE49-F238E27FC236}">
                <a16:creationId xmlns:a16="http://schemas.microsoft.com/office/drawing/2014/main" id="{9A64EADF-3A78-4196-AFCD-F7BE9E3735F4}"/>
              </a:ext>
            </a:extLst>
          </p:cNvPr>
          <p:cNvSpPr>
            <a:spLocks noGrp="1"/>
          </p:cNvSpPr>
          <p:nvPr>
            <p:ph type="ftr" idx="11"/>
          </p:nvPr>
        </p:nvSpPr>
        <p:spPr/>
        <p:txBody>
          <a:bodyPr/>
          <a:lstStyle/>
          <a:p>
            <a:pPr>
              <a:buNone/>
            </a:pPr>
            <a:r>
              <a:t>Introduction to Deep Learning - PSDI &amp; Royce Materials Data Summit</a:t>
            </a:r>
          </a:p>
        </p:txBody>
      </p:sp>
      <p:sp>
        <p:nvSpPr>
          <p:cNvPr id="4" name="Slide Number Placeholder 3">
            <a:extLst>
              <a:ext uri="{FF2B5EF4-FFF2-40B4-BE49-F238E27FC236}">
                <a16:creationId xmlns:a16="http://schemas.microsoft.com/office/drawing/2014/main" id="{0E4DEE3E-40C0-3AF1-4342-67A24C3C7522}"/>
              </a:ext>
            </a:extLst>
          </p:cNvPr>
          <p:cNvSpPr>
            <a:spLocks noGrp="1"/>
          </p:cNvSpPr>
          <p:nvPr>
            <p:ph type="sldNum" idx="12"/>
          </p:nvPr>
        </p:nvSpPr>
        <p:spPr/>
        <p:txBody>
          <a:bodyPr/>
          <a:lstStyle/>
          <a:p>
            <a:pPr>
              <a:buNone/>
            </a:pPr>
            <a:fld id="{B5CEABB6-07DC-46E8-9B57-56EC44A396E5}" type="slidenum">
              <a:rPr/>
              <a:t>24</a:t>
            </a:fld>
            <a:endParaRPr/>
          </a:p>
        </p:txBody>
      </p:sp>
    </p:spTree>
    <p:extLst>
      <p:ext uri="{BB962C8B-B14F-4D97-AF65-F5344CB8AC3E}">
        <p14:creationId xmlns:p14="http://schemas.microsoft.com/office/powerpoint/2010/main" val="9372756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E85179-BECB-4D23-AB61-831C8BA38C42}"/>
              </a:ext>
            </a:extLst>
          </p:cNvPr>
          <p:cNvSpPr>
            <a:spLocks noGrp="1"/>
          </p:cNvSpPr>
          <p:nvPr/>
        </p:nvSpPr>
        <p:spPr>
          <a:xfrm>
            <a:off x="838200" y="361950"/>
            <a:ext cx="10515600" cy="762000"/>
          </a:xfrm>
          <a:prstGeom prst="rect">
            <a:avLst/>
          </a:prstGeom>
          <a:noFill/>
          <a:ln w="0">
            <a:noFill/>
            <a:prstDash val="solid"/>
          </a:ln>
        </p:spPr>
        <p:txBody>
          <a:bodyPr anchor="ctr"/>
          <a:lstStyle/>
          <a:p>
            <a:pPr algn="ctr">
              <a:buNone/>
              <a:defRPr sz="2175">
                <a:solidFill>
                  <a:srgbClr val="111111"/>
                </a:solidFill>
              </a:defRPr>
            </a:pPr>
            <a:r>
              <a:rPr sz="2175">
                <a:solidFill>
                  <a:srgbClr val="111111"/>
                </a:solidFill>
              </a:rPr>
              <a:t>CIF TOKENISATION CARRIES SCIENTIFIC STRUCTURE</a:t>
            </a:r>
          </a:p>
        </p:txBody>
      </p:sp>
      <p:sp>
        <p:nvSpPr>
          <p:cNvPr id="6" name="Rectangle 5">
            <a:extLst>
              <a:ext uri="{FF2B5EF4-FFF2-40B4-BE49-F238E27FC236}">
                <a16:creationId xmlns:a16="http://schemas.microsoft.com/office/drawing/2014/main" id="{59A4E5E9-79B9-4564-B4AC-F1C0AD16BDD0}"/>
              </a:ext>
            </a:extLst>
          </p:cNvPr>
          <p:cNvSpPr>
            <a:spLocks noGrp="1"/>
          </p:cNvSpPr>
          <p:nvPr/>
        </p:nvSpPr>
        <p:spPr>
          <a:xfrm>
            <a:off x="1285875" y="1524000"/>
            <a:ext cx="533400" cy="533400"/>
          </a:xfrm>
          <a:prstGeom prst="rect">
            <a:avLst/>
          </a:prstGeom>
          <a:noFill/>
          <a:ln w="0">
            <a:noFill/>
            <a:prstDash val="solid"/>
          </a:ln>
        </p:spPr>
        <p:txBody>
          <a:bodyPr/>
          <a:lstStyle/>
          <a:p>
            <a:pPr algn="ctr">
              <a:buNone/>
              <a:defRPr sz="2250" b="1">
                <a:solidFill>
                  <a:srgbClr val="D97706"/>
                </a:solidFill>
              </a:defRPr>
            </a:pPr>
            <a:r>
              <a:rPr sz="2250" b="1">
                <a:solidFill>
                  <a:srgbClr val="D97706"/>
                </a:solidFill>
              </a:rPr>
              <a:t>1</a:t>
            </a:r>
          </a:p>
        </p:txBody>
      </p:sp>
      <p:sp>
        <p:nvSpPr>
          <p:cNvPr id="7" name="Rectangle 6">
            <a:extLst>
              <a:ext uri="{FF2B5EF4-FFF2-40B4-BE49-F238E27FC236}">
                <a16:creationId xmlns:a16="http://schemas.microsoft.com/office/drawing/2014/main" id="{60163FE4-BB71-4D6F-AC91-D72B5E4FF9CA}"/>
              </a:ext>
            </a:extLst>
          </p:cNvPr>
          <p:cNvSpPr>
            <a:spLocks noGrp="1"/>
          </p:cNvSpPr>
          <p:nvPr/>
        </p:nvSpPr>
        <p:spPr>
          <a:xfrm>
            <a:off x="2000250" y="1543050"/>
            <a:ext cx="2381250" cy="342900"/>
          </a:xfrm>
          <a:prstGeom prst="rect">
            <a:avLst/>
          </a:prstGeom>
          <a:noFill/>
          <a:ln w="0">
            <a:noFill/>
            <a:prstDash val="solid"/>
          </a:ln>
        </p:spPr>
        <p:txBody>
          <a:bodyPr/>
          <a:lstStyle/>
          <a:p>
            <a:pPr>
              <a:buNone/>
              <a:defRPr sz="1725" b="1">
                <a:solidFill>
                  <a:srgbClr val="222222"/>
                </a:solidFill>
              </a:defRPr>
            </a:pPr>
            <a:r>
              <a:rPr sz="1725" b="1">
                <a:solidFill>
                  <a:srgbClr val="222222"/>
                </a:solidFill>
              </a:rPr>
              <a:t>CIF tags</a:t>
            </a:r>
          </a:p>
        </p:txBody>
      </p:sp>
      <p:sp>
        <p:nvSpPr>
          <p:cNvPr id="8" name="Rectangle 7">
            <a:extLst>
              <a:ext uri="{FF2B5EF4-FFF2-40B4-BE49-F238E27FC236}">
                <a16:creationId xmlns:a16="http://schemas.microsoft.com/office/drawing/2014/main" id="{0A87D2FD-D32D-4E0A-8CE2-F1B118E4E533}"/>
              </a:ext>
            </a:extLst>
          </p:cNvPr>
          <p:cNvSpPr>
            <a:spLocks noGrp="1"/>
          </p:cNvSpPr>
          <p:nvPr/>
        </p:nvSpPr>
        <p:spPr>
          <a:xfrm>
            <a:off x="4619625" y="1562100"/>
            <a:ext cx="5905500" cy="381000"/>
          </a:xfrm>
          <a:prstGeom prst="rect">
            <a:avLst/>
          </a:prstGeom>
          <a:noFill/>
          <a:ln w="0">
            <a:noFill/>
            <a:prstDash val="solid"/>
          </a:ln>
        </p:spPr>
        <p:txBody>
          <a:bodyPr/>
          <a:lstStyle/>
          <a:p>
            <a:pPr>
              <a:buNone/>
              <a:defRPr sz="1500">
                <a:solidFill>
                  <a:srgbClr val="444444"/>
                </a:solidFill>
              </a:defRPr>
            </a:pPr>
            <a:r>
              <a:rPr sz="1500">
                <a:solidFill>
                  <a:srgbClr val="444444"/>
                </a:solidFill>
              </a:rPr>
              <a:t>_cell_length_a, _symmetry_space_group_name</a:t>
            </a:r>
          </a:p>
        </p:txBody>
      </p:sp>
      <p:sp>
        <p:nvSpPr>
          <p:cNvPr id="9" name="Rectangle 8">
            <a:extLst>
              <a:ext uri="{FF2B5EF4-FFF2-40B4-BE49-F238E27FC236}">
                <a16:creationId xmlns:a16="http://schemas.microsoft.com/office/drawing/2014/main" id="{5C8C3322-E1D8-4332-8060-886DE4F3FB39}"/>
              </a:ext>
            </a:extLst>
          </p:cNvPr>
          <p:cNvSpPr>
            <a:spLocks noGrp="1"/>
          </p:cNvSpPr>
          <p:nvPr/>
        </p:nvSpPr>
        <p:spPr>
          <a:xfrm>
            <a:off x="1285875" y="2324100"/>
            <a:ext cx="533400" cy="533400"/>
          </a:xfrm>
          <a:prstGeom prst="rect">
            <a:avLst/>
          </a:prstGeom>
          <a:noFill/>
          <a:ln w="0">
            <a:noFill/>
            <a:prstDash val="solid"/>
          </a:ln>
        </p:spPr>
        <p:txBody>
          <a:bodyPr/>
          <a:lstStyle/>
          <a:p>
            <a:pPr algn="ctr">
              <a:buNone/>
              <a:defRPr sz="2250" b="1">
                <a:solidFill>
                  <a:srgbClr val="D97706"/>
                </a:solidFill>
              </a:defRPr>
            </a:pPr>
            <a:r>
              <a:rPr sz="2250" b="1">
                <a:solidFill>
                  <a:srgbClr val="D97706"/>
                </a:solidFill>
              </a:rPr>
              <a:t>2</a:t>
            </a:r>
          </a:p>
        </p:txBody>
      </p:sp>
      <p:sp>
        <p:nvSpPr>
          <p:cNvPr id="10" name="Rectangle 9">
            <a:extLst>
              <a:ext uri="{FF2B5EF4-FFF2-40B4-BE49-F238E27FC236}">
                <a16:creationId xmlns:a16="http://schemas.microsoft.com/office/drawing/2014/main" id="{F0200689-327E-46E5-92AA-B806B524897D}"/>
              </a:ext>
            </a:extLst>
          </p:cNvPr>
          <p:cNvSpPr>
            <a:spLocks noGrp="1"/>
          </p:cNvSpPr>
          <p:nvPr/>
        </p:nvSpPr>
        <p:spPr>
          <a:xfrm>
            <a:off x="2000250" y="2343150"/>
            <a:ext cx="2381250" cy="342900"/>
          </a:xfrm>
          <a:prstGeom prst="rect">
            <a:avLst/>
          </a:prstGeom>
          <a:noFill/>
          <a:ln w="0">
            <a:noFill/>
            <a:prstDash val="solid"/>
          </a:ln>
        </p:spPr>
        <p:txBody>
          <a:bodyPr/>
          <a:lstStyle/>
          <a:p>
            <a:pPr>
              <a:buNone/>
              <a:defRPr sz="1725" b="1">
                <a:solidFill>
                  <a:srgbClr val="222222"/>
                </a:solidFill>
              </a:defRPr>
            </a:pPr>
            <a:r>
              <a:rPr sz="1725" b="1">
                <a:solidFill>
                  <a:srgbClr val="222222"/>
                </a:solidFill>
              </a:rPr>
              <a:t>Chemical symbols</a:t>
            </a:r>
          </a:p>
        </p:txBody>
      </p:sp>
      <p:sp>
        <p:nvSpPr>
          <p:cNvPr id="11" name="Rectangle 10">
            <a:extLst>
              <a:ext uri="{FF2B5EF4-FFF2-40B4-BE49-F238E27FC236}">
                <a16:creationId xmlns:a16="http://schemas.microsoft.com/office/drawing/2014/main" id="{4F432873-A278-46F8-A73B-3D138AB1FAD9}"/>
              </a:ext>
            </a:extLst>
          </p:cNvPr>
          <p:cNvSpPr>
            <a:spLocks noGrp="1"/>
          </p:cNvSpPr>
          <p:nvPr/>
        </p:nvSpPr>
        <p:spPr>
          <a:xfrm>
            <a:off x="4619625" y="2362200"/>
            <a:ext cx="5905500" cy="381000"/>
          </a:xfrm>
          <a:prstGeom prst="rect">
            <a:avLst/>
          </a:prstGeom>
          <a:noFill/>
          <a:ln w="0">
            <a:noFill/>
            <a:prstDash val="solid"/>
          </a:ln>
        </p:spPr>
        <p:txBody>
          <a:bodyPr/>
          <a:lstStyle/>
          <a:p>
            <a:pPr>
              <a:buNone/>
              <a:defRPr sz="1500">
                <a:solidFill>
                  <a:srgbClr val="444444"/>
                </a:solidFill>
              </a:defRPr>
            </a:pPr>
            <a:r>
              <a:rPr sz="1500">
                <a:solidFill>
                  <a:srgbClr val="444444"/>
                </a:solidFill>
              </a:rPr>
              <a:t>Ba, Ti, O, Br, K, ...</a:t>
            </a:r>
          </a:p>
        </p:txBody>
      </p:sp>
      <p:sp>
        <p:nvSpPr>
          <p:cNvPr id="12" name="Rectangle 11">
            <a:extLst>
              <a:ext uri="{FF2B5EF4-FFF2-40B4-BE49-F238E27FC236}">
                <a16:creationId xmlns:a16="http://schemas.microsoft.com/office/drawing/2014/main" id="{8E40EF1E-6E04-4B39-8FAA-74FD64F99CE4}"/>
              </a:ext>
            </a:extLst>
          </p:cNvPr>
          <p:cNvSpPr>
            <a:spLocks noGrp="1"/>
          </p:cNvSpPr>
          <p:nvPr/>
        </p:nvSpPr>
        <p:spPr>
          <a:xfrm>
            <a:off x="1285875" y="3124200"/>
            <a:ext cx="533400" cy="533400"/>
          </a:xfrm>
          <a:prstGeom prst="rect">
            <a:avLst/>
          </a:prstGeom>
          <a:noFill/>
          <a:ln w="0">
            <a:noFill/>
            <a:prstDash val="solid"/>
          </a:ln>
        </p:spPr>
        <p:txBody>
          <a:bodyPr/>
          <a:lstStyle/>
          <a:p>
            <a:pPr algn="ctr">
              <a:buNone/>
              <a:defRPr sz="2250" b="1">
                <a:solidFill>
                  <a:srgbClr val="D97706"/>
                </a:solidFill>
              </a:defRPr>
            </a:pPr>
            <a:r>
              <a:rPr sz="2250" b="1">
                <a:solidFill>
                  <a:srgbClr val="D97706"/>
                </a:solidFill>
              </a:rPr>
              <a:t>3</a:t>
            </a:r>
          </a:p>
        </p:txBody>
      </p:sp>
      <p:sp>
        <p:nvSpPr>
          <p:cNvPr id="13" name="Rectangle 12">
            <a:extLst>
              <a:ext uri="{FF2B5EF4-FFF2-40B4-BE49-F238E27FC236}">
                <a16:creationId xmlns:a16="http://schemas.microsoft.com/office/drawing/2014/main" id="{6A4183C8-9A3B-4AE8-866D-72569E722639}"/>
              </a:ext>
            </a:extLst>
          </p:cNvPr>
          <p:cNvSpPr>
            <a:spLocks noGrp="1"/>
          </p:cNvSpPr>
          <p:nvPr/>
        </p:nvSpPr>
        <p:spPr>
          <a:xfrm>
            <a:off x="2000250" y="3143250"/>
            <a:ext cx="2381250" cy="342900"/>
          </a:xfrm>
          <a:prstGeom prst="rect">
            <a:avLst/>
          </a:prstGeom>
          <a:noFill/>
          <a:ln w="0">
            <a:noFill/>
            <a:prstDash val="solid"/>
          </a:ln>
        </p:spPr>
        <p:txBody>
          <a:bodyPr/>
          <a:lstStyle/>
          <a:p>
            <a:pPr>
              <a:buNone/>
              <a:defRPr sz="1725" b="1">
                <a:solidFill>
                  <a:srgbClr val="222222"/>
                </a:solidFill>
              </a:defRPr>
            </a:pPr>
            <a:r>
              <a:rPr sz="1725" b="1">
                <a:solidFill>
                  <a:srgbClr val="222222"/>
                </a:solidFill>
              </a:rPr>
              <a:t>Numbers</a:t>
            </a:r>
          </a:p>
        </p:txBody>
      </p:sp>
      <p:sp>
        <p:nvSpPr>
          <p:cNvPr id="14" name="Rectangle 13">
            <a:extLst>
              <a:ext uri="{FF2B5EF4-FFF2-40B4-BE49-F238E27FC236}">
                <a16:creationId xmlns:a16="http://schemas.microsoft.com/office/drawing/2014/main" id="{50303AA1-BEFF-41D8-9766-DE477BC36652}"/>
              </a:ext>
            </a:extLst>
          </p:cNvPr>
          <p:cNvSpPr>
            <a:spLocks noGrp="1"/>
          </p:cNvSpPr>
          <p:nvPr/>
        </p:nvSpPr>
        <p:spPr>
          <a:xfrm>
            <a:off x="4619625" y="3162300"/>
            <a:ext cx="5905500" cy="381000"/>
          </a:xfrm>
          <a:prstGeom prst="rect">
            <a:avLst/>
          </a:prstGeom>
          <a:noFill/>
          <a:ln w="0">
            <a:noFill/>
            <a:prstDash val="solid"/>
          </a:ln>
        </p:spPr>
        <p:txBody>
          <a:bodyPr/>
          <a:lstStyle/>
          <a:p>
            <a:pPr>
              <a:buNone/>
              <a:defRPr sz="1500">
                <a:solidFill>
                  <a:srgbClr val="444444"/>
                </a:solidFill>
              </a:defRPr>
            </a:pPr>
            <a:r>
              <a:rPr sz="1500">
                <a:solidFill>
                  <a:srgbClr val="444444"/>
                </a:solidFill>
              </a:rPr>
              <a:t>cell lengths, angles, fractional coordinates</a:t>
            </a:r>
          </a:p>
        </p:txBody>
      </p:sp>
      <p:sp>
        <p:nvSpPr>
          <p:cNvPr id="15" name="Rectangle 14">
            <a:extLst>
              <a:ext uri="{FF2B5EF4-FFF2-40B4-BE49-F238E27FC236}">
                <a16:creationId xmlns:a16="http://schemas.microsoft.com/office/drawing/2014/main" id="{97AAF695-66F3-4390-9B45-5BDF760AB025}"/>
              </a:ext>
            </a:extLst>
          </p:cNvPr>
          <p:cNvSpPr>
            <a:spLocks noGrp="1"/>
          </p:cNvSpPr>
          <p:nvPr/>
        </p:nvSpPr>
        <p:spPr>
          <a:xfrm>
            <a:off x="1285875" y="3924300"/>
            <a:ext cx="533400" cy="533400"/>
          </a:xfrm>
          <a:prstGeom prst="rect">
            <a:avLst/>
          </a:prstGeom>
          <a:noFill/>
          <a:ln w="0">
            <a:noFill/>
            <a:prstDash val="solid"/>
          </a:ln>
        </p:spPr>
        <p:txBody>
          <a:bodyPr/>
          <a:lstStyle/>
          <a:p>
            <a:pPr algn="ctr">
              <a:buNone/>
              <a:defRPr sz="2250" b="1">
                <a:solidFill>
                  <a:srgbClr val="D97706"/>
                </a:solidFill>
              </a:defRPr>
            </a:pPr>
            <a:r>
              <a:rPr sz="2250" b="1">
                <a:solidFill>
                  <a:srgbClr val="D97706"/>
                </a:solidFill>
              </a:rPr>
              <a:t>4</a:t>
            </a:r>
          </a:p>
        </p:txBody>
      </p:sp>
      <p:sp>
        <p:nvSpPr>
          <p:cNvPr id="16" name="Rectangle 15">
            <a:extLst>
              <a:ext uri="{FF2B5EF4-FFF2-40B4-BE49-F238E27FC236}">
                <a16:creationId xmlns:a16="http://schemas.microsoft.com/office/drawing/2014/main" id="{23DEC1CA-1B9E-4EF5-A6BC-9C76FB396BFA}"/>
              </a:ext>
            </a:extLst>
          </p:cNvPr>
          <p:cNvSpPr>
            <a:spLocks noGrp="1"/>
          </p:cNvSpPr>
          <p:nvPr/>
        </p:nvSpPr>
        <p:spPr>
          <a:xfrm>
            <a:off x="2000250" y="3943350"/>
            <a:ext cx="2381250" cy="342900"/>
          </a:xfrm>
          <a:prstGeom prst="rect">
            <a:avLst/>
          </a:prstGeom>
          <a:noFill/>
          <a:ln w="0">
            <a:noFill/>
            <a:prstDash val="solid"/>
          </a:ln>
        </p:spPr>
        <p:txBody>
          <a:bodyPr/>
          <a:lstStyle/>
          <a:p>
            <a:pPr>
              <a:buNone/>
              <a:defRPr sz="1725" b="1">
                <a:solidFill>
                  <a:srgbClr val="222222"/>
                </a:solidFill>
              </a:defRPr>
            </a:pPr>
            <a:r>
              <a:rPr sz="1725" b="1">
                <a:solidFill>
                  <a:srgbClr val="222222"/>
                </a:solidFill>
              </a:rPr>
              <a:t>Punctuation / layout</a:t>
            </a:r>
          </a:p>
        </p:txBody>
      </p:sp>
      <p:sp>
        <p:nvSpPr>
          <p:cNvPr id="17" name="Rectangle 16">
            <a:extLst>
              <a:ext uri="{FF2B5EF4-FFF2-40B4-BE49-F238E27FC236}">
                <a16:creationId xmlns:a16="http://schemas.microsoft.com/office/drawing/2014/main" id="{BA95CB65-D4CE-45B8-A844-A4D10017543A}"/>
              </a:ext>
            </a:extLst>
          </p:cNvPr>
          <p:cNvSpPr>
            <a:spLocks noGrp="1"/>
          </p:cNvSpPr>
          <p:nvPr/>
        </p:nvSpPr>
        <p:spPr>
          <a:xfrm>
            <a:off x="4619625" y="3962400"/>
            <a:ext cx="5905500" cy="381000"/>
          </a:xfrm>
          <a:prstGeom prst="rect">
            <a:avLst/>
          </a:prstGeom>
          <a:noFill/>
          <a:ln w="0">
            <a:noFill/>
            <a:prstDash val="solid"/>
          </a:ln>
        </p:spPr>
        <p:txBody>
          <a:bodyPr/>
          <a:lstStyle/>
          <a:p>
            <a:pPr>
              <a:buNone/>
              <a:defRPr sz="1500">
                <a:solidFill>
                  <a:srgbClr val="444444"/>
                </a:solidFill>
              </a:defRPr>
            </a:pPr>
            <a:r>
              <a:rPr sz="1500">
                <a:solidFill>
                  <a:srgbClr val="444444"/>
                </a:solidFill>
              </a:rPr>
              <a:t>loops, line breaks, separators</a:t>
            </a:r>
          </a:p>
        </p:txBody>
      </p:sp>
      <p:sp>
        <p:nvSpPr>
          <p:cNvPr id="18" name="Rectangle 17">
            <a:extLst>
              <a:ext uri="{FF2B5EF4-FFF2-40B4-BE49-F238E27FC236}">
                <a16:creationId xmlns:a16="http://schemas.microsoft.com/office/drawing/2014/main" id="{1A825198-0A6D-4D1C-A14B-03434E753896}"/>
              </a:ext>
            </a:extLst>
          </p:cNvPr>
          <p:cNvSpPr>
            <a:spLocks noGrp="1"/>
          </p:cNvSpPr>
          <p:nvPr/>
        </p:nvSpPr>
        <p:spPr>
          <a:xfrm>
            <a:off x="1285875" y="4724400"/>
            <a:ext cx="533400" cy="533400"/>
          </a:xfrm>
          <a:prstGeom prst="rect">
            <a:avLst/>
          </a:prstGeom>
          <a:noFill/>
          <a:ln w="0">
            <a:noFill/>
            <a:prstDash val="solid"/>
          </a:ln>
        </p:spPr>
        <p:txBody>
          <a:bodyPr/>
          <a:lstStyle/>
          <a:p>
            <a:pPr algn="ctr">
              <a:buNone/>
              <a:defRPr sz="2250" b="1">
                <a:solidFill>
                  <a:srgbClr val="D97706"/>
                </a:solidFill>
              </a:defRPr>
            </a:pPr>
            <a:r>
              <a:rPr sz="2250" b="1">
                <a:solidFill>
                  <a:srgbClr val="D97706"/>
                </a:solidFill>
              </a:rPr>
              <a:t>5</a:t>
            </a:r>
          </a:p>
        </p:txBody>
      </p:sp>
      <p:sp>
        <p:nvSpPr>
          <p:cNvPr id="19" name="Rectangle 18">
            <a:extLst>
              <a:ext uri="{FF2B5EF4-FFF2-40B4-BE49-F238E27FC236}">
                <a16:creationId xmlns:a16="http://schemas.microsoft.com/office/drawing/2014/main" id="{5CBD2AA8-CCCF-4FA4-9C5F-1F2504FAE2ED}"/>
              </a:ext>
            </a:extLst>
          </p:cNvPr>
          <p:cNvSpPr>
            <a:spLocks noGrp="1"/>
          </p:cNvSpPr>
          <p:nvPr/>
        </p:nvSpPr>
        <p:spPr>
          <a:xfrm>
            <a:off x="2000250" y="4743450"/>
            <a:ext cx="2381250" cy="342900"/>
          </a:xfrm>
          <a:prstGeom prst="rect">
            <a:avLst/>
          </a:prstGeom>
          <a:noFill/>
          <a:ln w="0">
            <a:noFill/>
            <a:prstDash val="solid"/>
          </a:ln>
        </p:spPr>
        <p:txBody>
          <a:bodyPr/>
          <a:lstStyle/>
          <a:p>
            <a:pPr>
              <a:buNone/>
              <a:defRPr sz="1725" b="1">
                <a:solidFill>
                  <a:srgbClr val="222222"/>
                </a:solidFill>
              </a:defRPr>
            </a:pPr>
            <a:r>
              <a:rPr sz="1725" b="1">
                <a:solidFill>
                  <a:srgbClr val="222222"/>
                </a:solidFill>
              </a:rPr>
              <a:t>Local context</a:t>
            </a:r>
          </a:p>
        </p:txBody>
      </p:sp>
      <p:sp>
        <p:nvSpPr>
          <p:cNvPr id="20" name="Rectangle 19">
            <a:extLst>
              <a:ext uri="{FF2B5EF4-FFF2-40B4-BE49-F238E27FC236}">
                <a16:creationId xmlns:a16="http://schemas.microsoft.com/office/drawing/2014/main" id="{CC001EB5-B2D7-417D-9529-A5200877F0A1}"/>
              </a:ext>
            </a:extLst>
          </p:cNvPr>
          <p:cNvSpPr>
            <a:spLocks noGrp="1"/>
          </p:cNvSpPr>
          <p:nvPr/>
        </p:nvSpPr>
        <p:spPr>
          <a:xfrm>
            <a:off x="4619625" y="4762500"/>
            <a:ext cx="5905500" cy="381000"/>
          </a:xfrm>
          <a:prstGeom prst="rect">
            <a:avLst/>
          </a:prstGeom>
          <a:noFill/>
          <a:ln w="0">
            <a:noFill/>
            <a:prstDash val="solid"/>
          </a:ln>
        </p:spPr>
        <p:txBody>
          <a:bodyPr/>
          <a:lstStyle/>
          <a:p>
            <a:pPr>
              <a:buNone/>
              <a:defRPr sz="1500">
                <a:solidFill>
                  <a:srgbClr val="444444"/>
                </a:solidFill>
              </a:defRPr>
            </a:pPr>
            <a:r>
              <a:rPr sz="1500">
                <a:solidFill>
                  <a:srgbClr val="444444"/>
                </a:solidFill>
              </a:rPr>
              <a:t>which fields tend to appear together</a:t>
            </a:r>
          </a:p>
        </p:txBody>
      </p:sp>
      <p:sp>
        <p:nvSpPr>
          <p:cNvPr id="2" name="Date Placeholder 1">
            <a:extLst>
              <a:ext uri="{FF2B5EF4-FFF2-40B4-BE49-F238E27FC236}">
                <a16:creationId xmlns:a16="http://schemas.microsoft.com/office/drawing/2014/main" id="{769E3AB7-883C-C6E7-0CF9-3052BCDE68DB}"/>
              </a:ext>
            </a:extLst>
          </p:cNvPr>
          <p:cNvSpPr>
            <a:spLocks noGrp="1"/>
          </p:cNvSpPr>
          <p:nvPr>
            <p:ph type="dt" idx="10"/>
          </p:nvPr>
        </p:nvSpPr>
        <p:spPr/>
        <p:txBody>
          <a:bodyPr/>
          <a:lstStyle/>
          <a:p>
            <a:pPr>
              <a:buNone/>
            </a:pPr>
            <a:fld id="{BD464C9E-5CAD-45C1-81A1-3D3EEAFEA820}" type="datetime1">
              <a:rPr lang="en-US"/>
              <a:t>7/29/2026</a:t>
            </a:fld>
            <a:endParaRPr/>
          </a:p>
        </p:txBody>
      </p:sp>
      <p:sp>
        <p:nvSpPr>
          <p:cNvPr id="3" name="Footer Placeholder 2">
            <a:extLst>
              <a:ext uri="{FF2B5EF4-FFF2-40B4-BE49-F238E27FC236}">
                <a16:creationId xmlns:a16="http://schemas.microsoft.com/office/drawing/2014/main" id="{629D691F-E6C4-538F-B660-3E589A44D7FE}"/>
              </a:ext>
            </a:extLst>
          </p:cNvPr>
          <p:cNvSpPr>
            <a:spLocks noGrp="1"/>
          </p:cNvSpPr>
          <p:nvPr>
            <p:ph type="ftr" idx="11"/>
          </p:nvPr>
        </p:nvSpPr>
        <p:spPr/>
        <p:txBody>
          <a:bodyPr/>
          <a:lstStyle/>
          <a:p>
            <a:pPr>
              <a:buNone/>
            </a:pPr>
            <a:r>
              <a:t>Introduction to Deep Learning - PSDI &amp; Royce Materials Data Summit</a:t>
            </a:r>
          </a:p>
        </p:txBody>
      </p:sp>
      <p:sp>
        <p:nvSpPr>
          <p:cNvPr id="4" name="Slide Number Placeholder 3">
            <a:extLst>
              <a:ext uri="{FF2B5EF4-FFF2-40B4-BE49-F238E27FC236}">
                <a16:creationId xmlns:a16="http://schemas.microsoft.com/office/drawing/2014/main" id="{D2995692-939C-243E-99A0-84D9D40909C2}"/>
              </a:ext>
            </a:extLst>
          </p:cNvPr>
          <p:cNvSpPr>
            <a:spLocks noGrp="1"/>
          </p:cNvSpPr>
          <p:nvPr>
            <p:ph type="sldNum" idx="12"/>
          </p:nvPr>
        </p:nvSpPr>
        <p:spPr/>
        <p:txBody>
          <a:bodyPr/>
          <a:lstStyle/>
          <a:p>
            <a:pPr>
              <a:buNone/>
            </a:pPr>
            <a:fld id="{B5CEABB6-07DC-46E8-9B57-56EC44A396E5}" type="slidenum">
              <a:rPr/>
              <a:t>25</a:t>
            </a:fld>
            <a:endParaRPr/>
          </a:p>
        </p:txBody>
      </p:sp>
    </p:spTree>
    <p:extLst>
      <p:ext uri="{BB962C8B-B14F-4D97-AF65-F5344CB8AC3E}">
        <p14:creationId xmlns:p14="http://schemas.microsoft.com/office/powerpoint/2010/main" val="9372756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8475E-C468-F568-A5BB-9463D65712B9}"/>
              </a:ext>
            </a:extLst>
          </p:cNvPr>
          <p:cNvSpPr>
            <a:spLocks noGrp="1"/>
          </p:cNvSpPr>
          <p:nvPr>
            <p:ph type="title"/>
          </p:nvPr>
        </p:nvSpPr>
        <p:spPr/>
        <p:txBody>
          <a:bodyPr/>
          <a:lstStyle/>
          <a:p>
            <a:pPr>
              <a:buNone/>
              <a:defRPr sz="2250" b="0">
                <a:solidFill>
                  <a:srgbClr val="111111"/>
                </a:solidFill>
              </a:defRPr>
            </a:pPr>
            <a:r>
              <a:rPr sz="2250" b="0">
                <a:solidFill>
                  <a:srgbClr val="111111"/>
                </a:solidFill>
              </a:rPr>
              <a:t>Attention selects relevant context</a:t>
            </a:r>
          </a:p>
        </p:txBody>
      </p:sp>
      <p:sp>
        <p:nvSpPr>
          <p:cNvPr id="11" name="TextBox 10">
            <a:extLst>
              <a:ext uri="{FF2B5EF4-FFF2-40B4-BE49-F238E27FC236}">
                <a16:creationId xmlns:a16="http://schemas.microsoft.com/office/drawing/2014/main" id="{2B8B9646-AEDA-CA01-90E9-E63C559C0505}"/>
              </a:ext>
            </a:extLst>
          </p:cNvPr>
          <p:cNvSpPr>
            <a:spLocks noGrp="1"/>
          </p:cNvSpPr>
          <p:nvPr/>
        </p:nvSpPr>
        <p:spPr>
          <a:xfrm>
            <a:off x="3023292" y="4963456"/>
            <a:ext cx="6992983" cy="640080"/>
          </a:xfrm>
          <a:prstGeom prst="rect">
            <a:avLst/>
          </a:prstGeom>
          <a:noFill/>
        </p:spPr>
        <p:txBody>
          <a:bodyPr wrap="square">
            <a:spAutoFit/>
          </a:bodyPr>
          <a:lstStyle/>
          <a:p>
            <a:pPr>
              <a:buNone/>
              <a:defRPr sz="1500">
                <a:solidFill>
                  <a:srgbClr val="333333"/>
                </a:solidFill>
              </a:defRPr>
            </a:pPr>
            <a:r>
              <a:rPr sz="1500">
                <a:solidFill>
                  <a:srgbClr val="333333"/>
                </a:solidFill>
              </a:rPr>
              <a:t>Attention answers: which other tokens are relevant for this token right now?</a:t>
            </a:r>
          </a:p>
        </p:txBody>
      </p:sp>
      <p:sp>
        <p:nvSpPr>
          <p:cNvPr id="3" name="TextBox 2">
            <a:extLst>
              <a:ext uri="{FF2B5EF4-FFF2-40B4-BE49-F238E27FC236}">
                <a16:creationId xmlns:a16="http://schemas.microsoft.com/office/drawing/2014/main" id="{BC1908D8-7B1A-3E42-9FDA-5A380D24BF04}"/>
              </a:ext>
            </a:extLst>
          </p:cNvPr>
          <p:cNvSpPr>
            <a:spLocks noGrp="1"/>
          </p:cNvSpPr>
          <p:nvPr/>
        </p:nvSpPr>
        <p:spPr>
          <a:xfrm>
            <a:off x="2708564" y="3483032"/>
            <a:ext cx="6923306" cy="769441"/>
          </a:xfrm>
          <a:prstGeom prst="rect">
            <a:avLst/>
          </a:prstGeom>
          <a:noFill/>
        </p:spPr>
        <p:txBody>
          <a:bodyPr wrap="none">
            <a:spAutoFit/>
          </a:bodyPr>
          <a:lstStyle/>
          <a:p>
            <a:r>
              <a:rPr sz="4400"/>
              <a:t>She is </a:t>
            </a:r>
            <a:r>
              <a:rPr sz="4400">
                <a:solidFill>
                  <a:schemeClr val="accent5"/>
                </a:solidFill>
              </a:rPr>
              <a:t>eating</a:t>
            </a:r>
            <a:r>
              <a:rPr sz="4400"/>
              <a:t> a </a:t>
            </a:r>
            <a:r>
              <a:rPr sz="4400">
                <a:solidFill>
                  <a:schemeClr val="accent6">
                    <a:lumMod val="75000"/>
                  </a:schemeClr>
                </a:solidFill>
              </a:rPr>
              <a:t>green</a:t>
            </a:r>
            <a:r>
              <a:rPr sz="4400"/>
              <a:t> </a:t>
            </a:r>
            <a:r>
              <a:rPr sz="4400">
                <a:solidFill>
                  <a:srgbClr val="FF0000"/>
                </a:solidFill>
              </a:rPr>
              <a:t>apple</a:t>
            </a:r>
            <a:r>
              <a:rPr sz="4400"/>
              <a:t>.</a:t>
            </a:r>
          </a:p>
        </p:txBody>
      </p:sp>
      <p:sp>
        <p:nvSpPr>
          <p:cNvPr id="12" name="Straight Connector 11">
            <a:extLst>
              <a:ext uri="{FF2B5EF4-FFF2-40B4-BE49-F238E27FC236}">
                <a16:creationId xmlns:a16="http://schemas.microsoft.com/office/drawing/2014/main" id="{03167A55-94BA-418A-B60B-DA842828E4D6}"/>
              </a:ext>
            </a:extLst>
          </p:cNvPr>
          <p:cNvSpPr>
            <a:spLocks noGrp="1"/>
          </p:cNvSpPr>
          <p:nvPr/>
        </p:nvSpPr>
        <p:spPr>
          <a:xfrm flipV="1">
            <a:off x="5191298" y="3179618"/>
            <a:ext cx="0" cy="440575"/>
          </a:xfrm>
          <a:prstGeom prst="line">
            <a:avLst/>
          </a:prstGeom>
          <a:ln w="28575">
            <a:prstDash val="dash"/>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13" name="Straight Connector 12">
            <a:extLst>
              <a:ext uri="{FF2B5EF4-FFF2-40B4-BE49-F238E27FC236}">
                <a16:creationId xmlns:a16="http://schemas.microsoft.com/office/drawing/2014/main" id="{ADC2F624-7D7C-4E43-AF94-6F67DF6DB7AB}"/>
              </a:ext>
            </a:extLst>
          </p:cNvPr>
          <p:cNvSpPr>
            <a:spLocks noGrp="1"/>
          </p:cNvSpPr>
          <p:nvPr/>
        </p:nvSpPr>
        <p:spPr>
          <a:xfrm flipV="1">
            <a:off x="7085215" y="3179618"/>
            <a:ext cx="0" cy="440575"/>
          </a:xfrm>
          <a:prstGeom prst="line">
            <a:avLst/>
          </a:prstGeom>
          <a:ln w="28575">
            <a:prstDash val="dash"/>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15" name="Straight Connector 14">
            <a:extLst>
              <a:ext uri="{FF2B5EF4-FFF2-40B4-BE49-F238E27FC236}">
                <a16:creationId xmlns:a16="http://schemas.microsoft.com/office/drawing/2014/main" id="{26A35351-A890-4AFD-ACD6-B4FD48AA339E}"/>
              </a:ext>
            </a:extLst>
          </p:cNvPr>
          <p:cNvSpPr>
            <a:spLocks noGrp="1"/>
          </p:cNvSpPr>
          <p:nvPr/>
        </p:nvSpPr>
        <p:spPr>
          <a:xfrm flipV="1">
            <a:off x="4562301" y="2859578"/>
            <a:ext cx="0" cy="76061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18" name="Straight Connector 17">
            <a:extLst>
              <a:ext uri="{FF2B5EF4-FFF2-40B4-BE49-F238E27FC236}">
                <a16:creationId xmlns:a16="http://schemas.microsoft.com/office/drawing/2014/main" id="{2D450573-287B-46A5-9D88-0A106E76C06F}"/>
              </a:ext>
            </a:extLst>
          </p:cNvPr>
          <p:cNvSpPr>
            <a:spLocks noGrp="1"/>
          </p:cNvSpPr>
          <p:nvPr/>
        </p:nvSpPr>
        <p:spPr>
          <a:xfrm flipV="1">
            <a:off x="8546868" y="2859578"/>
            <a:ext cx="0" cy="76061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20" name="Straight Connector 19">
            <a:extLst>
              <a:ext uri="{FF2B5EF4-FFF2-40B4-BE49-F238E27FC236}">
                <a16:creationId xmlns:a16="http://schemas.microsoft.com/office/drawing/2014/main" id="{34F1D259-0B25-469F-B7FD-668180E9BAFD}"/>
              </a:ext>
            </a:extLst>
          </p:cNvPr>
          <p:cNvSpPr>
            <a:spLocks noGrp="1"/>
          </p:cNvSpPr>
          <p:nvPr/>
        </p:nvSpPr>
        <p:spPr>
          <a:xfrm>
            <a:off x="5191298" y="3179618"/>
            <a:ext cx="1893917"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22" name="Straight Connector 21">
            <a:extLst>
              <a:ext uri="{FF2B5EF4-FFF2-40B4-BE49-F238E27FC236}">
                <a16:creationId xmlns:a16="http://schemas.microsoft.com/office/drawing/2014/main" id="{E4C738C6-7DF6-428A-A045-4004AEC76987}"/>
              </a:ext>
            </a:extLst>
          </p:cNvPr>
          <p:cNvSpPr>
            <a:spLocks noGrp="1"/>
          </p:cNvSpPr>
          <p:nvPr/>
        </p:nvSpPr>
        <p:spPr>
          <a:xfrm>
            <a:off x="4562301" y="2859578"/>
            <a:ext cx="398456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23" name="TextBox 22">
            <a:extLst>
              <a:ext uri="{FF2B5EF4-FFF2-40B4-BE49-F238E27FC236}">
                <a16:creationId xmlns:a16="http://schemas.microsoft.com/office/drawing/2014/main" id="{C67F706A-321E-F636-34F1-40E651F5D475}"/>
              </a:ext>
            </a:extLst>
          </p:cNvPr>
          <p:cNvSpPr>
            <a:spLocks noGrp="1"/>
          </p:cNvSpPr>
          <p:nvPr/>
        </p:nvSpPr>
        <p:spPr>
          <a:xfrm>
            <a:off x="5839792" y="2494000"/>
            <a:ext cx="1616533" cy="369332"/>
          </a:xfrm>
          <a:prstGeom prst="rect">
            <a:avLst/>
          </a:prstGeom>
          <a:noFill/>
        </p:spPr>
        <p:txBody>
          <a:bodyPr wrap="none">
            <a:spAutoFit/>
          </a:bodyPr>
          <a:lstStyle/>
          <a:p>
            <a:r>
              <a:t>High attention</a:t>
            </a:r>
          </a:p>
        </p:txBody>
      </p:sp>
      <p:sp>
        <p:nvSpPr>
          <p:cNvPr id="24" name="TextBox 23">
            <a:extLst>
              <a:ext uri="{FF2B5EF4-FFF2-40B4-BE49-F238E27FC236}">
                <a16:creationId xmlns:a16="http://schemas.microsoft.com/office/drawing/2014/main" id="{32FAF6AB-5A63-A385-64F2-973EE8B7CF27}"/>
              </a:ext>
            </a:extLst>
          </p:cNvPr>
          <p:cNvSpPr>
            <a:spLocks noGrp="1"/>
          </p:cNvSpPr>
          <p:nvPr/>
        </p:nvSpPr>
        <p:spPr>
          <a:xfrm>
            <a:off x="5380946" y="3183372"/>
            <a:ext cx="1563954" cy="369332"/>
          </a:xfrm>
          <a:prstGeom prst="rect">
            <a:avLst/>
          </a:prstGeom>
          <a:noFill/>
        </p:spPr>
        <p:txBody>
          <a:bodyPr wrap="none">
            <a:spAutoFit/>
          </a:bodyPr>
          <a:lstStyle/>
          <a:p>
            <a:r>
              <a:rPr>
                <a:solidFill>
                  <a:schemeClr val="bg1">
                    <a:lumMod val="50000"/>
                  </a:schemeClr>
                </a:solidFill>
              </a:rPr>
              <a:t>Low attention</a:t>
            </a:r>
          </a:p>
        </p:txBody>
      </p:sp>
      <p:sp>
        <p:nvSpPr>
          <p:cNvPr id="4" name="Date Placeholder 3">
            <a:extLst>
              <a:ext uri="{FF2B5EF4-FFF2-40B4-BE49-F238E27FC236}">
                <a16:creationId xmlns:a16="http://schemas.microsoft.com/office/drawing/2014/main" id="{7BAB0BD0-F116-24E1-81AF-31A35FFDC84D}"/>
              </a:ext>
            </a:extLst>
          </p:cNvPr>
          <p:cNvSpPr>
            <a:spLocks noGrp="1"/>
          </p:cNvSpPr>
          <p:nvPr>
            <p:ph type="dt" idx="10"/>
          </p:nvPr>
        </p:nvSpPr>
        <p:spPr/>
        <p:txBody>
          <a:bodyPr/>
          <a:lstStyle/>
          <a:p>
            <a:pPr>
              <a:buNone/>
            </a:pPr>
            <a:fld id="{40A07D1A-8763-4068-888D-79BF937C15B6}" type="datetime1">
              <a:rPr lang="en-US"/>
              <a:t>7/29/2026</a:t>
            </a:fld>
            <a:endParaRPr/>
          </a:p>
        </p:txBody>
      </p:sp>
      <p:sp>
        <p:nvSpPr>
          <p:cNvPr id="5" name="Footer Placeholder 4">
            <a:extLst>
              <a:ext uri="{FF2B5EF4-FFF2-40B4-BE49-F238E27FC236}">
                <a16:creationId xmlns:a16="http://schemas.microsoft.com/office/drawing/2014/main" id="{E6242D9B-D709-B387-39FD-1B933196D1D0}"/>
              </a:ext>
            </a:extLst>
          </p:cNvPr>
          <p:cNvSpPr>
            <a:spLocks noGrp="1"/>
          </p:cNvSpPr>
          <p:nvPr>
            <p:ph type="ftr" idx="11"/>
          </p:nvPr>
        </p:nvSpPr>
        <p:spPr/>
        <p:txBody>
          <a:bodyPr/>
          <a:lstStyle/>
          <a:p>
            <a:pPr>
              <a:buNone/>
            </a:pPr>
            <a:r>
              <a:t>Introduction to Deep Learning - PSDI &amp; Royce Materials Data Summit</a:t>
            </a:r>
          </a:p>
        </p:txBody>
      </p:sp>
      <p:sp>
        <p:nvSpPr>
          <p:cNvPr id="6" name="Slide Number Placeholder 5">
            <a:extLst>
              <a:ext uri="{FF2B5EF4-FFF2-40B4-BE49-F238E27FC236}">
                <a16:creationId xmlns:a16="http://schemas.microsoft.com/office/drawing/2014/main" id="{2DE9A939-CE80-B935-E764-73EEF01B4A31}"/>
              </a:ext>
            </a:extLst>
          </p:cNvPr>
          <p:cNvSpPr>
            <a:spLocks noGrp="1"/>
          </p:cNvSpPr>
          <p:nvPr>
            <p:ph type="sldNum" idx="12"/>
          </p:nvPr>
        </p:nvSpPr>
        <p:spPr/>
        <p:txBody>
          <a:bodyPr/>
          <a:lstStyle/>
          <a:p>
            <a:pPr>
              <a:buNone/>
            </a:pPr>
            <a:fld id="{B5CEABB6-07DC-46E8-9B57-56EC44A396E5}" type="slidenum">
              <a:rPr/>
              <a:t>26</a:t>
            </a:fld>
            <a:endParaRPr/>
          </a:p>
        </p:txBody>
      </p:sp>
    </p:spTree>
    <p:extLst>
      <p:ext uri="{BB962C8B-B14F-4D97-AF65-F5344CB8AC3E}">
        <p14:creationId xmlns:p14="http://schemas.microsoft.com/office/powerpoint/2010/main" val="15674918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22FF9A6-F38D-476D-9B3C-28D076535448}"/>
              </a:ext>
            </a:extLst>
          </p:cNvPr>
          <p:cNvSpPr>
            <a:spLocks noGrp="1"/>
          </p:cNvSpPr>
          <p:nvPr/>
        </p:nvSpPr>
        <p:spPr>
          <a:xfrm>
            <a:off x="838200" y="881759"/>
            <a:ext cx="10515600" cy="762000"/>
          </a:xfrm>
          <a:prstGeom prst="rect">
            <a:avLst/>
          </a:prstGeom>
          <a:noFill/>
          <a:ln w="0">
            <a:noFill/>
            <a:prstDash val="solid"/>
          </a:ln>
        </p:spPr>
        <p:txBody>
          <a:bodyPr anchor="ctr"/>
          <a:lstStyle/>
          <a:p>
            <a:pPr algn="ctr">
              <a:buNone/>
              <a:defRPr sz="2175">
                <a:solidFill>
                  <a:srgbClr val="111111"/>
                </a:solidFill>
              </a:defRPr>
            </a:pPr>
            <a:r>
              <a:rPr sz="2175">
                <a:solidFill>
                  <a:srgbClr val="111111"/>
                </a:solidFill>
              </a:rPr>
              <a:t>THE HANDOFF: QUERIES, KEYS, AND VALUES</a:t>
            </a:r>
          </a:p>
        </p:txBody>
      </p:sp>
      <p:sp>
        <p:nvSpPr>
          <p:cNvPr id="8" name="Rectangle: Rounded Corners 7">
            <a:extLst>
              <a:ext uri="{FF2B5EF4-FFF2-40B4-BE49-F238E27FC236}">
                <a16:creationId xmlns:a16="http://schemas.microsoft.com/office/drawing/2014/main" id="{2F6A58E3-D262-425F-BDE0-49054F41A09F}"/>
              </a:ext>
            </a:extLst>
          </p:cNvPr>
          <p:cNvSpPr>
            <a:spLocks noGrp="1"/>
          </p:cNvSpPr>
          <p:nvPr/>
        </p:nvSpPr>
        <p:spPr>
          <a:xfrm>
            <a:off x="1295400" y="2110484"/>
            <a:ext cx="2857500" cy="2857500"/>
          </a:xfrm>
          <a:prstGeom prst="roundRect">
            <a:avLst>
              <a:gd name="adj" fmla="val 2667"/>
            </a:avLst>
          </a:prstGeom>
          <a:solidFill>
            <a:srgbClr val="F8F8F8"/>
          </a:solidFill>
          <a:ln w="9525">
            <a:solidFill>
              <a:srgbClr val="DEDEDE"/>
            </a:solidFill>
            <a:prstDash val="solid"/>
          </a:ln>
        </p:spPr>
        <p:txBody>
          <a:bodyPr/>
          <a:lstStyle/>
          <a:p>
            <a:endParaRPr/>
          </a:p>
        </p:txBody>
      </p:sp>
      <p:sp>
        <p:nvSpPr>
          <p:cNvPr id="9" name="Rectangle 8">
            <a:extLst>
              <a:ext uri="{FF2B5EF4-FFF2-40B4-BE49-F238E27FC236}">
                <a16:creationId xmlns:a16="http://schemas.microsoft.com/office/drawing/2014/main" id="{96210C57-5C89-4949-AB3B-C74D1B5740B1}"/>
              </a:ext>
            </a:extLst>
          </p:cNvPr>
          <p:cNvSpPr>
            <a:spLocks noGrp="1"/>
          </p:cNvSpPr>
          <p:nvPr/>
        </p:nvSpPr>
        <p:spPr>
          <a:xfrm>
            <a:off x="1466850" y="2281934"/>
            <a:ext cx="800100" cy="38100"/>
          </a:xfrm>
          <a:prstGeom prst="rect">
            <a:avLst/>
          </a:prstGeom>
          <a:solidFill>
            <a:srgbClr val="D97706"/>
          </a:solidFill>
          <a:ln w="0">
            <a:solidFill>
              <a:srgbClr val="D97706"/>
            </a:solidFill>
            <a:prstDash val="solid"/>
          </a:ln>
        </p:spPr>
        <p:txBody>
          <a:bodyPr/>
          <a:lstStyle/>
          <a:p>
            <a:endParaRPr/>
          </a:p>
        </p:txBody>
      </p:sp>
      <p:sp>
        <p:nvSpPr>
          <p:cNvPr id="10" name="Rectangle 9">
            <a:extLst>
              <a:ext uri="{FF2B5EF4-FFF2-40B4-BE49-F238E27FC236}">
                <a16:creationId xmlns:a16="http://schemas.microsoft.com/office/drawing/2014/main" id="{BF5273D7-F6AB-4D69-9D8E-542C682CF2D8}"/>
              </a:ext>
            </a:extLst>
          </p:cNvPr>
          <p:cNvSpPr>
            <a:spLocks noGrp="1"/>
          </p:cNvSpPr>
          <p:nvPr/>
        </p:nvSpPr>
        <p:spPr>
          <a:xfrm>
            <a:off x="1466850" y="2510534"/>
            <a:ext cx="2514600" cy="400050"/>
          </a:xfrm>
          <a:prstGeom prst="rect">
            <a:avLst/>
          </a:prstGeom>
          <a:noFill/>
          <a:ln w="0">
            <a:noFill/>
            <a:prstDash val="solid"/>
          </a:ln>
        </p:spPr>
        <p:txBody>
          <a:bodyPr/>
          <a:lstStyle/>
          <a:p>
            <a:pPr>
              <a:buNone/>
              <a:defRPr sz="1650" b="1">
                <a:solidFill>
                  <a:srgbClr val="222222"/>
                </a:solidFill>
              </a:defRPr>
            </a:pPr>
            <a:r>
              <a:rPr b="1">
                <a:solidFill>
                  <a:srgbClr val="222222"/>
                </a:solidFill>
              </a:rPr>
              <a:t>Query</a:t>
            </a:r>
          </a:p>
        </p:txBody>
      </p:sp>
      <p:sp>
        <p:nvSpPr>
          <p:cNvPr id="11" name="Rectangle 10">
            <a:extLst>
              <a:ext uri="{FF2B5EF4-FFF2-40B4-BE49-F238E27FC236}">
                <a16:creationId xmlns:a16="http://schemas.microsoft.com/office/drawing/2014/main" id="{56C34D16-E841-41AB-AD26-28E7191D3B70}"/>
              </a:ext>
            </a:extLst>
          </p:cNvPr>
          <p:cNvSpPr>
            <a:spLocks noGrp="1"/>
          </p:cNvSpPr>
          <p:nvPr/>
        </p:nvSpPr>
        <p:spPr>
          <a:xfrm>
            <a:off x="1466850" y="2986784"/>
            <a:ext cx="2514600" cy="1828800"/>
          </a:xfrm>
          <a:prstGeom prst="rect">
            <a:avLst/>
          </a:prstGeom>
          <a:noFill/>
          <a:ln w="0">
            <a:noFill/>
            <a:prstDash val="solid"/>
          </a:ln>
        </p:spPr>
        <p:txBody>
          <a:bodyPr/>
          <a:lstStyle/>
          <a:p>
            <a:pPr>
              <a:buNone/>
              <a:defRPr sz="1275">
                <a:solidFill>
                  <a:srgbClr val="3A3A3A"/>
                </a:solidFill>
              </a:defRPr>
            </a:pPr>
            <a:r>
              <a:rPr sz="1600">
                <a:solidFill>
                  <a:srgbClr val="3A3A3A"/>
                </a:solidFill>
              </a:rPr>
              <a:t>What information is this token looking for?</a:t>
            </a:r>
          </a:p>
        </p:txBody>
      </p:sp>
      <p:sp>
        <p:nvSpPr>
          <p:cNvPr id="12" name="Rectangle: Rounded Corners 11">
            <a:extLst>
              <a:ext uri="{FF2B5EF4-FFF2-40B4-BE49-F238E27FC236}">
                <a16:creationId xmlns:a16="http://schemas.microsoft.com/office/drawing/2014/main" id="{EE1D7A17-D927-44B4-8D53-1C2F926C45C0}"/>
              </a:ext>
            </a:extLst>
          </p:cNvPr>
          <p:cNvSpPr>
            <a:spLocks noGrp="1"/>
          </p:cNvSpPr>
          <p:nvPr/>
        </p:nvSpPr>
        <p:spPr>
          <a:xfrm>
            <a:off x="4724400" y="2110484"/>
            <a:ext cx="2857500" cy="2857500"/>
          </a:xfrm>
          <a:prstGeom prst="roundRect">
            <a:avLst>
              <a:gd name="adj" fmla="val 2667"/>
            </a:avLst>
          </a:prstGeom>
          <a:solidFill>
            <a:srgbClr val="F8F8F8"/>
          </a:solidFill>
          <a:ln w="9525">
            <a:solidFill>
              <a:srgbClr val="DEDEDE"/>
            </a:solidFill>
            <a:prstDash val="solid"/>
          </a:ln>
        </p:spPr>
        <p:txBody>
          <a:bodyPr/>
          <a:lstStyle/>
          <a:p>
            <a:endParaRPr/>
          </a:p>
        </p:txBody>
      </p:sp>
      <p:sp>
        <p:nvSpPr>
          <p:cNvPr id="13" name="Rectangle 12">
            <a:extLst>
              <a:ext uri="{FF2B5EF4-FFF2-40B4-BE49-F238E27FC236}">
                <a16:creationId xmlns:a16="http://schemas.microsoft.com/office/drawing/2014/main" id="{B76A466E-8B68-4C18-8C1E-64ECB5D33112}"/>
              </a:ext>
            </a:extLst>
          </p:cNvPr>
          <p:cNvSpPr>
            <a:spLocks noGrp="1"/>
          </p:cNvSpPr>
          <p:nvPr/>
        </p:nvSpPr>
        <p:spPr>
          <a:xfrm>
            <a:off x="4895850" y="2281934"/>
            <a:ext cx="800100" cy="38100"/>
          </a:xfrm>
          <a:prstGeom prst="rect">
            <a:avLst/>
          </a:prstGeom>
          <a:solidFill>
            <a:srgbClr val="4F8CC9"/>
          </a:solidFill>
          <a:ln w="0">
            <a:solidFill>
              <a:srgbClr val="4F8CC9"/>
            </a:solidFill>
            <a:prstDash val="solid"/>
          </a:ln>
        </p:spPr>
        <p:txBody>
          <a:bodyPr/>
          <a:lstStyle/>
          <a:p>
            <a:endParaRPr/>
          </a:p>
        </p:txBody>
      </p:sp>
      <p:sp>
        <p:nvSpPr>
          <p:cNvPr id="14" name="Rectangle 13">
            <a:extLst>
              <a:ext uri="{FF2B5EF4-FFF2-40B4-BE49-F238E27FC236}">
                <a16:creationId xmlns:a16="http://schemas.microsoft.com/office/drawing/2014/main" id="{F42D3EDF-02B1-4AD1-BB1D-F25BBE23DA2F}"/>
              </a:ext>
            </a:extLst>
          </p:cNvPr>
          <p:cNvSpPr>
            <a:spLocks noGrp="1"/>
          </p:cNvSpPr>
          <p:nvPr/>
        </p:nvSpPr>
        <p:spPr>
          <a:xfrm>
            <a:off x="4895850" y="2510534"/>
            <a:ext cx="2514600" cy="400050"/>
          </a:xfrm>
          <a:prstGeom prst="rect">
            <a:avLst/>
          </a:prstGeom>
          <a:noFill/>
          <a:ln w="0">
            <a:noFill/>
            <a:prstDash val="solid"/>
          </a:ln>
        </p:spPr>
        <p:txBody>
          <a:bodyPr/>
          <a:lstStyle/>
          <a:p>
            <a:pPr>
              <a:buNone/>
              <a:defRPr sz="1650" b="1">
                <a:solidFill>
                  <a:srgbClr val="222222"/>
                </a:solidFill>
              </a:defRPr>
            </a:pPr>
            <a:r>
              <a:rPr b="1">
                <a:solidFill>
                  <a:srgbClr val="222222"/>
                </a:solidFill>
              </a:rPr>
              <a:t>Key</a:t>
            </a:r>
          </a:p>
        </p:txBody>
      </p:sp>
      <p:sp>
        <p:nvSpPr>
          <p:cNvPr id="15" name="Rectangle 14">
            <a:extLst>
              <a:ext uri="{FF2B5EF4-FFF2-40B4-BE49-F238E27FC236}">
                <a16:creationId xmlns:a16="http://schemas.microsoft.com/office/drawing/2014/main" id="{80F051A1-CAA8-40E8-A523-01F4C1C3A750}"/>
              </a:ext>
            </a:extLst>
          </p:cNvPr>
          <p:cNvSpPr>
            <a:spLocks noGrp="1"/>
          </p:cNvSpPr>
          <p:nvPr/>
        </p:nvSpPr>
        <p:spPr>
          <a:xfrm>
            <a:off x="4895850" y="2986784"/>
            <a:ext cx="2514600" cy="1828800"/>
          </a:xfrm>
          <a:prstGeom prst="rect">
            <a:avLst/>
          </a:prstGeom>
          <a:noFill/>
          <a:ln w="0">
            <a:noFill/>
            <a:prstDash val="solid"/>
          </a:ln>
        </p:spPr>
        <p:txBody>
          <a:bodyPr/>
          <a:lstStyle/>
          <a:p>
            <a:pPr>
              <a:buNone/>
              <a:defRPr sz="1275">
                <a:solidFill>
                  <a:srgbClr val="3A3A3A"/>
                </a:solidFill>
              </a:defRPr>
            </a:pPr>
            <a:r>
              <a:rPr sz="1600">
                <a:solidFill>
                  <a:srgbClr val="3A3A3A"/>
                </a:solidFill>
              </a:rPr>
              <a:t>What information does another token advertise?</a:t>
            </a:r>
          </a:p>
        </p:txBody>
      </p:sp>
      <p:sp>
        <p:nvSpPr>
          <p:cNvPr id="16" name="Rectangle: Rounded Corners 15">
            <a:extLst>
              <a:ext uri="{FF2B5EF4-FFF2-40B4-BE49-F238E27FC236}">
                <a16:creationId xmlns:a16="http://schemas.microsoft.com/office/drawing/2014/main" id="{CC57D342-BE03-4F9F-BC02-FEC5F3170123}"/>
              </a:ext>
            </a:extLst>
          </p:cNvPr>
          <p:cNvSpPr>
            <a:spLocks noGrp="1"/>
          </p:cNvSpPr>
          <p:nvPr/>
        </p:nvSpPr>
        <p:spPr>
          <a:xfrm>
            <a:off x="8153400" y="2110484"/>
            <a:ext cx="2857500" cy="2857500"/>
          </a:xfrm>
          <a:prstGeom prst="roundRect">
            <a:avLst>
              <a:gd name="adj" fmla="val 2667"/>
            </a:avLst>
          </a:prstGeom>
          <a:solidFill>
            <a:srgbClr val="F8F8F8"/>
          </a:solidFill>
          <a:ln w="9525">
            <a:solidFill>
              <a:srgbClr val="DEDEDE"/>
            </a:solidFill>
            <a:prstDash val="solid"/>
          </a:ln>
        </p:spPr>
        <p:txBody>
          <a:bodyPr/>
          <a:lstStyle/>
          <a:p>
            <a:endParaRPr/>
          </a:p>
        </p:txBody>
      </p:sp>
      <p:sp>
        <p:nvSpPr>
          <p:cNvPr id="17" name="Rectangle 16">
            <a:extLst>
              <a:ext uri="{FF2B5EF4-FFF2-40B4-BE49-F238E27FC236}">
                <a16:creationId xmlns:a16="http://schemas.microsoft.com/office/drawing/2014/main" id="{21CAE36D-E1C4-4C2A-AE3C-DD8629AF9C45}"/>
              </a:ext>
            </a:extLst>
          </p:cNvPr>
          <p:cNvSpPr>
            <a:spLocks noGrp="1"/>
          </p:cNvSpPr>
          <p:nvPr/>
        </p:nvSpPr>
        <p:spPr>
          <a:xfrm>
            <a:off x="8324850" y="2281934"/>
            <a:ext cx="800100" cy="38100"/>
          </a:xfrm>
          <a:prstGeom prst="rect">
            <a:avLst/>
          </a:prstGeom>
          <a:solidFill>
            <a:srgbClr val="57A773"/>
          </a:solidFill>
          <a:ln w="0">
            <a:solidFill>
              <a:srgbClr val="57A773"/>
            </a:solidFill>
            <a:prstDash val="solid"/>
          </a:ln>
        </p:spPr>
        <p:txBody>
          <a:bodyPr/>
          <a:lstStyle/>
          <a:p>
            <a:endParaRPr/>
          </a:p>
        </p:txBody>
      </p:sp>
      <p:sp>
        <p:nvSpPr>
          <p:cNvPr id="18" name="Rectangle 17">
            <a:extLst>
              <a:ext uri="{FF2B5EF4-FFF2-40B4-BE49-F238E27FC236}">
                <a16:creationId xmlns:a16="http://schemas.microsoft.com/office/drawing/2014/main" id="{66BAA73E-D1D3-427D-9D16-3CF5B67F3C1B}"/>
              </a:ext>
            </a:extLst>
          </p:cNvPr>
          <p:cNvSpPr>
            <a:spLocks noGrp="1"/>
          </p:cNvSpPr>
          <p:nvPr/>
        </p:nvSpPr>
        <p:spPr>
          <a:xfrm>
            <a:off x="8324850" y="2510534"/>
            <a:ext cx="2514600" cy="400050"/>
          </a:xfrm>
          <a:prstGeom prst="rect">
            <a:avLst/>
          </a:prstGeom>
          <a:noFill/>
          <a:ln w="0">
            <a:noFill/>
            <a:prstDash val="solid"/>
          </a:ln>
        </p:spPr>
        <p:txBody>
          <a:bodyPr/>
          <a:lstStyle/>
          <a:p>
            <a:pPr>
              <a:buNone/>
              <a:defRPr sz="1650" b="1">
                <a:solidFill>
                  <a:srgbClr val="222222"/>
                </a:solidFill>
              </a:defRPr>
            </a:pPr>
            <a:r>
              <a:rPr b="1">
                <a:solidFill>
                  <a:srgbClr val="222222"/>
                </a:solidFill>
              </a:rPr>
              <a:t>Value</a:t>
            </a:r>
          </a:p>
        </p:txBody>
      </p:sp>
      <p:sp>
        <p:nvSpPr>
          <p:cNvPr id="19" name="Rectangle 18">
            <a:extLst>
              <a:ext uri="{FF2B5EF4-FFF2-40B4-BE49-F238E27FC236}">
                <a16:creationId xmlns:a16="http://schemas.microsoft.com/office/drawing/2014/main" id="{808775AA-70F2-449D-B6E2-19CA8236DAA0}"/>
              </a:ext>
            </a:extLst>
          </p:cNvPr>
          <p:cNvSpPr>
            <a:spLocks noGrp="1"/>
          </p:cNvSpPr>
          <p:nvPr/>
        </p:nvSpPr>
        <p:spPr>
          <a:xfrm>
            <a:off x="8324850" y="2986784"/>
            <a:ext cx="2514600" cy="1828800"/>
          </a:xfrm>
          <a:prstGeom prst="rect">
            <a:avLst/>
          </a:prstGeom>
          <a:noFill/>
          <a:ln w="0">
            <a:noFill/>
            <a:prstDash val="solid"/>
          </a:ln>
        </p:spPr>
        <p:txBody>
          <a:bodyPr/>
          <a:lstStyle/>
          <a:p>
            <a:pPr>
              <a:buNone/>
              <a:defRPr sz="1275">
                <a:solidFill>
                  <a:srgbClr val="3A3A3A"/>
                </a:solidFill>
              </a:defRPr>
            </a:pPr>
            <a:r>
              <a:rPr sz="1600">
                <a:solidFill>
                  <a:srgbClr val="3A3A3A"/>
                </a:solidFill>
              </a:rPr>
              <a:t>What information is actually passed forward?</a:t>
            </a:r>
          </a:p>
        </p:txBody>
      </p:sp>
      <p:sp>
        <p:nvSpPr>
          <p:cNvPr id="20" name="Rectangle 19">
            <a:extLst>
              <a:ext uri="{FF2B5EF4-FFF2-40B4-BE49-F238E27FC236}">
                <a16:creationId xmlns:a16="http://schemas.microsoft.com/office/drawing/2014/main" id="{A29690E7-6C91-44A8-B5A5-28519073A3F0}"/>
              </a:ext>
            </a:extLst>
          </p:cNvPr>
          <p:cNvSpPr>
            <a:spLocks noGrp="1"/>
          </p:cNvSpPr>
          <p:nvPr/>
        </p:nvSpPr>
        <p:spPr>
          <a:xfrm>
            <a:off x="1381125" y="5238750"/>
            <a:ext cx="9429750" cy="419100"/>
          </a:xfrm>
          <a:prstGeom prst="rect">
            <a:avLst/>
          </a:prstGeom>
          <a:noFill/>
          <a:ln w="0">
            <a:noFill/>
            <a:prstDash val="solid"/>
          </a:ln>
        </p:spPr>
        <p:txBody>
          <a:bodyPr/>
          <a:lstStyle/>
          <a:p>
            <a:pPr algn="ctr">
              <a:buNone/>
              <a:defRPr sz="1725">
                <a:solidFill>
                  <a:srgbClr val="333333"/>
                </a:solidFill>
              </a:defRPr>
            </a:pPr>
            <a:r>
              <a:rPr sz="1725">
                <a:solidFill>
                  <a:srgbClr val="333333"/>
                </a:solidFill>
              </a:rPr>
              <a:t>Joley will turn this intuition into the scaled dot-product attention equation.</a:t>
            </a:r>
          </a:p>
        </p:txBody>
      </p:sp>
      <p:sp>
        <p:nvSpPr>
          <p:cNvPr id="2" name="Date Placeholder 1">
            <a:extLst>
              <a:ext uri="{FF2B5EF4-FFF2-40B4-BE49-F238E27FC236}">
                <a16:creationId xmlns:a16="http://schemas.microsoft.com/office/drawing/2014/main" id="{AD9A4E27-196D-C10B-5B67-01B7E8D007E3}"/>
              </a:ext>
            </a:extLst>
          </p:cNvPr>
          <p:cNvSpPr>
            <a:spLocks noGrp="1"/>
          </p:cNvSpPr>
          <p:nvPr>
            <p:ph type="dt" idx="10"/>
          </p:nvPr>
        </p:nvSpPr>
        <p:spPr/>
        <p:txBody>
          <a:bodyPr/>
          <a:lstStyle/>
          <a:p>
            <a:pPr>
              <a:buNone/>
            </a:pPr>
            <a:fld id="{AB4781CF-1719-4B7C-BCCD-DFC5A19F596F}" type="datetime1">
              <a:rPr lang="en-US"/>
              <a:t>7/29/2026</a:t>
            </a:fld>
            <a:endParaRPr/>
          </a:p>
        </p:txBody>
      </p:sp>
      <p:sp>
        <p:nvSpPr>
          <p:cNvPr id="3" name="Footer Placeholder 2">
            <a:extLst>
              <a:ext uri="{FF2B5EF4-FFF2-40B4-BE49-F238E27FC236}">
                <a16:creationId xmlns:a16="http://schemas.microsoft.com/office/drawing/2014/main" id="{8330DF1C-627F-676C-CB5F-8D97E630F0E1}"/>
              </a:ext>
            </a:extLst>
          </p:cNvPr>
          <p:cNvSpPr>
            <a:spLocks noGrp="1"/>
          </p:cNvSpPr>
          <p:nvPr>
            <p:ph type="ftr" idx="11"/>
          </p:nvPr>
        </p:nvSpPr>
        <p:spPr/>
        <p:txBody>
          <a:bodyPr/>
          <a:lstStyle/>
          <a:p>
            <a:pPr>
              <a:buNone/>
            </a:pPr>
            <a:r>
              <a:t>Introduction to Deep Learning - PSDI &amp; Royce Materials Data Summit</a:t>
            </a:r>
          </a:p>
        </p:txBody>
      </p:sp>
      <p:sp>
        <p:nvSpPr>
          <p:cNvPr id="4" name="Slide Number Placeholder 3">
            <a:extLst>
              <a:ext uri="{FF2B5EF4-FFF2-40B4-BE49-F238E27FC236}">
                <a16:creationId xmlns:a16="http://schemas.microsoft.com/office/drawing/2014/main" id="{09ED60EA-9D5C-DC20-7709-65539783FC2F}"/>
              </a:ext>
            </a:extLst>
          </p:cNvPr>
          <p:cNvSpPr>
            <a:spLocks noGrp="1"/>
          </p:cNvSpPr>
          <p:nvPr>
            <p:ph type="sldNum" idx="12"/>
          </p:nvPr>
        </p:nvSpPr>
        <p:spPr/>
        <p:txBody>
          <a:bodyPr/>
          <a:lstStyle/>
          <a:p>
            <a:pPr>
              <a:buNone/>
            </a:pPr>
            <a:fld id="{B5CEABB6-07DC-46E8-9B57-56EC44A396E5}" type="slidenum">
              <a:rPr/>
              <a:t>27</a:t>
            </a:fld>
            <a:endParaRPr/>
          </a:p>
        </p:txBody>
      </p:sp>
    </p:spTree>
    <p:extLst>
      <p:ext uri="{BB962C8B-B14F-4D97-AF65-F5344CB8AC3E}">
        <p14:creationId xmlns:p14="http://schemas.microsoft.com/office/powerpoint/2010/main" val="15674918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251A6-2E65-6449-DD33-3BAB13B9D1C4}"/>
              </a:ext>
            </a:extLst>
          </p:cNvPr>
          <p:cNvSpPr>
            <a:spLocks noGrp="1"/>
          </p:cNvSpPr>
          <p:nvPr>
            <p:ph type="title"/>
          </p:nvPr>
        </p:nvSpPr>
        <p:spPr>
          <a:xfrm>
            <a:off x="838200" y="365126"/>
            <a:ext cx="10515600" cy="579642"/>
          </a:xfrm>
        </p:spPr>
        <p:txBody>
          <a:bodyPr/>
          <a:lstStyle/>
          <a:p>
            <a:pPr>
              <a:buNone/>
              <a:defRPr sz="2250" b="0">
                <a:solidFill>
                  <a:srgbClr val="111111"/>
                </a:solidFill>
              </a:defRPr>
            </a:pPr>
            <a:r>
              <a:rPr sz="2250" b="0">
                <a:solidFill>
                  <a:srgbClr val="111111"/>
                </a:solidFill>
              </a:rPr>
              <a:t>Over to transformers and CrystaLLM</a:t>
            </a:r>
          </a:p>
        </p:txBody>
      </p:sp>
      <p:pic>
        <p:nvPicPr>
          <p:cNvPr id="11" name="Picture 6"/>
          <p:cNvPicPr>
            <a:picLocks noChangeAspect="1"/>
          </p:cNvPicPr>
          <p:nvPr/>
        </p:nvPicPr>
        <p:blipFill>
          <a:blip r:embed="rId3"/>
          <a:stretch>
            <a:fillRect/>
          </a:stretch>
        </p:blipFill>
        <p:spPr>
          <a:xfrm>
            <a:off x="3997262" y="780766"/>
            <a:ext cx="4197475" cy="4764701"/>
          </a:xfrm>
          <a:prstGeom prst="rect">
            <a:avLst/>
          </a:prstGeom>
          <a:ln>
            <a:noFill/>
          </a:ln>
        </p:spPr>
      </p:pic>
      <p:sp>
        <p:nvSpPr>
          <p:cNvPr id="8" name="Rectangle 7">
            <a:extLst>
              <a:ext uri="{FF2B5EF4-FFF2-40B4-BE49-F238E27FC236}">
                <a16:creationId xmlns:a16="http://schemas.microsoft.com/office/drawing/2014/main" id="{46B9E76A-19E8-4772-941F-061A5DD14CB7}"/>
              </a:ext>
            </a:extLst>
          </p:cNvPr>
          <p:cNvSpPr>
            <a:spLocks noGrp="1"/>
          </p:cNvSpPr>
          <p:nvPr/>
        </p:nvSpPr>
        <p:spPr>
          <a:xfrm>
            <a:off x="1143000" y="5619750"/>
            <a:ext cx="9906000" cy="857250"/>
          </a:xfrm>
          <a:prstGeom prst="rect">
            <a:avLst/>
          </a:prstGeom>
          <a:noFill/>
          <a:ln w="0">
            <a:noFill/>
            <a:prstDash val="solid"/>
          </a:ln>
        </p:spPr>
        <p:txBody>
          <a:bodyPr/>
          <a:lstStyle/>
          <a:p>
            <a:pPr algn="ctr">
              <a:buNone/>
              <a:defRPr sz="1725">
                <a:solidFill>
                  <a:srgbClr val="333333"/>
                </a:solidFill>
              </a:defRPr>
            </a:pPr>
            <a:r>
              <a:rPr sz="1725">
                <a:solidFill>
                  <a:srgbClr val="333333"/>
                </a:solidFill>
              </a:rPr>
              <a:t>Joley picks up from here:</a:t>
            </a:r>
          </a:p>
          <a:p>
            <a:pPr algn="ctr">
              <a:buNone/>
              <a:defRPr sz="1725">
                <a:solidFill>
                  <a:srgbClr val="333333"/>
                </a:solidFill>
              </a:defRPr>
            </a:pPr>
            <a:r>
              <a:rPr sz="1725">
                <a:solidFill>
                  <a:srgbClr val="333333"/>
                </a:solidFill>
              </a:rPr>
              <a:t>attention -&gt; transformer blocks -&gt; CIF tokens -&gt; pretrained CrystaLLM generation</a:t>
            </a:r>
          </a:p>
        </p:txBody>
      </p:sp>
      <p:sp>
        <p:nvSpPr>
          <p:cNvPr id="3" name="Date Placeholder 2">
            <a:extLst>
              <a:ext uri="{FF2B5EF4-FFF2-40B4-BE49-F238E27FC236}">
                <a16:creationId xmlns:a16="http://schemas.microsoft.com/office/drawing/2014/main" id="{19B11325-9A3D-DEC0-5118-960D5CDD42E9}"/>
              </a:ext>
            </a:extLst>
          </p:cNvPr>
          <p:cNvSpPr>
            <a:spLocks noGrp="1"/>
          </p:cNvSpPr>
          <p:nvPr>
            <p:ph type="dt" idx="10"/>
          </p:nvPr>
        </p:nvSpPr>
        <p:spPr/>
        <p:txBody>
          <a:bodyPr/>
          <a:lstStyle/>
          <a:p>
            <a:pPr>
              <a:buNone/>
            </a:pPr>
            <a:fld id="{FFCD5246-9FB4-4C43-8A73-05ED744C8A64}" type="datetime1">
              <a:rPr lang="en-US"/>
              <a:t>7/29/2026</a:t>
            </a:fld>
            <a:endParaRPr/>
          </a:p>
        </p:txBody>
      </p:sp>
      <p:sp>
        <p:nvSpPr>
          <p:cNvPr id="4" name="Footer Placeholder 3">
            <a:extLst>
              <a:ext uri="{FF2B5EF4-FFF2-40B4-BE49-F238E27FC236}">
                <a16:creationId xmlns:a16="http://schemas.microsoft.com/office/drawing/2014/main" id="{2D87760B-53D8-E290-B990-7F4EDA82383D}"/>
              </a:ext>
            </a:extLst>
          </p:cNvPr>
          <p:cNvSpPr>
            <a:spLocks noGrp="1"/>
          </p:cNvSpPr>
          <p:nvPr>
            <p:ph type="ftr" idx="11"/>
          </p:nvPr>
        </p:nvSpPr>
        <p:spPr/>
        <p:txBody>
          <a:bodyPr/>
          <a:lstStyle/>
          <a:p>
            <a:pPr>
              <a:buNone/>
            </a:pPr>
            <a:r>
              <a:t>Introduction to Deep Learning - PSDI &amp; Royce Materials Data Summit</a:t>
            </a:r>
          </a:p>
        </p:txBody>
      </p:sp>
      <p:sp>
        <p:nvSpPr>
          <p:cNvPr id="5" name="Slide Number Placeholder 4">
            <a:extLst>
              <a:ext uri="{FF2B5EF4-FFF2-40B4-BE49-F238E27FC236}">
                <a16:creationId xmlns:a16="http://schemas.microsoft.com/office/drawing/2014/main" id="{0E353817-5CC9-6158-16D6-C47C0D9BB185}"/>
              </a:ext>
            </a:extLst>
          </p:cNvPr>
          <p:cNvSpPr>
            <a:spLocks noGrp="1"/>
          </p:cNvSpPr>
          <p:nvPr>
            <p:ph type="sldNum" idx="12"/>
          </p:nvPr>
        </p:nvSpPr>
        <p:spPr/>
        <p:txBody>
          <a:bodyPr/>
          <a:lstStyle/>
          <a:p>
            <a:pPr>
              <a:buNone/>
            </a:pPr>
            <a:fld id="{B5CEABB6-07DC-46E8-9B57-56EC44A396E5}" type="slidenum">
              <a:rPr/>
              <a:t>28</a:t>
            </a:fld>
            <a:endParaRPr/>
          </a:p>
        </p:txBody>
      </p:sp>
    </p:spTree>
    <p:extLst>
      <p:ext uri="{BB962C8B-B14F-4D97-AF65-F5344CB8AC3E}">
        <p14:creationId xmlns:p14="http://schemas.microsoft.com/office/powerpoint/2010/main" val="42146531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F39E3D7-816F-42BF-BC82-95E19300B5BA}"/>
              </a:ext>
            </a:extLst>
          </p:cNvPr>
          <p:cNvSpPr>
            <a:spLocks noGrp="1"/>
          </p:cNvSpPr>
          <p:nvPr/>
        </p:nvSpPr>
        <p:spPr>
          <a:xfrm>
            <a:off x="838200" y="576263"/>
            <a:ext cx="10515600" cy="762000"/>
          </a:xfrm>
          <a:prstGeom prst="rect">
            <a:avLst/>
          </a:prstGeom>
          <a:noFill/>
          <a:ln w="0">
            <a:noFill/>
            <a:prstDash val="solid"/>
          </a:ln>
        </p:spPr>
        <p:txBody>
          <a:bodyPr/>
          <a:lstStyle/>
          <a:p>
            <a:pPr algn="ctr">
              <a:buNone/>
              <a:defRPr sz="2175">
                <a:solidFill>
                  <a:srgbClr val="111111"/>
                </a:solidFill>
              </a:defRPr>
            </a:pPr>
            <a:r>
              <a:rPr sz="2400">
                <a:solidFill>
                  <a:srgbClr val="111111"/>
                </a:solidFill>
              </a:rPr>
              <a:t>PART 1 TAKEAWAYS</a:t>
            </a:r>
          </a:p>
        </p:txBody>
      </p:sp>
      <p:sp>
        <p:nvSpPr>
          <p:cNvPr id="6" name="Rectangle 5">
            <a:extLst>
              <a:ext uri="{FF2B5EF4-FFF2-40B4-BE49-F238E27FC236}">
                <a16:creationId xmlns:a16="http://schemas.microsoft.com/office/drawing/2014/main" id="{CE9C4876-5139-4C44-B41E-E4A14FBFF289}"/>
              </a:ext>
            </a:extLst>
          </p:cNvPr>
          <p:cNvSpPr>
            <a:spLocks noGrp="1"/>
          </p:cNvSpPr>
          <p:nvPr/>
        </p:nvSpPr>
        <p:spPr>
          <a:xfrm>
            <a:off x="1381125" y="1466850"/>
            <a:ext cx="533400" cy="533400"/>
          </a:xfrm>
          <a:prstGeom prst="rect">
            <a:avLst/>
          </a:prstGeom>
          <a:noFill/>
          <a:ln w="0">
            <a:noFill/>
            <a:prstDash val="solid"/>
          </a:ln>
        </p:spPr>
        <p:txBody>
          <a:bodyPr/>
          <a:lstStyle/>
          <a:p>
            <a:pPr algn="ctr">
              <a:buNone/>
              <a:defRPr sz="2250" b="1">
                <a:solidFill>
                  <a:srgbClr val="D97706"/>
                </a:solidFill>
              </a:defRPr>
            </a:pPr>
            <a:r>
              <a:rPr sz="4000" b="1">
                <a:solidFill>
                  <a:srgbClr val="D97706"/>
                </a:solidFill>
              </a:rPr>
              <a:t>1</a:t>
            </a:r>
          </a:p>
        </p:txBody>
      </p:sp>
      <p:sp>
        <p:nvSpPr>
          <p:cNvPr id="7" name="Rectangle 6">
            <a:extLst>
              <a:ext uri="{FF2B5EF4-FFF2-40B4-BE49-F238E27FC236}">
                <a16:creationId xmlns:a16="http://schemas.microsoft.com/office/drawing/2014/main" id="{D3AE9DB8-0C95-4B80-928D-5A0EEC2AFE25}"/>
              </a:ext>
            </a:extLst>
          </p:cNvPr>
          <p:cNvSpPr>
            <a:spLocks noGrp="1"/>
          </p:cNvSpPr>
          <p:nvPr/>
        </p:nvSpPr>
        <p:spPr>
          <a:xfrm>
            <a:off x="2095500" y="1657350"/>
            <a:ext cx="8096250" cy="342900"/>
          </a:xfrm>
          <a:prstGeom prst="rect">
            <a:avLst/>
          </a:prstGeom>
          <a:noFill/>
          <a:ln w="0">
            <a:noFill/>
            <a:prstDash val="solid"/>
          </a:ln>
        </p:spPr>
        <p:txBody>
          <a:bodyPr/>
          <a:lstStyle/>
          <a:p>
            <a:pPr>
              <a:buNone/>
              <a:defRPr sz="1650">
                <a:solidFill>
                  <a:srgbClr val="333333"/>
                </a:solidFill>
              </a:defRPr>
            </a:pPr>
            <a:r>
              <a:rPr>
                <a:solidFill>
                  <a:srgbClr val="333333"/>
                </a:solidFill>
              </a:rPr>
              <a:t>Deep learning learns representations, not just labels.</a:t>
            </a:r>
          </a:p>
        </p:txBody>
      </p:sp>
      <p:sp>
        <p:nvSpPr>
          <p:cNvPr id="8" name="Rectangle 7">
            <a:extLst>
              <a:ext uri="{FF2B5EF4-FFF2-40B4-BE49-F238E27FC236}">
                <a16:creationId xmlns:a16="http://schemas.microsoft.com/office/drawing/2014/main" id="{B3E23C1B-6AC9-441B-AEE0-A1AB46373496}"/>
              </a:ext>
            </a:extLst>
          </p:cNvPr>
          <p:cNvSpPr>
            <a:spLocks noGrp="1"/>
          </p:cNvSpPr>
          <p:nvPr/>
        </p:nvSpPr>
        <p:spPr>
          <a:xfrm>
            <a:off x="1381125" y="2190750"/>
            <a:ext cx="533400" cy="533400"/>
          </a:xfrm>
          <a:prstGeom prst="rect">
            <a:avLst/>
          </a:prstGeom>
          <a:noFill/>
          <a:ln w="0">
            <a:noFill/>
            <a:prstDash val="solid"/>
          </a:ln>
        </p:spPr>
        <p:txBody>
          <a:bodyPr/>
          <a:lstStyle/>
          <a:p>
            <a:pPr algn="ctr">
              <a:buNone/>
              <a:defRPr sz="2250" b="1">
                <a:solidFill>
                  <a:srgbClr val="D97706"/>
                </a:solidFill>
              </a:defRPr>
            </a:pPr>
            <a:r>
              <a:rPr sz="4000" b="1">
                <a:solidFill>
                  <a:srgbClr val="D97706"/>
                </a:solidFill>
              </a:rPr>
              <a:t>2</a:t>
            </a:r>
          </a:p>
        </p:txBody>
      </p:sp>
      <p:sp>
        <p:nvSpPr>
          <p:cNvPr id="9" name="Rectangle 8">
            <a:extLst>
              <a:ext uri="{FF2B5EF4-FFF2-40B4-BE49-F238E27FC236}">
                <a16:creationId xmlns:a16="http://schemas.microsoft.com/office/drawing/2014/main" id="{30E5C31E-55F4-42DB-AF1B-6D7704A9218D}"/>
              </a:ext>
            </a:extLst>
          </p:cNvPr>
          <p:cNvSpPr>
            <a:spLocks noGrp="1"/>
          </p:cNvSpPr>
          <p:nvPr/>
        </p:nvSpPr>
        <p:spPr>
          <a:xfrm>
            <a:off x="2095500" y="2381250"/>
            <a:ext cx="8096250" cy="342900"/>
          </a:xfrm>
          <a:prstGeom prst="rect">
            <a:avLst/>
          </a:prstGeom>
          <a:noFill/>
          <a:ln w="0">
            <a:noFill/>
            <a:prstDash val="solid"/>
          </a:ln>
        </p:spPr>
        <p:txBody>
          <a:bodyPr/>
          <a:lstStyle/>
          <a:p>
            <a:pPr>
              <a:buNone/>
              <a:defRPr sz="1650">
                <a:solidFill>
                  <a:srgbClr val="333333"/>
                </a:solidFill>
              </a:defRPr>
            </a:pPr>
            <a:r>
              <a:rPr>
                <a:solidFill>
                  <a:srgbClr val="333333"/>
                </a:solidFill>
              </a:rPr>
              <a:t>Embeddings are learned vectors whose geometry matters.</a:t>
            </a:r>
          </a:p>
        </p:txBody>
      </p:sp>
      <p:sp>
        <p:nvSpPr>
          <p:cNvPr id="10" name="Rectangle 9">
            <a:extLst>
              <a:ext uri="{FF2B5EF4-FFF2-40B4-BE49-F238E27FC236}">
                <a16:creationId xmlns:a16="http://schemas.microsoft.com/office/drawing/2014/main" id="{4B37CBC9-CA07-488D-A516-31C0529008B3}"/>
              </a:ext>
            </a:extLst>
          </p:cNvPr>
          <p:cNvSpPr>
            <a:spLocks noGrp="1"/>
          </p:cNvSpPr>
          <p:nvPr/>
        </p:nvSpPr>
        <p:spPr>
          <a:xfrm>
            <a:off x="1381125" y="2914650"/>
            <a:ext cx="533400" cy="533400"/>
          </a:xfrm>
          <a:prstGeom prst="rect">
            <a:avLst/>
          </a:prstGeom>
          <a:noFill/>
          <a:ln w="0">
            <a:noFill/>
            <a:prstDash val="solid"/>
          </a:ln>
        </p:spPr>
        <p:txBody>
          <a:bodyPr/>
          <a:lstStyle/>
          <a:p>
            <a:pPr algn="ctr">
              <a:buNone/>
              <a:defRPr sz="2250" b="1">
                <a:solidFill>
                  <a:srgbClr val="D97706"/>
                </a:solidFill>
              </a:defRPr>
            </a:pPr>
            <a:r>
              <a:rPr sz="4000" b="1">
                <a:solidFill>
                  <a:srgbClr val="D97706"/>
                </a:solidFill>
              </a:rPr>
              <a:t>3</a:t>
            </a:r>
          </a:p>
        </p:txBody>
      </p:sp>
      <p:sp>
        <p:nvSpPr>
          <p:cNvPr id="11" name="Rectangle 10">
            <a:extLst>
              <a:ext uri="{FF2B5EF4-FFF2-40B4-BE49-F238E27FC236}">
                <a16:creationId xmlns:a16="http://schemas.microsoft.com/office/drawing/2014/main" id="{D75866EA-B8FD-4EDD-A850-B95F5DAE1CF2}"/>
              </a:ext>
            </a:extLst>
          </p:cNvPr>
          <p:cNvSpPr>
            <a:spLocks noGrp="1"/>
          </p:cNvSpPr>
          <p:nvPr/>
        </p:nvSpPr>
        <p:spPr>
          <a:xfrm>
            <a:off x="2095500" y="3105150"/>
            <a:ext cx="8096250" cy="342900"/>
          </a:xfrm>
          <a:prstGeom prst="rect">
            <a:avLst/>
          </a:prstGeom>
          <a:noFill/>
          <a:ln w="0">
            <a:noFill/>
            <a:prstDash val="solid"/>
          </a:ln>
        </p:spPr>
        <p:txBody>
          <a:bodyPr/>
          <a:lstStyle/>
          <a:p>
            <a:pPr>
              <a:buNone/>
              <a:defRPr sz="1650">
                <a:solidFill>
                  <a:srgbClr val="333333"/>
                </a:solidFill>
              </a:defRPr>
            </a:pPr>
            <a:r>
              <a:rPr>
                <a:solidFill>
                  <a:srgbClr val="333333"/>
                </a:solidFill>
              </a:rPr>
              <a:t>Training is loss minimisation by gradients.</a:t>
            </a:r>
          </a:p>
        </p:txBody>
      </p:sp>
      <p:sp>
        <p:nvSpPr>
          <p:cNvPr id="12" name="Rectangle 11">
            <a:extLst>
              <a:ext uri="{FF2B5EF4-FFF2-40B4-BE49-F238E27FC236}">
                <a16:creationId xmlns:a16="http://schemas.microsoft.com/office/drawing/2014/main" id="{303D496E-8F86-4930-82A8-8E4D1081867C}"/>
              </a:ext>
            </a:extLst>
          </p:cNvPr>
          <p:cNvSpPr>
            <a:spLocks noGrp="1"/>
          </p:cNvSpPr>
          <p:nvPr/>
        </p:nvSpPr>
        <p:spPr>
          <a:xfrm>
            <a:off x="1381125" y="3638550"/>
            <a:ext cx="533400" cy="533400"/>
          </a:xfrm>
          <a:prstGeom prst="rect">
            <a:avLst/>
          </a:prstGeom>
          <a:noFill/>
          <a:ln w="0">
            <a:noFill/>
            <a:prstDash val="solid"/>
          </a:ln>
        </p:spPr>
        <p:txBody>
          <a:bodyPr/>
          <a:lstStyle/>
          <a:p>
            <a:pPr algn="ctr">
              <a:buNone/>
              <a:defRPr sz="2250" b="1">
                <a:solidFill>
                  <a:srgbClr val="D97706"/>
                </a:solidFill>
              </a:defRPr>
            </a:pPr>
            <a:r>
              <a:rPr sz="4000" b="1">
                <a:solidFill>
                  <a:srgbClr val="D97706"/>
                </a:solidFill>
              </a:rPr>
              <a:t>4</a:t>
            </a:r>
          </a:p>
        </p:txBody>
      </p:sp>
      <p:sp>
        <p:nvSpPr>
          <p:cNvPr id="13" name="Rectangle 12">
            <a:extLst>
              <a:ext uri="{FF2B5EF4-FFF2-40B4-BE49-F238E27FC236}">
                <a16:creationId xmlns:a16="http://schemas.microsoft.com/office/drawing/2014/main" id="{0F1EF5D4-669F-4253-B21C-277F15EAB8A8}"/>
              </a:ext>
            </a:extLst>
          </p:cNvPr>
          <p:cNvSpPr>
            <a:spLocks noGrp="1"/>
          </p:cNvSpPr>
          <p:nvPr/>
        </p:nvSpPr>
        <p:spPr>
          <a:xfrm>
            <a:off x="2095500" y="3829050"/>
            <a:ext cx="8096250" cy="342900"/>
          </a:xfrm>
          <a:prstGeom prst="rect">
            <a:avLst/>
          </a:prstGeom>
          <a:noFill/>
          <a:ln w="0">
            <a:noFill/>
            <a:prstDash val="solid"/>
          </a:ln>
        </p:spPr>
        <p:txBody>
          <a:bodyPr/>
          <a:lstStyle/>
          <a:p>
            <a:pPr>
              <a:buNone/>
              <a:defRPr sz="1650">
                <a:solidFill>
                  <a:srgbClr val="333333"/>
                </a:solidFill>
              </a:defRPr>
            </a:pPr>
            <a:r>
              <a:rPr>
                <a:solidFill>
                  <a:srgbClr val="333333"/>
                </a:solidFill>
              </a:rPr>
              <a:t>Sequences need architectures that handle order and context.</a:t>
            </a:r>
          </a:p>
        </p:txBody>
      </p:sp>
      <p:sp>
        <p:nvSpPr>
          <p:cNvPr id="14" name="Rectangle 13">
            <a:extLst>
              <a:ext uri="{FF2B5EF4-FFF2-40B4-BE49-F238E27FC236}">
                <a16:creationId xmlns:a16="http://schemas.microsoft.com/office/drawing/2014/main" id="{FE7BED66-28DF-489C-AF2F-2BBAF1AECAD3}"/>
              </a:ext>
            </a:extLst>
          </p:cNvPr>
          <p:cNvSpPr>
            <a:spLocks noGrp="1"/>
          </p:cNvSpPr>
          <p:nvPr/>
        </p:nvSpPr>
        <p:spPr>
          <a:xfrm>
            <a:off x="1381125" y="4362450"/>
            <a:ext cx="533400" cy="533400"/>
          </a:xfrm>
          <a:prstGeom prst="rect">
            <a:avLst/>
          </a:prstGeom>
          <a:noFill/>
          <a:ln w="0">
            <a:noFill/>
            <a:prstDash val="solid"/>
          </a:ln>
        </p:spPr>
        <p:txBody>
          <a:bodyPr/>
          <a:lstStyle/>
          <a:p>
            <a:pPr algn="ctr">
              <a:buNone/>
              <a:defRPr sz="2250" b="1">
                <a:solidFill>
                  <a:srgbClr val="D97706"/>
                </a:solidFill>
              </a:defRPr>
            </a:pPr>
            <a:r>
              <a:rPr sz="4000" b="1">
                <a:solidFill>
                  <a:srgbClr val="D97706"/>
                </a:solidFill>
              </a:rPr>
              <a:t>5</a:t>
            </a:r>
          </a:p>
        </p:txBody>
      </p:sp>
      <p:sp>
        <p:nvSpPr>
          <p:cNvPr id="15" name="Rectangle 14">
            <a:extLst>
              <a:ext uri="{FF2B5EF4-FFF2-40B4-BE49-F238E27FC236}">
                <a16:creationId xmlns:a16="http://schemas.microsoft.com/office/drawing/2014/main" id="{D6C91110-7803-47B7-8804-238B2ACD42C8}"/>
              </a:ext>
            </a:extLst>
          </p:cNvPr>
          <p:cNvSpPr>
            <a:spLocks noGrp="1"/>
          </p:cNvSpPr>
          <p:nvPr/>
        </p:nvSpPr>
        <p:spPr>
          <a:xfrm>
            <a:off x="2095500" y="4552950"/>
            <a:ext cx="8096250" cy="342900"/>
          </a:xfrm>
          <a:prstGeom prst="rect">
            <a:avLst/>
          </a:prstGeom>
          <a:noFill/>
          <a:ln w="0">
            <a:noFill/>
            <a:prstDash val="solid"/>
          </a:ln>
        </p:spPr>
        <p:txBody>
          <a:bodyPr/>
          <a:lstStyle/>
          <a:p>
            <a:pPr>
              <a:buNone/>
              <a:defRPr sz="1650">
                <a:solidFill>
                  <a:srgbClr val="333333"/>
                </a:solidFill>
              </a:defRPr>
            </a:pPr>
            <a:r>
              <a:rPr>
                <a:solidFill>
                  <a:srgbClr val="333333"/>
                </a:solidFill>
              </a:rPr>
              <a:t>Autoregressive models generate by repeated next-token prediction.</a:t>
            </a:r>
          </a:p>
        </p:txBody>
      </p:sp>
      <p:sp>
        <p:nvSpPr>
          <p:cNvPr id="16" name="Rectangle 15">
            <a:extLst>
              <a:ext uri="{FF2B5EF4-FFF2-40B4-BE49-F238E27FC236}">
                <a16:creationId xmlns:a16="http://schemas.microsoft.com/office/drawing/2014/main" id="{A9F7BBAC-04F8-47FF-9402-129685C2ECD4}"/>
              </a:ext>
            </a:extLst>
          </p:cNvPr>
          <p:cNvSpPr>
            <a:spLocks noGrp="1"/>
          </p:cNvSpPr>
          <p:nvPr/>
        </p:nvSpPr>
        <p:spPr>
          <a:xfrm>
            <a:off x="1381125" y="5572125"/>
            <a:ext cx="9429750" cy="419100"/>
          </a:xfrm>
          <a:prstGeom prst="rect">
            <a:avLst/>
          </a:prstGeom>
          <a:noFill/>
          <a:ln w="0">
            <a:noFill/>
            <a:prstDash val="solid"/>
          </a:ln>
        </p:spPr>
        <p:txBody>
          <a:bodyPr/>
          <a:lstStyle/>
          <a:p>
            <a:pPr algn="ctr">
              <a:buNone/>
              <a:defRPr sz="1725">
                <a:solidFill>
                  <a:srgbClr val="333333"/>
                </a:solidFill>
              </a:defRPr>
            </a:pPr>
            <a:r>
              <a:rPr sz="1725">
                <a:solidFill>
                  <a:srgbClr val="333333"/>
                </a:solidFill>
              </a:rPr>
              <a:t>Next: attention gives every token a controlled way to use the rest of the sequence.</a:t>
            </a:r>
          </a:p>
        </p:txBody>
      </p:sp>
      <p:sp>
        <p:nvSpPr>
          <p:cNvPr id="2" name="Date Placeholder 1">
            <a:extLst>
              <a:ext uri="{FF2B5EF4-FFF2-40B4-BE49-F238E27FC236}">
                <a16:creationId xmlns:a16="http://schemas.microsoft.com/office/drawing/2014/main" id="{BD1E3CDA-4ED5-1F91-EC9D-5C8AFC603300}"/>
              </a:ext>
            </a:extLst>
          </p:cNvPr>
          <p:cNvSpPr>
            <a:spLocks noGrp="1"/>
          </p:cNvSpPr>
          <p:nvPr>
            <p:ph type="dt" idx="10"/>
          </p:nvPr>
        </p:nvSpPr>
        <p:spPr/>
        <p:txBody>
          <a:bodyPr/>
          <a:lstStyle/>
          <a:p>
            <a:pPr>
              <a:buNone/>
            </a:pPr>
            <a:fld id="{F29A6FD7-8742-4C1B-819B-CC463A278635}" type="datetime1">
              <a:rPr lang="en-US"/>
              <a:t>7/29/2026</a:t>
            </a:fld>
            <a:endParaRPr/>
          </a:p>
        </p:txBody>
      </p:sp>
      <p:sp>
        <p:nvSpPr>
          <p:cNvPr id="3" name="Footer Placeholder 2">
            <a:extLst>
              <a:ext uri="{FF2B5EF4-FFF2-40B4-BE49-F238E27FC236}">
                <a16:creationId xmlns:a16="http://schemas.microsoft.com/office/drawing/2014/main" id="{BFEB8932-29B4-6782-F57E-D0E7A1E3BAE0}"/>
              </a:ext>
            </a:extLst>
          </p:cNvPr>
          <p:cNvSpPr>
            <a:spLocks noGrp="1"/>
          </p:cNvSpPr>
          <p:nvPr>
            <p:ph type="ftr" idx="11"/>
          </p:nvPr>
        </p:nvSpPr>
        <p:spPr/>
        <p:txBody>
          <a:bodyPr/>
          <a:lstStyle/>
          <a:p>
            <a:pPr>
              <a:buNone/>
            </a:pPr>
            <a:r>
              <a:t>Introduction to Deep Learning - PSDI &amp; Royce Materials Data Summit</a:t>
            </a:r>
          </a:p>
        </p:txBody>
      </p:sp>
      <p:sp>
        <p:nvSpPr>
          <p:cNvPr id="4" name="Slide Number Placeholder 3">
            <a:extLst>
              <a:ext uri="{FF2B5EF4-FFF2-40B4-BE49-F238E27FC236}">
                <a16:creationId xmlns:a16="http://schemas.microsoft.com/office/drawing/2014/main" id="{E2E0B9EB-92A1-6056-8195-26531D9E262E}"/>
              </a:ext>
            </a:extLst>
          </p:cNvPr>
          <p:cNvSpPr>
            <a:spLocks noGrp="1"/>
          </p:cNvSpPr>
          <p:nvPr>
            <p:ph type="sldNum" idx="12"/>
          </p:nvPr>
        </p:nvSpPr>
        <p:spPr/>
        <p:txBody>
          <a:bodyPr/>
          <a:lstStyle/>
          <a:p>
            <a:pPr>
              <a:buNone/>
            </a:pPr>
            <a:fld id="{B5CEABB6-07DC-46E8-9B57-56EC44A396E5}" type="slidenum">
              <a:rPr/>
              <a:t>29</a:t>
            </a:fld>
            <a:endParaRPr/>
          </a:p>
        </p:txBody>
      </p:sp>
    </p:spTree>
    <p:extLst>
      <p:ext uri="{BB962C8B-B14F-4D97-AF65-F5344CB8AC3E}">
        <p14:creationId xmlns:p14="http://schemas.microsoft.com/office/powerpoint/2010/main" val="9676521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Monoline">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Custom 149">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8740</Words>
  <Application>Microsoft Office PowerPoint</Application>
  <DocSecurity>0</DocSecurity>
  <PresentationFormat>Widescreen</PresentationFormat>
  <Paragraphs>1001</Paragraphs>
  <Slides>29</Slides>
  <Notes>29</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29</vt:i4>
      </vt:variant>
    </vt:vector>
  </HeadingPairs>
  <TitlesOfParts>
    <vt:vector size="39" baseType="lpstr">
      <vt:lpstr>Abadi Extra Light</vt:lpstr>
      <vt:lpstr>Aptos</vt:lpstr>
      <vt:lpstr>Aptos Display</vt:lpstr>
      <vt:lpstr>Calibri</vt:lpstr>
      <vt:lpstr>Cambria Math</vt:lpstr>
      <vt:lpstr>Comic Sans MS</vt:lpstr>
      <vt:lpstr>Courier New</vt:lpstr>
      <vt:lpstr>Tenorite</vt:lpstr>
      <vt:lpstr>Office Theme</vt:lpstr>
      <vt:lpstr>Monoline</vt:lpstr>
      <vt:lpstr>Introduction to deep learning for crystal language models</vt:lpstr>
      <vt:lpstr>PowerPoint Presentation</vt:lpstr>
      <vt:lpstr>PowerPoint Presentation</vt:lpstr>
      <vt:lpstr>PowerPoint Presentation</vt:lpstr>
      <vt:lpstr>PowerPoint Presentation</vt:lpstr>
      <vt:lpstr>PowerPoint Presentation</vt:lpstr>
      <vt:lpstr>PowerPoint Presentation</vt:lpstr>
      <vt:lpstr>Localised or distributed representations?</vt:lpstr>
      <vt:lpstr>PowerPoint Presentation</vt:lpstr>
      <vt:lpstr>Context can teach a representation</vt:lpstr>
      <vt:lpstr>Prediction objectives can create embeddings</vt:lpstr>
      <vt:lpstr>PowerPoint Presentation</vt:lpstr>
      <vt:lpstr>PowerPoint Presentation</vt:lpstr>
      <vt:lpstr>PowerPoint Presentation</vt:lpstr>
      <vt:lpstr>PowerPoint Presentation</vt:lpstr>
      <vt:lpstr>PowerPoint Presentation</vt:lpstr>
      <vt:lpstr>Sequences break the fixed-vector assumption</vt:lpstr>
      <vt:lpstr>PowerPoint Presentation</vt:lpstr>
      <vt:lpstr>RNNs carry context in a hidden state</vt:lpstr>
      <vt:lpstr>Long-range context is the pressure point</vt:lpstr>
      <vt:lpstr>PowerPoint Presentation</vt:lpstr>
      <vt:lpstr>Autoregressive models turn sequences into generation</vt:lpstr>
      <vt:lpstr>PowerPoint Presentation</vt:lpstr>
      <vt:lpstr>CIFs can be treated as a language</vt:lpstr>
      <vt:lpstr>PowerPoint Presentation</vt:lpstr>
      <vt:lpstr>Attention selects relevant context</vt:lpstr>
      <vt:lpstr>PowerPoint Presentation</vt:lpstr>
      <vt:lpstr>Over to transformers and CrystaLLM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Bradley Martin</cp:lastModifiedBy>
  <cp:revision>11</cp:revision>
  <dcterms:created xsi:type="dcterms:W3CDTF">2026-07-28T15:54:32Z</dcterms:created>
  <dcterms:modified xsi:type="dcterms:W3CDTF">2026-07-29T13:29:08Z</dcterms:modified>
</cp:coreProperties>
</file>