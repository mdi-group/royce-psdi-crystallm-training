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8"/>
  </p:notesMasterIdLst>
  <p:sldIdLst>
    <p:sldId id="256" r:id="rId3"/>
    <p:sldId id="277" r:id="rId4"/>
    <p:sldId id="278" r:id="rId5"/>
    <p:sldId id="279" r:id="rId6"/>
    <p:sldId id="357" r:id="rId7"/>
    <p:sldId id="343" r:id="rId8"/>
    <p:sldId id="280" r:id="rId9"/>
    <p:sldId id="281" r:id="rId10"/>
    <p:sldId id="287" r:id="rId11"/>
    <p:sldId id="291" r:id="rId12"/>
    <p:sldId id="266" r:id="rId13"/>
    <p:sldId id="282" r:id="rId14"/>
    <p:sldId id="298" r:id="rId15"/>
    <p:sldId id="304" r:id="rId16"/>
    <p:sldId id="308" r:id="rId17"/>
    <p:sldId id="309" r:id="rId18"/>
    <p:sldId id="310" r:id="rId19"/>
    <p:sldId id="311" r:id="rId20"/>
    <p:sldId id="312" r:id="rId21"/>
    <p:sldId id="313" r:id="rId22"/>
    <p:sldId id="320" r:id="rId23"/>
    <p:sldId id="314" r:id="rId24"/>
    <p:sldId id="316" r:id="rId25"/>
    <p:sldId id="317" r:id="rId26"/>
    <p:sldId id="31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F67E1-A584-4980-BC06-6D358EECF7FB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C66BA1-4835-463C-A690-1E030DE92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252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Classical ML:</a:t>
            </a:r>
          </a:p>
          <a:p>
            <a:r>
              <a:rPr lang="en-GB" dirty="0"/>
              <a:t>Linear regression, kernel methods, trees, random forests</a:t>
            </a:r>
          </a:p>
          <a:p>
            <a:r>
              <a:rPr lang="en-GB" dirty="0"/>
              <a:t>Typically shallow models</a:t>
            </a:r>
          </a:p>
          <a:p>
            <a:r>
              <a:rPr lang="en-GB" dirty="0"/>
              <a:t>Strong reliance on hand-crafted features</a:t>
            </a:r>
          </a:p>
          <a:p>
            <a:r>
              <a:rPr lang="en-GB" dirty="0"/>
              <a:t>Deep learning:</a:t>
            </a:r>
          </a:p>
          <a:p>
            <a:r>
              <a:rPr lang="en-GB" dirty="0"/>
              <a:t>Neural-network-based models</a:t>
            </a:r>
          </a:p>
          <a:p>
            <a:r>
              <a:rPr lang="en-GB" dirty="0"/>
              <a:t>Typically many layers (depth)</a:t>
            </a:r>
          </a:p>
          <a:p>
            <a:r>
              <a:rPr lang="en-GB" dirty="0"/>
              <a:t>Features and predictor learned jointly from data</a:t>
            </a:r>
          </a:p>
          <a:p>
            <a:r>
              <a:rPr lang="en-GB" dirty="0"/>
              <a:t>Key distinction is not just depth, but representation learning</a:t>
            </a:r>
          </a:p>
          <a:p>
            <a:endParaRPr lang="en-GB" dirty="0"/>
          </a:p>
          <a:p>
            <a:r>
              <a:rPr lang="en-GB" dirty="0"/>
              <a:t>Key takeaway:</a:t>
            </a:r>
          </a:p>
          <a:p>
            <a:r>
              <a:rPr lang="en-GB" dirty="0"/>
              <a:t>Deep learning reduces reliance on human-designed features by learning representations</a:t>
            </a:r>
          </a:p>
          <a:p>
            <a:r>
              <a:rPr lang="en-GB" dirty="0"/>
              <a:t>directly from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B9A9E5-4F7F-4A7D-9DE1-89923232926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838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Traditional ML pipeline:</a:t>
            </a:r>
          </a:p>
          <a:p>
            <a:r>
              <a:rPr lang="en-GB" dirty="0"/>
              <a:t>Raw data → feature engineering → ML model</a:t>
            </a:r>
          </a:p>
          <a:p>
            <a:r>
              <a:rPr lang="en-GB" dirty="0"/>
              <a:t>Feature engineering:</a:t>
            </a:r>
          </a:p>
          <a:p>
            <a:r>
              <a:rPr lang="en-GB" dirty="0"/>
              <a:t>Requires strong domain knowledge</a:t>
            </a:r>
          </a:p>
          <a:p>
            <a:r>
              <a:rPr lang="en-GB" dirty="0"/>
              <a:t>Often brittle and task-specific</a:t>
            </a:r>
          </a:p>
          <a:p>
            <a:r>
              <a:rPr lang="en-GB" dirty="0"/>
              <a:t>Unstructured data (images, text, audio):</a:t>
            </a:r>
          </a:p>
          <a:p>
            <a:r>
              <a:rPr lang="en-GB" dirty="0"/>
              <a:t>Feature design is particularly difficult</a:t>
            </a:r>
          </a:p>
          <a:p>
            <a:r>
              <a:rPr lang="en-GB" dirty="0"/>
              <a:t>Deep learning:</a:t>
            </a:r>
          </a:p>
          <a:p>
            <a:r>
              <a:rPr lang="en-GB" dirty="0"/>
              <a:t>Learns useful representations automatically</a:t>
            </a:r>
          </a:p>
          <a:p>
            <a:r>
              <a:rPr lang="en-GB" dirty="0"/>
              <a:t>End-to-end optimisation of features + task</a:t>
            </a:r>
          </a:p>
          <a:p>
            <a:endParaRPr lang="en-GB" dirty="0"/>
          </a:p>
          <a:p>
            <a:r>
              <a:rPr lang="en-GB" dirty="0"/>
              <a:t>Key takeaway:</a:t>
            </a:r>
          </a:p>
          <a:p>
            <a:r>
              <a:rPr lang="en-GB" dirty="0"/>
              <a:t>Deep learning shifts effort from feature engineering to data and model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B9A9E5-4F7F-4A7D-9DE1-89923232926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182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Classical ML approach:</a:t>
            </a:r>
          </a:p>
          <a:p>
            <a:r>
              <a:rPr lang="en-GB" dirty="0"/>
              <a:t>Decide a priori which features matter (edges, shapes, textures)</a:t>
            </a:r>
          </a:p>
          <a:p>
            <a:r>
              <a:rPr lang="en-GB" dirty="0"/>
              <a:t>Deep learning approach:</a:t>
            </a:r>
          </a:p>
          <a:p>
            <a:r>
              <a:rPr lang="en-GB" dirty="0"/>
              <a:t>Start from raw pixels</a:t>
            </a:r>
          </a:p>
          <a:p>
            <a:r>
              <a:rPr lang="en-GB" dirty="0"/>
              <a:t>Learn a hierarchy of features optimised for the task</a:t>
            </a:r>
          </a:p>
          <a:p>
            <a:r>
              <a:rPr lang="en-GB" dirty="0"/>
              <a:t>Representations are:</a:t>
            </a:r>
          </a:p>
          <a:p>
            <a:r>
              <a:rPr lang="en-GB" dirty="0"/>
              <a:t>Task-specific</a:t>
            </a:r>
          </a:p>
          <a:p>
            <a:r>
              <a:rPr lang="en-GB" dirty="0"/>
              <a:t>Learned jointly with the classifier</a:t>
            </a:r>
          </a:p>
          <a:p>
            <a:endParaRPr lang="en-GB" dirty="0"/>
          </a:p>
          <a:p>
            <a:r>
              <a:rPr lang="en-GB" dirty="0"/>
              <a:t>Key takeaway:</a:t>
            </a:r>
          </a:p>
          <a:p>
            <a:r>
              <a:rPr lang="en-GB" dirty="0"/>
              <a:t>Representation learning enables models to discover what matters for a task, rather than being</a:t>
            </a:r>
          </a:p>
          <a:p>
            <a:r>
              <a:rPr lang="en-GB" dirty="0"/>
              <a:t>told.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B9A9E5-4F7F-4A7D-9DE1-89923232926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6702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Core architecture:</a:t>
            </a:r>
          </a:p>
          <a:p>
            <a:r>
              <a:rPr lang="en-GB" dirty="0"/>
              <a:t>Input layer</a:t>
            </a:r>
          </a:p>
          <a:p>
            <a:r>
              <a:rPr lang="en-GB" dirty="0"/>
              <a:t>One or more hidden layers</a:t>
            </a:r>
          </a:p>
          <a:p>
            <a:r>
              <a:rPr lang="en-GB" dirty="0"/>
              <a:t>Output layer</a:t>
            </a:r>
          </a:p>
          <a:p>
            <a:r>
              <a:rPr lang="en-GB" dirty="0"/>
              <a:t>Each layer:</a:t>
            </a:r>
          </a:p>
          <a:p>
            <a:r>
              <a:rPr lang="en-GB" dirty="0"/>
              <a:t>Applies a linear transformation</a:t>
            </a:r>
          </a:p>
          <a:p>
            <a:r>
              <a:rPr lang="en-GB" dirty="0"/>
              <a:t>Followed by a non-linear activation</a:t>
            </a:r>
          </a:p>
          <a:p>
            <a:r>
              <a:rPr lang="en-GB" dirty="0"/>
              <a:t>Depth allows:</a:t>
            </a:r>
          </a:p>
          <a:p>
            <a:r>
              <a:rPr lang="en-GB" dirty="0"/>
              <a:t>Composition of simple functions</a:t>
            </a:r>
          </a:p>
          <a:p>
            <a:r>
              <a:rPr lang="en-GB" dirty="0"/>
              <a:t>Approximation of highly complex mappings</a:t>
            </a:r>
          </a:p>
          <a:p>
            <a:endParaRPr lang="en-GB" dirty="0"/>
          </a:p>
          <a:p>
            <a:r>
              <a:rPr lang="en-GB" dirty="0"/>
              <a:t>Key takeaway:</a:t>
            </a:r>
          </a:p>
          <a:p>
            <a:r>
              <a:rPr lang="en-GB" dirty="0"/>
              <a:t>Depth enables expressive function approximation through composition.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B9A9E5-4F7F-4A7D-9DE1-89923232926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4458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Also called fully connected layers</a:t>
            </a:r>
          </a:p>
          <a:p>
            <a:r>
              <a:rPr lang="en-GB" dirty="0"/>
              <a:t>Every neuron connects to every neuron in the previous layer</a:t>
            </a:r>
          </a:p>
          <a:p>
            <a:r>
              <a:rPr lang="en-GB" dirty="0"/>
              <a:t>Each neuron computes:</a:t>
            </a:r>
          </a:p>
          <a:p>
            <a:r>
              <a:rPr lang="en-GB" dirty="0"/>
              <a:t>Weighted sum of inputs</a:t>
            </a:r>
          </a:p>
          <a:p>
            <a:r>
              <a:rPr lang="en-GB" dirty="0"/>
              <a:t>Bias term</a:t>
            </a:r>
          </a:p>
          <a:p>
            <a:r>
              <a:rPr lang="en-GB" dirty="0"/>
              <a:t>Activation function</a:t>
            </a:r>
          </a:p>
          <a:p>
            <a:r>
              <a:rPr lang="en-GB" dirty="0"/>
              <a:t>Advantages:</a:t>
            </a:r>
          </a:p>
          <a:p>
            <a:r>
              <a:rPr lang="en-GB" dirty="0"/>
              <a:t>Simple</a:t>
            </a:r>
          </a:p>
          <a:p>
            <a:r>
              <a:rPr lang="en-GB" dirty="0"/>
              <a:t>Flexible</a:t>
            </a:r>
          </a:p>
          <a:p>
            <a:r>
              <a:rPr lang="en-GB" dirty="0"/>
              <a:t>Disadvantages:</a:t>
            </a:r>
          </a:p>
          <a:p>
            <a:r>
              <a:rPr lang="en-GB" dirty="0"/>
              <a:t>Poor scaling with input size</a:t>
            </a:r>
          </a:p>
          <a:p>
            <a:r>
              <a:rPr lang="en-GB" dirty="0"/>
              <a:t>Large number of parameters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B9A9E5-4F7F-4A7D-9DE1-89923232926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4919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Core learning algorithm for neural networks</a:t>
            </a:r>
          </a:p>
          <a:p>
            <a:r>
              <a:rPr lang="en-GB" dirty="0"/>
              <a:t>Uses the chain rule to compute gradients of the loss:</a:t>
            </a:r>
          </a:p>
          <a:p>
            <a:r>
              <a:rPr lang="en-GB" dirty="0"/>
              <a:t>With respect to every parameter</a:t>
            </a:r>
          </a:p>
          <a:p>
            <a:r>
              <a:rPr lang="en-GB" dirty="0"/>
              <a:t>Enables:</a:t>
            </a:r>
          </a:p>
          <a:p>
            <a:r>
              <a:rPr lang="en-GB" dirty="0"/>
              <a:t>Efficient training of deep, multi-layer models</a:t>
            </a:r>
          </a:p>
          <a:p>
            <a:r>
              <a:rPr lang="en-GB" dirty="0"/>
              <a:t>In practice:</a:t>
            </a:r>
          </a:p>
          <a:p>
            <a:r>
              <a:rPr lang="en-GB" dirty="0"/>
              <a:t>Handled automatically by frameworks (e.g. </a:t>
            </a:r>
            <a:r>
              <a:rPr lang="en-GB" dirty="0" err="1"/>
              <a:t>PyTorch</a:t>
            </a:r>
            <a:r>
              <a:rPr lang="en-GB" dirty="0"/>
              <a:t>)</a:t>
            </a:r>
          </a:p>
          <a:p>
            <a:r>
              <a:rPr lang="en-GB" dirty="0"/>
              <a:t>Conceptual understanding more important than derivation</a:t>
            </a:r>
          </a:p>
          <a:p>
            <a:endParaRPr lang="en-GB" dirty="0"/>
          </a:p>
          <a:p>
            <a:r>
              <a:rPr lang="en-GB" dirty="0"/>
              <a:t>Key takeaway:</a:t>
            </a:r>
          </a:p>
          <a:p>
            <a:r>
              <a:rPr lang="en-GB" dirty="0"/>
              <a:t>Backpropagation makes deep learning tractable.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10029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875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692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Don’t learn from the input sequentially</a:t>
            </a:r>
          </a:p>
          <a:p>
            <a:r>
              <a:rPr lang="en-GB" dirty="0"/>
              <a:t>The attention mechanism</a:t>
            </a:r>
          </a:p>
          <a:p>
            <a:r>
              <a:rPr lang="en-GB" dirty="0"/>
              <a:t>Process all input at the same time</a:t>
            </a:r>
          </a:p>
          <a:p>
            <a:r>
              <a:rPr lang="en-GB" dirty="0"/>
              <a:t>Learn dependencies between segments</a:t>
            </a:r>
          </a:p>
          <a:p>
            <a:endParaRPr lang="en-GB" dirty="0"/>
          </a:p>
          <a:p>
            <a:r>
              <a:rPr lang="en-GB" dirty="0"/>
              <a:t>TALK ABOUT TOKENS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49614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Abadi Extra Light" panose="020B0204020104020204" pitchFamily="34" charset="0"/>
              </a:rPr>
              <a:t>In sequence </a:t>
            </a:r>
            <a:r>
              <a:rPr lang="en-GB" sz="1200" dirty="0" err="1">
                <a:latin typeface="Abadi Extra Light" panose="020B0204020104020204" pitchFamily="34" charset="0"/>
              </a:rPr>
              <a:t>modeling</a:t>
            </a:r>
            <a:r>
              <a:rPr lang="en-GB" sz="1200" dirty="0">
                <a:latin typeface="Abadi Extra Light" panose="020B0204020104020204" pitchFamily="34" charset="0"/>
              </a:rPr>
              <a:t> problems, we can use attention between input and output tokens (between encoder and decoder parts), as well as among the inputs only (only within the encoder part)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7550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Tells us which tokens are relevant to which other tokens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85591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Tells us which tokens (keys) are relevant to which other tokens (queries)</a:t>
            </a:r>
          </a:p>
          <a:p>
            <a:r>
              <a:rPr lang="en-GB" dirty="0"/>
              <a:t>Here our context window is only 3 elements long, so the matrix is small </a:t>
            </a:r>
          </a:p>
          <a:p>
            <a:r>
              <a:rPr lang="en-GB" dirty="0"/>
              <a:t>In real systems there is a move towards very large context – it results in very large matrices</a:t>
            </a:r>
          </a:p>
          <a:p>
            <a:r>
              <a:rPr lang="en-GB" dirty="0"/>
              <a:t>Talk about sparse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6099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Note this matrix is square – so the new vector has the same dimension as the embedding vector</a:t>
            </a:r>
          </a:p>
          <a:p>
            <a:r>
              <a:rPr lang="en-GB" dirty="0"/>
              <a:t>In reality this is split into product of smaller matrices to increase efficiency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20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121458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Multi-head attention looks at different ways that tokens affect </a:t>
            </a:r>
            <a:r>
              <a:rPr lang="en-GB" dirty="0" err="1"/>
              <a:t>eachother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22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94320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CrystaLLM</a:t>
            </a:r>
            <a:r>
              <a:rPr lang="en-GB" dirty="0"/>
              <a:t> is trained on a database of 2.3M </a:t>
            </a:r>
            <a:r>
              <a:rPr lang="en-GB" dirty="0" err="1"/>
              <a:t>cifs</a:t>
            </a:r>
            <a:endParaRPr lang="en-GB" dirty="0"/>
          </a:p>
          <a:p>
            <a:r>
              <a:rPr lang="en-GB" dirty="0"/>
              <a:t>The decoder takes a string of text and predicts the next word/letter – this is called autoregressive</a:t>
            </a:r>
          </a:p>
          <a:p>
            <a:r>
              <a:rPr lang="en-GB" dirty="0"/>
              <a:t>Trained by comparing output probabilities to true tokens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23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92735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3C9ED-085F-C4F3-61E2-4CA5E66E4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5AFEE-8C0C-1B3B-FE4A-8A21A387D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D97EA-CB09-FD0A-1094-B38E6DA03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2A64-C43F-4A1D-B252-98F0E872FF4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86505-5AD1-ED78-F967-069C4B2F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AAFFF-D826-B3F2-E96A-C44042943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E28AA-A9BE-496E-A55F-EE330C3CE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0728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7AEB9-ADDE-2F09-7B96-B439191F3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92F86-85A6-7428-F2F1-6E5846334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3E0B0-EF4F-97BF-F42E-BFC20C088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2A64-C43F-4A1D-B252-98F0E872FF4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85B35-18C2-676E-F1D1-F925B47B9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ED932-4799-0DAE-EB04-AC0934218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E28AA-A9BE-496E-A55F-EE330C3CE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7613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94A72-AF39-8411-239E-2D78595E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75DA7-DD5B-218F-717F-6176DB4F8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8A1AF-C566-656D-EEAA-48E6825EB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2A64-C43F-4A1D-B252-98F0E872FF4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DAA2A-D90C-E793-57EC-F920F5894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A8789-FE51-AC75-CF40-D5F27A81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E28AA-A9BE-496E-A55F-EE330C3CE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2020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F4A40-F7B8-1F29-EBE5-B9F74938F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2E93C-B1D1-1B02-B323-4A6B357E0E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63ACD-055D-C53F-32A6-77D7F71B8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FF134-B80E-959F-C3EC-B5F0E55AB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2A64-C43F-4A1D-B252-98F0E872FF4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63096-3316-7C9A-C3FF-1653398D5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68F6-6F10-45B2-6CF5-1BAC3B597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E28AA-A9BE-496E-A55F-EE330C3CE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528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17FCA-A6E8-6B68-67C4-3493B59DA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8D10F-F755-1D8E-9B45-1EDDC7EA1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630A4B-3A2E-EF02-79A7-DBFABED26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2F6ED3-41C9-B403-1073-A34173C952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885F55-4691-32B2-2156-05717555ED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04831A-B980-1B29-D71D-A088E25E3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2A64-C43F-4A1D-B252-98F0E872FF4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2D8C89-C352-6E57-AF9B-49BE214CA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8F0BC7-4196-5E48-7AA3-C216A3958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E28AA-A9BE-496E-A55F-EE330C3CE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307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5C4DF-559D-1424-C7B5-2B8051242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8F23A0-5E88-DD4C-F39E-A201066B6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2A64-C43F-4A1D-B252-98F0E872FF4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037821-C967-DE60-7F59-2CEFC1F25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4910D-448D-9B3A-B1F3-1F82FDDFB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E28AA-A9BE-496E-A55F-EE330C3CE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270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0E5046-0AE8-6844-607F-F698E727F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2A64-C43F-4A1D-B252-98F0E872FF4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6F8109-B679-6466-5E6F-94D7771CD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30894-FC6D-264F-86C3-D9DCC042E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E28AA-A9BE-496E-A55F-EE330C3CE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702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61019-7C8A-4456-6045-1B18F00BD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DACCC-352B-56EF-A72A-FE18A984A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855F9D-E2E6-38C3-62BC-03F04BB48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B95AB-B80D-F4F5-B294-198DB1662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2A64-C43F-4A1D-B252-98F0E872FF4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4C70D-D269-6906-FE47-D3147B338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6B695E-9A0F-66C7-5429-8AF537397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E28AA-A9BE-496E-A55F-EE330C3CE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6719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7D6E-D909-9494-F944-B6A4C51DA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E7D687-4719-7117-6AF2-22A4E546A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7691D-A523-4567-362A-2D7282D28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5A845-C0D3-3903-D310-DDB377CB8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2A64-C43F-4A1D-B252-98F0E872FF4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99E784-7DBB-A7C2-3AB1-879D85054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39C60-4764-710B-5A93-C809BA3DC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E28AA-A9BE-496E-A55F-EE330C3CE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32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A219F-98D6-B59C-E3F6-B059EE7A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FFB5F-E83E-0E7E-3B3B-C6CD70076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F401A-EF91-5D02-A733-C2BEBB655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2A64-C43F-4A1D-B252-98F0E872FF4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9C464-D988-F793-FF82-091FB33EE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4CED0-6CEF-0ED5-4682-130D3B90B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E28AA-A9BE-496E-A55F-EE330C3CE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354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38B851-1C27-F443-99CD-D1A58B6688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DA3897-826E-1EF1-39A5-192A3EA4D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18F82-A067-0A0F-7893-CE448EAA9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2A64-C43F-4A1D-B252-98F0E872FF4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A03F7-E36F-1ACB-CD92-46983494E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22739-70B0-C976-C81F-EA0E1E0E1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E28AA-A9BE-496E-A55F-EE330C3CE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2328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491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US" noProof="0"/>
              <a:t>20XX</a:t>
            </a:r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Deep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71399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7332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US" noProof="0"/>
              <a:t>20XX</a:t>
            </a:r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Deep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673028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US" noProof="0"/>
              <a:t>20XX</a:t>
            </a:r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Deep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244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US" noProof="0"/>
              <a:t>20XX</a:t>
            </a:r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Deep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519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US" noProof="0"/>
              <a:t>20XX</a:t>
            </a:r>
            <a:endParaRPr lang="en-GB" noProof="0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Deep learning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329922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5248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US" noProof="0"/>
              <a:t>20XX</a:t>
            </a:r>
            <a:endParaRPr lang="en-GB" noProof="0"/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Deep learning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557399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US" noProof="0"/>
              <a:t>20XX</a:t>
            </a:r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Deep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906672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US" noProof="0"/>
              <a:t>20XX</a:t>
            </a:r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Deep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11879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US" noProof="0"/>
              <a:t>20XX</a:t>
            </a:r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Deep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411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US" noProof="0"/>
              <a:t>20XX</a:t>
            </a:r>
            <a:endParaRPr lang="en-GB" noProof="0"/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Deep learning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00361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/>
          <a:p>
            <a:pPr rtl="0"/>
            <a:r>
              <a:rPr lang="en-GB" noProof="0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US" noProof="0"/>
              <a:t>20XX</a:t>
            </a:r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Deep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275530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US" noProof="0"/>
              <a:t>20XX</a:t>
            </a:r>
            <a:endParaRPr lang="en-GB" noProof="0"/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Deep learning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96275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US" noProof="0"/>
              <a:t>20XX</a:t>
            </a:r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Deep learning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48425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11558" y="5084524"/>
            <a:ext cx="219661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707607" y="5099206"/>
            <a:ext cx="214504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271" y="5099206"/>
            <a:ext cx="213298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18152" y="5084524"/>
            <a:ext cx="213298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US" noProof="0"/>
              <a:t>20XX</a:t>
            </a:r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Deep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93519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US" noProof="0"/>
              <a:t>20XX</a:t>
            </a:r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Deep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435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1139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2437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US" noProof="0"/>
              <a:t>20XX</a:t>
            </a:r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Deep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08516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US" noProof="0"/>
              <a:t>20XX</a:t>
            </a:r>
            <a:endParaRPr lang="en-GB" noProof="0"/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Deep learning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0938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US" noProof="0"/>
              <a:t>20XX</a:t>
            </a:r>
            <a:endParaRPr lang="en-GB" noProof="0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Deep learning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455679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9084"/>
            <a:ext cx="10515600" cy="3695338"/>
          </a:xfrm>
        </p:spPr>
        <p:txBody>
          <a:bodyPr rtlCol="0"/>
          <a:lstStyle/>
          <a:p>
            <a:pPr rtl="0"/>
            <a:r>
              <a:rPr lang="en-US" noProof="0"/>
              <a:t>Click icon to add SmartArt graphic</a:t>
            </a:r>
            <a:endParaRPr lang="en-GB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US" noProof="0"/>
              <a:t>20XX</a:t>
            </a:r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90554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US" noProof="0"/>
              <a:t>20XX</a:t>
            </a:r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AI4AM 2026 Madrid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3" name="Picture 2" descr="Bicentenary logo | UCL Brand and Experience">
            <a:extLst>
              <a:ext uri="{FF2B5EF4-FFF2-40B4-BE49-F238E27FC236}">
                <a16:creationId xmlns:a16="http://schemas.microsoft.com/office/drawing/2014/main" id="{E9F1F637-8002-F79E-0EF6-28DAB726A61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4" t="32094" r="5814" b="35450"/>
          <a:stretch>
            <a:fillRect/>
          </a:stretch>
        </p:blipFill>
        <p:spPr bwMode="auto">
          <a:xfrm>
            <a:off x="9488312" y="0"/>
            <a:ext cx="2655192" cy="555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498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AA4103-2054-75E8-FC35-2DFD7C0AC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46B13-426F-2F9D-453F-B853F12FB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0CAD1-C2FA-187B-5E07-CBE7833D12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FA2A64-C43F-4A1D-B252-98F0E872FF4A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CECB2-4405-4B68-152F-7F3CA1D6E8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5867D-7AAA-5CA9-B768-0891971A7F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AE28AA-A9BE-496E-A55F-EE330C3CEB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353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 noProof="0"/>
              <a:t>20XX</a:t>
            </a:r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Deep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64826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7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501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3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531.png"/><Relationship Id="rId1" Type="http://schemas.openxmlformats.org/officeDocument/2006/relationships/slideLayout" Target="../slideLayouts/slideLayout3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png"/><Relationship Id="rId3" Type="http://schemas.openxmlformats.org/officeDocument/2006/relationships/image" Target="../media/image511.png"/><Relationship Id="rId7" Type="http://schemas.openxmlformats.org/officeDocument/2006/relationships/image" Target="../media/image5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510.png"/><Relationship Id="rId5" Type="http://schemas.openxmlformats.org/officeDocument/2006/relationships/image" Target="../media/image500.png"/><Relationship Id="rId4" Type="http://schemas.openxmlformats.org/officeDocument/2006/relationships/image" Target="../media/image490.png"/><Relationship Id="rId9" Type="http://schemas.openxmlformats.org/officeDocument/2006/relationships/image" Target="../media/image5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571.png"/><Relationship Id="rId5" Type="http://schemas.openxmlformats.org/officeDocument/2006/relationships/image" Target="../media/image560.png"/><Relationship Id="rId4" Type="http://schemas.openxmlformats.org/officeDocument/2006/relationships/image" Target="../media/image5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59.png"/><Relationship Id="rId5" Type="http://schemas.openxmlformats.org/officeDocument/2006/relationships/image" Target="../media/image580.png"/><Relationship Id="rId4" Type="http://schemas.openxmlformats.org/officeDocument/2006/relationships/image" Target="../media/image57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62.png"/><Relationship Id="rId5" Type="http://schemas.openxmlformats.org/officeDocument/2006/relationships/image" Target="../media/image29.png"/><Relationship Id="rId4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C4C0F-6B90-B177-647D-557359DF01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 to LLMs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B9861-5AB4-71FF-2D1E-A17B7F791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292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CF36D-B261-85D2-9F78-0E89DC4B8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t>Deep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2E789-4250-853E-C3C7-2A16138A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CEABB6-07DC-46E8-9B57-56EC44A396E5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enorite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0948D20-61F0-F877-AFC7-36095858D5FD}"/>
              </a:ext>
            </a:extLst>
          </p:cNvPr>
          <p:cNvSpPr txBox="1">
            <a:spLocks/>
          </p:cNvSpPr>
          <p:nvPr/>
        </p:nvSpPr>
        <p:spPr>
          <a:xfrm>
            <a:off x="2895600" y="55229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norite"/>
                <a:ea typeface="+mj-ea"/>
                <a:cs typeface="+mj-cs"/>
              </a:rPr>
              <a:t>CLASSICAL/DEEP METHODS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03383E8-C891-8966-793D-8D359E3FAF4B}"/>
              </a:ext>
            </a:extLst>
          </p:cNvPr>
          <p:cNvSpPr txBox="1">
            <a:spLocks/>
          </p:cNvSpPr>
          <p:nvPr/>
        </p:nvSpPr>
        <p:spPr>
          <a:xfrm>
            <a:off x="1981200" y="1600200"/>
            <a:ext cx="8229600" cy="13143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norite"/>
                <a:ea typeface="+mn-ea"/>
                <a:cs typeface="Calibri"/>
              </a:rPr>
              <a:t>Classical: linear regression, trees etc.. 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norite"/>
                <a:ea typeface="+mn-ea"/>
                <a:cs typeface="Calibri"/>
              </a:rPr>
              <a:t>Deep: neural network type models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/>
              <a:ea typeface="+mn-ea"/>
              <a:cs typeface="Calibri"/>
            </a:endParaRPr>
          </a:p>
        </p:txBody>
      </p:sp>
      <p:pic>
        <p:nvPicPr>
          <p:cNvPr id="9" name="Picture 6" descr="A picture containing device, clock&#10;&#10;Description generated with very high confidence">
            <a:extLst>
              <a:ext uri="{FF2B5EF4-FFF2-40B4-BE49-F238E27FC236}">
                <a16:creationId xmlns:a16="http://schemas.microsoft.com/office/drawing/2014/main" id="{6902496E-A5F6-4154-280B-A31542E66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492" y="3299669"/>
            <a:ext cx="4110592" cy="2839181"/>
          </a:xfrm>
          <a:prstGeom prst="rect">
            <a:avLst/>
          </a:prstGeom>
        </p:spPr>
      </p:pic>
      <p:pic>
        <p:nvPicPr>
          <p:cNvPr id="10" name="Picture 8" descr="A picture containing light&#10;&#10;Description generated with very high confidence">
            <a:extLst>
              <a:ext uri="{FF2B5EF4-FFF2-40B4-BE49-F238E27FC236}">
                <a16:creationId xmlns:a16="http://schemas.microsoft.com/office/drawing/2014/main" id="{8A3D0799-E38F-6080-9FA1-0BB4765CF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694" y="3428994"/>
            <a:ext cx="3795040" cy="270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936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B361EC-6327-75EA-3FA9-2F165A337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t>Deep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2CE45-8F77-1FBD-C123-01181718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CEABB6-07DC-46E8-9B57-56EC44A396E5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enorite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98E855-B8FE-D419-0C98-836221E1E5AE}"/>
              </a:ext>
            </a:extLst>
          </p:cNvPr>
          <p:cNvSpPr txBox="1">
            <a:spLocks/>
          </p:cNvSpPr>
          <p:nvPr/>
        </p:nvSpPr>
        <p:spPr>
          <a:xfrm>
            <a:off x="1044363" y="959651"/>
            <a:ext cx="10981047" cy="83455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norite"/>
                <a:ea typeface="+mj-ea"/>
                <a:cs typeface="+mj-cs"/>
              </a:rPr>
              <a:t>DEEP LEARNING AS REPRESENTATION LEARNING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0153B5-4CA9-97BE-92E2-676A9ED78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048" y="3440567"/>
            <a:ext cx="3037408" cy="13310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98CC8E-6517-4A1D-FE88-DE4374F27CBC}"/>
              </a:ext>
            </a:extLst>
          </p:cNvPr>
          <p:cNvSpPr txBox="1"/>
          <p:nvPr/>
        </p:nvSpPr>
        <p:spPr>
          <a:xfrm>
            <a:off x="7959744" y="2809708"/>
            <a:ext cx="2608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“Hand-crafted” 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5832C0-56DC-8123-52C8-E5D6FE3A2BE3}"/>
              </a:ext>
            </a:extLst>
          </p:cNvPr>
          <p:cNvSpPr txBox="1"/>
          <p:nvPr/>
        </p:nvSpPr>
        <p:spPr>
          <a:xfrm>
            <a:off x="7862996" y="5033173"/>
            <a:ext cx="2608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Unstructured data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0E921DB-C36C-3A22-4B1C-C2171C34FA62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 flipV="1">
            <a:off x="6551762" y="2994374"/>
            <a:ext cx="1407983" cy="491744"/>
          </a:xfrm>
          <a:prstGeom prst="bentConnector3">
            <a:avLst>
              <a:gd name="adj1" fmla="val 1003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802AB02D-5B8B-D6DF-9270-EB328BBFDCD9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>
            <a:off x="6714438" y="4726095"/>
            <a:ext cx="1148558" cy="491744"/>
          </a:xfrm>
          <a:prstGeom prst="bentConnector3">
            <a:avLst>
              <a:gd name="adj1" fmla="val 1000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7863AC4-8D10-B3D2-9DC8-CE79C8056EF7}"/>
              </a:ext>
            </a:extLst>
          </p:cNvPr>
          <p:cNvSpPr txBox="1"/>
          <p:nvPr/>
        </p:nvSpPr>
        <p:spPr>
          <a:xfrm>
            <a:off x="3099980" y="3471195"/>
            <a:ext cx="2345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Classical ML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561EB7-FD30-A25A-A0E5-671F4C5F083B}"/>
              </a:ext>
            </a:extLst>
          </p:cNvPr>
          <p:cNvSpPr txBox="1"/>
          <p:nvPr/>
        </p:nvSpPr>
        <p:spPr>
          <a:xfrm>
            <a:off x="3067754" y="4176708"/>
            <a:ext cx="2345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676929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608371-3DF1-C3B3-201D-AE56DD427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t>Deep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D514C-9694-0DF3-F61F-2217533FB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CEABB6-07DC-46E8-9B57-56EC44A396E5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enorite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EF72D-109F-97F6-0FA5-2DA19F6F955E}"/>
              </a:ext>
            </a:extLst>
          </p:cNvPr>
          <p:cNvSpPr txBox="1">
            <a:spLocks/>
          </p:cNvSpPr>
          <p:nvPr/>
        </p:nvSpPr>
        <p:spPr>
          <a:xfrm>
            <a:off x="1815921" y="365125"/>
            <a:ext cx="10376079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norite"/>
                <a:ea typeface="+mj-ea"/>
                <a:cs typeface="+mj-cs"/>
              </a:rPr>
              <a:t>DEEP LEARNING AS REPRESENTATION LEARNING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21C885-A2E8-EA0C-DED0-CBE6EDDD95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459" y="2305847"/>
            <a:ext cx="945765" cy="12302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4E15E7-90D8-5FF3-80A6-5E7217A89BC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922" r="32130"/>
          <a:stretch/>
        </p:blipFill>
        <p:spPr>
          <a:xfrm>
            <a:off x="1284865" y="3988393"/>
            <a:ext cx="934359" cy="12847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7F9FF9-F006-C173-997D-54C86E0937FB}"/>
              </a:ext>
            </a:extLst>
          </p:cNvPr>
          <p:cNvSpPr txBox="1"/>
          <p:nvPr/>
        </p:nvSpPr>
        <p:spPr>
          <a:xfrm>
            <a:off x="3641355" y="4180114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Classical 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00387C-6497-EA02-8D16-33BA37BA490B}"/>
              </a:ext>
            </a:extLst>
          </p:cNvPr>
          <p:cNvSpPr txBox="1"/>
          <p:nvPr/>
        </p:nvSpPr>
        <p:spPr>
          <a:xfrm>
            <a:off x="6639179" y="3189072"/>
            <a:ext cx="2323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Classification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64534D-F3F1-EF62-6030-1E350E49BBE4}"/>
              </a:ext>
            </a:extLst>
          </p:cNvPr>
          <p:cNvSpPr txBox="1"/>
          <p:nvPr/>
        </p:nvSpPr>
        <p:spPr>
          <a:xfrm>
            <a:off x="3492275" y="1724965"/>
            <a:ext cx="1641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Deep learning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7AD6AC-4D0E-3042-487B-052B60C835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363411" y="2454611"/>
            <a:ext cx="1899524" cy="1286279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D298B00-9188-E727-CFED-863513E95C40}"/>
              </a:ext>
            </a:extLst>
          </p:cNvPr>
          <p:cNvGraphicFramePr>
            <a:graphicFrameLocks noGrp="1"/>
          </p:cNvGraphicFramePr>
          <p:nvPr/>
        </p:nvGraphicFramePr>
        <p:xfrm>
          <a:off x="3192924" y="4499222"/>
          <a:ext cx="2314712" cy="18491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822607">
                  <a:extLst>
                    <a:ext uri="{9D8B030D-6E8A-4147-A177-3AD203B41FA5}">
                      <a16:colId xmlns:a16="http://schemas.microsoft.com/office/drawing/2014/main" val="2428838324"/>
                    </a:ext>
                  </a:extLst>
                </a:gridCol>
                <a:gridCol w="492105">
                  <a:extLst>
                    <a:ext uri="{9D8B030D-6E8A-4147-A177-3AD203B41FA5}">
                      <a16:colId xmlns:a16="http://schemas.microsoft.com/office/drawing/2014/main" val="38700509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0" dirty="0">
                          <a:latin typeface="Tenorite" panose="00000500000000000000" pitchFamily="2" charset="0"/>
                        </a:rPr>
                        <a:t>Number of eyes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latin typeface="Tenorite" panose="00000500000000000000" pitchFamily="2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747044"/>
                  </a:ext>
                </a:extLst>
              </a:tr>
              <a:tr h="326929">
                <a:tc>
                  <a:txBody>
                    <a:bodyPr/>
                    <a:lstStyle/>
                    <a:p>
                      <a:r>
                        <a:rPr lang="en-GB" dirty="0">
                          <a:latin typeface="Tenorite" panose="00000500000000000000" pitchFamily="2" charset="0"/>
                        </a:rPr>
                        <a:t>Whiskers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enorite" panose="00000500000000000000" pitchFamily="2" charset="0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58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Tenorite" panose="00000500000000000000" pitchFamily="2" charset="0"/>
                        </a:rPr>
                        <a:t>Legs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enorite" panose="00000500000000000000" pitchFamily="2" charset="0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833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Tenorite" panose="00000500000000000000" pitchFamily="2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latin typeface="Tenorite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893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Tenorite" panose="00000500000000000000" pitchFamily="2" charset="0"/>
                        </a:rPr>
                        <a:t>Scales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enorite" panose="00000500000000000000" pitchFamily="2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066720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E4497BF5-272B-0FD0-3EB6-CABB302C73A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1619"/>
          <a:stretch/>
        </p:blipFill>
        <p:spPr>
          <a:xfrm>
            <a:off x="6096000" y="3666396"/>
            <a:ext cx="3037408" cy="6439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156E2D-C8E0-874F-8CF4-7D7F7D565FA4}"/>
              </a:ext>
            </a:extLst>
          </p:cNvPr>
          <p:cNvSpPr txBox="1"/>
          <p:nvPr/>
        </p:nvSpPr>
        <p:spPr>
          <a:xfrm>
            <a:off x="9965635" y="3718449"/>
            <a:ext cx="15598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Cat/Snake</a:t>
            </a:r>
          </a:p>
        </p:txBody>
      </p:sp>
    </p:spTree>
    <p:extLst>
      <p:ext uri="{BB962C8B-B14F-4D97-AF65-F5344CB8AC3E}">
        <p14:creationId xmlns:p14="http://schemas.microsoft.com/office/powerpoint/2010/main" val="3935109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Localised or distributed representations?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01C862FB-3C8C-1900-A7EA-32B295A8F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8ADF06FD-67A6-847C-C66E-597E3C6A5A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6" name="Picture 25" descr="A chart with different animals&#10;&#10;AI-generated content may be incorrect.">
            <a:extLst>
              <a:ext uri="{FF2B5EF4-FFF2-40B4-BE49-F238E27FC236}">
                <a16:creationId xmlns:a16="http://schemas.microsoft.com/office/drawing/2014/main" id="{10056C54-2F98-242C-F263-82125321E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40" y="2217740"/>
            <a:ext cx="4201891" cy="381630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E1F6ECE-08B1-D0C6-86D1-91D2FAE353E3}"/>
              </a:ext>
            </a:extLst>
          </p:cNvPr>
          <p:cNvSpPr txBox="1"/>
          <p:nvPr/>
        </p:nvSpPr>
        <p:spPr>
          <a:xfrm>
            <a:off x="182543" y="6454742"/>
            <a:ext cx="61043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i="1" dirty="0"/>
              <a:t>Neural </a:t>
            </a:r>
            <a:r>
              <a:rPr lang="en-GB" sz="1600" i="1" dirty="0" err="1"/>
              <a:t>Comput</a:t>
            </a:r>
            <a:r>
              <a:rPr lang="en-GB" sz="1600" i="1" dirty="0"/>
              <a:t> &amp; </a:t>
            </a:r>
            <a:r>
              <a:rPr lang="en-GB" sz="1600" i="1" dirty="0" err="1"/>
              <a:t>Applic</a:t>
            </a:r>
            <a:r>
              <a:rPr lang="en-GB" sz="1600" dirty="0"/>
              <a:t> </a:t>
            </a:r>
            <a:r>
              <a:rPr lang="en-GB" sz="1600" b="1" dirty="0"/>
              <a:t>36</a:t>
            </a:r>
            <a:r>
              <a:rPr lang="en-GB" sz="1600" dirty="0"/>
              <a:t>, 12809, </a:t>
            </a:r>
            <a:r>
              <a:rPr lang="en-GB" sz="1600" b="1" dirty="0"/>
              <a:t>2024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434A446-CD12-941A-B6D6-283B4D08B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047" y="2162274"/>
            <a:ext cx="4935094" cy="247798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F017763-5EF9-C241-94CA-22EE9093A837}"/>
              </a:ext>
            </a:extLst>
          </p:cNvPr>
          <p:cNvSpPr txBox="1"/>
          <p:nvPr/>
        </p:nvSpPr>
        <p:spPr>
          <a:xfrm>
            <a:off x="5488209" y="5060957"/>
            <a:ext cx="6132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Distributed representations give a richer context of the data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49589A-A868-7454-BC4F-70FB245A1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AI4AM 2026 Madrid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F075B-BF49-F6BE-01AE-32063C0AF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96398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Learning distributed representations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4BF5757-9393-0651-C9D1-C2F7A4A12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AI4AM 2026 Madrid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0F9BA-B9BB-B579-A06C-FD355D6ED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45EA2-0EA6-4F34-9E8F-B45A0D98FE6A}" type="slidenum">
              <a:rPr lang="en-GB" smtClean="0"/>
              <a:t>6</a:t>
            </a:fld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676400" y="2665413"/>
            <a:ext cx="10515600" cy="1389062"/>
          </a:xfrm>
        </p:spPr>
        <p:txBody>
          <a:bodyPr/>
          <a:lstStyle/>
          <a:p>
            <a:r>
              <a:rPr lang="en-GB" dirty="0"/>
              <a:t>The distributional hypothesis – Firth 1957</a:t>
            </a:r>
          </a:p>
          <a:p>
            <a:r>
              <a:rPr lang="en-GB" dirty="0"/>
              <a:t>“You know a word by the company it keeps.”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622" y="1828801"/>
            <a:ext cx="2265450" cy="32003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1701" y="5029199"/>
            <a:ext cx="11160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Marianne saw a </a:t>
            </a:r>
            <a:r>
              <a:rPr lang="en-GB" sz="3600" dirty="0">
                <a:solidFill>
                  <a:schemeClr val="accent6">
                    <a:lumMod val="75000"/>
                  </a:schemeClr>
                </a:solidFill>
              </a:rPr>
              <a:t>furry little </a:t>
            </a:r>
            <a:r>
              <a:rPr lang="en-GB" sz="3600" b="1" dirty="0" err="1">
                <a:solidFill>
                  <a:schemeClr val="accent2"/>
                </a:solidFill>
              </a:rPr>
              <a:t>wampamink</a:t>
            </a:r>
            <a:r>
              <a:rPr lang="en-GB" sz="3600" dirty="0"/>
              <a:t> hiding </a:t>
            </a:r>
            <a:r>
              <a:rPr lang="en-GB" sz="3600" dirty="0">
                <a:solidFill>
                  <a:schemeClr val="accent6">
                    <a:lumMod val="75000"/>
                  </a:schemeClr>
                </a:solidFill>
              </a:rPr>
              <a:t>in the tree</a:t>
            </a:r>
            <a:r>
              <a:rPr lang="en-GB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465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7E2E80-FE56-EF84-0045-F168D98D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t>Deep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F3333-E32C-C3D7-B929-0FDC81AF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CEABB6-07DC-46E8-9B57-56EC44A396E5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enorite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4AF5EDB-F63A-70A8-ACDB-17B29AE3B2F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norite"/>
                <a:ea typeface="+mj-ea"/>
                <a:cs typeface="+mj-cs"/>
              </a:rPr>
              <a:t>DEEP NEURAL NETWORKS: MULTI LAYER PERCEPTRON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E8FA72-C9E9-0BF9-0CB5-B26877119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597" y="1519514"/>
            <a:ext cx="4675348" cy="44957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D55E4C-2C12-D595-BA20-7D99B7708816}"/>
              </a:ext>
            </a:extLst>
          </p:cNvPr>
          <p:cNvSpPr txBox="1"/>
          <p:nvPr/>
        </p:nvSpPr>
        <p:spPr>
          <a:xfrm>
            <a:off x="1938800" y="3447526"/>
            <a:ext cx="15281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2E2C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1AC97D-3184-D4D5-944F-7F2129BABDCB}"/>
              </a:ext>
            </a:extLst>
          </p:cNvPr>
          <p:cNvSpPr txBox="1"/>
          <p:nvPr/>
        </p:nvSpPr>
        <p:spPr>
          <a:xfrm>
            <a:off x="8074883" y="3504091"/>
            <a:ext cx="1757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2E2C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 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4EBE8-B56F-9D74-DF1B-6A4D920554E4}"/>
              </a:ext>
            </a:extLst>
          </p:cNvPr>
          <p:cNvSpPr txBox="1"/>
          <p:nvPr/>
        </p:nvSpPr>
        <p:spPr>
          <a:xfrm>
            <a:off x="4858538" y="5362101"/>
            <a:ext cx="18803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2E2C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Hidden layers</a:t>
            </a:r>
          </a:p>
        </p:txBody>
      </p:sp>
    </p:spTree>
    <p:extLst>
      <p:ext uri="{BB962C8B-B14F-4D97-AF65-F5344CB8AC3E}">
        <p14:creationId xmlns:p14="http://schemas.microsoft.com/office/powerpoint/2010/main" val="3637999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8F861B-6E90-D347-AA7B-C5BAB856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t>Deep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87C4E-9BC0-EEAE-54AF-CCE390668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CEABB6-07DC-46E8-9B57-56EC44A396E5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enorite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DB8B04-D7C4-4EF4-BA35-A4ED2706301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norite"/>
                <a:ea typeface="+mj-ea"/>
                <a:cs typeface="+mj-cs"/>
              </a:rPr>
              <a:t>DENSE LAYERS</a:t>
            </a:r>
            <a:endParaRPr kumimoji="0" lang="en-GB" sz="4400" b="0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/>
              <a:ea typeface="+mj-ea"/>
              <a:cs typeface="+mj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C14CBB-63EE-0A89-D6A3-BE9DA2F1F3B5}"/>
              </a:ext>
            </a:extLst>
          </p:cNvPr>
          <p:cNvSpPr txBox="1">
            <a:spLocks/>
          </p:cNvSpPr>
          <p:nvPr/>
        </p:nvSpPr>
        <p:spPr>
          <a:xfrm>
            <a:off x="854790" y="1613769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t>Also called fully connected layers as each node is connected to each node in the previous layer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9DC50AE-F60A-0C42-14C4-D0CFD42E1504}"/>
              </a:ext>
            </a:extLst>
          </p:cNvPr>
          <p:cNvSpPr/>
          <p:nvPr/>
        </p:nvSpPr>
        <p:spPr>
          <a:xfrm>
            <a:off x="3011940" y="3145139"/>
            <a:ext cx="1739910" cy="165618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E2C6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A19302D-68D6-F9E4-108E-3AD9FC20685A}"/>
              </a:ext>
            </a:extLst>
          </p:cNvPr>
          <p:cNvCxnSpPr>
            <a:endCxn id="7" idx="1"/>
          </p:cNvCxnSpPr>
          <p:nvPr/>
        </p:nvCxnSpPr>
        <p:spPr>
          <a:xfrm>
            <a:off x="2479020" y="2805506"/>
            <a:ext cx="787725" cy="582176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53C927-C9D5-96C6-AEFE-B781B4101FC2}"/>
              </a:ext>
            </a:extLst>
          </p:cNvPr>
          <p:cNvCxnSpPr>
            <a:endCxn id="7" idx="3"/>
          </p:cNvCxnSpPr>
          <p:nvPr/>
        </p:nvCxnSpPr>
        <p:spPr>
          <a:xfrm flipV="1">
            <a:off x="2378148" y="4558780"/>
            <a:ext cx="888597" cy="636454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8CF6D79-D350-2C0F-A99E-8F060A9256B8}"/>
              </a:ext>
            </a:extLst>
          </p:cNvPr>
          <p:cNvCxnSpPr>
            <a:endCxn id="7" idx="2"/>
          </p:cNvCxnSpPr>
          <p:nvPr/>
        </p:nvCxnSpPr>
        <p:spPr>
          <a:xfrm>
            <a:off x="1946100" y="3973231"/>
            <a:ext cx="1065841" cy="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617540-C3C8-3E43-C376-33A9B53D6CBD}"/>
              </a:ext>
            </a:extLst>
          </p:cNvPr>
          <p:cNvCxnSpPr/>
          <p:nvPr/>
        </p:nvCxnSpPr>
        <p:spPr>
          <a:xfrm>
            <a:off x="4751851" y="3973231"/>
            <a:ext cx="1065841" cy="0"/>
          </a:xfrm>
          <a:prstGeom prst="line">
            <a:avLst/>
          </a:prstGeom>
          <a:ln w="5715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533D0F-AB3F-884F-280A-92D38F0C7F8D}"/>
                  </a:ext>
                </a:extLst>
              </p:cNvPr>
              <p:cNvSpPr txBox="1"/>
              <p:nvPr/>
            </p:nvSpPr>
            <p:spPr>
              <a:xfrm>
                <a:off x="8886823" y="3145139"/>
                <a:ext cx="187519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2C6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GB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2C6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GB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2C6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𝑔</m:t>
                      </m:r>
                      <m:d>
                        <m:dPr>
                          <m:ctrlPr>
                            <a:rPr kumimoji="0" lang="en-GB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E2C6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GB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E2C6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kumimoji="0" lang="en-GB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2E2C6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533D0F-AB3F-884F-280A-92D38F0C7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6823" y="3145139"/>
                <a:ext cx="1875193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D993CEB-51A2-93B0-E58A-4E758DB72F93}"/>
                  </a:ext>
                </a:extLst>
              </p:cNvPr>
              <p:cNvSpPr txBox="1"/>
              <p:nvPr/>
            </p:nvSpPr>
            <p:spPr>
              <a:xfrm>
                <a:off x="8147893" y="4524324"/>
                <a:ext cx="288309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2C6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𝑧</m:t>
                      </m:r>
                      <m:r>
                        <a:rPr kumimoji="0" lang="en-GB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2C6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sSup>
                        <m:sSupPr>
                          <m:ctrlPr>
                            <a:rPr kumimoji="0" lang="en-GB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E2C6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GB" sz="3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E2C6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𝒘</m:t>
                          </m:r>
                        </m:e>
                        <m:sup>
                          <m:r>
                            <a:rPr kumimoji="0" lang="en-GB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E2C6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sup>
                      </m:sSup>
                      <m:r>
                        <a:rPr kumimoji="0" lang="en-GB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2C6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r>
                        <a:rPr kumimoji="0" lang="en-GB" sz="3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2C6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GB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2C6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GB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2C6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</m:oMath>
                  </m:oMathPara>
                </a14:m>
                <a:endParaRPr kumimoji="0" lang="en-GB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2E2C6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D993CEB-51A2-93B0-E58A-4E758DB72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7893" y="4524324"/>
                <a:ext cx="2883097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E0BFE5-C082-6168-8A01-E1A3DED20406}"/>
                  </a:ext>
                </a:extLst>
              </p:cNvPr>
              <p:cNvSpPr txBox="1"/>
              <p:nvPr/>
            </p:nvSpPr>
            <p:spPr>
              <a:xfrm>
                <a:off x="1903206" y="4943218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2C6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en-GB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2E2C6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E0BFE5-C082-6168-8A01-E1A3DED20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3206" y="4943218"/>
                <a:ext cx="363433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3BF1F4-E4AC-6547-F1E2-460CF5AADBA8}"/>
                  </a:ext>
                </a:extLst>
              </p:cNvPr>
              <p:cNvSpPr txBox="1"/>
              <p:nvPr/>
            </p:nvSpPr>
            <p:spPr>
              <a:xfrm>
                <a:off x="1530202" y="3721215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2C6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en-GB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2E2C6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3BF1F4-E4AC-6547-F1E2-460CF5AAD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202" y="3721215"/>
                <a:ext cx="363433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A37DEF-8240-8D0A-FE4F-508DD3A288E1}"/>
                  </a:ext>
                </a:extLst>
              </p:cNvPr>
              <p:cNvSpPr txBox="1"/>
              <p:nvPr/>
            </p:nvSpPr>
            <p:spPr>
              <a:xfrm>
                <a:off x="2059886" y="2483989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2C6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en-GB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2E2C6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A37DEF-8240-8D0A-FE4F-508DD3A28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886" y="2483989"/>
                <a:ext cx="363433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D8022CC-9F36-72B8-51BF-E875A0269694}"/>
                  </a:ext>
                </a:extLst>
              </p:cNvPr>
              <p:cNvSpPr txBox="1"/>
              <p:nvPr/>
            </p:nvSpPr>
            <p:spPr>
              <a:xfrm>
                <a:off x="5862133" y="3605785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2C6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</m:oMath>
                  </m:oMathPara>
                </a14:m>
                <a:endParaRPr kumimoji="0" lang="en-GB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2E2C6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D8022CC-9F36-72B8-51BF-E875A0269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133" y="3605785"/>
                <a:ext cx="370166" cy="553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418CCBFE-DFBA-FF41-0C9E-F4D30B795CD4}"/>
              </a:ext>
            </a:extLst>
          </p:cNvPr>
          <p:cNvSpPr txBox="1"/>
          <p:nvPr/>
        </p:nvSpPr>
        <p:spPr>
          <a:xfrm>
            <a:off x="7985824" y="5536387"/>
            <a:ext cx="945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E2C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Weights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9A5CA9-595D-1431-FC16-570769102FF2}"/>
              </a:ext>
            </a:extLst>
          </p:cNvPr>
          <p:cNvSpPr txBox="1"/>
          <p:nvPr/>
        </p:nvSpPr>
        <p:spPr>
          <a:xfrm>
            <a:off x="11441207" y="4708990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E2C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Bias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62A6B6-DD25-B7E9-5ACB-F9CF1FC5E69B}"/>
              </a:ext>
            </a:extLst>
          </p:cNvPr>
          <p:cNvSpPr txBox="1"/>
          <p:nvPr/>
        </p:nvSpPr>
        <p:spPr>
          <a:xfrm>
            <a:off x="9397540" y="5412255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E2C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signals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687264-4A2E-2D8E-2D8A-5657CBD379D8}"/>
              </a:ext>
            </a:extLst>
          </p:cNvPr>
          <p:cNvSpPr txBox="1"/>
          <p:nvPr/>
        </p:nvSpPr>
        <p:spPr>
          <a:xfrm>
            <a:off x="6863543" y="3289167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E2C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 signal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0EB131-603A-090C-06F2-087B12F4DB42}"/>
              </a:ext>
            </a:extLst>
          </p:cNvPr>
          <p:cNvSpPr txBox="1"/>
          <p:nvPr/>
        </p:nvSpPr>
        <p:spPr>
          <a:xfrm>
            <a:off x="9299469" y="2644162"/>
            <a:ext cx="1966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E2C6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Activation function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36CFBD7-917C-18C7-CB55-CF71448C2938}"/>
              </a:ext>
            </a:extLst>
          </p:cNvPr>
          <p:cNvCxnSpPr/>
          <p:nvPr/>
        </p:nvCxnSpPr>
        <p:spPr>
          <a:xfrm>
            <a:off x="11064526" y="4893296"/>
            <a:ext cx="37668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8932BE3-8B45-D4B6-B79D-9E0D0EF81889}"/>
              </a:ext>
            </a:extLst>
          </p:cNvPr>
          <p:cNvCxnSpPr/>
          <p:nvPr/>
        </p:nvCxnSpPr>
        <p:spPr>
          <a:xfrm flipV="1">
            <a:off x="9997344" y="5078322"/>
            <a:ext cx="0" cy="239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F31FB65-CC6E-91F3-1028-09111E804021}"/>
              </a:ext>
            </a:extLst>
          </p:cNvPr>
          <p:cNvCxnSpPr/>
          <p:nvPr/>
        </p:nvCxnSpPr>
        <p:spPr>
          <a:xfrm flipV="1">
            <a:off x="8570072" y="5067961"/>
            <a:ext cx="604102" cy="4827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C1E7A7E-608F-ECB0-9A2F-573D646AC590}"/>
              </a:ext>
            </a:extLst>
          </p:cNvPr>
          <p:cNvCxnSpPr/>
          <p:nvPr/>
        </p:nvCxnSpPr>
        <p:spPr>
          <a:xfrm flipV="1">
            <a:off x="8309773" y="3473833"/>
            <a:ext cx="465389" cy="208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D20E9BE-1731-7090-D1E8-F74567CCB30D}"/>
              </a:ext>
            </a:extLst>
          </p:cNvPr>
          <p:cNvCxnSpPr/>
          <p:nvPr/>
        </p:nvCxnSpPr>
        <p:spPr>
          <a:xfrm flipV="1">
            <a:off x="9901453" y="2958173"/>
            <a:ext cx="0" cy="239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469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946CAF-339F-CBF2-0649-989C529E4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Deep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1F103-8D74-9477-14A6-7E21FFA8D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9</a:t>
            </a:fld>
            <a:endParaRPr lang="en-GB" noProof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F46B241-7042-6E76-567E-1EABBCC4AA06}"/>
              </a:ext>
            </a:extLst>
          </p:cNvPr>
          <p:cNvSpPr/>
          <p:nvPr/>
        </p:nvSpPr>
        <p:spPr>
          <a:xfrm>
            <a:off x="2068830" y="1703070"/>
            <a:ext cx="377190" cy="37719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7AAFBAE-340F-1C83-05B1-92DF0E6A2452}"/>
              </a:ext>
            </a:extLst>
          </p:cNvPr>
          <p:cNvSpPr/>
          <p:nvPr/>
        </p:nvSpPr>
        <p:spPr>
          <a:xfrm>
            <a:off x="2068830" y="2232660"/>
            <a:ext cx="377190" cy="37719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DC440AA-899B-88DA-2A51-8850868121E5}"/>
              </a:ext>
            </a:extLst>
          </p:cNvPr>
          <p:cNvSpPr/>
          <p:nvPr/>
        </p:nvSpPr>
        <p:spPr>
          <a:xfrm>
            <a:off x="2068830" y="2762250"/>
            <a:ext cx="377190" cy="37719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272FF15-BA6E-012E-601F-9A6B884C0945}"/>
              </a:ext>
            </a:extLst>
          </p:cNvPr>
          <p:cNvSpPr/>
          <p:nvPr/>
        </p:nvSpPr>
        <p:spPr>
          <a:xfrm>
            <a:off x="4381500" y="1703070"/>
            <a:ext cx="377190" cy="37719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75E6A8B-2ADA-C6E6-AB5D-49A6E5BFDE6D}"/>
              </a:ext>
            </a:extLst>
          </p:cNvPr>
          <p:cNvSpPr/>
          <p:nvPr/>
        </p:nvSpPr>
        <p:spPr>
          <a:xfrm>
            <a:off x="4381500" y="2232660"/>
            <a:ext cx="377190" cy="37719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7BA68D-D2EE-E035-5E7F-BDE3B93F97B3}"/>
              </a:ext>
            </a:extLst>
          </p:cNvPr>
          <p:cNvSpPr/>
          <p:nvPr/>
        </p:nvSpPr>
        <p:spPr>
          <a:xfrm>
            <a:off x="4381500" y="2762250"/>
            <a:ext cx="377190" cy="37719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65D5051-3CF8-B55B-57F9-036314E1AF5C}"/>
              </a:ext>
            </a:extLst>
          </p:cNvPr>
          <p:cNvSpPr/>
          <p:nvPr/>
        </p:nvSpPr>
        <p:spPr>
          <a:xfrm>
            <a:off x="6694170" y="1703070"/>
            <a:ext cx="377190" cy="37719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3C3FF44-31EF-3F4B-4713-72466D378BEF}"/>
              </a:ext>
            </a:extLst>
          </p:cNvPr>
          <p:cNvSpPr/>
          <p:nvPr/>
        </p:nvSpPr>
        <p:spPr>
          <a:xfrm>
            <a:off x="6694170" y="2232660"/>
            <a:ext cx="377190" cy="37719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4BC3027-92ED-A2BA-11C5-4F934A01826E}"/>
              </a:ext>
            </a:extLst>
          </p:cNvPr>
          <p:cNvSpPr/>
          <p:nvPr/>
        </p:nvSpPr>
        <p:spPr>
          <a:xfrm>
            <a:off x="6694170" y="2762250"/>
            <a:ext cx="377190" cy="37719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37AB59D-5713-2913-965C-7C9DAE280F40}"/>
              </a:ext>
            </a:extLst>
          </p:cNvPr>
          <p:cNvSpPr/>
          <p:nvPr/>
        </p:nvSpPr>
        <p:spPr>
          <a:xfrm>
            <a:off x="2068830" y="4941570"/>
            <a:ext cx="377190" cy="37719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C59FFDA-91F5-751E-6877-9B06E004C89F}"/>
              </a:ext>
            </a:extLst>
          </p:cNvPr>
          <p:cNvSpPr/>
          <p:nvPr/>
        </p:nvSpPr>
        <p:spPr>
          <a:xfrm>
            <a:off x="2068830" y="5471160"/>
            <a:ext cx="377190" cy="37719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40411C1-DB5E-CE8A-65BA-7C0C970509A8}"/>
              </a:ext>
            </a:extLst>
          </p:cNvPr>
          <p:cNvSpPr/>
          <p:nvPr/>
        </p:nvSpPr>
        <p:spPr>
          <a:xfrm>
            <a:off x="2068830" y="6000750"/>
            <a:ext cx="377190" cy="37719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4CC2A9D-1073-1115-8DF6-006806941AC6}"/>
              </a:ext>
            </a:extLst>
          </p:cNvPr>
          <p:cNvSpPr/>
          <p:nvPr/>
        </p:nvSpPr>
        <p:spPr>
          <a:xfrm>
            <a:off x="4381500" y="4941570"/>
            <a:ext cx="377190" cy="37719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DF75AC7-FA4A-9618-14CC-2EF70F89D001}"/>
              </a:ext>
            </a:extLst>
          </p:cNvPr>
          <p:cNvSpPr/>
          <p:nvPr/>
        </p:nvSpPr>
        <p:spPr>
          <a:xfrm>
            <a:off x="4381500" y="5471160"/>
            <a:ext cx="377190" cy="37719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F793271-945A-BECD-0CA9-3DAA5ADECA85}"/>
              </a:ext>
            </a:extLst>
          </p:cNvPr>
          <p:cNvSpPr/>
          <p:nvPr/>
        </p:nvSpPr>
        <p:spPr>
          <a:xfrm>
            <a:off x="4381500" y="6000750"/>
            <a:ext cx="377190" cy="37719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05FEFF-B1C1-C647-1A16-F00DE731911D}"/>
              </a:ext>
            </a:extLst>
          </p:cNvPr>
          <p:cNvSpPr/>
          <p:nvPr/>
        </p:nvSpPr>
        <p:spPr>
          <a:xfrm>
            <a:off x="6694170" y="4941570"/>
            <a:ext cx="377190" cy="37719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4956976-9D34-BC07-674C-ECB678F7965B}"/>
              </a:ext>
            </a:extLst>
          </p:cNvPr>
          <p:cNvSpPr/>
          <p:nvPr/>
        </p:nvSpPr>
        <p:spPr>
          <a:xfrm>
            <a:off x="6694170" y="5471160"/>
            <a:ext cx="377190" cy="37719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A1F2250-280D-DBFA-F4B2-DC7F7C75B070}"/>
              </a:ext>
            </a:extLst>
          </p:cNvPr>
          <p:cNvSpPr/>
          <p:nvPr/>
        </p:nvSpPr>
        <p:spPr>
          <a:xfrm>
            <a:off x="6694170" y="6000750"/>
            <a:ext cx="377190" cy="37719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3604964-6771-2017-376F-3475CD7AA9FA}"/>
                  </a:ext>
                </a:extLst>
              </p:cNvPr>
              <p:cNvSpPr txBox="1"/>
              <p:nvPr/>
            </p:nvSpPr>
            <p:spPr>
              <a:xfrm>
                <a:off x="2552041" y="1484328"/>
                <a:ext cx="709873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3604964-6771-2017-376F-3475CD7AA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041" y="1484328"/>
                <a:ext cx="709873" cy="595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C4E440A-81EF-DD4C-6BEF-2BD5B5ACB9B0}"/>
                  </a:ext>
                </a:extLst>
              </p:cNvPr>
              <p:cNvSpPr txBox="1"/>
              <p:nvPr/>
            </p:nvSpPr>
            <p:spPr>
              <a:xfrm>
                <a:off x="4758690" y="1484328"/>
                <a:ext cx="709874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C4E440A-81EF-DD4C-6BEF-2BD5B5ACB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690" y="1484328"/>
                <a:ext cx="709874" cy="5959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8E2E10-256C-5FED-1338-1B5E59DA4E5E}"/>
                  </a:ext>
                </a:extLst>
              </p:cNvPr>
              <p:cNvSpPr txBox="1"/>
              <p:nvPr/>
            </p:nvSpPr>
            <p:spPr>
              <a:xfrm>
                <a:off x="7011059" y="1484328"/>
                <a:ext cx="709874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8E2E10-256C-5FED-1338-1B5E59DA4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1059" y="1484328"/>
                <a:ext cx="709874" cy="5959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375A700-72D4-924E-1E53-BF58BABE6E34}"/>
                  </a:ext>
                </a:extLst>
              </p:cNvPr>
              <p:cNvSpPr txBox="1"/>
              <p:nvPr/>
            </p:nvSpPr>
            <p:spPr>
              <a:xfrm>
                <a:off x="2439971" y="4736496"/>
                <a:ext cx="974369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𝒅𝒚</m:t>
                          </m:r>
                        </m:e>
                        <m:sup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375A700-72D4-924E-1E53-BF58BABE6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971" y="4736496"/>
                <a:ext cx="974369" cy="5959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26EEF2C-FF06-3228-AE16-755BA0AEC677}"/>
                  </a:ext>
                </a:extLst>
              </p:cNvPr>
              <p:cNvSpPr txBox="1"/>
              <p:nvPr/>
            </p:nvSpPr>
            <p:spPr>
              <a:xfrm>
                <a:off x="4737454" y="4770786"/>
                <a:ext cx="974369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𝒅𝒚</m:t>
                          </m:r>
                        </m:e>
                        <m:sup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26EEF2C-FF06-3228-AE16-755BA0AEC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454" y="4770786"/>
                <a:ext cx="974369" cy="5959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2A3F7D5-D2A1-6ADC-800C-1F7FA07B645E}"/>
                  </a:ext>
                </a:extLst>
              </p:cNvPr>
              <p:cNvSpPr txBox="1"/>
              <p:nvPr/>
            </p:nvSpPr>
            <p:spPr>
              <a:xfrm>
                <a:off x="7140599" y="4688538"/>
                <a:ext cx="974369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𝒅𝒚</m:t>
                          </m:r>
                        </m:e>
                        <m:sup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2A3F7D5-D2A1-6ADC-800C-1F7FA07B6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599" y="4688538"/>
                <a:ext cx="974369" cy="5959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751447-D6A0-7C1F-AEAC-4D7B87D018EF}"/>
                  </a:ext>
                </a:extLst>
              </p:cNvPr>
              <p:cNvSpPr txBox="1"/>
              <p:nvPr/>
            </p:nvSpPr>
            <p:spPr>
              <a:xfrm>
                <a:off x="7011059" y="3407865"/>
                <a:ext cx="1052917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𝒅𝒘</m:t>
                          </m:r>
                        </m:e>
                        <m:sup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751447-D6A0-7C1F-AEAC-4D7B87D01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1059" y="3407865"/>
                <a:ext cx="1052917" cy="5959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5856341-2A9B-0DA0-6592-B2F7FB3D8D4B}"/>
                  </a:ext>
                </a:extLst>
              </p:cNvPr>
              <p:cNvSpPr txBox="1"/>
              <p:nvPr/>
            </p:nvSpPr>
            <p:spPr>
              <a:xfrm>
                <a:off x="7011058" y="3826179"/>
                <a:ext cx="977575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𝒅𝒃</m:t>
                          </m:r>
                        </m:e>
                        <m:sup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5856341-2A9B-0DA0-6592-B2F7FB3D8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1058" y="3826179"/>
                <a:ext cx="977575" cy="5959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C405F19-7C3B-B525-28ED-E4C42E67D041}"/>
                  </a:ext>
                </a:extLst>
              </p:cNvPr>
              <p:cNvSpPr txBox="1"/>
              <p:nvPr/>
            </p:nvSpPr>
            <p:spPr>
              <a:xfrm>
                <a:off x="4658906" y="3456670"/>
                <a:ext cx="1052917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𝒅𝒘</m:t>
                          </m:r>
                        </m:e>
                        <m:sup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C405F19-7C3B-B525-28ED-E4C42E67D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8906" y="3456670"/>
                <a:ext cx="1052917" cy="5959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BA7D07F-FB74-1833-3442-A6421DBCB5F1}"/>
                  </a:ext>
                </a:extLst>
              </p:cNvPr>
              <p:cNvSpPr txBox="1"/>
              <p:nvPr/>
            </p:nvSpPr>
            <p:spPr>
              <a:xfrm>
                <a:off x="4658905" y="3874984"/>
                <a:ext cx="977575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𝒅𝒃</m:t>
                          </m:r>
                        </m:e>
                        <m:sup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BA7D07F-FB74-1833-3442-A6421DBCB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8905" y="3874984"/>
                <a:ext cx="977575" cy="5959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74EB13F-483F-0993-6ECF-0192B3DBA096}"/>
                  </a:ext>
                </a:extLst>
              </p:cNvPr>
              <p:cNvSpPr txBox="1"/>
              <p:nvPr/>
            </p:nvSpPr>
            <p:spPr>
              <a:xfrm>
                <a:off x="2283087" y="3496674"/>
                <a:ext cx="1052917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𝒅𝒘</m:t>
                          </m:r>
                        </m:e>
                        <m:sup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74EB13F-483F-0993-6ECF-0192B3DBA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087" y="3496674"/>
                <a:ext cx="1052917" cy="5959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7C18FB7-3C89-A870-66B3-D02A2533714E}"/>
                  </a:ext>
                </a:extLst>
              </p:cNvPr>
              <p:cNvSpPr txBox="1"/>
              <p:nvPr/>
            </p:nvSpPr>
            <p:spPr>
              <a:xfrm>
                <a:off x="2271656" y="3914988"/>
                <a:ext cx="977575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𝒅𝒃</m:t>
                          </m:r>
                        </m:e>
                        <m:sup>
                          <m:r>
                            <a:rPr lang="en-GB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7C18FB7-3C89-A870-66B3-D02A25337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656" y="3914988"/>
                <a:ext cx="977575" cy="5959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04DDDFF-224A-A650-78CE-3B157993A416}"/>
                  </a:ext>
                </a:extLst>
              </p:cNvPr>
              <p:cNvSpPr txBox="1"/>
              <p:nvPr/>
            </p:nvSpPr>
            <p:spPr>
              <a:xfrm>
                <a:off x="9351026" y="3465639"/>
                <a:ext cx="1394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200" b="1" dirty="0">
                    <a:solidFill>
                      <a:schemeClr val="tx1"/>
                    </a:solidFill>
                  </a:rPr>
                  <a:t>Loss(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GB" sz="3200" b="1" dirty="0">
                    <a:solidFill>
                      <a:schemeClr val="tx1"/>
                    </a:solidFill>
                  </a:rPr>
                  <a:t>)</a:t>
                </a:r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04DDDFF-224A-A650-78CE-3B157993A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1026" y="3465639"/>
                <a:ext cx="1394934" cy="584775"/>
              </a:xfrm>
              <a:prstGeom prst="rect">
                <a:avLst/>
              </a:prstGeom>
              <a:blipFill>
                <a:blip r:embed="rId15"/>
                <a:stretch>
                  <a:fillRect l="-11354" t="-12632" r="-17904" b="-357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CFCC330-CE81-729D-D79C-166557D5C828}"/>
                  </a:ext>
                </a:extLst>
              </p:cNvPr>
              <p:cNvSpPr txBox="1"/>
              <p:nvPr/>
            </p:nvSpPr>
            <p:spPr>
              <a:xfrm>
                <a:off x="8492586" y="5322892"/>
                <a:ext cx="2253374" cy="1112099"/>
              </a:xfrm>
              <a:prstGeom prst="rect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𝒅𝒚</m:t>
                          </m:r>
                        </m:e>
                        <m:sup>
                          <m:r>
                            <a:rPr lang="en-GB" sz="3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GB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≜</m:t>
                      </m:r>
                      <m:f>
                        <m:fPr>
                          <m:ctrlPr>
                            <a:rPr lang="en-GB" sz="3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𝒅𝑳</m:t>
                          </m:r>
                        </m:num>
                        <m:den>
                          <m:r>
                            <a:rPr lang="en-GB" sz="3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sSup>
                            <m:sSupPr>
                              <m:ctrlPr>
                                <a:rPr lang="en-GB" sz="3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GB" sz="3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CFCC330-CE81-729D-D79C-166557D5C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586" y="5322892"/>
                <a:ext cx="2253374" cy="11120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EBB0E2A-5D5C-6D8B-2F23-A00CA957E76E}"/>
              </a:ext>
            </a:extLst>
          </p:cNvPr>
          <p:cNvCxnSpPr/>
          <p:nvPr/>
        </p:nvCxnSpPr>
        <p:spPr>
          <a:xfrm>
            <a:off x="2906977" y="2421255"/>
            <a:ext cx="119639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8B65F67-1200-C90A-D801-64066A4869D1}"/>
              </a:ext>
            </a:extLst>
          </p:cNvPr>
          <p:cNvCxnSpPr/>
          <p:nvPr/>
        </p:nvCxnSpPr>
        <p:spPr>
          <a:xfrm>
            <a:off x="5113627" y="2421255"/>
            <a:ext cx="119639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CE66D73-315E-067E-27AB-946532171C3E}"/>
              </a:ext>
            </a:extLst>
          </p:cNvPr>
          <p:cNvCxnSpPr>
            <a:cxnSpLocks/>
          </p:cNvCxnSpPr>
          <p:nvPr/>
        </p:nvCxnSpPr>
        <p:spPr>
          <a:xfrm flipH="1">
            <a:off x="5505946" y="5130165"/>
            <a:ext cx="1098449" cy="1069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671CA27-2ADA-32A4-95BF-E9E82A0E0C3A}"/>
              </a:ext>
            </a:extLst>
          </p:cNvPr>
          <p:cNvCxnSpPr>
            <a:cxnSpLocks/>
          </p:cNvCxnSpPr>
          <p:nvPr/>
        </p:nvCxnSpPr>
        <p:spPr>
          <a:xfrm flipH="1">
            <a:off x="3168765" y="5157333"/>
            <a:ext cx="1098449" cy="1069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9406224-FCDC-3A9B-0301-F7FEA0C97177}"/>
              </a:ext>
            </a:extLst>
          </p:cNvPr>
          <p:cNvCxnSpPr>
            <a:cxnSpLocks/>
          </p:cNvCxnSpPr>
          <p:nvPr/>
        </p:nvCxnSpPr>
        <p:spPr>
          <a:xfrm flipV="1">
            <a:off x="2257425" y="3407865"/>
            <a:ext cx="0" cy="101424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E65239A-0200-301A-6887-FC0A48640FB6}"/>
              </a:ext>
            </a:extLst>
          </p:cNvPr>
          <p:cNvCxnSpPr>
            <a:cxnSpLocks/>
          </p:cNvCxnSpPr>
          <p:nvPr/>
        </p:nvCxnSpPr>
        <p:spPr>
          <a:xfrm flipV="1">
            <a:off x="4590300" y="3407865"/>
            <a:ext cx="0" cy="101424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1DCAF44-728D-1984-BBC3-AC0412E9DB9E}"/>
              </a:ext>
            </a:extLst>
          </p:cNvPr>
          <p:cNvCxnSpPr>
            <a:cxnSpLocks/>
          </p:cNvCxnSpPr>
          <p:nvPr/>
        </p:nvCxnSpPr>
        <p:spPr>
          <a:xfrm flipV="1">
            <a:off x="6923175" y="3407865"/>
            <a:ext cx="0" cy="101424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Arc 43">
            <a:extLst>
              <a:ext uri="{FF2B5EF4-FFF2-40B4-BE49-F238E27FC236}">
                <a16:creationId xmlns:a16="http://schemas.microsoft.com/office/drawing/2014/main" id="{8AF1F87B-958B-8161-0537-ECBB184BDCE6}"/>
              </a:ext>
            </a:extLst>
          </p:cNvPr>
          <p:cNvSpPr/>
          <p:nvPr/>
        </p:nvSpPr>
        <p:spPr>
          <a:xfrm>
            <a:off x="6172804" y="2436905"/>
            <a:ext cx="3702707" cy="1556182"/>
          </a:xfrm>
          <a:prstGeom prst="arc">
            <a:avLst/>
          </a:prstGeom>
          <a:ln w="5715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86AB8036-2E5E-6083-C431-0CF06F421955}"/>
              </a:ext>
            </a:extLst>
          </p:cNvPr>
          <p:cNvSpPr/>
          <p:nvPr/>
        </p:nvSpPr>
        <p:spPr>
          <a:xfrm flipV="1">
            <a:off x="6212622" y="3441538"/>
            <a:ext cx="3702707" cy="1556182"/>
          </a:xfrm>
          <a:prstGeom prst="arc">
            <a:avLst/>
          </a:prstGeom>
          <a:ln w="57150"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8A57B895-53F1-B5B8-6689-8FDA9AB208E3}"/>
              </a:ext>
            </a:extLst>
          </p:cNvPr>
          <p:cNvSpPr txBox="1">
            <a:spLocks/>
          </p:cNvSpPr>
          <p:nvPr/>
        </p:nvSpPr>
        <p:spPr>
          <a:xfrm>
            <a:off x="838200" y="-3549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>
                <a:latin typeface="Tenorite" panose="00000500000000000000" pitchFamily="2" charset="0"/>
              </a:rPr>
              <a:t>BACK PROPAGATION</a:t>
            </a:r>
          </a:p>
        </p:txBody>
      </p:sp>
    </p:spTree>
    <p:extLst>
      <p:ext uri="{BB962C8B-B14F-4D97-AF65-F5344CB8AC3E}">
        <p14:creationId xmlns:p14="http://schemas.microsoft.com/office/powerpoint/2010/main" val="663767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to make a distributed representation?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4471DBF-2096-8556-817F-B1BDA55AB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AI4AM 2026 Madrid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A72C9-BB57-A9FD-4406-76BAEE71A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45EA2-0EA6-4F34-9E8F-B45A0D98FE6A}" type="slidenum">
              <a:rPr lang="en-GB" smtClean="0"/>
              <a:t>10</a:t>
            </a:fld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24654" y="2217632"/>
            <a:ext cx="6280150" cy="34878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Using the word; predict the context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Train over a large corpus of text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Optimise the weights of the networks to minimise the loss on the context predictions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Use the resulting embedding network to create the representations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1253" y="1683580"/>
            <a:ext cx="30716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Comic Sans MS" panose="030F0702030302020204" pitchFamily="66" charset="0"/>
              </a:rPr>
              <a:t>learn this word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57615" y="1710508"/>
            <a:ext cx="777241" cy="5507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7255899" y="1700598"/>
            <a:ext cx="1013003" cy="5507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9206815" y="1703467"/>
            <a:ext cx="971161" cy="5507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101" y="2685959"/>
            <a:ext cx="3631699" cy="289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1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293"/>
    </mc:Choice>
    <mc:Fallback xmlns="">
      <p:transition spd="slow" advTm="2529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en-GB" dirty="0"/>
              <a:t>Sequence data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11</a:t>
            </a:fld>
            <a:endParaRPr lang="en-GB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FDC483A-BC2C-5387-B674-90692A54F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865" y="1773671"/>
            <a:ext cx="4273666" cy="447485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EAA0723-423B-78AC-1BB6-4C7A0A3D9644}"/>
              </a:ext>
            </a:extLst>
          </p:cNvPr>
          <p:cNvSpPr txBox="1"/>
          <p:nvPr/>
        </p:nvSpPr>
        <p:spPr>
          <a:xfrm>
            <a:off x="6551471" y="3309801"/>
            <a:ext cx="48941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MLPs and CNNs struggle with sequence data. There is no fixed length of input, the data can be many to one. </a:t>
            </a:r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en-GB" dirty="0"/>
              <a:t>Recurrent Neural Networks (RNNs)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868410-BE8A-4C98-9C72-20D0A2A6A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12</a:t>
            </a:fld>
            <a:endParaRPr lang="en-GB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690166B7-A718-E6EF-1C19-E49E1B1AB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977" y="2551267"/>
            <a:ext cx="4616776" cy="23204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4CA350-2B4C-0EFA-F96A-AED8FF58AD1A}"/>
                  </a:ext>
                </a:extLst>
              </p:cNvPr>
              <p:cNvSpPr txBox="1"/>
              <p:nvPr/>
            </p:nvSpPr>
            <p:spPr>
              <a:xfrm>
                <a:off x="4332215" y="5475535"/>
                <a:ext cx="34064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</m:sSub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</m:sSub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4CA350-2B4C-0EFA-F96A-AED8FF58A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215" y="5475535"/>
                <a:ext cx="3406445" cy="369332"/>
              </a:xfrm>
              <a:prstGeom prst="rect">
                <a:avLst/>
              </a:prstGeom>
              <a:blipFill>
                <a:blip r:embed="rId4"/>
                <a:stretch>
                  <a:fillRect l="-1613" r="-2688" b="-360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7453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A0375-CEF8-8ADB-F8E2-8DA8FFD11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609E-E6DA-B467-78D3-FE12C848D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Issues with RNNs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321B9-EDF1-9A60-B2C3-49B8097C7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13</a:t>
            </a:fld>
            <a:endParaRPr lang="en-GB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822C0-6ABA-DFA0-D040-8CC45575A1C5}"/>
              </a:ext>
            </a:extLst>
          </p:cNvPr>
          <p:cNvSpPr txBox="1"/>
          <p:nvPr/>
        </p:nvSpPr>
        <p:spPr>
          <a:xfrm>
            <a:off x="3124200" y="2514370"/>
            <a:ext cx="64459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The clouds are in the ________. </a:t>
            </a:r>
            <a:r>
              <a:rPr lang="en-GB" sz="36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</a:t>
            </a:r>
            <a:endParaRPr lang="en-GB" sz="36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FCBD44-5044-94AC-710A-18E519F069EE}"/>
              </a:ext>
            </a:extLst>
          </p:cNvPr>
          <p:cNvSpPr txBox="1"/>
          <p:nvPr/>
        </p:nvSpPr>
        <p:spPr>
          <a:xfrm>
            <a:off x="3211403" y="3901424"/>
            <a:ext cx="57767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 was born in France. At the age of 16 I moved country. I have lived here since I was 21. Nonetheless, I still speak fluent _______. </a:t>
            </a:r>
            <a:r>
              <a:rPr lang="en-GB" sz="3600" dirty="0">
                <a:solidFill>
                  <a:srgbClr val="FF0000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</a:t>
            </a:r>
            <a:endParaRPr lang="en-GB" sz="36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CE875B-9C70-FECC-8CE5-B79EFAFED38E}"/>
              </a:ext>
            </a:extLst>
          </p:cNvPr>
          <p:cNvSpPr txBox="1"/>
          <p:nvPr/>
        </p:nvSpPr>
        <p:spPr>
          <a:xfrm>
            <a:off x="2883870" y="1774677"/>
            <a:ext cx="6424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RNNs have very 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short term memory </a:t>
            </a:r>
            <a:r>
              <a:rPr lang="en-GB" dirty="0"/>
              <a:t>– they lose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context</a:t>
            </a:r>
            <a:r>
              <a:rPr lang="en-GB" dirty="0"/>
              <a:t> quickly</a:t>
            </a:r>
          </a:p>
        </p:txBody>
      </p:sp>
    </p:spTree>
    <p:extLst>
      <p:ext uri="{BB962C8B-B14F-4D97-AF65-F5344CB8AC3E}">
        <p14:creationId xmlns:p14="http://schemas.microsoft.com/office/powerpoint/2010/main" val="4211495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251A6-2E65-6449-DD33-3BAB13B9D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20AF8-7F6E-C5EC-6401-3AC6E620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14</a:t>
            </a:fld>
            <a:endParaRPr lang="en-GB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673CB3-DF38-A97A-21F6-5AAE8D8A8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118" y="1579003"/>
            <a:ext cx="4003893" cy="45431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F49850-65B3-E027-1748-A202D13D2300}"/>
              </a:ext>
            </a:extLst>
          </p:cNvPr>
          <p:cNvSpPr txBox="1"/>
          <p:nvPr/>
        </p:nvSpPr>
        <p:spPr>
          <a:xfrm>
            <a:off x="4225331" y="6123543"/>
            <a:ext cx="1728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Je suis </a:t>
            </a:r>
            <a:r>
              <a:rPr lang="en-GB" dirty="0" err="1"/>
              <a:t>etudiant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48B03C-439E-9764-D714-2063146FF210}"/>
              </a:ext>
            </a:extLst>
          </p:cNvPr>
          <p:cNvSpPr txBox="1"/>
          <p:nvPr/>
        </p:nvSpPr>
        <p:spPr>
          <a:xfrm>
            <a:off x="6313678" y="612354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 am 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20EFD4-5400-983B-CB99-CE4EB74007EE}"/>
              </a:ext>
            </a:extLst>
          </p:cNvPr>
          <p:cNvSpPr txBox="1"/>
          <p:nvPr/>
        </p:nvSpPr>
        <p:spPr>
          <a:xfrm>
            <a:off x="6338038" y="1265863"/>
            <a:ext cx="935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student</a:t>
            </a:r>
          </a:p>
        </p:txBody>
      </p:sp>
    </p:spTree>
    <p:extLst>
      <p:ext uri="{BB962C8B-B14F-4D97-AF65-F5344CB8AC3E}">
        <p14:creationId xmlns:p14="http://schemas.microsoft.com/office/powerpoint/2010/main" val="4214653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8475E-C468-F568-A5BB-9463D6571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attention mechanism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6E110-EDA6-6728-FB5D-0042AC21D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15</a:t>
            </a:fld>
            <a:endParaRPr lang="en-GB" noProof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8B9646-AEDA-CA01-90E9-E63C559C0505}"/>
              </a:ext>
            </a:extLst>
          </p:cNvPr>
          <p:cNvSpPr txBox="1"/>
          <p:nvPr/>
        </p:nvSpPr>
        <p:spPr>
          <a:xfrm>
            <a:off x="3023292" y="4963456"/>
            <a:ext cx="6992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We use attention to “focus” on some part of interest in an input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1908D8-7B1A-3E42-9FDA-5A380D24BF04}"/>
              </a:ext>
            </a:extLst>
          </p:cNvPr>
          <p:cNvSpPr txBox="1"/>
          <p:nvPr/>
        </p:nvSpPr>
        <p:spPr>
          <a:xfrm>
            <a:off x="2708564" y="3483032"/>
            <a:ext cx="69233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She is </a:t>
            </a:r>
            <a:r>
              <a:rPr lang="en-GB" sz="4400" dirty="0">
                <a:solidFill>
                  <a:schemeClr val="accent5"/>
                </a:solidFill>
              </a:rPr>
              <a:t>eating</a:t>
            </a:r>
            <a:r>
              <a:rPr lang="en-GB" sz="4400" dirty="0"/>
              <a:t> a </a:t>
            </a:r>
            <a:r>
              <a:rPr lang="en-GB" sz="4400" dirty="0">
                <a:solidFill>
                  <a:schemeClr val="accent6">
                    <a:lumMod val="75000"/>
                  </a:schemeClr>
                </a:solidFill>
              </a:rPr>
              <a:t>green</a:t>
            </a:r>
            <a:r>
              <a:rPr lang="en-GB" sz="4400" dirty="0"/>
              <a:t> </a:t>
            </a:r>
            <a:r>
              <a:rPr lang="en-GB" sz="4400" dirty="0">
                <a:solidFill>
                  <a:srgbClr val="FF0000"/>
                </a:solidFill>
              </a:rPr>
              <a:t>apple</a:t>
            </a:r>
            <a:r>
              <a:rPr lang="en-GB" sz="4400" dirty="0"/>
              <a:t>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1230C19-E478-7BCC-E27C-A08D413BC955}"/>
              </a:ext>
            </a:extLst>
          </p:cNvPr>
          <p:cNvCxnSpPr/>
          <p:nvPr/>
        </p:nvCxnSpPr>
        <p:spPr>
          <a:xfrm flipV="1">
            <a:off x="5191298" y="3179618"/>
            <a:ext cx="0" cy="44057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470F80-124C-0B66-E45F-196B6DC053B7}"/>
              </a:ext>
            </a:extLst>
          </p:cNvPr>
          <p:cNvCxnSpPr/>
          <p:nvPr/>
        </p:nvCxnSpPr>
        <p:spPr>
          <a:xfrm flipV="1">
            <a:off x="7085215" y="3179618"/>
            <a:ext cx="0" cy="44057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EC8370-B043-9F71-58A9-D313B908D2CA}"/>
              </a:ext>
            </a:extLst>
          </p:cNvPr>
          <p:cNvCxnSpPr>
            <a:cxnSpLocks/>
          </p:cNvCxnSpPr>
          <p:nvPr/>
        </p:nvCxnSpPr>
        <p:spPr>
          <a:xfrm flipV="1">
            <a:off x="4562301" y="2859578"/>
            <a:ext cx="0" cy="7606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7F46AF-F804-ACA5-C0E8-46270DF853BC}"/>
              </a:ext>
            </a:extLst>
          </p:cNvPr>
          <p:cNvCxnSpPr>
            <a:cxnSpLocks/>
          </p:cNvCxnSpPr>
          <p:nvPr/>
        </p:nvCxnSpPr>
        <p:spPr>
          <a:xfrm flipV="1">
            <a:off x="8546868" y="2859578"/>
            <a:ext cx="0" cy="7606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A9035CC-C7F4-2864-396A-82055FA2E907}"/>
              </a:ext>
            </a:extLst>
          </p:cNvPr>
          <p:cNvCxnSpPr/>
          <p:nvPr/>
        </p:nvCxnSpPr>
        <p:spPr>
          <a:xfrm>
            <a:off x="5191298" y="3179618"/>
            <a:ext cx="1893917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6C291F1-5E66-00CF-008D-51CF778B589D}"/>
              </a:ext>
            </a:extLst>
          </p:cNvPr>
          <p:cNvCxnSpPr/>
          <p:nvPr/>
        </p:nvCxnSpPr>
        <p:spPr>
          <a:xfrm>
            <a:off x="4562301" y="2859578"/>
            <a:ext cx="398456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67F706A-321E-F636-34F1-40E651F5D475}"/>
              </a:ext>
            </a:extLst>
          </p:cNvPr>
          <p:cNvSpPr txBox="1"/>
          <p:nvPr/>
        </p:nvSpPr>
        <p:spPr>
          <a:xfrm>
            <a:off x="5839792" y="2494000"/>
            <a:ext cx="1616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High attention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FAF6AB-5A63-A385-64F2-973EE8B7CF27}"/>
              </a:ext>
            </a:extLst>
          </p:cNvPr>
          <p:cNvSpPr txBox="1"/>
          <p:nvPr/>
        </p:nvSpPr>
        <p:spPr>
          <a:xfrm>
            <a:off x="5380946" y="3183372"/>
            <a:ext cx="1563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Low attention</a:t>
            </a:r>
          </a:p>
        </p:txBody>
      </p:sp>
    </p:spTree>
    <p:extLst>
      <p:ext uri="{BB962C8B-B14F-4D97-AF65-F5344CB8AC3E}">
        <p14:creationId xmlns:p14="http://schemas.microsoft.com/office/powerpoint/2010/main" val="1567491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114C2-2E6D-38C6-1A53-5183515C6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Self-attention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755AF-40AE-7E21-8F92-7D331DFB4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16</a:t>
            </a:fld>
            <a:endParaRPr lang="en-GB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CA83C9-FE14-96FC-355A-07DEAAD797D6}"/>
                  </a:ext>
                </a:extLst>
              </p:cNvPr>
              <p:cNvSpPr txBox="1"/>
              <p:nvPr/>
            </p:nvSpPr>
            <p:spPr>
              <a:xfrm>
                <a:off x="2618615" y="2099216"/>
                <a:ext cx="695476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dirty="0"/>
                  <a:t>With self-attention, each token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sz="1800" dirty="0">
                    <a:latin typeface="Abadi Extra Light" panose="020B0204020104020204" pitchFamily="34" charset="0"/>
                  </a:rPr>
                  <a:t> </a:t>
                </a:r>
                <a:r>
                  <a:rPr lang="en-IN" sz="1800" dirty="0">
                    <a:latin typeface="+mj-lt"/>
                  </a:rPr>
                  <a:t>can </a:t>
                </a:r>
                <a:r>
                  <a:rPr lang="en-IN" sz="1800" dirty="0">
                    <a:solidFill>
                      <a:schemeClr val="accent2">
                        <a:lumMod val="75000"/>
                      </a:schemeClr>
                    </a:solidFill>
                    <a:latin typeface="+mj-lt"/>
                  </a:rPr>
                  <a:t>“attend to” </a:t>
                </a:r>
                <a:r>
                  <a:rPr lang="en-IN" sz="1800" dirty="0">
                    <a:latin typeface="+mj-lt"/>
                  </a:rPr>
                  <a:t>all other tokens of the same sequence when computing this token’s </a:t>
                </a:r>
                <a:r>
                  <a:rPr lang="en-IN" sz="1800" dirty="0">
                    <a:solidFill>
                      <a:schemeClr val="accent6">
                        <a:lumMod val="75000"/>
                      </a:schemeClr>
                    </a:solidFill>
                    <a:latin typeface="+mj-lt"/>
                  </a:rPr>
                  <a:t>embedding</a:t>
                </a:r>
                <a:r>
                  <a:rPr lang="en-IN" sz="1800" dirty="0">
                    <a:latin typeface="Abadi Extra Light" panose="020B0204020104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sz="1800" dirty="0">
                    <a:latin typeface="Abadi Extra Light" panose="020B0204020104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CA83C9-FE14-96FC-355A-07DEAAD79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8615" y="2099216"/>
                <a:ext cx="6954769" cy="646331"/>
              </a:xfrm>
              <a:prstGeom prst="rect">
                <a:avLst/>
              </a:prstGeom>
              <a:blipFill>
                <a:blip r:embed="rId2"/>
                <a:stretch>
                  <a:fillRect l="-789" t="-4717" r="-1491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6AB5A13-590A-0103-FBB6-1B7E5690A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420329" y="3275911"/>
            <a:ext cx="2678779" cy="2103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E12103-DBF6-CFEC-2B49-464ED931B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717036" y="3222720"/>
            <a:ext cx="2648432" cy="21797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4210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BF0EB-6A7A-57A8-378F-66B25D586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self-attention works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7CE45-162A-43F1-F748-F2D90A13E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17</a:t>
            </a:fld>
            <a:endParaRPr lang="en-GB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9B16DA-D832-34B7-C861-B82259B47A22}"/>
                  </a:ext>
                </a:extLst>
              </p:cNvPr>
              <p:cNvSpPr txBox="1"/>
              <p:nvPr/>
            </p:nvSpPr>
            <p:spPr>
              <a:xfrm>
                <a:off x="2417363" y="2792304"/>
                <a:ext cx="7208768" cy="11167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GB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√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e>
                      </m:d>
                      <m:r>
                        <a:rPr lang="en-GB" sz="32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9B16DA-D832-34B7-C861-B82259B47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363" y="2792304"/>
                <a:ext cx="7208768" cy="11167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FDF8649-6749-BF07-5F13-0FD3046DA01A}"/>
              </a:ext>
            </a:extLst>
          </p:cNvPr>
          <p:cNvSpPr txBox="1"/>
          <p:nvPr/>
        </p:nvSpPr>
        <p:spPr>
          <a:xfrm>
            <a:off x="2209800" y="4426145"/>
            <a:ext cx="7139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Based of the concept of </a:t>
            </a:r>
            <a:r>
              <a:rPr lang="en-GB" sz="2400" dirty="0">
                <a:solidFill>
                  <a:srgbClr val="FF0000"/>
                </a:solidFill>
              </a:rPr>
              <a:t>query</a:t>
            </a:r>
            <a:r>
              <a:rPr lang="en-GB" sz="2400" dirty="0"/>
              <a:t>, </a:t>
            </a:r>
            <a:r>
              <a:rPr lang="en-GB" sz="2400" dirty="0">
                <a:solidFill>
                  <a:schemeClr val="accent6">
                    <a:lumMod val="50000"/>
                  </a:schemeClr>
                </a:solidFill>
              </a:rPr>
              <a:t>key</a:t>
            </a:r>
            <a:r>
              <a:rPr lang="en-GB" sz="2400" dirty="0"/>
              <a:t> and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</a:rPr>
              <a:t>value</a:t>
            </a:r>
            <a:r>
              <a:rPr lang="en-GB" sz="2400" dirty="0"/>
              <a:t> vectors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D255B3-ABF0-DB38-45FC-298DA4214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079" y="1506463"/>
            <a:ext cx="7139841" cy="11417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E0C4E4-98E5-2528-D0A3-0603431FEFF3}"/>
              </a:ext>
            </a:extLst>
          </p:cNvPr>
          <p:cNvSpPr txBox="1"/>
          <p:nvPr/>
        </p:nvSpPr>
        <p:spPr>
          <a:xfrm>
            <a:off x="204735" y="6308209"/>
            <a:ext cx="6096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arXiv:1706.03762 (2017) </a:t>
            </a:r>
          </a:p>
        </p:txBody>
      </p:sp>
    </p:spTree>
    <p:extLst>
      <p:ext uri="{BB962C8B-B14F-4D97-AF65-F5344CB8AC3E}">
        <p14:creationId xmlns:p14="http://schemas.microsoft.com/office/powerpoint/2010/main" val="2078904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B0237-0E3B-2DAE-8CA4-9ECF17F0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Attention – the inputs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A8D7C-6B89-D699-4448-CB43D0A5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18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9319B7-1BDE-ED44-25AD-5B5FE43BE042}"/>
                  </a:ext>
                </a:extLst>
              </p:cNvPr>
              <p:cNvSpPr txBox="1"/>
              <p:nvPr/>
            </p:nvSpPr>
            <p:spPr>
              <a:xfrm>
                <a:off x="1511378" y="2044292"/>
                <a:ext cx="893699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Each token has </a:t>
                </a:r>
                <a:r>
                  <a:rPr lang="en-GB" sz="2400" dirty="0">
                    <a:solidFill>
                      <a:schemeClr val="accent4">
                        <a:lumMod val="75000"/>
                      </a:schemeClr>
                    </a:solidFill>
                  </a:rPr>
                  <a:t>a d-dimensional representation</a:t>
                </a:r>
              </a:p>
              <a:p>
                <a:r>
                  <a:rPr lang="en-GB" sz="2400" dirty="0"/>
                  <a:t>Each token also has a query and key vector q-dimensional; q &lt;&lt; 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is a matrix of learnable weights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9319B7-1BDE-ED44-25AD-5B5FE43BE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378" y="2044292"/>
                <a:ext cx="8936998" cy="1200329"/>
              </a:xfrm>
              <a:prstGeom prst="rect">
                <a:avLst/>
              </a:prstGeom>
              <a:blipFill>
                <a:blip r:embed="rId3"/>
                <a:stretch>
                  <a:fillRect l="-1091" t="-4061" r="-68" b="-106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38586A02-6015-AAFC-DAC2-6CB456B76F70}"/>
              </a:ext>
            </a:extLst>
          </p:cNvPr>
          <p:cNvSpPr/>
          <p:nvPr/>
        </p:nvSpPr>
        <p:spPr>
          <a:xfrm>
            <a:off x="2762978" y="3669876"/>
            <a:ext cx="189331" cy="189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6AA76C-BDA6-A3FD-352A-2A41F83082D8}"/>
              </a:ext>
            </a:extLst>
          </p:cNvPr>
          <p:cNvSpPr/>
          <p:nvPr/>
        </p:nvSpPr>
        <p:spPr>
          <a:xfrm>
            <a:off x="2762977" y="3859207"/>
            <a:ext cx="189331" cy="189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ABAD35-7DE5-575C-20F4-83C19F16E8CA}"/>
              </a:ext>
            </a:extLst>
          </p:cNvPr>
          <p:cNvSpPr/>
          <p:nvPr/>
        </p:nvSpPr>
        <p:spPr>
          <a:xfrm>
            <a:off x="2762976" y="4048538"/>
            <a:ext cx="189331" cy="189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F3174B-30F1-E570-A5C8-E5391CDB1908}"/>
              </a:ext>
            </a:extLst>
          </p:cNvPr>
          <p:cNvSpPr/>
          <p:nvPr/>
        </p:nvSpPr>
        <p:spPr>
          <a:xfrm>
            <a:off x="2762975" y="4237869"/>
            <a:ext cx="189331" cy="189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E211F7-C9BF-2FAF-BAF5-8EE8ACF44A60}"/>
              </a:ext>
            </a:extLst>
          </p:cNvPr>
          <p:cNvSpPr/>
          <p:nvPr/>
        </p:nvSpPr>
        <p:spPr>
          <a:xfrm>
            <a:off x="2762974" y="4427200"/>
            <a:ext cx="189331" cy="189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A23990-A697-B1C4-F457-751BC5B7BF86}"/>
              </a:ext>
            </a:extLst>
          </p:cNvPr>
          <p:cNvSpPr/>
          <p:nvPr/>
        </p:nvSpPr>
        <p:spPr>
          <a:xfrm>
            <a:off x="2762973" y="4616531"/>
            <a:ext cx="189331" cy="189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D57858-F799-6742-8BF8-9876374F5596}"/>
              </a:ext>
            </a:extLst>
          </p:cNvPr>
          <p:cNvSpPr/>
          <p:nvPr/>
        </p:nvSpPr>
        <p:spPr>
          <a:xfrm>
            <a:off x="3343127" y="3679750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DD337F-10BC-1AAA-73DF-C293D2984037}"/>
              </a:ext>
            </a:extLst>
          </p:cNvPr>
          <p:cNvSpPr/>
          <p:nvPr/>
        </p:nvSpPr>
        <p:spPr>
          <a:xfrm>
            <a:off x="3343126" y="3869081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4DFF56-B9ED-84FB-358F-C38555D25103}"/>
              </a:ext>
            </a:extLst>
          </p:cNvPr>
          <p:cNvSpPr/>
          <p:nvPr/>
        </p:nvSpPr>
        <p:spPr>
          <a:xfrm>
            <a:off x="3343125" y="4058412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6D2EA7-ABD1-46B7-2690-670CEA8614A9}"/>
              </a:ext>
            </a:extLst>
          </p:cNvPr>
          <p:cNvSpPr/>
          <p:nvPr/>
        </p:nvSpPr>
        <p:spPr>
          <a:xfrm>
            <a:off x="3343124" y="4247743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C43E2F-1430-FE16-23A4-BB14465BAC55}"/>
              </a:ext>
            </a:extLst>
          </p:cNvPr>
          <p:cNvSpPr/>
          <p:nvPr/>
        </p:nvSpPr>
        <p:spPr>
          <a:xfrm>
            <a:off x="3343123" y="4437074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DE50DB-DBE9-F8E7-8BB6-34B755BEF3C5}"/>
              </a:ext>
            </a:extLst>
          </p:cNvPr>
          <p:cNvSpPr/>
          <p:nvPr/>
        </p:nvSpPr>
        <p:spPr>
          <a:xfrm>
            <a:off x="3343122" y="4626405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03FA5F-2063-F38A-89D6-62B51FD27F9A}"/>
              </a:ext>
            </a:extLst>
          </p:cNvPr>
          <p:cNvSpPr/>
          <p:nvPr/>
        </p:nvSpPr>
        <p:spPr>
          <a:xfrm>
            <a:off x="3532458" y="3679750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42483E-AD75-A236-E286-66A3C33B5EC7}"/>
              </a:ext>
            </a:extLst>
          </p:cNvPr>
          <p:cNvSpPr/>
          <p:nvPr/>
        </p:nvSpPr>
        <p:spPr>
          <a:xfrm>
            <a:off x="3532457" y="3869081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E2957A-8CAA-E6DB-8686-EA8889DA7F63}"/>
              </a:ext>
            </a:extLst>
          </p:cNvPr>
          <p:cNvSpPr/>
          <p:nvPr/>
        </p:nvSpPr>
        <p:spPr>
          <a:xfrm>
            <a:off x="3532456" y="4058412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0BE5F0-2691-9360-18F4-46D20FAB9FEC}"/>
              </a:ext>
            </a:extLst>
          </p:cNvPr>
          <p:cNvSpPr/>
          <p:nvPr/>
        </p:nvSpPr>
        <p:spPr>
          <a:xfrm>
            <a:off x="3532455" y="4247743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E7E494-1618-8BB8-71CD-99101F7F05A6}"/>
              </a:ext>
            </a:extLst>
          </p:cNvPr>
          <p:cNvSpPr/>
          <p:nvPr/>
        </p:nvSpPr>
        <p:spPr>
          <a:xfrm>
            <a:off x="3532454" y="4437074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0430FA-E279-37B2-0BF6-A9FB946B60A9}"/>
              </a:ext>
            </a:extLst>
          </p:cNvPr>
          <p:cNvSpPr/>
          <p:nvPr/>
        </p:nvSpPr>
        <p:spPr>
          <a:xfrm>
            <a:off x="3532453" y="4626405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6DF635-60D3-F5F6-AC01-E7305549C52F}"/>
              </a:ext>
            </a:extLst>
          </p:cNvPr>
          <p:cNvSpPr/>
          <p:nvPr/>
        </p:nvSpPr>
        <p:spPr>
          <a:xfrm>
            <a:off x="3721789" y="3679750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9A6C0F-9E0B-1776-0FA1-FA9477D7264F}"/>
              </a:ext>
            </a:extLst>
          </p:cNvPr>
          <p:cNvSpPr/>
          <p:nvPr/>
        </p:nvSpPr>
        <p:spPr>
          <a:xfrm>
            <a:off x="3721788" y="3869081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59D274-D7CC-453B-79D6-17104E21CE53}"/>
              </a:ext>
            </a:extLst>
          </p:cNvPr>
          <p:cNvSpPr/>
          <p:nvPr/>
        </p:nvSpPr>
        <p:spPr>
          <a:xfrm>
            <a:off x="3721787" y="4058412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696244-50D3-8B4F-E9F9-E38278FCDB6D}"/>
              </a:ext>
            </a:extLst>
          </p:cNvPr>
          <p:cNvSpPr/>
          <p:nvPr/>
        </p:nvSpPr>
        <p:spPr>
          <a:xfrm>
            <a:off x="3721786" y="4247743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3EE31F-4F06-D7EB-3138-1E5889B2206C}"/>
              </a:ext>
            </a:extLst>
          </p:cNvPr>
          <p:cNvSpPr/>
          <p:nvPr/>
        </p:nvSpPr>
        <p:spPr>
          <a:xfrm>
            <a:off x="3721785" y="4437074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0F62A5-F307-3CB2-D314-1ED9B0BCBC19}"/>
              </a:ext>
            </a:extLst>
          </p:cNvPr>
          <p:cNvSpPr/>
          <p:nvPr/>
        </p:nvSpPr>
        <p:spPr>
          <a:xfrm>
            <a:off x="3721784" y="4626405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47332B-2143-41B5-B431-89CC8443D223}"/>
              </a:ext>
            </a:extLst>
          </p:cNvPr>
          <p:cNvSpPr/>
          <p:nvPr/>
        </p:nvSpPr>
        <p:spPr>
          <a:xfrm>
            <a:off x="4361076" y="3988896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1CB9C2-5251-B6D6-6497-A0A1C00885DC}"/>
              </a:ext>
            </a:extLst>
          </p:cNvPr>
          <p:cNvSpPr/>
          <p:nvPr/>
        </p:nvSpPr>
        <p:spPr>
          <a:xfrm>
            <a:off x="4361075" y="4178227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E2D023-A8C4-1A1C-ABFA-8B1FD1CE5BFC}"/>
              </a:ext>
            </a:extLst>
          </p:cNvPr>
          <p:cNvSpPr/>
          <p:nvPr/>
        </p:nvSpPr>
        <p:spPr>
          <a:xfrm>
            <a:off x="4361074" y="4367558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7B3C593-162C-0704-A5EC-96A35A181A87}"/>
                  </a:ext>
                </a:extLst>
              </p:cNvPr>
              <p:cNvSpPr txBox="1"/>
              <p:nvPr/>
            </p:nvSpPr>
            <p:spPr>
              <a:xfrm>
                <a:off x="3078317" y="4083561"/>
                <a:ext cx="1266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⋅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7B3C593-162C-0704-A5EC-96A35A181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8317" y="4083561"/>
                <a:ext cx="126637" cy="276999"/>
              </a:xfrm>
              <a:prstGeom prst="rect">
                <a:avLst/>
              </a:prstGeom>
              <a:blipFill>
                <a:blip r:embed="rId4"/>
                <a:stretch>
                  <a:fillRect l="-14286" r="-95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89F7FA5-9105-8FF8-B7BD-F2B265236F05}"/>
                  </a:ext>
                </a:extLst>
              </p:cNvPr>
              <p:cNvSpPr txBox="1"/>
              <p:nvPr/>
            </p:nvSpPr>
            <p:spPr>
              <a:xfrm>
                <a:off x="4019076" y="4130952"/>
                <a:ext cx="2340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89F7FA5-9105-8FF8-B7BD-F2B265236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076" y="4130952"/>
                <a:ext cx="234038" cy="276999"/>
              </a:xfrm>
              <a:prstGeom prst="rect">
                <a:avLst/>
              </a:prstGeom>
              <a:blipFill>
                <a:blip r:embed="rId5"/>
                <a:stretch>
                  <a:fillRect l="-7692" r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ectangle 94">
            <a:extLst>
              <a:ext uri="{FF2B5EF4-FFF2-40B4-BE49-F238E27FC236}">
                <a16:creationId xmlns:a16="http://schemas.microsoft.com/office/drawing/2014/main" id="{276C9141-B004-0680-2394-C9413D0E06E3}"/>
              </a:ext>
            </a:extLst>
          </p:cNvPr>
          <p:cNvSpPr/>
          <p:nvPr/>
        </p:nvSpPr>
        <p:spPr>
          <a:xfrm>
            <a:off x="7289258" y="3640753"/>
            <a:ext cx="189331" cy="189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AF087EE-61E9-A3E3-5D44-676C96757FC2}"/>
              </a:ext>
            </a:extLst>
          </p:cNvPr>
          <p:cNvSpPr/>
          <p:nvPr/>
        </p:nvSpPr>
        <p:spPr>
          <a:xfrm>
            <a:off x="7289257" y="3830084"/>
            <a:ext cx="189331" cy="189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AECD875-BE3A-7D9C-FE36-64C3A2442F8F}"/>
              </a:ext>
            </a:extLst>
          </p:cNvPr>
          <p:cNvSpPr/>
          <p:nvPr/>
        </p:nvSpPr>
        <p:spPr>
          <a:xfrm>
            <a:off x="7289256" y="4019415"/>
            <a:ext cx="189331" cy="189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32ABD3F-2FB4-0F83-01CE-D459187BC490}"/>
              </a:ext>
            </a:extLst>
          </p:cNvPr>
          <p:cNvSpPr/>
          <p:nvPr/>
        </p:nvSpPr>
        <p:spPr>
          <a:xfrm>
            <a:off x="7289255" y="4208746"/>
            <a:ext cx="189331" cy="189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6A57C97-B719-8B6D-8F1D-1C6B2218D7BA}"/>
              </a:ext>
            </a:extLst>
          </p:cNvPr>
          <p:cNvSpPr/>
          <p:nvPr/>
        </p:nvSpPr>
        <p:spPr>
          <a:xfrm>
            <a:off x="7289254" y="4398077"/>
            <a:ext cx="189331" cy="189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9E33B00-5049-FF6F-7BC2-C43605AC5C68}"/>
              </a:ext>
            </a:extLst>
          </p:cNvPr>
          <p:cNvSpPr/>
          <p:nvPr/>
        </p:nvSpPr>
        <p:spPr>
          <a:xfrm>
            <a:off x="7289253" y="4587408"/>
            <a:ext cx="189331" cy="189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C73C252-491C-E402-F5CA-794329E19581}"/>
              </a:ext>
            </a:extLst>
          </p:cNvPr>
          <p:cNvSpPr/>
          <p:nvPr/>
        </p:nvSpPr>
        <p:spPr>
          <a:xfrm>
            <a:off x="7869407" y="3650627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E5B3ACB-4946-9791-CD7D-084B1AB3E7BE}"/>
              </a:ext>
            </a:extLst>
          </p:cNvPr>
          <p:cNvSpPr/>
          <p:nvPr/>
        </p:nvSpPr>
        <p:spPr>
          <a:xfrm>
            <a:off x="7869406" y="3839958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86FD7F02-67E2-ED73-53AE-5D1B7854B038}"/>
              </a:ext>
            </a:extLst>
          </p:cNvPr>
          <p:cNvSpPr/>
          <p:nvPr/>
        </p:nvSpPr>
        <p:spPr>
          <a:xfrm>
            <a:off x="7869405" y="4029289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0EBD210-881D-6094-0722-5391D678D3C6}"/>
              </a:ext>
            </a:extLst>
          </p:cNvPr>
          <p:cNvSpPr/>
          <p:nvPr/>
        </p:nvSpPr>
        <p:spPr>
          <a:xfrm>
            <a:off x="7869404" y="4218620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600043E-BA12-CA0A-AE85-7EA30AAAD5D7}"/>
              </a:ext>
            </a:extLst>
          </p:cNvPr>
          <p:cNvSpPr/>
          <p:nvPr/>
        </p:nvSpPr>
        <p:spPr>
          <a:xfrm>
            <a:off x="7869403" y="4407951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9C9A3C2-C934-DF57-8D24-250DCB4890A6}"/>
              </a:ext>
            </a:extLst>
          </p:cNvPr>
          <p:cNvSpPr/>
          <p:nvPr/>
        </p:nvSpPr>
        <p:spPr>
          <a:xfrm>
            <a:off x="7869402" y="4597282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3945007-8F90-F1F2-7E30-B4CCE70788F5}"/>
              </a:ext>
            </a:extLst>
          </p:cNvPr>
          <p:cNvSpPr/>
          <p:nvPr/>
        </p:nvSpPr>
        <p:spPr>
          <a:xfrm>
            <a:off x="8058738" y="3650627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6CE7D88-1F63-2274-EB7F-C49A39ED7193}"/>
              </a:ext>
            </a:extLst>
          </p:cNvPr>
          <p:cNvSpPr/>
          <p:nvPr/>
        </p:nvSpPr>
        <p:spPr>
          <a:xfrm>
            <a:off x="8058737" y="3839958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3B2678D-4D03-5617-6260-D92363A4C249}"/>
              </a:ext>
            </a:extLst>
          </p:cNvPr>
          <p:cNvSpPr/>
          <p:nvPr/>
        </p:nvSpPr>
        <p:spPr>
          <a:xfrm>
            <a:off x="8058736" y="4029289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46548A6-9F3C-BD3D-FF94-9EFDADBF532C}"/>
              </a:ext>
            </a:extLst>
          </p:cNvPr>
          <p:cNvSpPr/>
          <p:nvPr/>
        </p:nvSpPr>
        <p:spPr>
          <a:xfrm>
            <a:off x="8058735" y="4218620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6464EE9-00A3-F0A6-51DE-764A2067C376}"/>
              </a:ext>
            </a:extLst>
          </p:cNvPr>
          <p:cNvSpPr/>
          <p:nvPr/>
        </p:nvSpPr>
        <p:spPr>
          <a:xfrm>
            <a:off x="8058734" y="4407951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33A3054-D816-A5F3-E1CE-3F67724B6B30}"/>
              </a:ext>
            </a:extLst>
          </p:cNvPr>
          <p:cNvSpPr/>
          <p:nvPr/>
        </p:nvSpPr>
        <p:spPr>
          <a:xfrm>
            <a:off x="8058733" y="4597282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A983396-75A6-660D-1763-7390D8E1E256}"/>
              </a:ext>
            </a:extLst>
          </p:cNvPr>
          <p:cNvSpPr/>
          <p:nvPr/>
        </p:nvSpPr>
        <p:spPr>
          <a:xfrm>
            <a:off x="8248069" y="3650627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D366067-F6BA-F1BB-A65F-8CD7A7EF344E}"/>
              </a:ext>
            </a:extLst>
          </p:cNvPr>
          <p:cNvSpPr/>
          <p:nvPr/>
        </p:nvSpPr>
        <p:spPr>
          <a:xfrm>
            <a:off x="8248068" y="3839958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9A124A1-1C89-7322-46F7-F9A47E6A3105}"/>
              </a:ext>
            </a:extLst>
          </p:cNvPr>
          <p:cNvSpPr/>
          <p:nvPr/>
        </p:nvSpPr>
        <p:spPr>
          <a:xfrm>
            <a:off x="8248067" y="4029289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BFD0FEB-570E-119C-4116-C71152B3CE10}"/>
              </a:ext>
            </a:extLst>
          </p:cNvPr>
          <p:cNvSpPr/>
          <p:nvPr/>
        </p:nvSpPr>
        <p:spPr>
          <a:xfrm>
            <a:off x="8248066" y="4218620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FCBF1C1-8D37-A222-7297-B66E5A0170F9}"/>
              </a:ext>
            </a:extLst>
          </p:cNvPr>
          <p:cNvSpPr/>
          <p:nvPr/>
        </p:nvSpPr>
        <p:spPr>
          <a:xfrm>
            <a:off x="8248065" y="4407951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3EA9119-4A1E-E5AA-A23A-02F6AC07298B}"/>
              </a:ext>
            </a:extLst>
          </p:cNvPr>
          <p:cNvSpPr/>
          <p:nvPr/>
        </p:nvSpPr>
        <p:spPr>
          <a:xfrm>
            <a:off x="8248064" y="4597282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5390A61-9F58-FAF7-621A-62A623E0799B}"/>
              </a:ext>
            </a:extLst>
          </p:cNvPr>
          <p:cNvSpPr/>
          <p:nvPr/>
        </p:nvSpPr>
        <p:spPr>
          <a:xfrm>
            <a:off x="8887356" y="3959773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22FF3620-ECE1-51A3-96A7-267C5E3C7BD4}"/>
              </a:ext>
            </a:extLst>
          </p:cNvPr>
          <p:cNvSpPr/>
          <p:nvPr/>
        </p:nvSpPr>
        <p:spPr>
          <a:xfrm>
            <a:off x="8887355" y="4149104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69AFE4C-8DA8-E062-80A2-B73976E4C864}"/>
              </a:ext>
            </a:extLst>
          </p:cNvPr>
          <p:cNvSpPr/>
          <p:nvPr/>
        </p:nvSpPr>
        <p:spPr>
          <a:xfrm>
            <a:off x="8887354" y="4338435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C2FB6BD3-00C7-5AA9-062B-08BE91785B92}"/>
                  </a:ext>
                </a:extLst>
              </p:cNvPr>
              <p:cNvSpPr txBox="1"/>
              <p:nvPr/>
            </p:nvSpPr>
            <p:spPr>
              <a:xfrm>
                <a:off x="7604597" y="4054438"/>
                <a:ext cx="1266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⋅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C2FB6BD3-00C7-5AA9-062B-08BE91785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4597" y="4054438"/>
                <a:ext cx="126637" cy="276999"/>
              </a:xfrm>
              <a:prstGeom prst="rect">
                <a:avLst/>
              </a:prstGeom>
              <a:blipFill>
                <a:blip r:embed="rId6"/>
                <a:stretch>
                  <a:fillRect l="-9524" r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93DB3DF-AAFA-966F-EE8A-43F829209DD4}"/>
                  </a:ext>
                </a:extLst>
              </p:cNvPr>
              <p:cNvSpPr txBox="1"/>
              <p:nvPr/>
            </p:nvSpPr>
            <p:spPr>
              <a:xfrm>
                <a:off x="8545356" y="4101829"/>
                <a:ext cx="2340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93DB3DF-AAFA-966F-EE8A-43F829209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5356" y="4101829"/>
                <a:ext cx="234038" cy="276999"/>
              </a:xfrm>
              <a:prstGeom prst="rect">
                <a:avLst/>
              </a:prstGeom>
              <a:blipFill>
                <a:blip r:embed="rId7"/>
                <a:stretch>
                  <a:fillRect l="-10526" r="-78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A639BCA7-592F-4CAF-6294-234E4450DB46}"/>
                  </a:ext>
                </a:extLst>
              </p:cNvPr>
              <p:cNvSpPr txBox="1"/>
              <p:nvPr/>
            </p:nvSpPr>
            <p:spPr>
              <a:xfrm>
                <a:off x="2857638" y="5139736"/>
                <a:ext cx="1756570" cy="4511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GB" sz="240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24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A639BCA7-592F-4CAF-6294-234E4450D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638" y="5139736"/>
                <a:ext cx="1756570" cy="45114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6EFC072-DB02-C8B3-9D30-F3AEBFBBC399}"/>
                  </a:ext>
                </a:extLst>
              </p:cNvPr>
              <p:cNvSpPr txBox="1"/>
              <p:nvPr/>
            </p:nvSpPr>
            <p:spPr>
              <a:xfrm>
                <a:off x="7392353" y="5088149"/>
                <a:ext cx="1753685" cy="4140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GB" sz="240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24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GB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GB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6EFC072-DB02-C8B3-9D30-F3AEBFBBC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353" y="5088149"/>
                <a:ext cx="1753685" cy="4140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46292FA-8BDB-8A5B-2CE2-8DC54904F4F7}"/>
              </a:ext>
            </a:extLst>
          </p:cNvPr>
          <p:cNvSpPr txBox="1"/>
          <p:nvPr/>
        </p:nvSpPr>
        <p:spPr>
          <a:xfrm>
            <a:off x="4290827" y="6035726"/>
            <a:ext cx="280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 bed an old woman lies. </a:t>
            </a:r>
          </a:p>
        </p:txBody>
      </p:sp>
    </p:spTree>
    <p:extLst>
      <p:ext uri="{BB962C8B-B14F-4D97-AF65-F5344CB8AC3E}">
        <p14:creationId xmlns:p14="http://schemas.microsoft.com/office/powerpoint/2010/main" val="292844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6E4A-9554-F693-D6B4-9AD213CC6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Query Key multiplication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D6314-2CB8-5A09-174A-CD426E64F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19</a:t>
            </a:fld>
            <a:endParaRPr lang="en-GB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0878F2-A766-31C7-B4DD-E749186438B5}"/>
                  </a:ext>
                </a:extLst>
              </p:cNvPr>
              <p:cNvSpPr txBox="1"/>
              <p:nvPr/>
            </p:nvSpPr>
            <p:spPr>
              <a:xfrm>
                <a:off x="2295092" y="1948956"/>
                <a:ext cx="6096866" cy="1069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√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0878F2-A766-31C7-B4DD-E74918643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092" y="1948956"/>
                <a:ext cx="6096866" cy="10693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F072095-D249-4472-FE7C-42BA9ABE812C}"/>
                  </a:ext>
                </a:extLst>
              </p:cNvPr>
              <p:cNvSpPr txBox="1"/>
              <p:nvPr/>
            </p:nvSpPr>
            <p:spPr>
              <a:xfrm>
                <a:off x="6172905" y="3707949"/>
                <a:ext cx="689635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F072095-D249-4472-FE7C-42BA9ABE8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905" y="3707949"/>
                <a:ext cx="689635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822AA4AC-B1B6-125E-CC2C-41EA2471EE3F}"/>
              </a:ext>
            </a:extLst>
          </p:cNvPr>
          <p:cNvSpPr txBox="1"/>
          <p:nvPr/>
        </p:nvSpPr>
        <p:spPr>
          <a:xfrm>
            <a:off x="2295093" y="5375995"/>
            <a:ext cx="67033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Softmax</a:t>
            </a:r>
            <a:r>
              <a:rPr lang="en-GB" dirty="0"/>
              <a:t> normalises the columns; root of d makes it numerically stable</a:t>
            </a:r>
          </a:p>
          <a:p>
            <a:r>
              <a:rPr lang="en-GB" b="1" dirty="0"/>
              <a:t>NOTE</a:t>
            </a:r>
            <a:r>
              <a:rPr lang="en-GB" dirty="0"/>
              <a:t> –in this case each cube in </a:t>
            </a:r>
            <a:r>
              <a:rPr lang="en-GB" dirty="0">
                <a:solidFill>
                  <a:srgbClr val="FF7C80"/>
                </a:solidFill>
              </a:rPr>
              <a:t>Q</a:t>
            </a:r>
            <a:r>
              <a:rPr lang="en-GB" dirty="0"/>
              <a:t> and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K</a:t>
            </a:r>
            <a:r>
              <a:rPr lang="en-GB" dirty="0"/>
              <a:t> has 3 dimensions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FBA6FC-AD23-7F67-F79A-878C53960F9B}"/>
              </a:ext>
            </a:extLst>
          </p:cNvPr>
          <p:cNvSpPr/>
          <p:nvPr/>
        </p:nvSpPr>
        <p:spPr>
          <a:xfrm>
            <a:off x="3176028" y="3505024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084277-1D9E-30CC-76A6-EB6E7183CACE}"/>
              </a:ext>
            </a:extLst>
          </p:cNvPr>
          <p:cNvSpPr/>
          <p:nvPr/>
        </p:nvSpPr>
        <p:spPr>
          <a:xfrm>
            <a:off x="3176027" y="3694355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6D2E14-CD1D-9236-CBF5-4395733CEBD4}"/>
              </a:ext>
            </a:extLst>
          </p:cNvPr>
          <p:cNvSpPr/>
          <p:nvPr/>
        </p:nvSpPr>
        <p:spPr>
          <a:xfrm>
            <a:off x="3176026" y="3883686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F7DC88-0AF5-02D1-2BC9-E23F155A22D4}"/>
              </a:ext>
            </a:extLst>
          </p:cNvPr>
          <p:cNvSpPr/>
          <p:nvPr/>
        </p:nvSpPr>
        <p:spPr>
          <a:xfrm>
            <a:off x="3176025" y="4073017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360CF8-7C84-23CC-A406-6644E49B8B1A}"/>
              </a:ext>
            </a:extLst>
          </p:cNvPr>
          <p:cNvSpPr/>
          <p:nvPr/>
        </p:nvSpPr>
        <p:spPr>
          <a:xfrm>
            <a:off x="3176024" y="4262348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1A2855-A0C7-08E8-19B7-86DB1BC56D8F}"/>
              </a:ext>
            </a:extLst>
          </p:cNvPr>
          <p:cNvSpPr/>
          <p:nvPr/>
        </p:nvSpPr>
        <p:spPr>
          <a:xfrm>
            <a:off x="3176023" y="4451679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D00E2E-CFE1-2B95-0DE4-236EBFE8E539}"/>
              </a:ext>
            </a:extLst>
          </p:cNvPr>
          <p:cNvSpPr/>
          <p:nvPr/>
        </p:nvSpPr>
        <p:spPr>
          <a:xfrm>
            <a:off x="4037081" y="3967230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9C02E3-05E4-6752-7689-70D1899A9C03}"/>
              </a:ext>
            </a:extLst>
          </p:cNvPr>
          <p:cNvSpPr/>
          <p:nvPr/>
        </p:nvSpPr>
        <p:spPr>
          <a:xfrm>
            <a:off x="4226412" y="3967230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CD8F02-2056-61E6-6509-785AF0A2F92A}"/>
              </a:ext>
            </a:extLst>
          </p:cNvPr>
          <p:cNvSpPr/>
          <p:nvPr/>
        </p:nvSpPr>
        <p:spPr>
          <a:xfrm>
            <a:off x="4415743" y="3967230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3DA0F6C-4C71-383E-77C5-BE1E183DA933}"/>
              </a:ext>
            </a:extLst>
          </p:cNvPr>
          <p:cNvSpPr/>
          <p:nvPr/>
        </p:nvSpPr>
        <p:spPr>
          <a:xfrm>
            <a:off x="4605074" y="3967230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6905FE0-39F2-181E-B07D-4D2944F2E037}"/>
              </a:ext>
            </a:extLst>
          </p:cNvPr>
          <p:cNvSpPr/>
          <p:nvPr/>
        </p:nvSpPr>
        <p:spPr>
          <a:xfrm>
            <a:off x="4794405" y="3967230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BF17629-48E6-2806-7316-3E2FDA5EFD6B}"/>
              </a:ext>
            </a:extLst>
          </p:cNvPr>
          <p:cNvSpPr/>
          <p:nvPr/>
        </p:nvSpPr>
        <p:spPr>
          <a:xfrm>
            <a:off x="4983736" y="3967230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AA77929-E819-D9B6-D923-6388CEA66224}"/>
              </a:ext>
            </a:extLst>
          </p:cNvPr>
          <p:cNvSpPr/>
          <p:nvPr/>
        </p:nvSpPr>
        <p:spPr>
          <a:xfrm>
            <a:off x="7461025" y="3505470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D85289A-407E-9C34-4E1C-203BA6F3F877}"/>
              </a:ext>
            </a:extLst>
          </p:cNvPr>
          <p:cNvSpPr/>
          <p:nvPr/>
        </p:nvSpPr>
        <p:spPr>
          <a:xfrm>
            <a:off x="7461024" y="3694801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FD91DCE-E61F-C142-3D36-3137A0584A6E}"/>
              </a:ext>
            </a:extLst>
          </p:cNvPr>
          <p:cNvSpPr/>
          <p:nvPr/>
        </p:nvSpPr>
        <p:spPr>
          <a:xfrm>
            <a:off x="7461023" y="3884132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791E30-C045-93F0-C066-7E3C5F608008}"/>
              </a:ext>
            </a:extLst>
          </p:cNvPr>
          <p:cNvSpPr/>
          <p:nvPr/>
        </p:nvSpPr>
        <p:spPr>
          <a:xfrm>
            <a:off x="7461022" y="4073463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A50911-5F42-7ECE-8587-01E851015809}"/>
              </a:ext>
            </a:extLst>
          </p:cNvPr>
          <p:cNvSpPr/>
          <p:nvPr/>
        </p:nvSpPr>
        <p:spPr>
          <a:xfrm>
            <a:off x="7461021" y="4262794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DF4ACBF-3C91-AF74-494B-A4B34695195D}"/>
              </a:ext>
            </a:extLst>
          </p:cNvPr>
          <p:cNvSpPr/>
          <p:nvPr/>
        </p:nvSpPr>
        <p:spPr>
          <a:xfrm>
            <a:off x="7461020" y="4452125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16EC5A1-584E-828C-8307-FAF9900C513B}"/>
              </a:ext>
            </a:extLst>
          </p:cNvPr>
          <p:cNvSpPr/>
          <p:nvPr/>
        </p:nvSpPr>
        <p:spPr>
          <a:xfrm>
            <a:off x="7650356" y="3505470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62CC5D4-FD17-84CD-3E41-A979490579B6}"/>
              </a:ext>
            </a:extLst>
          </p:cNvPr>
          <p:cNvSpPr/>
          <p:nvPr/>
        </p:nvSpPr>
        <p:spPr>
          <a:xfrm>
            <a:off x="7650355" y="3694801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AA4686A-5CC2-33DE-1AB0-CC67E6805097}"/>
              </a:ext>
            </a:extLst>
          </p:cNvPr>
          <p:cNvSpPr/>
          <p:nvPr/>
        </p:nvSpPr>
        <p:spPr>
          <a:xfrm>
            <a:off x="7650354" y="3884132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B5038B4-7644-D8A5-0411-B697486798FA}"/>
              </a:ext>
            </a:extLst>
          </p:cNvPr>
          <p:cNvSpPr/>
          <p:nvPr/>
        </p:nvSpPr>
        <p:spPr>
          <a:xfrm>
            <a:off x="7650353" y="4073463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E749BC1-8E6B-8E00-3816-0868F3421BD6}"/>
              </a:ext>
            </a:extLst>
          </p:cNvPr>
          <p:cNvSpPr/>
          <p:nvPr/>
        </p:nvSpPr>
        <p:spPr>
          <a:xfrm>
            <a:off x="7650352" y="4262794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F03D5C8-1D9D-2E46-508F-E4429DF9A5F5}"/>
              </a:ext>
            </a:extLst>
          </p:cNvPr>
          <p:cNvSpPr/>
          <p:nvPr/>
        </p:nvSpPr>
        <p:spPr>
          <a:xfrm>
            <a:off x="7650351" y="4452125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62EC0E1-91CA-43F1-B458-4D45BC9AB9DB}"/>
              </a:ext>
            </a:extLst>
          </p:cNvPr>
          <p:cNvSpPr/>
          <p:nvPr/>
        </p:nvSpPr>
        <p:spPr>
          <a:xfrm>
            <a:off x="7839687" y="3505470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E7E5D31-D816-2D54-379E-084424F11936}"/>
              </a:ext>
            </a:extLst>
          </p:cNvPr>
          <p:cNvSpPr/>
          <p:nvPr/>
        </p:nvSpPr>
        <p:spPr>
          <a:xfrm>
            <a:off x="7839686" y="3694801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E2B2050-569A-EE89-0BC7-B9EA20F130B6}"/>
              </a:ext>
            </a:extLst>
          </p:cNvPr>
          <p:cNvSpPr/>
          <p:nvPr/>
        </p:nvSpPr>
        <p:spPr>
          <a:xfrm>
            <a:off x="7839685" y="3884132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54A93A7-39FA-9709-11D5-01F4F63BB383}"/>
              </a:ext>
            </a:extLst>
          </p:cNvPr>
          <p:cNvSpPr/>
          <p:nvPr/>
        </p:nvSpPr>
        <p:spPr>
          <a:xfrm>
            <a:off x="7839684" y="4073463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533741B-2C5D-9D38-A660-00E027743738}"/>
              </a:ext>
            </a:extLst>
          </p:cNvPr>
          <p:cNvSpPr/>
          <p:nvPr/>
        </p:nvSpPr>
        <p:spPr>
          <a:xfrm>
            <a:off x="7839683" y="4262794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62A9A84-187B-AAFD-71E1-E40879580963}"/>
              </a:ext>
            </a:extLst>
          </p:cNvPr>
          <p:cNvSpPr/>
          <p:nvPr/>
        </p:nvSpPr>
        <p:spPr>
          <a:xfrm>
            <a:off x="7839682" y="4452125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868D52C-82AE-722E-DD21-8960D50A47D9}"/>
              </a:ext>
            </a:extLst>
          </p:cNvPr>
          <p:cNvSpPr/>
          <p:nvPr/>
        </p:nvSpPr>
        <p:spPr>
          <a:xfrm>
            <a:off x="8029017" y="3505024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0DFD3D6-34A0-5820-460A-210E2A8C9610}"/>
              </a:ext>
            </a:extLst>
          </p:cNvPr>
          <p:cNvSpPr/>
          <p:nvPr/>
        </p:nvSpPr>
        <p:spPr>
          <a:xfrm>
            <a:off x="8029016" y="3694355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CEBF064-E978-A399-449A-2F48C3A93328}"/>
              </a:ext>
            </a:extLst>
          </p:cNvPr>
          <p:cNvSpPr/>
          <p:nvPr/>
        </p:nvSpPr>
        <p:spPr>
          <a:xfrm>
            <a:off x="8029015" y="3883686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6BA4DFE-5D42-BE12-D7AF-0FC8815569EE}"/>
              </a:ext>
            </a:extLst>
          </p:cNvPr>
          <p:cNvSpPr/>
          <p:nvPr/>
        </p:nvSpPr>
        <p:spPr>
          <a:xfrm>
            <a:off x="8029014" y="4073017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A188CA6-A21A-5C59-BC1D-46DE6567B7A8}"/>
              </a:ext>
            </a:extLst>
          </p:cNvPr>
          <p:cNvSpPr/>
          <p:nvPr/>
        </p:nvSpPr>
        <p:spPr>
          <a:xfrm>
            <a:off x="8029013" y="4262348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8FA19AE-0BF7-848C-D79E-8826BBC3A28F}"/>
              </a:ext>
            </a:extLst>
          </p:cNvPr>
          <p:cNvSpPr/>
          <p:nvPr/>
        </p:nvSpPr>
        <p:spPr>
          <a:xfrm>
            <a:off x="8029012" y="4451679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AA0231D-1069-378E-E208-B05CFDA6EA65}"/>
              </a:ext>
            </a:extLst>
          </p:cNvPr>
          <p:cNvSpPr/>
          <p:nvPr/>
        </p:nvSpPr>
        <p:spPr>
          <a:xfrm>
            <a:off x="8218348" y="3505024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57B03F4-363F-3563-AC9E-4FBC35FC1581}"/>
              </a:ext>
            </a:extLst>
          </p:cNvPr>
          <p:cNvSpPr/>
          <p:nvPr/>
        </p:nvSpPr>
        <p:spPr>
          <a:xfrm>
            <a:off x="8218347" y="3694355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BA6EA32-190C-CEA6-3E08-B805F8C208BD}"/>
              </a:ext>
            </a:extLst>
          </p:cNvPr>
          <p:cNvSpPr/>
          <p:nvPr/>
        </p:nvSpPr>
        <p:spPr>
          <a:xfrm>
            <a:off x="8218346" y="3883686"/>
            <a:ext cx="189331" cy="18933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E1F503D-FE4C-35B5-7D12-39B97936BAAE}"/>
              </a:ext>
            </a:extLst>
          </p:cNvPr>
          <p:cNvSpPr/>
          <p:nvPr/>
        </p:nvSpPr>
        <p:spPr>
          <a:xfrm>
            <a:off x="8218345" y="4073017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FAA5F87-DF12-217E-E30D-0DEB6D420CC2}"/>
              </a:ext>
            </a:extLst>
          </p:cNvPr>
          <p:cNvSpPr/>
          <p:nvPr/>
        </p:nvSpPr>
        <p:spPr>
          <a:xfrm>
            <a:off x="8218344" y="4262348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9B83335-CF85-3A5B-213F-239638FD1B5B}"/>
              </a:ext>
            </a:extLst>
          </p:cNvPr>
          <p:cNvSpPr/>
          <p:nvPr/>
        </p:nvSpPr>
        <p:spPr>
          <a:xfrm>
            <a:off x="8218343" y="4451679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69F1524-E391-CE8D-3462-2D6D06033A10}"/>
              </a:ext>
            </a:extLst>
          </p:cNvPr>
          <p:cNvSpPr/>
          <p:nvPr/>
        </p:nvSpPr>
        <p:spPr>
          <a:xfrm>
            <a:off x="8407679" y="3505024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64C9919-BC7E-70BF-B96A-86D49708AC3E}"/>
              </a:ext>
            </a:extLst>
          </p:cNvPr>
          <p:cNvSpPr/>
          <p:nvPr/>
        </p:nvSpPr>
        <p:spPr>
          <a:xfrm>
            <a:off x="8407678" y="3694355"/>
            <a:ext cx="189331" cy="18933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6626BA1-BC4A-596E-A770-3C17366881E6}"/>
              </a:ext>
            </a:extLst>
          </p:cNvPr>
          <p:cNvSpPr/>
          <p:nvPr/>
        </p:nvSpPr>
        <p:spPr>
          <a:xfrm>
            <a:off x="8407677" y="3883686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A641546-AABA-A8BF-2064-D5E1399445D8}"/>
              </a:ext>
            </a:extLst>
          </p:cNvPr>
          <p:cNvSpPr/>
          <p:nvPr/>
        </p:nvSpPr>
        <p:spPr>
          <a:xfrm>
            <a:off x="8407676" y="4073017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0A90DE5-07CE-E10C-BD7A-E7FF5E3C6480}"/>
              </a:ext>
            </a:extLst>
          </p:cNvPr>
          <p:cNvSpPr/>
          <p:nvPr/>
        </p:nvSpPr>
        <p:spPr>
          <a:xfrm>
            <a:off x="8407675" y="4262348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0BF46BA-A565-05A6-C242-E1D61829B86B}"/>
              </a:ext>
            </a:extLst>
          </p:cNvPr>
          <p:cNvSpPr/>
          <p:nvPr/>
        </p:nvSpPr>
        <p:spPr>
          <a:xfrm>
            <a:off x="8407674" y="4451679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5CC901-2633-009C-8CFF-67C0CA3A0681}"/>
              </a:ext>
            </a:extLst>
          </p:cNvPr>
          <p:cNvSpPr txBox="1"/>
          <p:nvPr/>
        </p:nvSpPr>
        <p:spPr>
          <a:xfrm>
            <a:off x="9178945" y="3734066"/>
            <a:ext cx="2681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Key, query pairs with large attention.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FA3B10D-0FD5-D02B-2707-77A70CE19C68}"/>
              </a:ext>
            </a:extLst>
          </p:cNvPr>
          <p:cNvCxnSpPr>
            <a:stCxn id="73" idx="1"/>
            <a:endCxn id="68" idx="3"/>
          </p:cNvCxnSpPr>
          <p:nvPr/>
        </p:nvCxnSpPr>
        <p:spPr>
          <a:xfrm flipH="1" flipV="1">
            <a:off x="8597009" y="3789021"/>
            <a:ext cx="581936" cy="268211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89D9A59-3522-EC17-6746-F322D66428FC}"/>
              </a:ext>
            </a:extLst>
          </p:cNvPr>
          <p:cNvCxnSpPr>
            <a:cxnSpLocks/>
            <a:stCxn id="73" idx="1"/>
            <a:endCxn id="63" idx="3"/>
          </p:cNvCxnSpPr>
          <p:nvPr/>
        </p:nvCxnSpPr>
        <p:spPr>
          <a:xfrm flipH="1" flipV="1">
            <a:off x="8407677" y="3978352"/>
            <a:ext cx="771268" cy="78880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BAD89636-6B02-4189-D224-91334F52EB73}"/>
              </a:ext>
            </a:extLst>
          </p:cNvPr>
          <p:cNvSpPr txBox="1"/>
          <p:nvPr/>
        </p:nvSpPr>
        <p:spPr>
          <a:xfrm>
            <a:off x="8159710" y="2114186"/>
            <a:ext cx="280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 bed an old woman lies. </a:t>
            </a:r>
          </a:p>
        </p:txBody>
      </p:sp>
      <p:sp>
        <p:nvSpPr>
          <p:cNvPr id="84" name="Right Bracket 83">
            <a:extLst>
              <a:ext uri="{FF2B5EF4-FFF2-40B4-BE49-F238E27FC236}">
                <a16:creationId xmlns:a16="http://schemas.microsoft.com/office/drawing/2014/main" id="{E182C08D-62F3-BA6C-752D-208631658EBD}"/>
              </a:ext>
            </a:extLst>
          </p:cNvPr>
          <p:cNvSpPr/>
          <p:nvPr/>
        </p:nvSpPr>
        <p:spPr>
          <a:xfrm rot="16200000">
            <a:off x="9508180" y="1139419"/>
            <a:ext cx="218273" cy="1837342"/>
          </a:xfrm>
          <a:prstGeom prst="rightBracke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ight Bracket 84">
            <a:extLst>
              <a:ext uri="{FF2B5EF4-FFF2-40B4-BE49-F238E27FC236}">
                <a16:creationId xmlns:a16="http://schemas.microsoft.com/office/drawing/2014/main" id="{D2BD3098-3D01-45EC-DAC4-45306C6508C8}"/>
              </a:ext>
            </a:extLst>
          </p:cNvPr>
          <p:cNvSpPr/>
          <p:nvPr/>
        </p:nvSpPr>
        <p:spPr>
          <a:xfrm rot="5400000">
            <a:off x="9680827" y="2155957"/>
            <a:ext cx="201218" cy="740301"/>
          </a:xfrm>
          <a:prstGeom prst="rightBracke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DF2CC5-3B7F-3842-80BF-6EA3A3FE6DA2}"/>
                  </a:ext>
                </a:extLst>
              </p:cNvPr>
              <p:cNvSpPr txBox="1"/>
              <p:nvPr/>
            </p:nvSpPr>
            <p:spPr>
              <a:xfrm>
                <a:off x="3049708" y="3126362"/>
                <a:ext cx="4419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DF2CC5-3B7F-3842-80BF-6EA3A3FE6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708" y="3126362"/>
                <a:ext cx="441960" cy="369332"/>
              </a:xfrm>
              <a:prstGeom prst="rect">
                <a:avLst/>
              </a:prstGeom>
              <a:blipFill>
                <a:blip r:embed="rId5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E686314-B1F2-3FB2-0907-B8A276261485}"/>
                  </a:ext>
                </a:extLst>
              </p:cNvPr>
              <p:cNvSpPr txBox="1"/>
              <p:nvPr/>
            </p:nvSpPr>
            <p:spPr>
              <a:xfrm>
                <a:off x="4447896" y="3572051"/>
                <a:ext cx="4419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GB" sz="1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E686314-B1F2-3FB2-0907-B8A276261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96" y="3572051"/>
                <a:ext cx="44196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32AB0299-19DF-8D45-E2BB-BC1E2351644D}"/>
              </a:ext>
            </a:extLst>
          </p:cNvPr>
          <p:cNvSpPr/>
          <p:nvPr/>
        </p:nvSpPr>
        <p:spPr>
          <a:xfrm>
            <a:off x="1957850" y="4262348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DEA337-ECA7-7888-54F8-B6723530DFD2}"/>
              </a:ext>
            </a:extLst>
          </p:cNvPr>
          <p:cNvSpPr/>
          <p:nvPr/>
        </p:nvSpPr>
        <p:spPr>
          <a:xfrm>
            <a:off x="1957849" y="4451679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9C4BF4-5FB5-F8FF-16CE-6501DB0F091C}"/>
              </a:ext>
            </a:extLst>
          </p:cNvPr>
          <p:cNvSpPr/>
          <p:nvPr/>
        </p:nvSpPr>
        <p:spPr>
          <a:xfrm>
            <a:off x="1957848" y="4641010"/>
            <a:ext cx="189331" cy="189331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3A1E6D8-9354-FD4C-0C71-32E07E984A13}"/>
              </a:ext>
            </a:extLst>
          </p:cNvPr>
          <p:cNvCxnSpPr>
            <a:cxnSpLocks/>
          </p:cNvCxnSpPr>
          <p:nvPr/>
        </p:nvCxnSpPr>
        <p:spPr>
          <a:xfrm>
            <a:off x="2194230" y="4262348"/>
            <a:ext cx="945514" cy="193079"/>
          </a:xfrm>
          <a:prstGeom prst="line">
            <a:avLst/>
          </a:prstGeom>
          <a:ln w="9525">
            <a:solidFill>
              <a:schemeClr val="bg2">
                <a:lumMod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DBDF46D-1208-5291-92D7-7E5DA4E579E1}"/>
              </a:ext>
            </a:extLst>
          </p:cNvPr>
          <p:cNvCxnSpPr>
            <a:cxnSpLocks/>
          </p:cNvCxnSpPr>
          <p:nvPr/>
        </p:nvCxnSpPr>
        <p:spPr>
          <a:xfrm flipV="1">
            <a:off x="2183458" y="4639135"/>
            <a:ext cx="945514" cy="193079"/>
          </a:xfrm>
          <a:prstGeom prst="line">
            <a:avLst/>
          </a:prstGeom>
          <a:ln w="9525">
            <a:solidFill>
              <a:schemeClr val="bg2">
                <a:lumMod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EEA487A9-28F0-7A71-454C-040870B1DBE2}"/>
              </a:ext>
            </a:extLst>
          </p:cNvPr>
          <p:cNvSpPr/>
          <p:nvPr/>
        </p:nvSpPr>
        <p:spPr>
          <a:xfrm>
            <a:off x="3856859" y="4963769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7997076-A44B-6443-77AA-1E43FCBE5392}"/>
              </a:ext>
            </a:extLst>
          </p:cNvPr>
          <p:cNvSpPr/>
          <p:nvPr/>
        </p:nvSpPr>
        <p:spPr>
          <a:xfrm>
            <a:off x="4046190" y="4963769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0F55638-23AA-B75C-9D77-47F372FC0466}"/>
              </a:ext>
            </a:extLst>
          </p:cNvPr>
          <p:cNvSpPr/>
          <p:nvPr/>
        </p:nvSpPr>
        <p:spPr>
          <a:xfrm>
            <a:off x="4235521" y="4963769"/>
            <a:ext cx="189331" cy="189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D5DEB58-5622-F892-71E9-E85425A55B5D}"/>
              </a:ext>
            </a:extLst>
          </p:cNvPr>
          <p:cNvCxnSpPr>
            <a:cxnSpLocks/>
          </p:cNvCxnSpPr>
          <p:nvPr/>
        </p:nvCxnSpPr>
        <p:spPr>
          <a:xfrm flipH="1">
            <a:off x="3865418" y="4194890"/>
            <a:ext cx="165240" cy="730550"/>
          </a:xfrm>
          <a:prstGeom prst="line">
            <a:avLst/>
          </a:prstGeom>
          <a:ln w="9525">
            <a:solidFill>
              <a:schemeClr val="bg2">
                <a:lumMod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C7A1EBE-FFE7-B3ED-CB5F-0D71207F5476}"/>
              </a:ext>
            </a:extLst>
          </p:cNvPr>
          <p:cNvCxnSpPr>
            <a:cxnSpLocks/>
          </p:cNvCxnSpPr>
          <p:nvPr/>
        </p:nvCxnSpPr>
        <p:spPr>
          <a:xfrm>
            <a:off x="4235521" y="4194890"/>
            <a:ext cx="165240" cy="730550"/>
          </a:xfrm>
          <a:prstGeom prst="line">
            <a:avLst/>
          </a:prstGeom>
          <a:ln w="9525">
            <a:solidFill>
              <a:schemeClr val="bg2">
                <a:lumMod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742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D0D11-BFBA-38E5-6532-75D7676FE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value matrix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C44D5-7D30-55E3-0C89-DED635E4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20</a:t>
            </a:fld>
            <a:endParaRPr lang="en-GB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6C1815-4FCA-ABA9-29D3-52923A9BA1DE}"/>
                  </a:ext>
                </a:extLst>
              </p:cNvPr>
              <p:cNvSpPr txBox="1"/>
              <p:nvPr/>
            </p:nvSpPr>
            <p:spPr>
              <a:xfrm>
                <a:off x="3442683" y="2043015"/>
                <a:ext cx="5764911" cy="9569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Tells you how a given token modifies another token</a:t>
                </a:r>
              </a:p>
              <a:p>
                <a:r>
                  <a:rPr lang="en-GB" dirty="0"/>
                  <a:t>The resultant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en-GB" sz="1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gets added to the other vector</a:t>
                </a:r>
              </a:p>
              <a:p>
                <a:r>
                  <a:rPr lang="en-GB" dirty="0"/>
                  <a:t>The extent of the addition is scaled by the </a:t>
                </a:r>
                <a14:m>
                  <m:oMath xmlns:m="http://schemas.openxmlformats.org/officeDocument/2006/math">
                    <m:r>
                      <a:rPr lang="en-GB" sz="1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GB" dirty="0"/>
                  <a:t> product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6C1815-4FCA-ABA9-29D3-52923A9BA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683" y="2043015"/>
                <a:ext cx="5764911" cy="956929"/>
              </a:xfrm>
              <a:prstGeom prst="rect">
                <a:avLst/>
              </a:prstGeom>
              <a:blipFill>
                <a:blip r:embed="rId3"/>
                <a:stretch>
                  <a:fillRect l="-952" t="-3185" b="-89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BF7A731-0C11-D505-E281-4C6E9835A0F8}"/>
              </a:ext>
            </a:extLst>
          </p:cNvPr>
          <p:cNvSpPr/>
          <p:nvPr/>
        </p:nvSpPr>
        <p:spPr>
          <a:xfrm>
            <a:off x="4987672" y="3587372"/>
            <a:ext cx="189331" cy="189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125B75-B3A2-2830-FA4B-2476B6F4863B}"/>
              </a:ext>
            </a:extLst>
          </p:cNvPr>
          <p:cNvSpPr/>
          <p:nvPr/>
        </p:nvSpPr>
        <p:spPr>
          <a:xfrm>
            <a:off x="4987671" y="3776703"/>
            <a:ext cx="189331" cy="189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9B8F58-6EC4-1466-BD1D-20196556EC4C}"/>
              </a:ext>
            </a:extLst>
          </p:cNvPr>
          <p:cNvSpPr/>
          <p:nvPr/>
        </p:nvSpPr>
        <p:spPr>
          <a:xfrm>
            <a:off x="4987670" y="3966034"/>
            <a:ext cx="189331" cy="189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2084F0-CB49-E492-4980-65F84CBC2AA2}"/>
              </a:ext>
            </a:extLst>
          </p:cNvPr>
          <p:cNvSpPr/>
          <p:nvPr/>
        </p:nvSpPr>
        <p:spPr>
          <a:xfrm>
            <a:off x="4987669" y="4155365"/>
            <a:ext cx="189331" cy="189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63FDA5-54A1-1A9A-C5A7-D4D1F80FDBE6}"/>
              </a:ext>
            </a:extLst>
          </p:cNvPr>
          <p:cNvSpPr/>
          <p:nvPr/>
        </p:nvSpPr>
        <p:spPr>
          <a:xfrm>
            <a:off x="4987668" y="4344696"/>
            <a:ext cx="189331" cy="189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80A9B0-7F47-3639-CFD4-CF61FDD1A24D}"/>
              </a:ext>
            </a:extLst>
          </p:cNvPr>
          <p:cNvSpPr/>
          <p:nvPr/>
        </p:nvSpPr>
        <p:spPr>
          <a:xfrm>
            <a:off x="4987667" y="4534027"/>
            <a:ext cx="189331" cy="189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0F8C-A85C-6D11-7E58-358D2B02652C}"/>
              </a:ext>
            </a:extLst>
          </p:cNvPr>
          <p:cNvSpPr/>
          <p:nvPr/>
        </p:nvSpPr>
        <p:spPr>
          <a:xfrm>
            <a:off x="5567821" y="3597246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955BC0-623F-2675-7B89-E6F60AA84D71}"/>
              </a:ext>
            </a:extLst>
          </p:cNvPr>
          <p:cNvSpPr/>
          <p:nvPr/>
        </p:nvSpPr>
        <p:spPr>
          <a:xfrm>
            <a:off x="5567820" y="3786577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E1F988-E0E9-5E06-C5B3-788D56F517AF}"/>
              </a:ext>
            </a:extLst>
          </p:cNvPr>
          <p:cNvSpPr/>
          <p:nvPr/>
        </p:nvSpPr>
        <p:spPr>
          <a:xfrm>
            <a:off x="5567819" y="3975908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1503B8-03CF-2C12-5DAD-116F2830F387}"/>
              </a:ext>
            </a:extLst>
          </p:cNvPr>
          <p:cNvSpPr/>
          <p:nvPr/>
        </p:nvSpPr>
        <p:spPr>
          <a:xfrm>
            <a:off x="5567818" y="4165239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B07A15-8D49-E575-613C-CEF6A3FCA834}"/>
              </a:ext>
            </a:extLst>
          </p:cNvPr>
          <p:cNvSpPr/>
          <p:nvPr/>
        </p:nvSpPr>
        <p:spPr>
          <a:xfrm>
            <a:off x="5567817" y="4354570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6474B3-D6C3-E2FF-EE3E-97E8B07B201F}"/>
              </a:ext>
            </a:extLst>
          </p:cNvPr>
          <p:cNvSpPr/>
          <p:nvPr/>
        </p:nvSpPr>
        <p:spPr>
          <a:xfrm>
            <a:off x="5567816" y="4543901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99F88F-6ACC-30AE-2378-E3FEEC7C7ABF}"/>
              </a:ext>
            </a:extLst>
          </p:cNvPr>
          <p:cNvSpPr/>
          <p:nvPr/>
        </p:nvSpPr>
        <p:spPr>
          <a:xfrm>
            <a:off x="5757152" y="3597246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13A3E1-EDA5-8C82-8B4B-FD817809B3B3}"/>
              </a:ext>
            </a:extLst>
          </p:cNvPr>
          <p:cNvSpPr/>
          <p:nvPr/>
        </p:nvSpPr>
        <p:spPr>
          <a:xfrm>
            <a:off x="5757151" y="3786577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A3595F-0CAF-47E8-2094-238A1A9D4E81}"/>
              </a:ext>
            </a:extLst>
          </p:cNvPr>
          <p:cNvSpPr/>
          <p:nvPr/>
        </p:nvSpPr>
        <p:spPr>
          <a:xfrm>
            <a:off x="5757150" y="3975908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DE1E53-E8AF-B2CE-F1B1-FB90446C2E6B}"/>
              </a:ext>
            </a:extLst>
          </p:cNvPr>
          <p:cNvSpPr/>
          <p:nvPr/>
        </p:nvSpPr>
        <p:spPr>
          <a:xfrm>
            <a:off x="5757149" y="4165239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1158CE-A7AF-8514-8C61-D614223ABB9A}"/>
              </a:ext>
            </a:extLst>
          </p:cNvPr>
          <p:cNvSpPr/>
          <p:nvPr/>
        </p:nvSpPr>
        <p:spPr>
          <a:xfrm>
            <a:off x="5757148" y="4354570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452CD1-B756-076F-A0F3-27A15B5C0837}"/>
              </a:ext>
            </a:extLst>
          </p:cNvPr>
          <p:cNvSpPr/>
          <p:nvPr/>
        </p:nvSpPr>
        <p:spPr>
          <a:xfrm>
            <a:off x="5757147" y="4543901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4A9B2A-C007-D008-72A4-9A0EC831017F}"/>
              </a:ext>
            </a:extLst>
          </p:cNvPr>
          <p:cNvSpPr/>
          <p:nvPr/>
        </p:nvSpPr>
        <p:spPr>
          <a:xfrm>
            <a:off x="5946483" y="3597246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ED0B08D-1EDB-D57B-B046-4E14440A8763}"/>
              </a:ext>
            </a:extLst>
          </p:cNvPr>
          <p:cNvSpPr/>
          <p:nvPr/>
        </p:nvSpPr>
        <p:spPr>
          <a:xfrm>
            <a:off x="5946482" y="3786577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2200D3-E5A9-BCE8-73E5-0D13DCE4EB84}"/>
              </a:ext>
            </a:extLst>
          </p:cNvPr>
          <p:cNvSpPr/>
          <p:nvPr/>
        </p:nvSpPr>
        <p:spPr>
          <a:xfrm>
            <a:off x="5946481" y="3975908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7B2A00-5814-9CBD-D83D-C0AE1B3C5BDA}"/>
              </a:ext>
            </a:extLst>
          </p:cNvPr>
          <p:cNvSpPr/>
          <p:nvPr/>
        </p:nvSpPr>
        <p:spPr>
          <a:xfrm>
            <a:off x="5946480" y="4165239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409633-A119-370C-A8AD-08FD76D00F27}"/>
              </a:ext>
            </a:extLst>
          </p:cNvPr>
          <p:cNvSpPr/>
          <p:nvPr/>
        </p:nvSpPr>
        <p:spPr>
          <a:xfrm>
            <a:off x="5946479" y="4354570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37ED8C5-8D48-25EE-3FEC-B2EFA98AC799}"/>
              </a:ext>
            </a:extLst>
          </p:cNvPr>
          <p:cNvSpPr/>
          <p:nvPr/>
        </p:nvSpPr>
        <p:spPr>
          <a:xfrm>
            <a:off x="5946478" y="4543901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86372B-1A85-E386-5DEE-92C34C13C767}"/>
              </a:ext>
            </a:extLst>
          </p:cNvPr>
          <p:cNvSpPr/>
          <p:nvPr/>
        </p:nvSpPr>
        <p:spPr>
          <a:xfrm>
            <a:off x="7189285" y="3596800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AC0E6F-385B-9EDB-C821-D5BCB286D298}"/>
              </a:ext>
            </a:extLst>
          </p:cNvPr>
          <p:cNvSpPr/>
          <p:nvPr/>
        </p:nvSpPr>
        <p:spPr>
          <a:xfrm>
            <a:off x="7189284" y="3786131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E7746F4-2297-2267-65C3-B15C9023B05B}"/>
              </a:ext>
            </a:extLst>
          </p:cNvPr>
          <p:cNvSpPr/>
          <p:nvPr/>
        </p:nvSpPr>
        <p:spPr>
          <a:xfrm>
            <a:off x="7189283" y="3975462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E79B035-CF04-53E0-A011-BE50B79E5961}"/>
                  </a:ext>
                </a:extLst>
              </p:cNvPr>
              <p:cNvSpPr txBox="1"/>
              <p:nvPr/>
            </p:nvSpPr>
            <p:spPr>
              <a:xfrm>
                <a:off x="5303011" y="4001057"/>
                <a:ext cx="126637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⋅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E79B035-CF04-53E0-A011-BE50B79E5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011" y="4001057"/>
                <a:ext cx="126637" cy="276999"/>
              </a:xfrm>
              <a:prstGeom prst="rect">
                <a:avLst/>
              </a:prstGeom>
              <a:blipFill>
                <a:blip r:embed="rId4"/>
                <a:stretch>
                  <a:fillRect l="-14286" r="-95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9A7E1FA-9347-9C39-EA49-637314A9583C}"/>
                  </a:ext>
                </a:extLst>
              </p:cNvPr>
              <p:cNvSpPr txBox="1"/>
              <p:nvPr/>
            </p:nvSpPr>
            <p:spPr>
              <a:xfrm>
                <a:off x="6856832" y="4048448"/>
                <a:ext cx="234038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9A7E1FA-9347-9C39-EA49-637314A95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6832" y="4048448"/>
                <a:ext cx="234038" cy="276999"/>
              </a:xfrm>
              <a:prstGeom prst="rect">
                <a:avLst/>
              </a:prstGeom>
              <a:blipFill>
                <a:blip r:embed="rId5"/>
                <a:stretch>
                  <a:fillRect l="-10526" r="-78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0F28C6F-381A-50F3-2619-6F97B4E1D137}"/>
                  </a:ext>
                </a:extLst>
              </p:cNvPr>
              <p:cNvSpPr txBox="1"/>
              <p:nvPr/>
            </p:nvSpPr>
            <p:spPr>
              <a:xfrm>
                <a:off x="5353863" y="5218594"/>
                <a:ext cx="1698991" cy="4140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GB" sz="240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24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24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24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GB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0F28C6F-381A-50F3-2619-6F97B4E1D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863" y="5218594"/>
                <a:ext cx="1698991" cy="4140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13AE0EA3-5D23-D2B1-A07F-E6AD51871085}"/>
              </a:ext>
            </a:extLst>
          </p:cNvPr>
          <p:cNvSpPr/>
          <p:nvPr/>
        </p:nvSpPr>
        <p:spPr>
          <a:xfrm>
            <a:off x="6135813" y="3596800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CFE31E-AFB7-9A7E-36CA-3A8924E9EF9D}"/>
              </a:ext>
            </a:extLst>
          </p:cNvPr>
          <p:cNvSpPr/>
          <p:nvPr/>
        </p:nvSpPr>
        <p:spPr>
          <a:xfrm>
            <a:off x="6135812" y="3786131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07C52A-EEBB-5447-DE7B-98BA51A58C99}"/>
              </a:ext>
            </a:extLst>
          </p:cNvPr>
          <p:cNvSpPr/>
          <p:nvPr/>
        </p:nvSpPr>
        <p:spPr>
          <a:xfrm>
            <a:off x="6135811" y="3975462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D1505A-D903-3618-BF9D-7A559B396788}"/>
              </a:ext>
            </a:extLst>
          </p:cNvPr>
          <p:cNvSpPr/>
          <p:nvPr/>
        </p:nvSpPr>
        <p:spPr>
          <a:xfrm>
            <a:off x="6135810" y="4164793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05F433D-1985-62B5-C5BE-4A0AC1CFDACC}"/>
              </a:ext>
            </a:extLst>
          </p:cNvPr>
          <p:cNvSpPr/>
          <p:nvPr/>
        </p:nvSpPr>
        <p:spPr>
          <a:xfrm>
            <a:off x="6135809" y="4354124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26723BA-E66E-8F85-94B6-8B7929596595}"/>
              </a:ext>
            </a:extLst>
          </p:cNvPr>
          <p:cNvSpPr/>
          <p:nvPr/>
        </p:nvSpPr>
        <p:spPr>
          <a:xfrm>
            <a:off x="6135808" y="4543455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97AB7F6-063E-D200-A39C-9FAD7C70AC14}"/>
              </a:ext>
            </a:extLst>
          </p:cNvPr>
          <p:cNvSpPr/>
          <p:nvPr/>
        </p:nvSpPr>
        <p:spPr>
          <a:xfrm>
            <a:off x="6325144" y="3596800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0D1DD99-1251-7401-B149-E2F406E7D980}"/>
              </a:ext>
            </a:extLst>
          </p:cNvPr>
          <p:cNvSpPr/>
          <p:nvPr/>
        </p:nvSpPr>
        <p:spPr>
          <a:xfrm>
            <a:off x="6325143" y="3786131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2059BCF-560F-8C8B-5BA9-EA1D02C3A79D}"/>
              </a:ext>
            </a:extLst>
          </p:cNvPr>
          <p:cNvSpPr/>
          <p:nvPr/>
        </p:nvSpPr>
        <p:spPr>
          <a:xfrm>
            <a:off x="6325142" y="3975462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CAE3AB4-9E86-4796-4096-D92E1A7BCE7B}"/>
              </a:ext>
            </a:extLst>
          </p:cNvPr>
          <p:cNvSpPr/>
          <p:nvPr/>
        </p:nvSpPr>
        <p:spPr>
          <a:xfrm>
            <a:off x="6325141" y="4164793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2FD45E8-9584-3593-D2A8-0F713DD4B02F}"/>
              </a:ext>
            </a:extLst>
          </p:cNvPr>
          <p:cNvSpPr/>
          <p:nvPr/>
        </p:nvSpPr>
        <p:spPr>
          <a:xfrm>
            <a:off x="6325140" y="4354124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0CCA373-F512-544A-33DB-25939E472F4B}"/>
              </a:ext>
            </a:extLst>
          </p:cNvPr>
          <p:cNvSpPr/>
          <p:nvPr/>
        </p:nvSpPr>
        <p:spPr>
          <a:xfrm>
            <a:off x="6325139" y="4543455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2AAECA4-FF80-6FA3-012D-FDDF5162D207}"/>
              </a:ext>
            </a:extLst>
          </p:cNvPr>
          <p:cNvSpPr/>
          <p:nvPr/>
        </p:nvSpPr>
        <p:spPr>
          <a:xfrm>
            <a:off x="6514475" y="3596800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C584D32-3818-D182-A440-CDB8BEDBC586}"/>
              </a:ext>
            </a:extLst>
          </p:cNvPr>
          <p:cNvSpPr/>
          <p:nvPr/>
        </p:nvSpPr>
        <p:spPr>
          <a:xfrm>
            <a:off x="6514474" y="3786131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73EE63-B01C-687F-F549-E061F2741D80}"/>
              </a:ext>
            </a:extLst>
          </p:cNvPr>
          <p:cNvSpPr/>
          <p:nvPr/>
        </p:nvSpPr>
        <p:spPr>
          <a:xfrm>
            <a:off x="6514473" y="3975462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50CA9C3-27BB-AA01-C2C4-E0A540023CD5}"/>
              </a:ext>
            </a:extLst>
          </p:cNvPr>
          <p:cNvSpPr/>
          <p:nvPr/>
        </p:nvSpPr>
        <p:spPr>
          <a:xfrm>
            <a:off x="6514472" y="4164793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42C006-A20A-0864-EEFD-64EF580139FB}"/>
              </a:ext>
            </a:extLst>
          </p:cNvPr>
          <p:cNvSpPr/>
          <p:nvPr/>
        </p:nvSpPr>
        <p:spPr>
          <a:xfrm>
            <a:off x="6514471" y="4354124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5A10118-3034-D049-C107-64A9BD729BE2}"/>
              </a:ext>
            </a:extLst>
          </p:cNvPr>
          <p:cNvSpPr/>
          <p:nvPr/>
        </p:nvSpPr>
        <p:spPr>
          <a:xfrm>
            <a:off x="6514470" y="4543455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B69BAC5-04FE-3EEB-DAF2-75D8059C161E}"/>
              </a:ext>
            </a:extLst>
          </p:cNvPr>
          <p:cNvSpPr/>
          <p:nvPr/>
        </p:nvSpPr>
        <p:spPr>
          <a:xfrm>
            <a:off x="7189283" y="4155365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BF5AF21-94B9-BE07-F709-499AE9992E8C}"/>
              </a:ext>
            </a:extLst>
          </p:cNvPr>
          <p:cNvSpPr/>
          <p:nvPr/>
        </p:nvSpPr>
        <p:spPr>
          <a:xfrm>
            <a:off x="7189282" y="4344696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4E267EC-EEE6-6122-BFAC-74A380935C9B}"/>
              </a:ext>
            </a:extLst>
          </p:cNvPr>
          <p:cNvSpPr/>
          <p:nvPr/>
        </p:nvSpPr>
        <p:spPr>
          <a:xfrm>
            <a:off x="7189281" y="4534027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0A39A0-E066-D5A0-DEC6-B54690CED9E0}"/>
              </a:ext>
            </a:extLst>
          </p:cNvPr>
          <p:cNvSpPr txBox="1"/>
          <p:nvPr/>
        </p:nvSpPr>
        <p:spPr>
          <a:xfrm>
            <a:off x="8018973" y="4001057"/>
            <a:ext cx="2859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 ---- an old woman lies.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5125CC-785C-2885-AEC9-A519EB997B96}"/>
              </a:ext>
            </a:extLst>
          </p:cNvPr>
          <p:cNvSpPr/>
          <p:nvPr/>
        </p:nvSpPr>
        <p:spPr>
          <a:xfrm>
            <a:off x="8515938" y="4962662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83DB34E-940A-96E0-8E3C-F08B5ED8D863}"/>
              </a:ext>
            </a:extLst>
          </p:cNvPr>
          <p:cNvSpPr/>
          <p:nvPr/>
        </p:nvSpPr>
        <p:spPr>
          <a:xfrm>
            <a:off x="8515937" y="5151993"/>
            <a:ext cx="189331" cy="18933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28ED4EB-C7CA-7B45-40B5-FDC865D3F482}"/>
              </a:ext>
            </a:extLst>
          </p:cNvPr>
          <p:cNvSpPr/>
          <p:nvPr/>
        </p:nvSpPr>
        <p:spPr>
          <a:xfrm>
            <a:off x="8515936" y="5341324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CD50345-DD63-9AC5-514F-B26849AF5697}"/>
              </a:ext>
            </a:extLst>
          </p:cNvPr>
          <p:cNvSpPr/>
          <p:nvPr/>
        </p:nvSpPr>
        <p:spPr>
          <a:xfrm>
            <a:off x="8515936" y="5521227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6AD495C-3748-1338-EA5D-49DB21BEABD0}"/>
              </a:ext>
            </a:extLst>
          </p:cNvPr>
          <p:cNvSpPr/>
          <p:nvPr/>
        </p:nvSpPr>
        <p:spPr>
          <a:xfrm>
            <a:off x="8515935" y="5710558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0D065BB-6B3F-5D14-343E-9792909D145B}"/>
              </a:ext>
            </a:extLst>
          </p:cNvPr>
          <p:cNvSpPr/>
          <p:nvPr/>
        </p:nvSpPr>
        <p:spPr>
          <a:xfrm>
            <a:off x="8515934" y="5899889"/>
            <a:ext cx="189331" cy="18933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81E211A-7C36-A928-24B4-ED5AD9CEBB57}"/>
              </a:ext>
            </a:extLst>
          </p:cNvPr>
          <p:cNvSpPr/>
          <p:nvPr/>
        </p:nvSpPr>
        <p:spPr>
          <a:xfrm>
            <a:off x="9912930" y="4962662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5B0CFC3-F111-9135-C26D-8E03B6F1B2BB}"/>
              </a:ext>
            </a:extLst>
          </p:cNvPr>
          <p:cNvSpPr/>
          <p:nvPr/>
        </p:nvSpPr>
        <p:spPr>
          <a:xfrm>
            <a:off x="9912929" y="5151993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8491534-7711-7A62-C9C6-42F63672F46D}"/>
              </a:ext>
            </a:extLst>
          </p:cNvPr>
          <p:cNvSpPr/>
          <p:nvPr/>
        </p:nvSpPr>
        <p:spPr>
          <a:xfrm>
            <a:off x="9912928" y="5341324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97A8578-6730-F4C2-4A1D-C8DBE3309C22}"/>
              </a:ext>
            </a:extLst>
          </p:cNvPr>
          <p:cNvSpPr/>
          <p:nvPr/>
        </p:nvSpPr>
        <p:spPr>
          <a:xfrm>
            <a:off x="9912928" y="5521227"/>
            <a:ext cx="189331" cy="18933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25DA8E1-D513-AB2F-8F1C-EE3911DDBFD5}"/>
              </a:ext>
            </a:extLst>
          </p:cNvPr>
          <p:cNvSpPr/>
          <p:nvPr/>
        </p:nvSpPr>
        <p:spPr>
          <a:xfrm>
            <a:off x="9912927" y="5710558"/>
            <a:ext cx="189331" cy="189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9994906-95DB-3529-4255-568F87A2CD54}"/>
              </a:ext>
            </a:extLst>
          </p:cNvPr>
          <p:cNvSpPr/>
          <p:nvPr/>
        </p:nvSpPr>
        <p:spPr>
          <a:xfrm>
            <a:off x="9912926" y="5899889"/>
            <a:ext cx="189331" cy="189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9CBB5F0-4A42-005A-5F5B-CEC83C20A727}"/>
              </a:ext>
            </a:extLst>
          </p:cNvPr>
          <p:cNvSpPr txBox="1"/>
          <p:nvPr/>
        </p:nvSpPr>
        <p:spPr>
          <a:xfrm>
            <a:off x="8329913" y="4552718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bed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34D87AC-1650-7FE9-F445-727359B4C97D}"/>
              </a:ext>
            </a:extLst>
          </p:cNvPr>
          <p:cNvSpPr txBox="1"/>
          <p:nvPr/>
        </p:nvSpPr>
        <p:spPr>
          <a:xfrm>
            <a:off x="9631177" y="4543455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court</a:t>
            </a:r>
          </a:p>
        </p:txBody>
      </p:sp>
    </p:spTree>
    <p:extLst>
      <p:ext uri="{BB962C8B-B14F-4D97-AF65-F5344CB8AC3E}">
        <p14:creationId xmlns:p14="http://schemas.microsoft.com/office/powerpoint/2010/main" val="3962465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8CA0E-6B40-5DAD-48C7-913EEA49E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the value to the embedding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56E1F-DEF5-E954-E746-DA0977977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21</a:t>
            </a:fld>
            <a:endParaRPr lang="en-GB" noProof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8568D83-6801-044E-4963-26D73441E1CE}"/>
              </a:ext>
            </a:extLst>
          </p:cNvPr>
          <p:cNvSpPr txBox="1"/>
          <p:nvPr/>
        </p:nvSpPr>
        <p:spPr>
          <a:xfrm>
            <a:off x="530003" y="5525353"/>
            <a:ext cx="106000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</a:rPr>
              <a:t>value</a:t>
            </a:r>
            <a:r>
              <a:rPr lang="en-GB" sz="2400" dirty="0"/>
              <a:t> is modified by the </a:t>
            </a:r>
            <a:r>
              <a:rPr lang="en-GB" sz="2400" dirty="0">
                <a:solidFill>
                  <a:schemeClr val="accent6">
                    <a:lumMod val="75000"/>
                  </a:schemeClr>
                </a:solidFill>
              </a:rPr>
              <a:t>attention</a:t>
            </a:r>
            <a:r>
              <a:rPr lang="en-GB" sz="2400" dirty="0"/>
              <a:t> from the </a:t>
            </a:r>
            <a:r>
              <a:rPr lang="en-GB" sz="2400" dirty="0">
                <a:solidFill>
                  <a:srgbClr val="FF0000"/>
                </a:solidFill>
              </a:rPr>
              <a:t>Q</a:t>
            </a:r>
            <a:r>
              <a:rPr lang="en-GB" sz="2400" dirty="0">
                <a:solidFill>
                  <a:schemeClr val="accent6">
                    <a:lumMod val="50000"/>
                  </a:schemeClr>
                </a:solidFill>
              </a:rPr>
              <a:t>K</a:t>
            </a:r>
            <a:r>
              <a:rPr lang="en-GB" sz="2400" dirty="0"/>
              <a:t> pair and added to the initial </a:t>
            </a:r>
            <a:r>
              <a:rPr lang="en-GB" sz="2400" dirty="0">
                <a:solidFill>
                  <a:schemeClr val="accent4">
                    <a:lumMod val="75000"/>
                  </a:schemeClr>
                </a:solidFill>
              </a:rPr>
              <a:t>embedding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5C5AD9-B5DA-C97C-AAB0-DE75864DF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731" y="1901621"/>
            <a:ext cx="6604538" cy="35397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019A8F7-A7AB-0D01-C68E-122254248587}"/>
              </a:ext>
            </a:extLst>
          </p:cNvPr>
          <p:cNvSpPr txBox="1"/>
          <p:nvPr/>
        </p:nvSpPr>
        <p:spPr>
          <a:xfrm>
            <a:off x="2956139" y="1904366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7C4F6F-ABD8-D3A0-4394-C84D90AAE745}"/>
              </a:ext>
            </a:extLst>
          </p:cNvPr>
          <p:cNvSpPr txBox="1"/>
          <p:nvPr/>
        </p:nvSpPr>
        <p:spPr>
          <a:xfrm>
            <a:off x="8506753" y="1901621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lies</a:t>
            </a:r>
          </a:p>
        </p:txBody>
      </p:sp>
    </p:spTree>
    <p:extLst>
      <p:ext uri="{BB962C8B-B14F-4D97-AF65-F5344CB8AC3E}">
        <p14:creationId xmlns:p14="http://schemas.microsoft.com/office/powerpoint/2010/main" val="2625880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A6B08-8340-769A-56A7-C220D7BB9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Updating the embeddings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91A48-F993-C112-0997-F2DAA89FD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22</a:t>
            </a:fld>
            <a:endParaRPr lang="en-GB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311BDD-BB9D-5285-EBBE-6714D35DDF2D}"/>
                  </a:ext>
                </a:extLst>
              </p:cNvPr>
              <p:cNvSpPr txBox="1"/>
              <p:nvPr/>
            </p:nvSpPr>
            <p:spPr>
              <a:xfrm>
                <a:off x="5805854" y="3529074"/>
                <a:ext cx="33304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311BDD-BB9D-5285-EBBE-6714D35DD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854" y="3529074"/>
                <a:ext cx="33304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36F44D5-9675-03ED-6C40-6E8052AD6B20}"/>
                  </a:ext>
                </a:extLst>
              </p:cNvPr>
              <p:cNvSpPr txBox="1"/>
              <p:nvPr/>
            </p:nvSpPr>
            <p:spPr>
              <a:xfrm>
                <a:off x="9982200" y="3489833"/>
                <a:ext cx="4119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36F44D5-9675-03ED-6C40-6E8052AD6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200" y="3489833"/>
                <a:ext cx="41197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08937F6-D8DD-945A-E492-D9A125168874}"/>
              </a:ext>
            </a:extLst>
          </p:cNvPr>
          <p:cNvSpPr/>
          <p:nvPr/>
        </p:nvSpPr>
        <p:spPr>
          <a:xfrm>
            <a:off x="6895084" y="3127732"/>
            <a:ext cx="2258750" cy="1245946"/>
          </a:xfrm>
          <a:prstGeom prst="roundRect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DAA4EE-DC2C-DF15-8DB1-4118FD9956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539560"/>
            <a:ext cx="4003893" cy="454313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DFC931A-3698-909C-8856-02BADBDB58E3}"/>
              </a:ext>
            </a:extLst>
          </p:cNvPr>
          <p:cNvCxnSpPr>
            <a:cxnSpLocks/>
          </p:cNvCxnSpPr>
          <p:nvPr/>
        </p:nvCxnSpPr>
        <p:spPr>
          <a:xfrm>
            <a:off x="6285743" y="3744518"/>
            <a:ext cx="75089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5AF093-387E-BD65-A827-B8AF74F4A180}"/>
              </a:ext>
            </a:extLst>
          </p:cNvPr>
          <p:cNvCxnSpPr>
            <a:cxnSpLocks/>
          </p:cNvCxnSpPr>
          <p:nvPr/>
        </p:nvCxnSpPr>
        <p:spPr>
          <a:xfrm>
            <a:off x="9153834" y="3705277"/>
            <a:ext cx="68151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FEBB694-C33E-B187-4C84-400432E05E82}"/>
                  </a:ext>
                </a:extLst>
              </p:cNvPr>
              <p:cNvSpPr txBox="1"/>
              <p:nvPr/>
            </p:nvSpPr>
            <p:spPr>
              <a:xfrm>
                <a:off x="6748617" y="3366623"/>
                <a:ext cx="2551684" cy="720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√</m:t>
                              </m:r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e>
                      </m:d>
                      <m:r>
                        <a:rPr lang="en-GB" sz="1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FEBB694-C33E-B187-4C84-400432E05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617" y="3366623"/>
                <a:ext cx="2551684" cy="7204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D9FC3A4-EECF-9BAB-BFD1-5EB7BF9DB29A}"/>
              </a:ext>
            </a:extLst>
          </p:cNvPr>
          <p:cNvSpPr txBox="1"/>
          <p:nvPr/>
        </p:nvSpPr>
        <p:spPr>
          <a:xfrm>
            <a:off x="5330467" y="5015367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Each of these </a:t>
            </a:r>
            <a:r>
              <a:rPr lang="en-GB" dirty="0" err="1"/>
              <a:t>softmax</a:t>
            </a:r>
            <a:r>
              <a:rPr lang="en-GB" dirty="0"/>
              <a:t> matrix multiplications is a ‘head’</a:t>
            </a:r>
          </a:p>
        </p:txBody>
      </p:sp>
    </p:spTree>
    <p:extLst>
      <p:ext uri="{BB962C8B-B14F-4D97-AF65-F5344CB8AC3E}">
        <p14:creationId xmlns:p14="http://schemas.microsoft.com/office/powerpoint/2010/main" val="2194236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8F5B-AEDA-1F32-5F38-9688A433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crystallm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EFEE7-4386-34D6-E52E-496B0E886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23</a:t>
            </a:fld>
            <a:endParaRPr lang="en-GB" noProof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04CB21-CB84-1098-767E-150B0FC81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398" y="1690688"/>
            <a:ext cx="8252543" cy="38733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191117-C1D0-1212-C852-A58487FBF387}"/>
              </a:ext>
            </a:extLst>
          </p:cNvPr>
          <p:cNvSpPr txBox="1"/>
          <p:nvPr/>
        </p:nvSpPr>
        <p:spPr>
          <a:xfrm>
            <a:off x="2072987" y="5943600"/>
            <a:ext cx="8217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decoder only transformer </a:t>
            </a:r>
            <a:r>
              <a:rPr lang="en-GB" dirty="0"/>
              <a:t>trained on </a:t>
            </a:r>
            <a:r>
              <a:rPr lang="en-GB" dirty="0" err="1"/>
              <a:t>cif</a:t>
            </a:r>
            <a:r>
              <a:rPr lang="en-GB" dirty="0"/>
              <a:t> files for materials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structure generation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06882F-A1CF-B2D4-6BD2-2E37F4C01456}"/>
              </a:ext>
            </a:extLst>
          </p:cNvPr>
          <p:cNvSpPr txBox="1"/>
          <p:nvPr/>
        </p:nvSpPr>
        <p:spPr>
          <a:xfrm>
            <a:off x="85000" y="6444734"/>
            <a:ext cx="6096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Nature Communications 15, 1 (2024)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7275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05BF2-0955-D34E-7FF9-6A665B327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Autoregressive 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3EB78-F487-F49C-98FE-266DC9493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24</a:t>
            </a:fld>
            <a:endParaRPr lang="en-GB" noProof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86D5F1-16F4-86E3-4C49-C9D8CEF42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879" y="3112268"/>
            <a:ext cx="7916380" cy="23911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1DEEFE-2EEF-6D8E-E587-4437BA09A704}"/>
              </a:ext>
            </a:extLst>
          </p:cNvPr>
          <p:cNvSpPr txBox="1"/>
          <p:nvPr/>
        </p:nvSpPr>
        <p:spPr>
          <a:xfrm>
            <a:off x="1588914" y="1963422"/>
            <a:ext cx="88452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After training, </a:t>
            </a:r>
            <a:r>
              <a:rPr lang="en-GB" sz="2000" dirty="0" err="1"/>
              <a:t>CrystaLLM</a:t>
            </a:r>
            <a:r>
              <a:rPr lang="en-GB" sz="2000" dirty="0"/>
              <a:t> can be </a:t>
            </a:r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prompted with new text </a:t>
            </a:r>
            <a:r>
              <a:rPr lang="en-GB" sz="2000" dirty="0"/>
              <a:t>and can produce a predicted </a:t>
            </a:r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complete </a:t>
            </a:r>
            <a:r>
              <a:rPr lang="en-GB" sz="2000" dirty="0" err="1">
                <a:solidFill>
                  <a:schemeClr val="accent2">
                    <a:lumMod val="75000"/>
                  </a:schemeClr>
                </a:solidFill>
              </a:rPr>
              <a:t>cif</a:t>
            </a:r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119B95-8863-6427-6336-FC6BEE78AE1E}"/>
              </a:ext>
            </a:extLst>
          </p:cNvPr>
          <p:cNvSpPr txBox="1"/>
          <p:nvPr/>
        </p:nvSpPr>
        <p:spPr>
          <a:xfrm>
            <a:off x="1702811" y="5823057"/>
            <a:ext cx="94102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Prompting is flexible </a:t>
            </a:r>
            <a:r>
              <a:rPr lang="en-GB" sz="2000" dirty="0"/>
              <a:t>so we can provide as little or as much information as we like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6BA779-5EEC-0B31-0262-2496A67064E2}"/>
              </a:ext>
            </a:extLst>
          </p:cNvPr>
          <p:cNvSpPr txBox="1"/>
          <p:nvPr/>
        </p:nvSpPr>
        <p:spPr>
          <a:xfrm>
            <a:off x="85000" y="6444734"/>
            <a:ext cx="6096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Nature Communications 15, 1 (2024)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3904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ADBB9-75DC-F276-27B5-AA5AD9046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Monte Carlo tree search for consistency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56A99-CBFC-3A3C-6E1C-D9F88A26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25</a:t>
            </a:fld>
            <a:endParaRPr lang="en-GB" noProof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FAAAED-B208-3AD7-D131-C879F9943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457" y="1813936"/>
            <a:ext cx="5563704" cy="46789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68C934-A666-3CCD-E06E-D21928E6C040}"/>
              </a:ext>
            </a:extLst>
          </p:cNvPr>
          <p:cNvSpPr txBox="1"/>
          <p:nvPr/>
        </p:nvSpPr>
        <p:spPr>
          <a:xfrm>
            <a:off x="7174923" y="3006003"/>
            <a:ext cx="43226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Autoregressive generation is stochastic and can lead to non-ideal structures</a:t>
            </a:r>
          </a:p>
          <a:p>
            <a:endParaRPr lang="en-GB" dirty="0"/>
          </a:p>
          <a:p>
            <a:r>
              <a:rPr lang="en-GB" dirty="0"/>
              <a:t>MCTS is more expensive but uses an energy estimator to drive to low energy solutions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96E62-64BE-C1DE-5EE5-254F1D875ECE}"/>
              </a:ext>
            </a:extLst>
          </p:cNvPr>
          <p:cNvSpPr txBox="1"/>
          <p:nvPr/>
        </p:nvSpPr>
        <p:spPr>
          <a:xfrm>
            <a:off x="85000" y="6444734"/>
            <a:ext cx="6096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Nature Communications 15, 1 (2024)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7652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1321</Words>
  <Application>Microsoft Office PowerPoint</Application>
  <PresentationFormat>Widescreen</PresentationFormat>
  <Paragraphs>285</Paragraphs>
  <Slides>25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Abadi Extra Light</vt:lpstr>
      <vt:lpstr>Aptos</vt:lpstr>
      <vt:lpstr>Aptos Display</vt:lpstr>
      <vt:lpstr>Arial</vt:lpstr>
      <vt:lpstr>Calibri</vt:lpstr>
      <vt:lpstr>Cambria Math</vt:lpstr>
      <vt:lpstr>Comic Sans MS</vt:lpstr>
      <vt:lpstr>Courier New</vt:lpstr>
      <vt:lpstr>Tenorite</vt:lpstr>
      <vt:lpstr>Office Theme</vt:lpstr>
      <vt:lpstr>Monoline</vt:lpstr>
      <vt:lpstr>Introduction to LLMs</vt:lpstr>
      <vt:lpstr>PowerPoint Presentation</vt:lpstr>
      <vt:lpstr>PowerPoint Presentation</vt:lpstr>
      <vt:lpstr>PowerPoint Presentation</vt:lpstr>
      <vt:lpstr>Localised or distributed representations?</vt:lpstr>
      <vt:lpstr>Learning distributed representations</vt:lpstr>
      <vt:lpstr>PowerPoint Presentation</vt:lpstr>
      <vt:lpstr>PowerPoint Presentation</vt:lpstr>
      <vt:lpstr>PowerPoint Presentation</vt:lpstr>
      <vt:lpstr>How to make a distributed representation?</vt:lpstr>
      <vt:lpstr>Sequence data</vt:lpstr>
      <vt:lpstr>Recurrent Neural Networks (RNNs)</vt:lpstr>
      <vt:lpstr>Issues with RNNs</vt:lpstr>
      <vt:lpstr>transformers</vt:lpstr>
      <vt:lpstr>The attention mechanism</vt:lpstr>
      <vt:lpstr>Self-attention</vt:lpstr>
      <vt:lpstr>How self-attention works</vt:lpstr>
      <vt:lpstr>Attention – the inputs</vt:lpstr>
      <vt:lpstr>Query Key multiplication</vt:lpstr>
      <vt:lpstr>The value matrix</vt:lpstr>
      <vt:lpstr>Adding the value to the embedding</vt:lpstr>
      <vt:lpstr>Updating the embeddings</vt:lpstr>
      <vt:lpstr>crystallm</vt:lpstr>
      <vt:lpstr>Autoregressive generation</vt:lpstr>
      <vt:lpstr>Monte Carlo tree search for consistency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Keith Butler</dc:creator>
  <cp:lastModifiedBy>Keith Butler</cp:lastModifiedBy>
  <cp:revision>2</cp:revision>
  <dcterms:created xsi:type="dcterms:W3CDTF">2026-07-07T12:30:43Z</dcterms:created>
  <dcterms:modified xsi:type="dcterms:W3CDTF">2026-07-07T12:35:50Z</dcterms:modified>
</cp:coreProperties>
</file>